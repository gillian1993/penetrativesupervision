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8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9.xml" ContentType="application/vnd.openxmlformats-officedocument.presentationml.notesSlid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3.xml" ContentType="application/vnd.openxmlformats-officedocument.presentationml.tags+xml"/>
  <Override PartName="/ppt/notesSlides/notesSlide18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09.xml" ContentType="application/vnd.openxmlformats-officedocument.presentationml.tags+xml"/>
  <Override PartName="/ppt/notesSlides/notesSlide21.xml" ContentType="application/vnd.openxmlformats-officedocument.presentationml.notesSlide+xml"/>
  <Override PartName="/ppt/tags/tag110.xml" ContentType="application/vnd.openxmlformats-officedocument.presentationml.tags+xml"/>
  <Override PartName="/ppt/notesSlides/notesSlide22.xml" ContentType="application/vnd.openxmlformats-officedocument.presentationml.notesSlide+xml"/>
  <Override PartName="/ppt/tags/tag111.xml" ContentType="application/vnd.openxmlformats-officedocument.presentationml.tags+xml"/>
  <Override PartName="/ppt/notesSlides/notesSlide23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24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5.xml" ContentType="application/vnd.openxmlformats-officedocument.presentationml.notesSlide+xml"/>
  <Override PartName="/ppt/tags/tag147.xml" ContentType="application/vnd.openxmlformats-officedocument.presentationml.tags+xml"/>
  <Override PartName="/ppt/notesSlides/notesSlide26.xml" ContentType="application/vnd.openxmlformats-officedocument.presentationml.notesSlide+xml"/>
  <Override PartName="/ppt/tags/tag148.xml" ContentType="application/vnd.openxmlformats-officedocument.presentationml.tags+xml"/>
  <Override PartName="/ppt/notesSlides/notesSlide27.xml" ContentType="application/vnd.openxmlformats-officedocument.presentationml.notesSlide+xml"/>
  <Override PartName="/ppt/tags/tag149.xml" ContentType="application/vnd.openxmlformats-officedocument.presentationml.tags+xml"/>
  <Override PartName="/ppt/notesSlides/notesSlide28.xml" ContentType="application/vnd.openxmlformats-officedocument.presentationml.notesSlide+xml"/>
  <Override PartName="/ppt/tags/tag150.xml" ContentType="application/vnd.openxmlformats-officedocument.presentationml.tags+xml"/>
  <Override PartName="/ppt/notesSlides/notesSlide29.xml" ContentType="application/vnd.openxmlformats-officedocument.presentationml.notesSlide+xml"/>
  <Override PartName="/ppt/tags/tag151.xml" ContentType="application/vnd.openxmlformats-officedocument.presentationml.tags+xml"/>
  <Override PartName="/ppt/notesSlides/notesSlide30.xml" ContentType="application/vnd.openxmlformats-officedocument.presentationml.notesSlide+xml"/>
  <Override PartName="/ppt/tags/tag152.xml" ContentType="application/vnd.openxmlformats-officedocument.presentationml.tags+xml"/>
  <Override PartName="/ppt/notesSlides/notesSlide31.xml" ContentType="application/vnd.openxmlformats-officedocument.presentationml.notesSlide+xml"/>
  <Override PartName="/ppt/tags/tag153.xml" ContentType="application/vnd.openxmlformats-officedocument.presentationml.tags+xml"/>
  <Override PartName="/ppt/notesSlides/notesSlide32.xml" ContentType="application/vnd.openxmlformats-officedocument.presentationml.notesSlide+xml"/>
  <Override PartName="/ppt/tags/tag154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155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156.xml" ContentType="application/vnd.openxmlformats-officedocument.presentationml.tags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56" r:id="rId2"/>
  </p:sldMasterIdLst>
  <p:notesMasterIdLst>
    <p:notesMasterId r:id="rId58"/>
  </p:notesMasterIdLst>
  <p:handoutMasterIdLst>
    <p:handoutMasterId r:id="rId59"/>
  </p:handoutMasterIdLst>
  <p:sldIdLst>
    <p:sldId id="256" r:id="rId3"/>
    <p:sldId id="258" r:id="rId4"/>
    <p:sldId id="294" r:id="rId5"/>
    <p:sldId id="316" r:id="rId6"/>
    <p:sldId id="296" r:id="rId7"/>
    <p:sldId id="298" r:id="rId8"/>
    <p:sldId id="299" r:id="rId9"/>
    <p:sldId id="317" r:id="rId10"/>
    <p:sldId id="318" r:id="rId11"/>
    <p:sldId id="262" r:id="rId12"/>
    <p:sldId id="270" r:id="rId13"/>
    <p:sldId id="259" r:id="rId14"/>
    <p:sldId id="271" r:id="rId15"/>
    <p:sldId id="269" r:id="rId16"/>
    <p:sldId id="265" r:id="rId17"/>
    <p:sldId id="319" r:id="rId18"/>
    <p:sldId id="320" r:id="rId19"/>
    <p:sldId id="268" r:id="rId20"/>
    <p:sldId id="321" r:id="rId21"/>
    <p:sldId id="301" r:id="rId22"/>
    <p:sldId id="307" r:id="rId23"/>
    <p:sldId id="322" r:id="rId24"/>
    <p:sldId id="264" r:id="rId25"/>
    <p:sldId id="323" r:id="rId26"/>
    <p:sldId id="324" r:id="rId27"/>
    <p:sldId id="303" r:id="rId28"/>
    <p:sldId id="279" r:id="rId29"/>
    <p:sldId id="325" r:id="rId30"/>
    <p:sldId id="304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267" r:id="rId39"/>
    <p:sldId id="280" r:id="rId40"/>
    <p:sldId id="278" r:id="rId41"/>
    <p:sldId id="305" r:id="rId42"/>
    <p:sldId id="274" r:id="rId43"/>
    <p:sldId id="275" r:id="rId44"/>
    <p:sldId id="306" r:id="rId45"/>
    <p:sldId id="266" r:id="rId46"/>
    <p:sldId id="277" r:id="rId47"/>
    <p:sldId id="308" r:id="rId48"/>
    <p:sldId id="309" r:id="rId49"/>
    <p:sldId id="310" r:id="rId50"/>
    <p:sldId id="311" r:id="rId51"/>
    <p:sldId id="281" r:id="rId52"/>
    <p:sldId id="312" r:id="rId53"/>
    <p:sldId id="313" r:id="rId54"/>
    <p:sldId id="315" r:id="rId55"/>
    <p:sldId id="292" r:id="rId56"/>
    <p:sldId id="293" r:id="rId57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6" userDrawn="1">
          <p15:clr>
            <a:srgbClr val="A4A3A4"/>
          </p15:clr>
        </p15:guide>
        <p15:guide id="2" pos="3855" userDrawn="1">
          <p15:clr>
            <a:srgbClr val="A4A3A4"/>
          </p15:clr>
        </p15:guide>
        <p15:guide id="3" pos="7325" userDrawn="1">
          <p15:clr>
            <a:srgbClr val="A4A3A4"/>
          </p15:clr>
        </p15:guide>
        <p15:guide id="4" pos="250" userDrawn="1">
          <p15:clr>
            <a:srgbClr val="A4A3A4"/>
          </p15:clr>
        </p15:guide>
        <p15:guide id="5" orient="horz" pos="182" userDrawn="1">
          <p15:clr>
            <a:srgbClr val="A4A3A4"/>
          </p15:clr>
        </p15:guide>
        <p15:guide id="6" orient="horz" pos="40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{9B23C45E-6A9E-2F80-7F98-0CE583877B2C}">
      <ns4:sldGuideLockLst xmlns="" xmlns:ns3="http://schemas.microsoft.com/office/powerpoint/2012/main" xmlns:ns4="http://www.wps.cn/officeDocument/PresentationCustomData">
        <ns4:guide id="1"/>
        <ns4:guide id="2"/>
        <ns4:guide id="3"/>
        <ns4:guide id="4"/>
        <ns4:guide id="5"/>
        <ns4:guide id="6"/>
      </ns4:sldGuideLock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n An" initials="AA" lastIdx="3" clrIdx="0"/>
  <p:cmAuthor id="1019" name="谢婧" initials="谢" lastIdx="0" clrIdx="1018"/>
  <p:cmAuthor id="1" name="admin" initials="a" lastIdx="1" clrIdx="0"/>
  <p:cmAuthor id="1020" name="Ling" initials="L" lastIdx="0" clrIdx="1019"/>
  <p:cmAuthor id="2" name="彭 小猫" initials="彭" lastIdx="92" clrIdx="1"/>
  <p:cmAuthor id="1021" name="CHRISYU" initials="" lastIdx="0" clrIdx="1020"/>
  <p:cmAuthor id="3" name="成平 曾" initials="成平" lastIdx="3" clrIdx="2"/>
  <p:cmAuthor id="1022" name="张 珲" initials="张" lastIdx="0" clrIdx="1021"/>
  <p:cmAuthor id="4" name="周 杰鑫" initials="周" lastIdx="1" clrIdx="3"/>
  <p:cmAuthor id="1023" name="dtdream" initials="d" lastIdx="0" clrIdx="1022"/>
  <p:cmAuthor id="5" name="kun yang" initials="" lastIdx="19" clrIdx="4"/>
  <p:cmAuthor id="1024" name="t18221" initials="t" lastIdx="0" clrIdx="1023"/>
  <p:cmAuthor id="6" name="白云起" initials="白云起" lastIdx="5" clrIdx="5"/>
  <p:cmAuthor id="1025" name="office" initials="o" lastIdx="0" clrIdx="1024"/>
  <p:cmAuthor id="7" name="18511994914@163.com" initials="1" lastIdx="1" clrIdx="6"/>
  <p:cmAuthor id="1026" name="周姣" initials="1" lastIdx="0" clrIdx="1025"/>
  <p:cmAuthor id="8" name="Mumu Wen" initials="M" lastIdx="1" clrIdx="0"/>
  <p:cmAuthor id="1027" name="zhuqy3" initials="z" lastIdx="0" clrIdx="1026"/>
  <p:cmAuthor id="9" name=" " initials="cec-T" lastIdx="7" clrIdx="8"/>
  <p:cmAuthor id="1028" name="未知的使用者92" initials="未" lastIdx="0" clrIdx="1027"/>
  <p:cmAuthor id="10" name="Bao Yafei" initials="BY" lastIdx="5" clrIdx="9"/>
  <p:cmAuthor id="1029" name="Unknown User11" initials="U" lastIdx="0" clrIdx="1028"/>
  <p:cmAuthor id="11" name="xuhongli" initials="XHL" lastIdx="7" clrIdx="10"/>
  <p:cmAuthor id="654461932" name="宋远辉" initials="宋" lastIdx="2" clrIdx="213"/>
  <p:cmAuthor id="1030" name="未知的使用者136" initials="未" lastIdx="0" clrIdx="1029"/>
  <p:cmAuthor id="12" name="刘 彦杰" initials="刘" lastIdx="1" clrIdx="11"/>
  <p:cmAuthor id="1031" name="未知的使用者140" initials="未" lastIdx="0" clrIdx="1030"/>
  <p:cmAuthor id="13" name="10118178" initials="1" lastIdx="11" clrIdx="10"/>
  <p:cmAuthor id="1032" name="未知的使用者168" initials="未" lastIdx="0" clrIdx="1031"/>
  <p:cmAuthor id="14" name="zhouwd" initials="z" lastIdx="1" clrIdx="11"/>
  <p:cmAuthor id="1033" name="王 曦" initials="王" lastIdx="0" clrIdx="1032"/>
  <p:cmAuthor id="15" name="马云飞10014438" initials="马" lastIdx="4" clrIdx="0"/>
  <p:cmAuthor id="1034" name="Aqf" initials="A" lastIdx="0" clrIdx="1033"/>
  <p:cmAuthor id="16" name="John" initials="J" lastIdx="36" clrIdx="13"/>
  <p:cmAuthor id="1035" name="Helen Keyworth (HI)" initials="H" lastIdx="0" clrIdx="1034"/>
  <p:cmAuthor id="17" name="10025093" initials="1" lastIdx="51" clrIdx="14"/>
  <p:cmAuthor id="1036" name="刘春杰10244342" initials="刘春杰10244342" lastIdx="0" clrIdx="1035"/>
  <p:cmAuthor id="18" name="10078380" initials="1" lastIdx="1" clrIdx="15"/>
  <p:cmAuthor id="1037" name="li hui" initials="lh" lastIdx="0" clrIdx="1036"/>
  <p:cmAuthor id="19" name="00035181" initials="0" lastIdx="1" clrIdx="16"/>
  <p:cmAuthor id="1038" name="孟轩君" initials="孟" lastIdx="0" clrIdx="1037"/>
  <p:cmAuthor id="20" name="张燕" initials="张" lastIdx="1" clrIdx="17"/>
  <p:cmAuthor id="1039" name="成国强_6jqyBN7N" initials="authorId_8148959" lastIdx="0" clrIdx="1038"/>
  <p:cmAuthor id="21" name="Saku Uchikawa" initials="S" lastIdx="11" clrIdx="0"/>
  <p:cmAuthor id="1040" name="翔 张" initials="翔" lastIdx="0" clrIdx="1039"/>
  <p:cmAuthor id="22" name="10066351" initials="1" lastIdx="2" clrIdx="0"/>
  <p:cmAuthor id="1041" name="王竑达" initials="王竑达" lastIdx="0" clrIdx="1040"/>
  <p:cmAuthor id="23" name="ThinkPad" initials="T" lastIdx="2" clrIdx="22"/>
  <p:cmAuthor id="1042" name="Windows 用户" initials="W用" lastIdx="0" clrIdx="1041"/>
  <p:cmAuthor id="24" name="李蕾00009994" initials="李" lastIdx="6" clrIdx="17"/>
  <p:cmAuthor id="1043" name="李金金" initials="李金金" lastIdx="0" clrIdx="1042"/>
  <p:cmAuthor id="25" name="李璇" initials="李" lastIdx="1" clrIdx="24"/>
  <p:cmAuthor id="1044" name="杨 贺春" initials="杨" lastIdx="0" clrIdx="1043"/>
  <p:cmAuthor id="26" name="Nar.soul" initials="N" lastIdx="4" clrIdx="0"/>
  <p:cmAuthor id="1045" name="wlj352" initials="w" lastIdx="0" clrIdx="1044"/>
  <p:cmAuthor id="27" name="粤" initials="粤" lastIdx="1" clrIdx="25"/>
  <p:cmAuthor id="1046" name="penghang" initials="p" lastIdx="0" clrIdx="1045"/>
  <p:cmAuthor id="28" name="季健雄" initials="季" lastIdx="1" clrIdx="27"/>
  <p:cmAuthor id="1047" name="李红鑫" initials="李红鑫" lastIdx="0" clrIdx="1046"/>
  <p:cmAuthor id="29" name="毛雪峰" initials="毛" lastIdx="3" clrIdx="28"/>
  <p:cmAuthor id="1048" name="未知用户1" initials="未知用户1" lastIdx="0" clrIdx="1047"/>
  <p:cmAuthor id="30" name="10056791" initials="ZTE" lastIdx="1" clrIdx="29"/>
  <p:cmAuthor id="1049" name="未知用户2" initials="未知用户2" lastIdx="0" clrIdx="1048"/>
  <p:cmAuthor id="31" name="suaofengyang@126.com" initials="s" lastIdx="3" clrIdx="28"/>
  <p:cmAuthor id="1050" name="未知用户3" initials="未知用户3" lastIdx="0" clrIdx="1049"/>
  <p:cmAuthor id="32" name="Lee Alwin" initials="LA" lastIdx="1" clrIdx="31"/>
  <p:cmAuthor id="1051" name="未知用户4" initials="未知用户4" lastIdx="0" clrIdx="1050"/>
  <p:cmAuthor id="33" name="yang" initials="y" lastIdx="1" clrIdx="32"/>
  <p:cmAuthor id="1052" name="未知用户10" initials="未知用户10" lastIdx="0" clrIdx="1051"/>
  <p:cmAuthor id="34" name="Y Y" initials="YY" lastIdx="2" clrIdx="33"/>
  <p:cmAuthor id="1053" name="Dale" initials="D" lastIdx="0" clrIdx="1052"/>
  <p:cmAuthor id="35" name="Author" initials="A" lastIdx="0" clrIdx="35"/>
  <p:cmAuthor id="1054" name="zrf" initials="zrf" lastIdx="0" clrIdx="1053"/>
  <p:cmAuthor id="36" name="rev2" initials="c" lastIdx="1" clrIdx="36"/>
  <p:cmAuthor id="1055" name="赵诚荣10027092" initials="赵" lastIdx="0" clrIdx="1054"/>
  <p:cmAuthor id="37" name="黄珂10009187" initials="黄珂10009187" lastIdx="1" clrIdx="37"/>
  <p:cmAuthor id="1056" name="sjzx" initials="s" lastIdx="0" clrIdx="1055"/>
  <p:cmAuthor id="38" name="赵欣" initials="zx" lastIdx="4" clrIdx="37"/>
  <p:cmAuthor id="1057" name="祝惠蓉" initials="祝" lastIdx="0" clrIdx="1056"/>
  <p:cmAuthor id="39" name="10206899" initials="1" lastIdx="1" clrIdx="38"/>
  <p:cmAuthor id="1058" name="Daniel Clyde (HI)" initials="D" lastIdx="0" clrIdx="1057"/>
  <p:cmAuthor id="40" name="10133177" initials="1" lastIdx="1" clrIdx="39"/>
  <p:cmAuthor id="1059" name="未知用户63" initials="未" lastIdx="0" clrIdx="1058"/>
  <p:cmAuthor id="41" name="ASUS" initials="A" lastIdx="1" clrIdx="41"/>
  <p:cmAuthor id="1060" name="未知的使用者102" initials="未" lastIdx="0" clrIdx="1059"/>
  <p:cmAuthor id="42" name="hm" initials="h" lastIdx="10" clrIdx="41"/>
  <p:cmAuthor id="1061" name="Evonlin" initials="E" lastIdx="0" clrIdx="1060"/>
  <p:cmAuthor id="43" name="Microsoft Office 用户" initials="MO用 [8] [6]" lastIdx="1" clrIdx="42"/>
  <p:cmAuthor id="1062" name="WANGZF" initials="W" lastIdx="0" clrIdx="1061"/>
  <p:cmAuthor id="44" name="cjj" initials="c" lastIdx="1" clrIdx="43"/>
  <p:cmAuthor id="1063" name="Xin Wang (IB)" initials="X" lastIdx="0" clrIdx="1062"/>
  <p:cmAuthor id="45" name="10319231" initials="1" lastIdx="3" clrIdx="44"/>
  <p:cmAuthor id="1064" name="zhangbin" initials="z" lastIdx="0" clrIdx="1063"/>
  <p:cmAuthor id="46" name="yuange" initials="y" lastIdx="1" clrIdx="45"/>
  <p:cmAuthor id="1065" name="未知用户181" initials="未" lastIdx="0" clrIdx="1064"/>
  <p:cmAuthor id="47" name="wmj" initials="w" lastIdx="1" clrIdx="46"/>
  <p:cmAuthor id="488885677" name="T" initials="T" lastIdx="2" clrIdx="11"/>
  <p:cmAuthor id="1066" name="未知用户182" initials="未" lastIdx="0" clrIdx="1065"/>
  <p:cmAuthor id="48" name="yhs" initials="y" lastIdx="1" clrIdx="47"/>
  <p:cmAuthor id="488885678" name="山 姜" initials="山姜" lastIdx="1" clrIdx="26"/>
  <p:cmAuthor id="1067" name="nancy" initials="n" lastIdx="0" clrIdx="1066"/>
  <p:cmAuthor id="49" name="user" initials="u" lastIdx="2" clrIdx="48"/>
  <p:cmAuthor id="1068" name="未知的使用者210" initials="未" lastIdx="0" clrIdx="1067"/>
  <p:cmAuthor id="50" name="张卓豫" initials="zzy" lastIdx="1" clrIdx="49"/>
  <p:cmAuthor id="51" name="admin7" initials="l" lastIdx="1" clrIdx="50"/>
  <p:cmAuthor id="1070" name="未知的使用者219" initials="未" lastIdx="0" clrIdx="1069"/>
  <p:cmAuthor id="52" name="未知的使用者83" initials="" lastIdx="1" clrIdx="0"/>
  <p:cmAuthor id="53" name="Paul" initials="P" lastIdx="1" clrIdx="52"/>
  <p:cmAuthor id="54" name="未知的使用者84" initials="" lastIdx="1" clrIdx="1"/>
  <p:cmAuthor id="1073" name="未知的使用者131" initials="未" lastIdx="0" clrIdx="1072"/>
  <p:cmAuthor id="55" name="未知的使用者70" initials="" lastIdx="1" clrIdx="0"/>
  <p:cmAuthor id="1074" name="未知的使用者132" initials="未" lastIdx="0" clrIdx="1073"/>
  <p:cmAuthor id="56" name="未知的使用者85" initials="" lastIdx="1" clrIdx="0"/>
  <p:cmAuthor id="1075" name="未知的使用者226" initials="未" lastIdx="0" clrIdx="1074"/>
  <p:cmAuthor id="57" name="未知的使用者40" initials="" lastIdx="1" clrIdx="0"/>
  <p:cmAuthor id="1076" name="宋润龙" initials="authorId_1386763658" lastIdx="0" clrIdx="1075"/>
  <p:cmAuthor id="58" name="未知的使用者87" initials="" lastIdx="1" clrIdx="0"/>
  <p:cmAuthor id="59" name="曾红" initials="" lastIdx="0" clrIdx="0"/>
  <p:cmAuthor id="60" name="未知的使用者90" initials="" lastIdx="8" clrIdx="0"/>
  <p:cmAuthor id="61" name="未知的使用者29" initials="" lastIdx="1" clrIdx="0"/>
  <p:cmAuthor id="62" name="未知的使用者91" initials="" lastIdx="1" clrIdx="0"/>
  <p:cmAuthor id="63" name="未知的使用者98" initials="" lastIdx="1" clrIdx="0"/>
  <p:cmAuthor id="64" name="gengxuan" initials="g" lastIdx="10" clrIdx="63"/>
  <p:cmAuthor id="65" name="未知的使用者113" initials="" lastIdx="1" clrIdx="2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Wurui (Ray)" initials="W(" lastIdx="1" clrIdx="25"/>
  <p:cmAuthor id="77" name="Microsoft Office User" initials="MOU" lastIdx="1" clrIdx="26"/>
  <p:cmAuthor id="78" name="rbh" initials="r" lastIdx="4" clrIdx="77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291619609" name="帅帅" initials="帅" lastIdx="1" clrIdx="214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jiansheng li" initials="j" lastIdx="0" clrIdx="0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ztolei@163.com" initials="z" lastIdx="1" clrIdx="5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617883812" name="李科伟" initials="李" lastIdx="12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任斐" initials="任" lastIdx="1" clrIdx="1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刘云飞" initials="刘" lastIdx="1" clrIdx="6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王雅静" initials="王" lastIdx="1" clrIdx="0"/>
  <p:cmAuthor id="216" name="sun frank" initials="s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Ms" initials="M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1480374901" name="WPS_1678941670" initials="W" lastIdx="1" clrIdx="210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1065107950" name="Jancy_He" initials="J" lastIdx="1" clrIdx="207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337591917" name="小强" initials="小" lastIdx="1" clrIdx="388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2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崔彤欣" initials="崔" lastIdx="1" clrIdx="321"/>
  <p:cmAuthor id="323" name="ethel" initials="e" lastIdx="2" clrIdx="322"/>
  <p:cmAuthor id="324" name="多丽娅" initials="多" lastIdx="1" clrIdx="323"/>
  <p:cmAuthor id="325" name="25720" initials="2" lastIdx="1" clrIdx="324"/>
  <p:cmAuthor id="326" name="周华慧" initials="周" lastIdx="1" clrIdx="325"/>
  <p:cmAuthor id="327" name="胡萍" initials="胡" lastIdx="1" clrIdx="326"/>
  <p:cmAuthor id="328" name="tianyuan@cmhi.cmcc" initials="tianyuan@cmhi.cmcc" lastIdx="2" clrIdx="327"/>
  <p:cmAuthor id="329" name="24525" initials="2" lastIdx="1" clrIdx="328"/>
  <p:cmAuthor id="330" name="CHENBIN" initials="C" lastIdx="1" clrIdx="329"/>
  <p:cmAuthor id="331" name="liutAO" initials="l" lastIdx="1" clrIdx="330"/>
  <p:cmAuthor id="332" name="玉柱 姚" initials="玉" lastIdx="1" clrIdx="26"/>
  <p:cmAuthor id="333" name="周文_R7fau6bq" initials="周" lastIdx="1630185183" clrIdx="0"/>
  <p:cmAuthor id="334" name="Mjf" initials="M" lastIdx="1" clrIdx="0"/>
  <p:cmAuthor id="335" name="Kate Rijnen" initials="K" lastIdx="11" clrIdx="2"/>
  <p:cmAuthor id="1372219363" name="WPS_1653443306" initials="W" lastIdx="1" clrIdx="207"/>
  <p:cmAuthor id="336" name="Mark McGregor (HI)" initials="M" lastIdx="33" clrIdx="3"/>
  <p:cmAuthor id="337" name="王岚晟" initials="王" lastIdx="1" clrIdx="336"/>
  <p:cmAuthor id="338" name="Franca, Ryan {MDAO~Basel}" initials="F" lastIdx="6" clrIdx="6"/>
  <p:cmAuthor id="339" name="温文波" initials="温" lastIdx="1" clrIdx="338"/>
  <p:cmAuthor id="340" name="zhoupeng" initials="z" lastIdx="5" clrIdx="339"/>
  <p:cmAuthor id="341" name="Louise Adamson (HI)" initials="L" lastIdx="173" clrIdx="9"/>
  <p:cmAuthor id="342" name="xiaohan" initials="x" lastIdx="1" clrIdx="341"/>
  <p:cmAuthor id="343" name="David Morgan (HI)" initials="D" lastIdx="17" clrIdx="11"/>
  <p:cmAuthor id="344" name="Kate Sillitoe (HI)" initials="K" lastIdx="4" clrIdx="12"/>
  <p:cmAuthor id="345" name="kylin" initials="k" lastIdx="1" clrIdx="344"/>
  <p:cmAuthor id="346" name="hpguan" initials="h" lastIdx="27" clrIdx="0"/>
  <p:cmAuthor id="347" name="miaott" initials="m" lastIdx="0" clrIdx="195"/>
  <p:cmAuthor id="348" name="齐涛" initials="齐" lastIdx="1" clrIdx="0"/>
  <p:cmAuthor id="349" name="zhaoby01" initials="z" lastIdx="2" clrIdx="6"/>
  <p:cmAuthor id="427553388" name="little star" initials="l" lastIdx="1" clrIdx="406"/>
  <p:cmAuthor id="350" name="Lydia" initials="L" lastIdx="1" clrIdx="0"/>
  <p:cmAuthor id="351" name="fengyuan03" initials="f" lastIdx="11" clrIdx="1"/>
  <p:cmAuthor id="352" name="古二蛋" initials="古" lastIdx="1" clrIdx="2"/>
  <p:cmAuthor id="353" name="xusha" initials="x" lastIdx="1" clrIdx="2"/>
  <p:cmAuthor id="354" name="李 东科" initials="李" lastIdx="1" clrIdx="35"/>
  <p:cmAuthor id="355" name="甘源" initials="甘" lastIdx="4" clrIdx="0"/>
  <p:cmAuthor id="356" name="何富军" initials="何" lastIdx="1" clrIdx="0"/>
  <p:cmAuthor id="357" name="闫秀丽" initials="闫" lastIdx="0" clrIdx="0"/>
  <p:cmAuthor id="358" name="金雯茜" initials="金" lastIdx="1" clrIdx="357"/>
  <p:cmAuthor id="359" name="qatr130" initials="q" lastIdx="1" clrIdx="0"/>
  <p:cmAuthor id="360" name="袁正海" initials="袁" lastIdx="1" clrIdx="0"/>
  <p:cmAuthor id="287643681" name="殷格非" initials="殷" lastIdx="2" clrIdx="0"/>
  <p:cmAuthor id="361" name="未知用户84" initials="未" lastIdx="1" clrIdx="0"/>
  <p:cmAuthor id="287643682" name="z r" initials="zr" lastIdx="5" clrIdx="12"/>
  <p:cmAuthor id="362" name="未知用户88" initials="未" lastIdx="1" clrIdx="0"/>
  <p:cmAuthor id="287643683" name="lc xue" initials="lx" lastIdx="1" clrIdx="22"/>
  <p:cmAuthor id="363" name="未知的使用者179" initials="未" lastIdx="1" clrIdx="0"/>
  <p:cmAuthor id="287643684" name="ma yanru" initials="my" lastIdx="1" clrIdx="25"/>
  <p:cmAuthor id="364" name="熘?" initials="熘" lastIdx="1" clrIdx="0"/>
  <p:cmAuthor id="287643685" name="罗志军" initials="Microsof" lastIdx="1" clrIdx="38"/>
  <p:cmAuthor id="365" name="未知用户94" initials="未" lastIdx="0" clrIdx="0"/>
  <p:cmAuthor id="366" name="未知用户95" initials="未" lastIdx="1" clrIdx="0"/>
  <p:cmAuthor id="367" name="未知的使用者227" initials="未" lastIdx="2" clrIdx="0"/>
  <p:cmAuthor id="369" name="橙子" initials="橙" lastIdx="2" clrIdx="1"/>
  <p:cmAuthor id="370" name="加 林" initials="加" lastIdx="1" clrIdx="0"/>
  <p:cmAuthor id="371" name="wenle369@sina.com" initials="w" lastIdx="1" clrIdx="0"/>
  <p:cmAuthor id="372" name="未知用户418" initials="未" lastIdx="1" clrIdx="0"/>
  <p:cmAuthor id="373" name="未知用户271" initials="未" lastIdx="1" clrIdx="0"/>
  <p:cmAuthor id="374" name="think" initials="t" lastIdx="1" clrIdx="0"/>
  <p:cmAuthor id="375" name="过 去" initials="过" lastIdx="1" clrIdx="0"/>
  <p:cmAuthor id="376" name="ChinaUser" initials="C" lastIdx="1" clrIdx="0"/>
  <p:cmAuthor id="377" name="未知的使用者149" initials="未" lastIdx="8" clrIdx="0"/>
  <p:cmAuthor id="379" name="linkplus" initials="l" lastIdx="1" clrIdx="0"/>
  <p:cmAuthor id="380" name="未知用户118" initials="未" lastIdx="1" clrIdx="0"/>
  <p:cmAuthor id="381" name="未知用户119" initials="未" lastIdx="0" clrIdx="0"/>
  <p:cmAuthor id="382" name="未知用户120" initials="未" lastIdx="1" clrIdx="1"/>
  <p:cmAuthor id="383" name="未知用户121" initials="未" lastIdx="8" clrIdx="0"/>
  <p:cmAuthor id="384" name="未知用户122" initials="未" lastIdx="0" clrIdx="0"/>
  <p:cmAuthor id="271429377" name="WPS_1490447135" initials="W" lastIdx="1" clrIdx="52"/>
  <p:cmAuthor id="385" name="未知用户123" initials="未" lastIdx="1" clrIdx="0"/>
  <p:cmAuthor id="386" name="未知用户124" initials="未" lastIdx="9" clrIdx="0"/>
  <p:cmAuthor id="387" name="未知用户125" initials="未" lastIdx="2" clrIdx="0"/>
  <p:cmAuthor id="388" name="未知用户126" initials="未" lastIdx="1" clrIdx="0"/>
  <p:cmAuthor id="389" name="未知用户127" initials="未" lastIdx="1" clrIdx="0"/>
  <p:cmAuthor id="390" name="未知用户128" initials="未" lastIdx="1" clrIdx="0"/>
  <p:cmAuthor id="748972523" name="zahur" initials="z" lastIdx="2" clrIdx="24"/>
  <p:cmAuthor id="391" name="未知用户129" initials="未" lastIdx="0" clrIdx="8"/>
  <p:cmAuthor id="392" name="未知用户130" initials="未" lastIdx="1" clrIdx="0"/>
  <p:cmAuthor id="393" name="未知用户131" initials="未" lastIdx="10" clrIdx="0"/>
  <p:cmAuthor id="394" name="未知用户132" initials="未" lastIdx="1" clrIdx="0"/>
  <p:cmAuthor id="395" name="未知用户133" initials="未" lastIdx="2" clrIdx="0"/>
  <p:cmAuthor id="396" name="未知用户134" initials="未" lastIdx="1" clrIdx="0"/>
  <p:cmAuthor id="397" name="未知用户135" initials="未" lastIdx="0" clrIdx="0"/>
  <p:cmAuthor id="394525608" name="仇怿俊" initials="仇" lastIdx="0" clrIdx="0"/>
  <p:cmAuthor id="398" name="未知用户136" initials="未" lastIdx="1" clrIdx="0"/>
  <p:cmAuthor id="394525609" name="韩雨_UBvibq63" initials="authorId_353158055" lastIdx="0" clrIdx="0"/>
  <p:cmAuthor id="399" name="未知用户137" initials="未" lastIdx="0" clrIdx="0"/>
  <p:cmAuthor id="394525610" name="赵培勋_3IVrI7J7" initials="authorId_965678369" lastIdx="0" clrIdx="0"/>
  <p:cmAuthor id="400" name="未知用户138" initials="未" lastIdx="7" clrIdx="0"/>
  <p:cmAuthor id="394525611" name="施丽勤_uMzuu63y" initials="authorId_279398808" lastIdx="0" clrIdx="0"/>
  <p:cmAuthor id="401" name="未知用户141" initials="未" lastIdx="0" clrIdx="0"/>
  <p:cmAuthor id="394525612" name="peng Terry" initials="pT" lastIdx="1" clrIdx="23"/>
  <p:cmAuthor id="402" name="未知用户142" initials="未" lastIdx="0" clrIdx="1"/>
  <p:cmAuthor id="394525613" name="Administrator" initials="A" lastIdx="1" clrIdx="24"/>
  <p:cmAuthor id="403" name="未知用户143" initials="未" lastIdx="1" clrIdx="0"/>
  <p:cmAuthor id="394525614" name="BlackHole" initials="B" lastIdx="1" clrIdx="25"/>
  <p:cmAuthor id="404" name="未知用户144" initials="未" lastIdx="1" clrIdx="0"/>
  <p:cmAuthor id="405" name="未知用户145" initials="未" lastIdx="2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用户139" initials="未" lastIdx="0" clrIdx="0"/>
  <p:cmAuthor id="411" name="未知用户188" initials="未" lastIdx="1" clrIdx="0"/>
  <p:cmAuthor id="412" name="未知用户189" initials="未" lastIdx="1" clrIdx="0"/>
  <p:cmAuthor id="413" name="未知用户165" initials="未" lastIdx="1" clrIdx="0"/>
  <p:cmAuthor id="414" name="未知用户166" initials="未" lastIdx="1" clrIdx="0"/>
  <p:cmAuthor id="415" name="未知用户167" initials="未" lastIdx="1" clrIdx="0"/>
  <p:cmAuthor id="416" name="未知用户168" initials="未" lastIdx="0" clrIdx="8"/>
  <p:cmAuthor id="417" name="未知用户169" initials="未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2" name="未知用户174" initials="未" lastIdx="0" clrIdx="0"/>
  <p:cmAuthor id="423" name="未知用户175" initials="未" lastIdx="1" clrIdx="0"/>
  <p:cmAuthor id="424" name="未知用户176" initials="未" lastIdx="0" clrIdx="0"/>
  <p:cmAuthor id="425" name="未知的使用者207" initials="" lastIdx="1" clrIdx="0"/>
  <p:cmAuthor id="426" name="未知的使用者208" initials="" lastIdx="5" clrIdx="1"/>
  <p:cmAuthor id="427" name="alen" initials="a" lastIdx="2" clrIdx="0"/>
  <p:cmAuthor id="428" name="USER" initials="U" lastIdx="0" clrIdx="0"/>
  <p:cmAuthor id="429" name="王 一鸣" initials="王" lastIdx="1" clrIdx="0"/>
  <p:cmAuthor id="430" name="Well Li" initials="W" lastIdx="1" clrIdx="0"/>
  <p:cmAuthor id="431" name="任俊宣" initials="任" lastIdx="1" clrIdx="6"/>
  <p:cmAuthor id="432" name="未知用户198" initials="未" lastIdx="0" clrIdx="0"/>
  <p:cmAuthor id="433" name="未知的使用者215" initials="" lastIdx="1" clrIdx="0"/>
  <p:cmAuthor id="434" name="未知用户220" initials="未" lastIdx="1" clrIdx="0"/>
  <p:cmAuthor id="435" name="未知用户221" initials="未" lastIdx="1" clrIdx="0"/>
  <p:cmAuthor id="436" name="未知用户199" initials="未" lastIdx="0" clrIdx="1"/>
  <p:cmAuthor id="437" name="未知用户200" initials="未" lastIdx="2" clrIdx="0"/>
  <p:cmAuthor id="438" name="未知用户201" initials="未" lastIdx="11" clrIdx="1"/>
  <p:cmAuthor id="439" name="未知用户214" initials="未" lastIdx="1" clrIdx="0"/>
  <p:cmAuthor id="440" name="未知用户216" initials="未" lastIdx="1" clrIdx="0"/>
  <p:cmAuthor id="441" name="未知用户202" initials="未" lastIdx="2" clrIdx="0"/>
  <p:cmAuthor id="442" name="未知用户203" initials="未" lastIdx="15" clrIdx="0"/>
  <p:cmAuthor id="443" name="未知用户204" initials="未" lastIdx="1" clrIdx="0"/>
  <p:cmAuthor id="444" name="未知用户205" initials="未" lastIdx="7" clrIdx="0"/>
  <p:cmAuthor id="445" name="未知用户206" initials="未" lastIdx="1" clrIdx="0"/>
  <p:cmAuthor id="446" name="未知用户207" initials="未" lastIdx="1" clrIdx="0"/>
  <p:cmAuthor id="447" name="未知用户208" initials="未" lastIdx="1" clrIdx="0"/>
  <p:cmAuthor id="448" name="未知用户209" initials="未" lastIdx="2" clrIdx="0"/>
  <p:cmAuthor id="449" name="未知用户210" initials="未" lastIdx="0" clrIdx="0"/>
  <p:cmAuthor id="450" name="未知用户213" initials="未" lastIdx="1" clrIdx="2"/>
  <p:cmAuthor id="451" name="未知用户211" initials="未" lastIdx="1" clrIdx="0"/>
  <p:cmAuthor id="452" name="?定义" initials="?" lastIdx="2" clrIdx="0"/>
  <p:cmAuthor id="453" name="sxp" initials="s" lastIdx="1" clrIdx="2"/>
  <p:cmAuthor id="454" name="allan" initials="a" lastIdx="1" clrIdx="0"/>
  <p:cmAuthor id="456" name="tkadmin" initials="t" lastIdx="1" clrIdx="455"/>
  <p:cmAuthor id="457" name="mawei19" initials="m" lastIdx="1" clrIdx="21"/>
  <p:cmAuthor id="458" name="未知用户148" initials="未" lastIdx="1" clrIdx="0"/>
  <p:cmAuthor id="197537691" name="刘" initials="刘" lastIdx="3" clrIdx="12"/>
  <p:cmAuthor id="297873526" name="刘新妍" initials="刘" lastIdx="1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1411827" name="黄晓平" initials="黄" lastIdx="0" clrIdx="0"/>
  <p:cmAuthor id="512" name="未知用户160" initials="未" lastIdx="2" clrIdx="0"/>
  <p:cmAuthor id="1411828" name="Mr.Wu" initials="M" lastIdx="1" clrIdx="41"/>
  <p:cmAuthor id="381437688" name="谢学斌" initials="谢" lastIdx="0" clrIdx="0"/>
  <p:cmAuthor id="513" name="王 金谦" initials="王" lastIdx="2" clrIdx="21"/>
  <p:cmAuthor id="1411829" name="Chang Chen" initials="CC" lastIdx="2" clrIdx="44"/>
  <p:cmAuthor id="514" name="順天" initials="順" lastIdx="1" clrIdx="0"/>
  <p:cmAuthor id="1006696089" name="LAN" initials="L" lastIdx="1" clrIdx="1"/>
  <p:cmAuthor id="516" name="未知用户197" initials="未" lastIdx="0" clrIdx="1"/>
  <p:cmAuthor id="518" name="未知的使用者224" initials="未" lastIdx="1" clrIdx="0"/>
  <p:cmAuthor id="519" name="肖婧" initials="肖" lastIdx="7" clrIdx="0"/>
  <p:cmAuthor id="191251535" name="沈霄雷" initials="沈" lastIdx="833089" clrIdx="0"/>
  <p:cmAuthor id="520" name="未知的使用者161" initials="未" lastIdx="1" clrIdx="0"/>
  <p:cmAuthor id="191251536" name="李臻_jiai6ZRr" initials="authorId_192999303" lastIdx="0" clrIdx="0"/>
  <p:cmAuthor id="191251537" name="田亚林+_vEn2feIZ" initials="authorId_385966644" lastIdx="0" clrIdx="0"/>
  <p:cmAuthor id="191251538" name="孙军_a2y2UrEv" initials="authorId_524475945" lastIdx="0" clrIdx="0"/>
  <p:cmAuthor id="523" name="未知用户20" initials="未" lastIdx="1" clrIdx="0"/>
  <p:cmAuthor id="191251539" name="戴 清泺" initials="戴" lastIdx="1" clrIdx="34"/>
  <p:cmAuthor id="191251540" name="NN" initials="NN" lastIdx="10" clrIdx="35"/>
  <p:cmAuthor id="191251541" name="he wen" initials="hw" lastIdx="3" clrIdx="210"/>
  <p:cmAuthor id="191251542" name="yang.yuan" initials="y" lastIdx="0" clrIdx="17"/>
  <p:cmAuthor id="527" name="未知的使用者217" initials="未" lastIdx="1" clrIdx="1"/>
  <p:cmAuthor id="191251543" name="于洪宇_rMRzAZZ7" initials="authorId_260024" lastIdx="580781421" clrIdx="0"/>
  <p:cmAuthor id="529" name="lilan" initials="l" lastIdx="1" clrIdx="0"/>
  <p:cmAuthor id="533" name="hmwang" initials="dsc" lastIdx="2" clrIdx="532"/>
  <p:cmAuthor id="534" name="未知的使用者204" initials="未" lastIdx="1" clrIdx="0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40" name="未知的使用者130" initials="未" lastIdx="8" clrIdx="0"/>
  <p:cmAuthor id="541" name="未知的使用者234" initials="未" lastIdx="10" clrIdx="0"/>
  <p:cmAuthor id="542" name="未知的使用者137" initials="未" lastIdx="1" clrIdx="0"/>
  <p:cmAuthor id="708433798" name="jialuo" initials="j" lastIdx="0" clrIdx="0"/>
  <p:cmAuthor id="543" name="王芳" initials="王" lastIdx="14" clrIdx="0"/>
  <p:cmAuthor id="708433799" name="陈睿君" initials="ruijun" lastIdx="1" clrIdx="37"/>
  <p:cmAuthor id="708433800" name="xiaming song" initials="xs" lastIdx="1" clrIdx="38"/>
  <p:cmAuthor id="545" name="dell" initials="d" lastIdx="1" clrIdx="544"/>
  <p:cmAuthor id="708433801" name="Rensheng Tang" initials="RT" lastIdx="0" clrIdx="51"/>
  <p:cmAuthor id="708433802" name="林茂" initials="" lastIdx="0" clrIdx="52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3" name="刘晖" initials="刘" lastIdx="1" clrIdx="0"/>
  <p:cmAuthor id="554" name="未知用户190" initials="未" lastIdx="1" clrIdx="1"/>
  <p:cmAuthor id="555" name="未知用户25" initials="未" lastIdx="1" clrIdx="0"/>
  <p:cmAuthor id="556" name="Stacy Chiang" initials="S" lastIdx="2" clrIdx="0"/>
  <p:cmAuthor id="557" name="Xia Ting" initials="X" lastIdx="1" clrIdx="0"/>
  <p:cmAuthor id="8535702" name="曾蓓/贝贝" initials="曾" lastIdx="0" clrIdx="0"/>
  <p:cmAuthor id="558" name="未知用户337" initials="未" lastIdx="0" clrIdx="0"/>
  <p:cmAuthor id="559" name="未知用户336" initials="未" lastIdx="1" clrIdx="0"/>
  <p:cmAuthor id="475196944" name="姚琳" initials="姚" lastIdx="1133934" clrIdx="0"/>
  <p:cmAuthor id="560" name="未知用户318" initials="未" lastIdx="1" clrIdx="1"/>
  <p:cmAuthor id="475196945" name="chen" initials="c" lastIdx="1" clrIdx="2"/>
  <p:cmAuthor id="475196946" name="祖港 张" initials="祖张" lastIdx="12" clrIdx="30"/>
  <p:cmAuthor id="562" name="未知用户320" initials="未" lastIdx="3" clrIdx="0"/>
  <p:cmAuthor id="564" name="未知用户322" initials="未" lastIdx="0" clrIdx="0"/>
  <p:cmAuthor id="565" name="未知用户323" initials="未" lastIdx="9" clrIdx="0"/>
  <p:cmAuthor id="566" name="未知用户287" initials="未" lastIdx="1" clrIdx="0"/>
  <p:cmAuthor id="567" name="未知用户324" initials="未" lastIdx="1" clrIdx="0"/>
  <p:cmAuthor id="568" name="未知用户325" initials="未" lastIdx="2" clrIdx="0"/>
  <p:cmAuthor id="569" name="未知用户290" initials="未" lastIdx="1" clrIdx="0"/>
  <p:cmAuthor id="570" name="未知用户291" initials="未" lastIdx="1" clrIdx="0"/>
  <p:cmAuthor id="571" name="未知用户292" initials="未" lastIdx="0" clrIdx="0"/>
  <p:cmAuthor id="572" name="未知用户293" initials="未" lastIdx="1" clrIdx="0"/>
  <p:cmAuthor id="573" name="未知用户294" initials="未" lastIdx="1" clrIdx="1"/>
  <p:cmAuthor id="574" name="未知用户295" initials="未" lastIdx="1" clrIdx="0"/>
  <p:cmAuthor id="575" name="未知用户326" initials="未" lastIdx="1" clrIdx="0"/>
  <p:cmAuthor id="576" name="未知用户327" initials="未" lastIdx="2" clrIdx="0"/>
  <p:cmAuthor id="577" name="未知用户328" initials="未" lastIdx="2" clrIdx="0"/>
  <p:cmAuthor id="578" name="未知用户299" initials="未" lastIdx="3" clrIdx="0"/>
  <p:cmAuthor id="579" name="未知用户300" initials="未" lastIdx="22" clrIdx="0"/>
  <p:cmAuthor id="580" name="未知用户301" initials="未" lastIdx="1" clrIdx="0"/>
  <p:cmAuthor id="231976950" name="挚爱一生♥祺" initials="挚" lastIdx="2" clrIdx="337"/>
  <p:cmAuthor id="581" name="未知用户302" initials="未" lastIdx="1" clrIdx="1"/>
  <p:cmAuthor id="415625206" name="Ivan Huang" initials="I" lastIdx="2" clrIdx="373"/>
  <p:cmAuthor id="582" name="未知用户303" initials="未" lastIdx="1" clrIdx="0"/>
  <p:cmAuthor id="583" name="未知用户304" initials="未" lastIdx="1" clrIdx="35"/>
  <p:cmAuthor id="584" name="未知用户305" initials="未" lastIdx="1" clrIdx="0"/>
  <p:cmAuthor id="585" name="未知用户306" initials="未" lastIdx="0" clrIdx="0"/>
  <p:cmAuthor id="586" name="未知用户222" initials="未" lastIdx="1" clrIdx="1"/>
  <p:cmAuthor id="587" name="未知用户224" initials="未" lastIdx="0" clrIdx="0"/>
  <p:cmAuthor id="588" name="未知用户332" initials="未" lastIdx="1" clrIdx="0"/>
  <p:cmAuthor id="589" name="未知用户309" initials="未" lastIdx="0" clrIdx="0"/>
  <p:cmAuthor id="590" name="未知用户310" initials="未" lastIdx="1" clrIdx="21"/>
  <p:cmAuthor id="591" name="未知用户311" initials="未" lastIdx="1" clrIdx="0"/>
  <p:cmAuthor id="592" name="未知用户312" initials="未" lastIdx="4" clrIdx="1"/>
  <p:cmAuthor id="593" name="未知用户313" initials="未" lastIdx="1" clrIdx="0"/>
  <p:cmAuthor id="594" name="未知用户335" initials="未" lastIdx="1" clrIdx="0"/>
  <p:cmAuthor id="595" name="未知用户316" initials="未" lastIdx="1" clrIdx="0"/>
  <p:cmAuthor id="596" name="未知用户277" initials="未" lastIdx="1" clrIdx="0"/>
  <p:cmAuthor id="597" name="未知用户278" initials="未" lastIdx="1" clrIdx="0"/>
  <p:cmAuthor id="598" name="未知用户272" initials="未" lastIdx="10" clrIdx="0"/>
  <p:cmAuthor id="599" name="未知用户273" initials="未" lastIdx="1" clrIdx="0"/>
  <p:cmAuthor id="600" name="未知用户279" initials="未" lastIdx="1" clrIdx="1"/>
  <p:cmAuthor id="601" name="未知用户233" initials="未" lastIdx="1" clrIdx="0"/>
  <p:cmAuthor id="1123687567" name="mystic" initials="m" lastIdx="1" clrIdx="11"/>
  <p:cmAuthor id="602" name="未知用户229" initials="未" lastIdx="0" clrIdx="0"/>
  <p:cmAuthor id="603" name="未知用户234" initials="未" lastIdx="1" clrIdx="0"/>
  <p:cmAuthor id="604" name="未知用户274" initials="未" lastIdx="1" clrIdx="0"/>
  <p:cmAuthor id="605" name="未知用户236" initials="未" lastIdx="0" clrIdx="0"/>
  <p:cmAuthor id="606" name="未知用户280" initials="未" lastIdx="2" clrIdx="0"/>
  <p:cmAuthor id="607" name="未知用户238" initials="未" lastIdx="1" clrIdx="21"/>
  <p:cmAuthor id="608" name="未知用户239" initials="未" lastIdx="1" clrIdx="0"/>
  <p:cmAuthor id="609" name="未知用户240" initials="未" lastIdx="4" clrIdx="1"/>
  <p:cmAuthor id="610" name="未知用户241" initials="未" lastIdx="1" clrIdx="0"/>
  <p:cmAuthor id="611" name="未知用户242" initials="未" lastIdx="1" clrIdx="0"/>
  <p:cmAuthor id="612" name="未知用户243" initials="未" lastIdx="1" clrIdx="0"/>
  <p:cmAuthor id="613" name="未知用户244" initials="未" lastIdx="1" clrIdx="0"/>
  <p:cmAuthor id="614" name="未知用户245" initials="未" lastIdx="1" clrIdx="0"/>
  <p:cmAuthor id="615" name="未知用户246" initials="未" lastIdx="1" clrIdx="1"/>
  <p:cmAuthor id="616" name="未知用户247" initials="未" lastIdx="7" clrIdx="0"/>
  <p:cmAuthor id="617" name="未知用户248" initials="未" lastIdx="3" clrIdx="0"/>
  <p:cmAuthor id="618" name="未知用户249" initials="未" lastIdx="1" clrIdx="0"/>
  <p:cmAuthor id="619" name="未知用户250" initials="未" lastIdx="0" clrIdx="0"/>
  <p:cmAuthor id="620" name="未知用户251" initials="未" lastIdx="9" clrIdx="0"/>
  <p:cmAuthor id="621" name="未知用户252" initials="未" lastIdx="1" clrIdx="0"/>
  <p:cmAuthor id="622" name="未知用户253" initials="未" lastIdx="1" clrIdx="0"/>
  <p:cmAuthor id="623" name="未知用户254" initials="未" lastIdx="2" clrIdx="0"/>
  <p:cmAuthor id="624" name="未知用户255" initials="未" lastIdx="1" clrIdx="0"/>
  <p:cmAuthor id="625" name="未知用户256" initials="未" lastIdx="1" clrIdx="0"/>
  <p:cmAuthor id="626" name="未知用户257" initials="未" lastIdx="0" clrIdx="0"/>
  <p:cmAuthor id="627" name="未知用户258" initials="未" lastIdx="1" clrIdx="0"/>
  <p:cmAuthor id="628" name="未知用户259" initials="未" lastIdx="1" clrIdx="1"/>
  <p:cmAuthor id="629" name="未知用户260" initials="未" lastIdx="1" clrIdx="0"/>
  <p:cmAuthor id="630" name="未知用户275" initials="未" lastIdx="1" clrIdx="0"/>
  <p:cmAuthor id="631" name="未知用户276" initials="未" lastIdx="2" clrIdx="0"/>
  <p:cmAuthor id="632" name="未知用户263" initials="未" lastIdx="2" clrIdx="0"/>
  <p:cmAuthor id="633" name="未知用户264" initials="未" lastIdx="3" clrIdx="0"/>
  <p:cmAuthor id="634" name="未知用户265" initials="未" lastIdx="22" clrIdx="0"/>
  <p:cmAuthor id="635" name="未知用户266" initials="未" lastIdx="1" clrIdx="1"/>
  <p:cmAuthor id="636" name="未知用户267" initials="未" lastIdx="1" clrIdx="0"/>
  <p:cmAuthor id="637" name="未知用户268" initials="未" lastIdx="1" clrIdx="35"/>
  <p:cmAuthor id="638" name="未知用户269" initials="未" lastIdx="1" clrIdx="0"/>
  <p:cmAuthor id="639" name="未知用户270" initials="未" lastIdx="0" clrIdx="0"/>
  <p:cmAuthor id="640" name="未知用户193" initials="未" lastIdx="2" clrIdx="0"/>
  <p:cmAuthor id="641" name="未知用户195" initials="未" lastIdx="22" clrIdx="0"/>
  <p:cmAuthor id="642" name="未知用户196" initials="未" lastIdx="1" clrIdx="0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未知用户288" initials="未" lastIdx="1" clrIdx="0"/>
  <p:cmAuthor id="649" name="未知用户297" initials="未" lastIdx="1" clrIdx="0"/>
  <p:cmAuthor id="650" name="未知用户298" initials="未" lastIdx="1" clrIdx="1"/>
  <p:cmAuthor id="651" name="未知用户307" initials="未" lastIdx="7" clrIdx="0"/>
  <p:cmAuthor id="630681151" name="山河念远" initials="山" lastIdx="1" clrIdx="326"/>
  <p:cmAuthor id="652" name="未知用户308" initials="未" lastIdx="3" clrIdx="0"/>
  <p:cmAuthor id="653" name="未知用户315" initials="未" lastIdx="1" clrIdx="0"/>
  <p:cmAuthor id="654" name="未知用户317" initials="未" lastIdx="0" clrIdx="0"/>
  <p:cmAuthor id="655" name="未知用户329" initials="未" lastIdx="10" clrIdx="0"/>
  <p:cmAuthor id="656" name="未知用户333" initials="未" lastIdx="1" clrIdx="0"/>
  <p:cmAuthor id="657" name="未知用户334" initials="未" lastIdx="1" clrIdx="0"/>
  <p:cmAuthor id="658" name="未知用户340" initials="未" lastIdx="2" clrIdx="0"/>
  <p:cmAuthor id="659" name="未知用户341" initials="未" lastIdx="1" clrIdx="0"/>
  <p:cmAuthor id="660" name="未知用户342" initials="未" lastIdx="1" clrIdx="0"/>
  <p:cmAuthor id="661" name="未知用户343" initials="未" lastIdx="0" clrIdx="0"/>
  <p:cmAuthor id="662" name="未知用户344" initials="未" lastIdx="1" clrIdx="0"/>
  <p:cmAuthor id="663" name="未知用户345" initials="未" lastIdx="1" clrIdx="1"/>
  <p:cmAuthor id="664" name="未知用户365" initials="未" lastIdx="1" clrIdx="0"/>
  <p:cmAuthor id="665" name="未知用户366" initials="未" lastIdx="1" clrIdx="0"/>
  <p:cmAuthor id="666" name="未知用户367" initials="未" lastIdx="2" clrIdx="0"/>
  <p:cmAuthor id="667" name="未知用户368" initials="未" lastIdx="2" clrIdx="0"/>
  <p:cmAuthor id="668" name="未知用户403" initials="未" lastIdx="1" clrIdx="0"/>
  <p:cmAuthor id="669" name="未知用户402" initials="未" lastIdx="1" clrIdx="0"/>
  <p:cmAuthor id="670" name="未知用户379" initials="未" lastIdx="10" clrIdx="0"/>
  <p:cmAuthor id="671" name="未知用户380" initials="未" lastIdx="1" clrIdx="0"/>
  <p:cmAuthor id="672" name="未知用户405" initials="未" lastIdx="2" clrIdx="0"/>
  <p:cmAuthor id="673" name="未知用户382" initials="未" lastIdx="1" clrIdx="0"/>
  <p:cmAuthor id="674" name="未知用户383" initials="未" lastIdx="1" clrIdx="0"/>
  <p:cmAuthor id="675" name="未知用户384" initials="未" lastIdx="1" clrIdx="1"/>
  <p:cmAuthor id="676" name="未知用户385" initials="未" lastIdx="7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559801588" name="李林林" initials="李" lastIdx="0" clrIdx="0"/>
  <p:cmAuthor id="691" name="未知用户407" initials="未" lastIdx="1" clrIdx="0"/>
  <p:cmAuthor id="559801589" name="lin li" initials="ll" lastIdx="22" clrIdx="1"/>
  <p:cmAuthor id="692" name="未知用户398" initials="未" lastIdx="1" clrIdx="0"/>
  <p:cmAuthor id="559801590" name="任 杨志" initials="任" lastIdx="1" clrIdx="9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郭成报" initials="郭" lastIdx="1" clrIdx="726"/>
  <p:cmAuthor id="728" name="谢静波" initials="谢" lastIdx="1" clrIdx="727"/>
  <p:cmAuthor id="730" name="zhang li" initials="z" lastIdx="1" clrIdx="138"/>
  <p:cmAuthor id="1533055663" name="乔显" initials="乔" lastIdx="6" clrIdx="407"/>
  <p:cmAuthor id="734" name="PC" initials="P" lastIdx="1" clrIdx="733"/>
  <p:cmAuthor id="735" name="wfbs" initials="w" lastIdx="1" clrIdx="734"/>
  <p:cmAuthor id="29922660" name="杨强" initials="杨" lastIdx="0" clrIdx="0"/>
  <p:cmAuthor id="29922661" name="檀晟 陈" initials="檀晟" lastIdx="1" clrIdx="1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5" name="未知用户339" initials="未" lastIdx="1" clrIdx="0"/>
  <p:cmAuthor id="757" name="未知用户381" initials="未" lastIdx="1" clrIdx="0"/>
  <p:cmAuthor id="759" name="张逸晨" initials="张" lastIdx="1" clrIdx="0"/>
  <p:cmAuthor id="762" name="张洁01-lhq" initials="张" lastIdx="3" clrIdx="0"/>
  <p:cmAuthor id="763" name="池依曼" initials="池" lastIdx="2" clrIdx="72"/>
  <p:cmAuthor id="764" name="未知用户219" initials="未" lastIdx="3" clrIdx="0"/>
  <p:cmAuthor id="765" name="未知用户230" initials="未" lastIdx="2" clrIdx="0"/>
  <p:cmAuthor id="766" name="未知用户231" initials="未" lastIdx="1" clrIdx="0"/>
  <p:cmAuthor id="767" name="未知用户232" initials="未" lastIdx="1" clrIdx="0"/>
  <p:cmAuthor id="768" name="未知用户237" initials="未" lastIdx="7" clrIdx="0"/>
  <p:cmAuthor id="769" name="未知用户226" initials="未" lastIdx="1" clrIdx="0"/>
  <p:cmAuthor id="770" name="亚运 曹" initials="亚" lastIdx="3" clrIdx="2"/>
  <p:cmAuthor id="354742183" name="海阔、天空" initials="海" lastIdx="4" clrIdx="205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777" name="未知用户404" initials="未" lastIdx="15" clrIdx="0"/>
  <p:cmAuthor id="229306347" name="马一杰" initials="马" lastIdx="1" clrIdx="39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0" name="未知用户348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222315006" name="夏小芸°Bella" initials="夏" lastIdx="1" clrIdx="0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3" name="未知用户451" initials="未" lastIdx="1" clrIdx="0"/>
  <p:cmAuthor id="814" name="未知用户466" initials="未" lastIdx="3" clrIdx="0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691587970" name="小延魔法师" initials="小" lastIdx="1126286" clrIdx="0"/>
  <p:cmAuthor id="823" name="未知用户463" initials="未" lastIdx="1" clrIdx="18"/>
  <p:cmAuthor id="691587971" name="lmj lmj" initials="ll" lastIdx="1" clrIdx="65"/>
  <p:cmAuthor id="824" name="未知用户467" initials="未" lastIdx="0" clrIdx="0"/>
  <p:cmAuthor id="691587972" name="CMCC" initials="C" lastIdx="2" clrIdx="56"/>
  <p:cmAuthor id="825" name="未知用户468" initials="未" lastIdx="1" clrIdx="0"/>
  <p:cmAuthor id="691587973" name="Ms.Zhang" initials="M" lastIdx="1" clrIdx="59"/>
  <p:cmAuthor id="826" name="未知用户469" initials="未" lastIdx="1" clrIdx="0"/>
  <p:cmAuthor id="691587974" name="张雅欣" initials="张" lastIdx="1" clrIdx="52"/>
  <p:cmAuthor id="827" name="未知用户458" initials="未" lastIdx="2" clrIdx="0"/>
  <p:cmAuthor id="691587975" name="huoys" initials="h" lastIdx="1" clrIdx="333"/>
  <p:cmAuthor id="828" name="未知用户470" initials="未" lastIdx="1" clrIdx="0"/>
  <p:cmAuthor id="829" name="未知用户471" initials="未" lastIdx="1" clrIdx="0"/>
  <p:cmAuthor id="830" name="未知用户472" initials="未" lastIdx="1" clrIdx="0"/>
  <p:cmAuthor id="831" name="未知用户473" initials="未" lastIdx="4" clrIdx="0"/>
  <p:cmAuthor id="832" name="未知用户235" initials="未" lastIdx="0" clrIdx="1"/>
  <p:cmAuthor id="833" name="未知用户453" initials="未" lastIdx="1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he zhirui" initials="hz" lastIdx="1" clrIdx="82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Windows User" initials="WU" lastIdx="3" clrIdx="207"/>
  <p:cmAuthor id="839" name="未知用户488" initials="未" lastIdx="10" clrIdx="0"/>
  <p:cmAuthor id="49837072" name="郑勇进" initials="郑勇进" lastIdx="0" clrIdx="177"/>
  <p:cmAuthor id="840" name="未知用户490" initials="未" lastIdx="1" clrIdx="0"/>
  <p:cmAuthor id="49837073" name="汤 亚" initials="汤" lastIdx="2" clrIdx="178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61" name="seki" initials="s" lastIdx="1" clrIdx="0"/>
  <p:cmAuthor id="869" name="未知的使用者197" initials="未" lastIdx="0" clrIdx="868"/>
  <p:cmAuthor id="870" name="未知的使用者233" initials="未" lastIdx="0" clrIdx="869"/>
  <p:cmAuthor id="871" name="未知的使用者200" initials="未" lastIdx="0" clrIdx="870"/>
  <p:cmAuthor id="873" name="未知的使用者171" initials="未" lastIdx="0" clrIdx="872"/>
  <p:cmAuthor id="1473136569" name="西西弗斯" initials="西" lastIdx="1" clrIdx="798"/>
  <p:cmAuthor id="891" name="吕有才" initials="吕" lastIdx="0" clrIdx="890"/>
  <p:cmAuthor id="892" name="卢碧云" initials="卢" lastIdx="0" clrIdx="891"/>
  <p:cmAuthor id="893" name="作者" initials="A" lastIdx="0" clrIdx="892"/>
  <p:cmAuthor id="894" name="13954" initials="1" lastIdx="0" clrIdx="893"/>
  <p:cmAuthor id="895" name="陈 光" initials="陈" lastIdx="0" clrIdx="894"/>
  <p:cmAuthor id="896" name="Wu Jason" initials="WJ" lastIdx="0" clrIdx="895"/>
  <p:cmAuthor id="897" name="pengfei du" initials="pd" lastIdx="0" clrIdx="896"/>
  <p:cmAuthor id="898" name="luyan" initials="l" lastIdx="0" clrIdx="897"/>
  <p:cmAuthor id="899" name="上官" initials="上官" lastIdx="0" clrIdx="898"/>
  <p:cmAuthor id="900" name="幸全" initials="幸全" lastIdx="0" clrIdx="899"/>
  <p:cmAuthor id="901" name="王瑞敏" initials="王瑞敏" lastIdx="0" clrIdx="900"/>
  <p:cmAuthor id="902" name="86185" initials="8" lastIdx="0" clrIdx="901"/>
  <p:cmAuthor id="903" name="商旅事业部-刘慧林-Niko" initials="商旅事业部-刘慧林-Niko" lastIdx="0" clrIdx="902"/>
  <p:cmAuthor id="47245819" name="群智集" initials="群" lastIdx="0" clrIdx="0"/>
  <p:cmAuthor id="904" name="樊星" initials="樊" lastIdx="0" clrIdx="903"/>
  <p:cmAuthor id="47245820" name="郏 鹏" initials="郏" lastIdx="1" clrIdx="16"/>
  <p:cmAuthor id="905" name="张静_Anua7Nne" initials="authorId_935319063" lastIdx="0" clrIdx="904"/>
  <p:cmAuthor id="47245821" name="郏鹏" initials="M" lastIdx="1" clrIdx="17"/>
  <p:cmAuthor id="47245822" name="Admin" initials="A" lastIdx="1" clrIdx="43"/>
  <p:cmAuthor id="907" name="未知的使用者235" initials="未" lastIdx="0" clrIdx="906"/>
  <p:cmAuthor id="909" name="雨林木风" initials="雨" lastIdx="0" clrIdx="908"/>
  <p:cmAuthor id="910" name="lp" initials="l" lastIdx="0" clrIdx="909"/>
  <p:cmAuthor id="911" name="孙雨琛" initials="孙" lastIdx="0" clrIdx="910"/>
  <p:cmAuthor id="912" name="晶 王" initials="晶王" lastIdx="0" clrIdx="911"/>
  <p:cmAuthor id="913" name="pengding" initials="p" lastIdx="0" clrIdx="912"/>
  <p:cmAuthor id="914" name="韩林松" initials="a" lastIdx="0" clrIdx="913"/>
  <p:cmAuthor id="915" name="随风的蒲公英" initials="随" lastIdx="0" clrIdx="914"/>
  <p:cmAuthor id="916" name="changding2" initials="c" lastIdx="0" clrIdx="915"/>
  <p:cmAuthor id="917" name="hywang70" initials="h" lastIdx="0" clrIdx="916"/>
  <p:cmAuthor id="918" name="马儿" initials="马" lastIdx="0" clrIdx="917"/>
  <p:cmAuthor id="919" name="leige2" initials="l" lastIdx="0" clrIdx="918"/>
  <p:cmAuthor id="920" name="mtxu5" initials="m" lastIdx="0" clrIdx="919"/>
  <p:cmAuthor id="921" name="简单1401026546" initials="简" lastIdx="0" clrIdx="920"/>
  <p:cmAuthor id="922" name="WPS_1474700236" initials="W" lastIdx="0" clrIdx="921"/>
  <p:cmAuthor id="923" name="隔壁老张" initials="隔" lastIdx="0" clrIdx="922"/>
  <p:cmAuthor id="924" name="高飞" initials="高" lastIdx="0" clrIdx="923"/>
  <p:cmAuthor id="925" name="xzb1" initials="x" lastIdx="0" clrIdx="924"/>
  <p:cmAuthor id="927" name="tonghailan" initials="t" lastIdx="0" clrIdx="926"/>
  <p:cmAuthor id="928" name="文文" initials="文" lastIdx="0" clrIdx="927"/>
  <p:cmAuthor id="929" name="玉稳" initials="玉" lastIdx="0" clrIdx="928"/>
  <p:cmAuthor id="930" name="邵名柱" initials="邵" lastIdx="0" clrIdx="929"/>
  <p:cmAuthor id="931" name="方少_UbQfrimU" initials="authorId_442114952" lastIdx="0" clrIdx="930"/>
  <p:cmAuthor id="932" name="叶盛_Q3A3IfEf" initials="authorId_506280334" lastIdx="0" clrIdx="931"/>
  <p:cmAuthor id="933" name="Harley._bEJrUJ7r" initials="authorId_432156705" lastIdx="0" clrIdx="932"/>
  <p:cmAuthor id="934" name="罗平_VB7vJb2E" initials="authorId_305049361" lastIdx="0" clrIdx="933"/>
  <p:cmAuthor id="630218807" name="@" initials="@" lastIdx="1" clrIdx="35"/>
  <p:cmAuthor id="935" name="Huxiaojian" initials="H" lastIdx="0" clrIdx="934"/>
  <p:cmAuthor id="936" name="xixi_nUjqe22E" initials="authorId_359229261" lastIdx="0" clrIdx="935"/>
  <p:cmAuthor id="937" name="Dongzhichao (Charles)" initials="D(" lastIdx="0" clrIdx="936"/>
  <p:cmAuthor id="938" name="安安_zm6nYnYZ" initials="authorId_347340296" lastIdx="0" clrIdx="937"/>
  <p:cmAuthor id="939" name="gh666 S" initials="gS" lastIdx="0" clrIdx="938"/>
  <p:cmAuthor id="940" name="WPS_1676457601" initials="W" lastIdx="0" clrIdx="939"/>
  <p:cmAuthor id="941" name="田宇恒" initials="田" lastIdx="0" clrIdx="940"/>
  <p:cmAuthor id="942" name="Mars" initials="M" lastIdx="0" clrIdx="941"/>
  <p:cmAuthor id="943" name="周君_MfIffYra" initials="authorId_375419134" lastIdx="0" clrIdx="942"/>
  <p:cmAuthor id="944" name="Machackova, Zuzana {MDAO~Basel}" initials="M" lastIdx="0" clrIdx="943"/>
  <p:cmAuthor id="945" name="林诗婷" initials="林" lastIdx="0" clrIdx="944"/>
  <p:cmAuthor id="946" name="Gusto" initials="G" lastIdx="0" clrIdx="945"/>
  <p:cmAuthor id="948" name="吴萍pingwu2" initials="吴" lastIdx="0" clrIdx="947"/>
  <p:cmAuthor id="949" name="針對所選的門市進行小範圍實驗，捕捉驅動績效的關鍵影響因子" initials="針" lastIdx="0" clrIdx="948"/>
  <p:cmAuthor id="950" name="未知的使用者144" initials="未" lastIdx="0" clrIdx="949"/>
  <p:cmAuthor id="951" name="班主任" initials="班" lastIdx="0" clrIdx="950"/>
  <p:cmAuthor id="952" name="未知的使用者147" initials="未" lastIdx="0" clrIdx="951"/>
  <p:cmAuthor id="953" name="蒋芳" initials="蒋" lastIdx="0" clrIdx="952"/>
  <p:cmAuthor id="954" name="阿星" initials="阿" lastIdx="0" clrIdx="953"/>
  <p:cmAuthor id="955" name="gongjt" initials="g" lastIdx="0" clrIdx="954"/>
  <p:cmAuthor id="956" name="h.c.y" initials="h" lastIdx="0" clrIdx="955"/>
  <p:cmAuthor id="957" name="呵呵先生" initials="呵" lastIdx="0" clrIdx="956"/>
  <p:cmAuthor id="958" name="烬飞默途" initials="烬" lastIdx="0" clrIdx="957"/>
  <p:cmAuthor id="959" name="未知用户319" initials="未" lastIdx="0" clrIdx="958"/>
  <p:cmAuthor id="960" name="未知用户321" initials="未" lastIdx="0" clrIdx="959"/>
  <p:cmAuthor id="961" name="胡恩铭" initials="胡" lastIdx="0" clrIdx="960"/>
  <p:cmAuthor id="962" name="张小山" initials="张" lastIdx="0" clrIdx="961"/>
  <p:cmAuthor id="963" name="." initials="." lastIdx="0" clrIdx="962"/>
  <p:cmAuthor id="964" name="颜敏" initials="颜" lastIdx="0" clrIdx="963"/>
  <p:cmAuthor id="965" name="阿修罗" initials="阿" lastIdx="0" clrIdx="964"/>
  <p:cmAuthor id="966" name="醉江南" initials="醉" lastIdx="0" clrIdx="965"/>
  <p:cmAuthor id="967" name="冷暖自知" initials="冷" lastIdx="0" clrIdx="966"/>
  <p:cmAuthor id="968" name="廖一明" initials="廖一明" lastIdx="0" clrIdx="967"/>
  <p:cmAuthor id="969" name="xzpang2" initials="x" lastIdx="0" clrIdx="968"/>
  <p:cmAuthor id="972" name="goforever814" initials="g" lastIdx="0" clrIdx="971"/>
  <p:cmAuthor id="973" name="高胖欧巴" initials="高" lastIdx="0" clrIdx="972"/>
  <p:cmAuthor id="976" name="haoli" initials="h" lastIdx="0" clrIdx="975"/>
  <p:cmAuthor id="977" name="xddu" initials="x" lastIdx="0" clrIdx="976"/>
  <p:cmAuthor id="978" name="cnooc" initials="c" lastIdx="0" clrIdx="977"/>
  <p:cmAuthor id="979" name="bjxia" initials="b" lastIdx="0" clrIdx="978"/>
  <p:cmAuthor id="980" name="刘国飞" initials="刘" lastIdx="0" clrIdx="979"/>
  <p:cmAuthor id="2000" name="熊俊阳_JVbuRZzi" initials="authorId_369679057" lastIdx="0" clrIdx="0"/>
  <p:cmAuthor id="981" name="曹宇" initials="曹" lastIdx="0" clrIdx="980"/>
  <p:cmAuthor id="2001" name="于晖_zy632mY3" initials="authorId_387757713" lastIdx="0" clrIdx="0"/>
  <p:cmAuthor id="982" name="jusfoun" initials="j" lastIdx="0" clrIdx="981"/>
  <p:cmAuthor id="2002" name="金宇峰_BfyebuM3" initials="authorId_1008746-10054633" lastIdx="0" clrIdx="0"/>
  <p:cmAuthor id="983" name="张 敏" initials="张" lastIdx="0" clrIdx="982"/>
  <p:cmAuthor id="2003" name="梁鹏" initials="u" lastIdx="1" clrIdx="35"/>
  <p:cmAuthor id="984" name="Thomas Zeng" initials="TZ" lastIdx="0" clrIdx="983"/>
  <p:cmAuthor id="2004" name="范 斌" initials="范" lastIdx="1" clrIdx="36"/>
  <p:cmAuthor id="985" name="陶然" initials="陶然 [7]" lastIdx="0" clrIdx="984"/>
  <p:cmAuthor id="2005" name="毕邺" initials="党委办公室" lastIdx="2" clrIdx="37"/>
  <p:cmAuthor id="986" name="张鼎" initials="张鼎" lastIdx="0" clrIdx="985"/>
  <p:cmAuthor id="2006" name="jiaru tiger" initials="jt" lastIdx="2" clrIdx="38"/>
  <p:cmAuthor id="987" name="张斌" initials="张" lastIdx="0" clrIdx="986"/>
  <p:cmAuthor id="988" name="Emily Lu Chen" initials="emilchen" lastIdx="0" clrIdx="987"/>
  <p:cmAuthor id="989" name="k1897" initials="k" lastIdx="0" clrIdx="988"/>
  <p:cmAuthor id="990" name="qiao" initials="q" lastIdx="0" clrIdx="989"/>
  <p:cmAuthor id="991" name="徐琳00159163" initials="徐琳00159163" lastIdx="0" clrIdx="990"/>
  <p:cmAuthor id="210492765" name="施普希（菜菜）" initials="施" lastIdx="0" clrIdx="0"/>
  <p:cmAuthor id="992" name="xuan" initials="x" lastIdx="0" clrIdx="991"/>
  <p:cmAuthor id="210492766" name="yu 1" initials="y1" lastIdx="1" clrIdx="19"/>
  <p:cmAuthor id="993" name="zx" initials="z" lastIdx="0" clrIdx="992"/>
  <p:cmAuthor id="210492767" name="李 嘉" initials="李" lastIdx="1" clrIdx="26"/>
  <p:cmAuthor id="994" name="59762" initials="5" lastIdx="0" clrIdx="993"/>
  <p:cmAuthor id="210492768" name="zhang" initials="z" lastIdx="2" clrIdx="35"/>
  <p:cmAuthor id="995" name="王宇豪" initials="WYH" lastIdx="0" clrIdx="994"/>
  <p:cmAuthor id="210492769" name="CNPC" initials="C" lastIdx="10" clrIdx="71"/>
  <p:cmAuthor id="996" name="10270945" initials="1" lastIdx="0" clrIdx="995"/>
  <p:cmAuthor id="210492770" name="V" initials="V" lastIdx="29" clrIdx="43"/>
  <p:cmAuthor id="997" name="10073006" initials="1" lastIdx="0" clrIdx="996"/>
  <p:cmAuthor id="998" name="Hou Yingfeng" initials="H" lastIdx="0" clrIdx="997"/>
  <p:cmAuthor id="999" name="李楠10047711" initials="李楠10047711" lastIdx="0" clrIdx="998"/>
  <p:cmAuthor id="1000" name="10033224" initials="1" lastIdx="0" clrIdx="999"/>
  <p:cmAuthor id="1001" name="10045953" initials="1" lastIdx="0" clrIdx="1000"/>
  <p:cmAuthor id="1002" name="关全全10258021" initials="关" lastIdx="0" clrIdx="1001"/>
  <p:cmAuthor id="1003" name="woshimaomaoli" initials="w" lastIdx="0" clrIdx="1002"/>
  <p:cmAuthor id="1004" name="10293" initials="1" lastIdx="0" clrIdx="1003"/>
  <p:cmAuthor id="1005" name="huangjin" initials="h" lastIdx="0" clrIdx="1004"/>
  <p:cmAuthor id="1006" name="10054047" initials="1" lastIdx="0" clrIdx="1005"/>
  <p:cmAuthor id="1007" name="李庆文" initials="李" lastIdx="0" clrIdx="1006"/>
  <p:cmAuthor id="1008" name="C风信子C" initials="C" lastIdx="0" clrIdx="1007"/>
  <p:cmAuthor id="1009" name="chenhx" initials="c" lastIdx="0" clrIdx="1008"/>
  <p:cmAuthor id="1010" name="张惊雷" initials="张" lastIdx="0" clrIdx="1009"/>
  <p:cmAuthor id="1011" name="张梦瑶" initials="张" lastIdx="0" clrIdx="1010"/>
  <p:cmAuthor id="1012" name="XiHu木鱼" initials="X" lastIdx="0" clrIdx="1011"/>
  <p:cmAuthor id="1013" name="未知用户107" initials="" lastIdx="0" clrIdx="1012"/>
  <p:cmAuthor id="1014" name="贾胜峰" initials="贾" lastIdx="0" clrIdx="1013"/>
  <p:cmAuthor id="1015" name="wyao8" initials="w" lastIdx="0" clrIdx="1014"/>
  <p:cmAuthor id="1016" name="未知的使用者82" initials="" lastIdx="0" clrIdx="1015"/>
  <p:cmAuthor id="1017" name="李雪清" initials="李" lastIdx="0" clrIdx="1016"/>
  <p:cmAuthor id="1018" name="牛滢滢" initials="牛" lastIdx="0" clrIdx="10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FF"/>
    <a:srgbClr val="F8F9FA"/>
    <a:srgbClr val="ECECEC"/>
    <a:srgbClr val="FFF2D6"/>
    <a:srgbClr val="D8EFDD"/>
    <a:srgbClr val="3C7BFF"/>
    <a:srgbClr val="4EA478"/>
    <a:srgbClr val="E4AA3B"/>
    <a:srgbClr val="E8F5F1"/>
    <a:srgbClr val="FCF6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1" autoAdjust="0"/>
    <p:restoredTop sz="88071" autoAdjust="0"/>
  </p:normalViewPr>
  <p:slideViewPr>
    <p:cSldViewPr snapToGrid="0" snapToObjects="1" showGuides="1">
      <p:cViewPr varScale="1">
        <p:scale>
          <a:sx n="82" d="100"/>
          <a:sy n="82" d="100"/>
        </p:scale>
        <p:origin x="62" y="288"/>
      </p:cViewPr>
      <p:guideLst>
        <p:guide orient="horz" pos="1996"/>
        <p:guide pos="3855"/>
        <p:guide pos="7325"/>
        <p:guide pos="250"/>
        <p:guide orient="horz" pos="182"/>
        <p:guide orient="horz" pos="40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3064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commentAuthors" Target="commentAuthor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gs" Target="tags/tag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D2C97-3EBC-F54C-A574-98F4C4B2D531}" type="datetimeFigureOut">
              <a:rPr kumimoji="1" lang="zh-CN" altLang="en-US" smtClean="0"/>
              <a:t>2026/7/31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CC039-6AA8-0849-8AF2-37A61151952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A407D-9B39-8741-A7E2-4EC105EBE146}" type="datetimeFigureOut">
              <a:rPr kumimoji="1" lang="zh-CN" altLang="en-US" smtClean="0"/>
              <a:t>2026/7/31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1C736-C07A-CD4A-8184-EB5B947150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方案讨论的不是如何再做一块监管大屏，而是如何把统一语义、图谱事实、规则场景、证据快照和整改复核连接成持续运行的监管闭环。整套设计以监管能力工程总图为主线，从传统监管为什么穿不透开始，逐步落到平台、场景和试点行动。最终目标是让每一个风险判断都可解释、可复核、可处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方案依次回答五个问题。第一，传统监管为什么需要重构；第二，什么才是真正的穿透；第三，平台如何形成闭环；第四，场景如何落到具体业务；第五，试点如何稳步实施。这个顺序先建立共识，再展开能力，最后形成行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20B7-4275-68C4-229B-A2C8ACEB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A8A06-EB97-CE82-498F-3D19029C2B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A8288-F49E-0780-D156-09FC8F2B7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补充建设背景。数据资源规划解决标准、质量和数据资产问题，穿透式监管明确重点领域、监管模型与闭环要求，两者不是先后割裂的两个项目。只有一体规划、一体建设和一体运营，才能让监管需求持续牵引数据治理，也让高质量数据真正转化为监管能力。</a:t>
            </a:r>
          </a:p>
        </p:txBody>
      </p:sp>
    </p:spTree>
    <p:extLst>
      <p:ext uri="{BB962C8B-B14F-4D97-AF65-F5344CB8AC3E}">
        <p14:creationId xmlns:p14="http://schemas.microsoft.com/office/powerpoint/2010/main" val="490973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F1C3D-8F4A-2B07-C02D-BA1A0BF39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D1FDD-88A0-6BEA-8D65-5E71AC2A04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9210C-82F3-266E-92CB-A7E48363CF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方案依次回答五个问题。第一，传统监管为什么需要重构；第二，什么才是真正的穿透；第三，平台如何形成闭环；第四，场景如何落到具体业务；第五，试点如何稳步实施。这个顺序先建立共识，再展开能力，最后形成行动。</a:t>
            </a:r>
          </a:p>
        </p:txBody>
      </p:sp>
    </p:spTree>
    <p:extLst>
      <p:ext uri="{BB962C8B-B14F-4D97-AF65-F5344CB8AC3E}">
        <p14:creationId xmlns:p14="http://schemas.microsoft.com/office/powerpoint/2010/main" val="2054606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监管范围不能停留在泛化口号。方案聚焦投资、产权、财务、会计、采购与供应链、合同、薪酬分配、金融风险、境外单位和军品业务等重点领域，并在全级次、全流程、全要素范围内持续监测。领域划分既方便形成专业模型，也便于落实责任部门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1C736-C07A-CD4A-8184-EB5B947150C7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监管对象和运行方式已经发生变化，单纯依靠事后报表和专项检查很难满足新的要求。监管时点要覆盖事前识别、事中监测和事后复核，监管对象要从汇总指标延伸到主体、合同、项目、资金和关系事实。管理结果也要从知道发生了什么，升级为知道为什么发生、影响谁以及由谁处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从应用视角补全整套穿透式监管体系。上层面向领导决策、专业监管和协同处置提供统一入口，中层沉淀本体、图谱、规则、证据和风险研判能力，下层通过接口、湖仓、图数据库和云原生底座连接现有系统。组织、制度、安全和运营四类保障共同确保平台能持续复制，而不是只完成一次性项目建设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补充建设背景。数据资源规划解决标准、质量和数据资产问题，穿透式监管明确重点领域、监管模型与闭环要求，两者不是先后割裂的两个项目。只有一体规划、一体建设和一体运营，才能让监管需求持续牵引数据治理，也让高质量数据真正转化为监管能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应用全景之下，平台技术架构把能力进一步落到可建设、可集成的系统结构。整体由运营应用、风险能力、事实底座和平台治理共同组成，上层服务集团领导、监管人员、业务责任人和各类管理员，下层连接现有业务与数据来源。中央主链始终围绕事实、规则、证据和闭环展开，从而支撑不同监管领域复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面的监管要求最终要落到一套可执行的方法体系。一个平台统一承载，监管同时追求广度、深度和精度，以数据治理、模型运营、闭环整改和制度组织四大体系持续运转，最终形成多组织透视、端到端贯通、数智融合、问题溯源和风险协同五项能力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产品以图谱、规则、证据和在线闭环降低监管发现与处置成本。平台负责定义图谱、映射数据、识别风险并形成预警和事件闭环，但不由人工智能自动做监管结论，不在首批自动阻断或回写源系统，也不替代既有业务系统。私有化、安全、可解释、可配置和可审计，是面向央国企的产品底线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总体框架可以概括为一平台、四穿透、四支撑、五能力。一个监管运营中枢向上承接组织、业务、过程和证据四类穿透，向下依托安全云底座、数据治理、知识图谱和规则模型智能。最终形成对象画像、链路还原、风险识别、证据解释和协同闭环五项可感知能力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平台不重建企业已有的 ERP、OA 或司库，而是在其上形成数据、图谱、规则、业务与治理五层架构。来源数据经过连接、主数据和数据治理进入图谱与智能层，再由监管应用承接工作台、态势、风险和场景规则。组织权限、字段关系权限、模型接入和审计贯穿全层，确保结果在授权边界内生效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个工程模块共同构成一条监管运行链。工作台、态势和风险监管承接业务使用，场景与规则提供识别配置，知识图谱提供版本化事实和证据，系统管理纵向约束权限、模型和审计。这样的分层避免把业务功能和抽象能力重复讲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图谱结构发布到规则效果样本，平台把一次风险识别沉淀为可复用资产。准备阶段完成结构、映射、图谱和场景版本，运行阶段生成预警与证据快照，处置阶段完成解除、升级、整改与复核，结果再回流到新版本优化。已发布版本不可原地修改，历史证据不可被当前图谱覆盖，转派也不能改变业务状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7465-9D68-F445-45F1-FB97D78E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43409-3416-C101-D641-32B403ED4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2C4EF-3199-82E8-D8A5-8D28CAC009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接下来方案依次回答五个问题。第一，传统监管为什么需要重构；第二，什么才是真正的穿透；第三，平台如何形成闭环；第四，场景如何落到具体业务；第五，试点如何稳步实施。这个顺序先建立共识，再展开能力，最后形成行动。</a:t>
            </a:r>
          </a:p>
        </p:txBody>
      </p:sp>
    </p:spTree>
    <p:extLst>
      <p:ext uri="{BB962C8B-B14F-4D97-AF65-F5344CB8AC3E}">
        <p14:creationId xmlns:p14="http://schemas.microsoft.com/office/powerpoint/2010/main" val="27152613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1A21-3D9B-E0DC-38A4-348CC69F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02021-D214-4CDE-5D0C-DBD89C1D8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F12D8-5BCE-46B1-ECDC-41C7588C4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监管难以穿透，核心原因并不是数据数量不足，而是四类结构性断点。语义不统一导致对象无法一致识别，事实不能关联导致业务链条无法还原，证据未固化导致研判反复跨系统查找，处置在线下又使整改和复核无法闭环。后续建设必须同时修复这四处断裂。</a:t>
            </a:r>
          </a:p>
        </p:txBody>
      </p:sp>
    </p:spTree>
    <p:extLst>
      <p:ext uri="{BB962C8B-B14F-4D97-AF65-F5344CB8AC3E}">
        <p14:creationId xmlns:p14="http://schemas.microsoft.com/office/powerpoint/2010/main" val="29945717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展示和穿透监管之间存在明确边界。大屏通常回答数量、趋势和排名，而监管事实链还必须回答来源、关系、版本、规则、证据和责任。展示层可以呈现结果，但不能独立完成事实还原、风险解释和责任追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0A9CF-99FE-1EE6-B89A-5D283F1C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53C06-C50B-24D1-0106-6622B87C5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6DBF63-8939-AF55-44A0-75F559141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监管难以穿透，核心原因并不是数据数量不足，而是四类结构性断点。语义不统一导致对象无法一致识别，事实不能关联导致业务链条无法还原，证据未固化导致研判反复跨系统查找，处置在线下又使整改和复核无法闭环。后续建设必须同时修复这四处断裂。</a:t>
            </a:r>
          </a:p>
        </p:txBody>
      </p:sp>
    </p:spTree>
    <p:extLst>
      <p:ext uri="{BB962C8B-B14F-4D97-AF65-F5344CB8AC3E}">
        <p14:creationId xmlns:p14="http://schemas.microsoft.com/office/powerpoint/2010/main" val="13474944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模型构建可以采用统一五步法。先梳理风险表现，识别可量化的控制点，再形成穿透规则和模型；上线后按关注、警告和禁止等等级触发预警、派单和反馈。这样可以把制度要求转化为稳定、可解释、可复核的数字化控制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20220-4B91-CFEE-CE0C-A51533B3A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D481B-494F-EE88-0246-36E67F8AFC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D23F0-F572-82A8-E1C4-D7D86360C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监管难以穿透，核心原因并不是数据数量不足，而是四类结构性断点。语义不统一导致对象无法一致识别，事实不能关联导致业务链条无法还原，证据未固化导致研判反复跨系统查找，处置在线下又使整改和复核无法闭环。后续建设必须同时修复这四处断裂。</a:t>
            </a:r>
          </a:p>
        </p:txBody>
      </p:sp>
    </p:spTree>
    <p:extLst>
      <p:ext uri="{BB962C8B-B14F-4D97-AF65-F5344CB8AC3E}">
        <p14:creationId xmlns:p14="http://schemas.microsoft.com/office/powerpoint/2010/main" val="21032754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ea"/>
              </a:rPr>
              <a:t>用于解释预警为什么生成、命中了什么规则、证据是否充分，以及当前可以执行哪些处置动作。</a:t>
            </a:r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五层事实模型之上，完整闭环还要连接监管资产、风险识别和处置复盘。前端通过本体、映射、图谱、规则和场景形成可发布资产，中间由事件或扫描触发预警并生成证据快照，后端由人工研判进入整改和复核。解除、升级和关闭的结果都要沉淀为规则效果样本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一次预警都应该自带完整证据，而不是让监管人员再次跨系统拼接。预警详情需要解释命中规则、判断条件、实际值和关系路径，证据子图只保留本次判断相关的主体、业务和资金事实，来源抽屉则记录系统、记录、时间和各类版本。快照独立存储并使用内容哈希保护，快照失败时不能用当前图谱替代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规则资产需要与风险场景解耦。属性判断、跨对象比对、关系路径、时序判断和聚合判断可以独立校验、试跑、发布和版本管理，场景则负责组合领域、主对象、目标事件、组织范围、证据要求和制度依据。同一个规则版本可以被多个场景引用，从而降低重复配置成本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FC866-A1B6-F932-F860-4580B21A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4DE61-5AB4-3295-76FC-2546C311FE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FCE8B-2E2B-CB0A-7F90-3E62FF317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监管难以穿透，核心原因并不是数据数量不足，而是四类结构性断点。语义不统一导致对象无法一致识别，事实不能关联导致业务链条无法还原，证据未固化导致研判反复跨系统查找，处置在线下又使整改和复核无法闭环。后续建设必须同时修复这四处断裂。</a:t>
            </a:r>
          </a:p>
        </p:txBody>
      </p:sp>
    </p:spTree>
    <p:extLst>
      <p:ext uri="{BB962C8B-B14F-4D97-AF65-F5344CB8AC3E}">
        <p14:creationId xmlns:p14="http://schemas.microsoft.com/office/powerpoint/2010/main" val="37056391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有了</a:t>
            </a:r>
            <a:r>
              <a:rPr lang="zh-CN" altLang="en-US" dirty="0"/>
              <a:t>知识图谱</a:t>
            </a:r>
            <a:r>
              <a:rPr lang="zh-CN" dirty="0"/>
              <a:t>，来源数据还需要经过语义映射才能成为可关联事实。平台登记接口、数据库、文件或外部服务，识别元数据和主标识，再把来源字段映射到本体类、属性、关系或事件。每条事实同时保留来源记录、映射版本和同步时间，保证全过程可追溯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图谱版本不是静态关系截图，而是一个可审计的事实基线。它同时绑定本体版本、映射快照、来源集合、同步批次和质量结果，并组织主体、合同、项目、账户、资金、资产和事件之间的关系。阻断性质量问题没有解决时不得发布，发布后保持只读，历史预警也始终引用生成时的版本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523D-93D9-A8AB-7823-9E1D5289A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0A7FC-6AEA-09FD-23A1-FDF068A97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432C7-9297-0E55-2C21-C09315E54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监管难以穿透，核心原因并不是数据数量不足，而是四类结构性断点。语义不统一导致对象无法一致识别，事实不能关联导致业务链条无法还原，证据未固化导致研判反复跨系统查找，处置在线下又使整改和复核无法闭环。后续建设必须同时修复这四处断裂。</a:t>
            </a:r>
          </a:p>
        </p:txBody>
      </p:sp>
    </p:spTree>
    <p:extLst>
      <p:ext uri="{BB962C8B-B14F-4D97-AF65-F5344CB8AC3E}">
        <p14:creationId xmlns:p14="http://schemas.microsoft.com/office/powerpoint/2010/main" val="21874486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正的穿透不是简单的层级下钻，而是从一条来源记录追到五层监管事实。来源数据先被统一为语义对象，再组织成关系事实，由规则和场景形成风险判断，最后固化为证据、责任和复核记录。只有五层同时贯通，监管结论才可解释、可复核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监管模型需要像软件产品一样持续运营。每个模型都应从业务需求和制度规则出发，完成数据准备、模型开发、回溯验证和版本发布，并在运行中监测命中率、误报率和处置效果；当规则环境或数据特征变化时，应及时迭代或退役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C5E3C-5E05-5E8C-F4D6-BC6768D0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4D537F-1029-174C-D7FA-C8A9592CE4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75470-80DA-24CF-BAB4-8E57B582E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3763918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E537-1A68-B17B-235F-97E4B5990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F77D2-86BD-DFBA-B5D5-2702E7549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0F3E5-5118-26F8-F104-1212C6C0D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采购、合同、财务司库、投资资产和人事关联场景共享同一套图谱与闭环底座。试点应优先选择目标业务记录明确、关键关系可还原、证据可获得且处置责任清晰的场景。首批示例聚焦供应商异常关联、合同履约与付款不一致以及投资决策合规。</a:t>
            </a:r>
          </a:p>
        </p:txBody>
      </p:sp>
    </p:spTree>
    <p:extLst>
      <p:ext uri="{BB962C8B-B14F-4D97-AF65-F5344CB8AC3E}">
        <p14:creationId xmlns:p14="http://schemas.microsoft.com/office/powerpoint/2010/main" val="15673872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51CE-6810-2B9A-4E97-68EF9F070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548B5-EF28-EB7B-16D8-0FDA7FFD7C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2BA13-D2A4-6FD8-DA4A-835D540F9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这是一条供应商异常关联的演示链路，不代表真实客户结论。平台从入围或中标记录出发，将供应商、股东、联系人、员工专家和历史项目按主标识对齐，再由关系路径规则识别异常共址、任职股权路径或交易协同信号。命中后冻结关系子图、来源记录、规则版本和时间轴，由授权人员研判、整改和复核，结果再回流为效果样本。</a:t>
            </a:r>
          </a:p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616208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AAF1-2623-C979-0CEF-B2AFE969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5414B-860E-1610-0D57-87B51DE2B0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04DEC-728B-EA6D-9F58-AB84B2B46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这是一条合同履约与付款不一致的演示链路，不代表真实客户结论。付款执行记录到达后，平台把合同约定、验收事实、发票和资金执行放在同一证据链上，识别无验收付款、累计付款超约定、进度不一致或收款账户异常。预警经人工研判后可升级事件，责任单位补充材料或纠正付款，再由监管人员复核关闭。</a:t>
            </a:r>
          </a:p>
        </p:txBody>
      </p:sp>
    </p:spTree>
    <p:extLst>
      <p:ext uri="{BB962C8B-B14F-4D97-AF65-F5344CB8AC3E}">
        <p14:creationId xmlns:p14="http://schemas.microsoft.com/office/powerpoint/2010/main" val="21171760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这是一条投资决策合规的演示链路，不代表真实客户结论。平台以授权边界和决策记录校验立项、论证、审批与执行全过程，把组织授权、会议纪要、主业分类、评估文件和资金安排叠加为跨域证据。系统只产生可解释风险信号，人工智能仅辅助说明，最终监管结论仍由授权人员复核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4A2E-D869-0B1D-9A8A-9F540B2A9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816BF-5984-757C-6735-F1EE8DDC3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AC1E2-5349-8019-FEE4-FF53D14E3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三个示例可以抽象为同一条六步闭环。数据接入冻结来源与责任，图谱关联统一语义，规则命中引用场景版本，预警研判生成证据快照，整改复核形成正式结果，最后将解除、升级和关闭结果回流为效果样本。可复制的不是某一条规则，而是统一的事实、版本、证据和处置机制。</a:t>
            </a:r>
          </a:p>
        </p:txBody>
      </p:sp>
    </p:spTree>
    <p:extLst>
      <p:ext uri="{BB962C8B-B14F-4D97-AF65-F5344CB8AC3E}">
        <p14:creationId xmlns:p14="http://schemas.microsoft.com/office/powerpoint/2010/main" val="41195306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C972-DA34-DA82-6C6C-C19872F8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F77D1-9BFE-A2AB-41C2-BE6622867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4A2FE-1960-0406-4A19-A06861F29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2799778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1BF7-AAAA-F7F0-8EDB-566FF5590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2E9DC-442B-0983-C530-2CC1B12DE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B8D80-2A3D-38B8-155B-DC241099F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平台价值从报表抽查升级为在线穿透，从分散系统升级为云数智一体，从单点检查升级为四全贯通，从事后处置升级为持续优化。首个试点沉淀的数据、图谱、规则和闭环资产，是后续复制到更多组织和业务域的基础。价值指标应在试点启动前共同定标，用有效率、误报率、提前量、处置耗时、闭环完成率和逾期率衡量，不虚构投资回报。</a:t>
            </a:r>
          </a:p>
        </p:txBody>
      </p:sp>
    </p:spTree>
    <p:extLst>
      <p:ext uri="{BB962C8B-B14F-4D97-AF65-F5344CB8AC3E}">
        <p14:creationId xmlns:p14="http://schemas.microsoft.com/office/powerpoint/2010/main" val="355093845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建设路径分为四个阶段。第一阶段补齐闭环落库、认证权限、证据快照、统一审计和性能能力；第二阶段与业务共同确认本体、映射、规则、例外和证据；第三阶段接入数据完成真实试运行；第四阶段复用监管资产并扩展组织和领域。每个阶段都设置可回滚版本和明确准入标准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需要形成的不是泛化愿景，而是五项明确决策。我们要确定试点单位和用户范围，选择一到三个场景，确认数据来源和责任人，确认规则、阈值、例外与证据要求，并明确部署、服务端权限、审计、快照和性能边界。建议从供应商异常关联、付款执行风险或投资决策合规中选择场景开展联合梳理，尽快启动试点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-主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Group 203608463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5523230" y="1044575"/>
            <a:ext cx="6668770" cy="4881245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698500" y="5096510"/>
            <a:ext cx="8255000" cy="65081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kumimoji="1" lang="zh-CN" altLang="en-US" sz="2000" b="0" i="0" dirty="0">
                <a:solidFill>
                  <a:schemeClr val="tx1">
                    <a:alpha val="90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kumimoji="1" lang="en-US" altLang="zh-CN" dirty="0"/>
              <a:t>XXXX</a:t>
            </a:r>
            <a:r>
              <a:rPr kumimoji="1" lang="zh-CN" altLang="en-US" dirty="0"/>
              <a:t> 公司职称 </a:t>
            </a:r>
            <a:r>
              <a:rPr kumimoji="1" lang="en-US" altLang="zh-CN" dirty="0"/>
              <a:t>·</a:t>
            </a:r>
            <a:r>
              <a:rPr kumimoji="1" lang="zh-CN" altLang="en-US" dirty="0"/>
              <a:t>人名</a:t>
            </a:r>
          </a:p>
          <a:p>
            <a:pPr marL="228600" lvl="0" indent="-228600">
              <a:spcBef>
                <a:spcPct val="0"/>
              </a:spcBef>
            </a:pPr>
            <a:r>
              <a:rPr kumimoji="1" lang="en-US" altLang="zh-CN" dirty="0"/>
              <a:t>2026.1.13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698500" y="3228340"/>
            <a:ext cx="8255635" cy="645160"/>
          </a:xfrm>
        </p:spPr>
        <p:txBody>
          <a:bodyPr vert="horz" lIns="0" rIns="0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90204" pitchFamily="34" charset="0"/>
              <a:buNone/>
              <a:defRPr kumimoji="0" lang="en-US" altLang="zh-CN" sz="4000" b="0" i="0" u="none" strike="noStrike" kern="1200" cap="none" spc="0" normalizeH="0" baseline="0" noProof="1">
                <a:solidFill>
                  <a:schemeClr val="tx1">
                    <a:alpha val="90000"/>
                  </a:schemeClr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pPr lvl="0"/>
            <a:r>
              <a:rPr dirty="0" err="1">
                <a:sym typeface="+mn-ea"/>
              </a:rPr>
              <a:t>点击编辑副标题内</a:t>
            </a:r>
            <a:endParaRPr dirty="0">
              <a:sym typeface="+mn-ea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98500" y="2009775"/>
            <a:ext cx="8255000" cy="942975"/>
          </a:xfrm>
          <a:prstGeom prst="rect">
            <a:avLst/>
          </a:prstGeom>
        </p:spPr>
        <p:txBody>
          <a:bodyPr lIns="0" tIns="215900" rIns="0" bIns="0" anchor="ctr" anchorCtr="0"/>
          <a:lstStyle>
            <a:lvl1pPr>
              <a:defRPr sz="6000" b="1" i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defRPr>
            </a:lvl1pPr>
          </a:lstStyle>
          <a:p>
            <a:r>
              <a:rPr kumimoji="1" lang="zh-CN" altLang="en-US" dirty="0">
                <a:sym typeface="+mn-ea"/>
              </a:rPr>
              <a:t>点击编辑主标题内容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622300" y="596900"/>
            <a:ext cx="3027045" cy="6680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left-b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3877945" cy="6859270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>
            <p:ph idx="1" hasCustomPrompt="1"/>
          </p:nvPr>
        </p:nvSpPr>
        <p:spPr>
          <a:xfrm>
            <a:off x="4519930" y="1412875"/>
            <a:ext cx="4217670" cy="4031961"/>
          </a:xfrm>
          <a:prstGeom prst="rect">
            <a:avLst/>
          </a:prstGeom>
        </p:spPr>
        <p:txBody>
          <a:bodyPr anchor="ctr">
            <a:noAutofit/>
          </a:bodyPr>
          <a:lstStyle>
            <a:lvl1pPr marL="457200" indent="-4572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Font typeface="+mj-lt"/>
              <a:buAutoNum type="arabicPeriod"/>
              <a:defRPr sz="2400" b="1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kumimoji="1" lang="zh-CN" altLang="en-US" dirty="0"/>
              <a:t>第一级
第二级
第三级
第四级
第五级</a:t>
            </a:r>
            <a:endParaRPr kumimoji="1" lang="en-US" altLang="zh-CN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631971" y="2644790"/>
            <a:ext cx="27459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CONTENT</a:t>
            </a:r>
            <a:endParaRPr kumimoji="1" lang="zh-CN" altLang="en-US" sz="40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740410" y="3352800"/>
            <a:ext cx="2412000" cy="7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1567911" y="6499175"/>
            <a:ext cx="4477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7E244C5E-2AF4-BA42-AEE0-6D42AEA53610}" type="slidenum">
              <a:rPr lang="en-US" altLang="zh-CN" sz="1100" smtClean="0">
                <a:solidFill>
                  <a:schemeClr val="tx2">
                    <a:lumMod val="25000"/>
                    <a:lumOff val="7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‹#›</a:t>
            </a:fld>
            <a:endParaRPr lang="zh-CN" altLang="en-US" sz="1100" dirty="0">
              <a:solidFill>
                <a:schemeClr val="tx2">
                  <a:lumMod val="25000"/>
                  <a:lumOff val="7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994265" y="290013"/>
            <a:ext cx="1918335" cy="4232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bg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16193" y="0"/>
            <a:ext cx="12224385" cy="68764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994265" y="290925"/>
            <a:ext cx="1918180" cy="42320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65172" y="2520175"/>
            <a:ext cx="6297770" cy="1322070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kumimoji="1" lang="en-US" altLang="zh-CN" sz="4000" b="0" i="0" u="none" strike="noStrike" kern="1200" cap="none" spc="0" normalizeH="0" baseline="0" noProof="1" dirty="0" err="1">
                <a:solidFill>
                  <a:schemeClr val="tx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r>
              <a:rPr dirty="0" err="1">
                <a:sym typeface="+mn-ea"/>
              </a:rPr>
              <a:t>xxxxxxxxx</a:t>
            </a:r>
            <a:br>
              <a:rPr kumimoji="1" lang="en-US" altLang="zh-CN" dirty="0"/>
            </a:br>
            <a:r>
              <a:rPr kumimoji="1" lang="en-US" altLang="zh-CN" dirty="0" err="1"/>
              <a:t>xxxxxxxxx</a:t>
            </a:r>
            <a:endParaRPr kumimoji="1" lang="zh-CN" altLang="en-US" dirty="0"/>
          </a:p>
        </p:txBody>
      </p:sp>
      <p:cxnSp>
        <p:nvCxnSpPr>
          <p:cNvPr id="8" name="直线连接符 7"/>
          <p:cNvCxnSpPr/>
          <p:nvPr userDrawn="1"/>
        </p:nvCxnSpPr>
        <p:spPr>
          <a:xfrm>
            <a:off x="2627290" y="2640298"/>
            <a:ext cx="0" cy="108182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4626" y="2458580"/>
            <a:ext cx="1666875" cy="14452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00000"/>
              </a:lnSpc>
              <a:buNone/>
              <a:defRPr sz="8800" b="1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页-浅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矩形 112"/>
          <p:cNvSpPr/>
          <p:nvPr userDrawn="1"/>
        </p:nvSpPr>
        <p:spPr>
          <a:xfrm>
            <a:off x="0" y="0"/>
            <a:ext cx="407988" cy="296863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14" name="矩形 113"/>
          <p:cNvSpPr/>
          <p:nvPr userDrawn="1"/>
        </p:nvSpPr>
        <p:spPr>
          <a:xfrm>
            <a:off x="0" y="6561137"/>
            <a:ext cx="407988" cy="296863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22" name="矩形 121"/>
          <p:cNvSpPr/>
          <p:nvPr userDrawn="1"/>
        </p:nvSpPr>
        <p:spPr>
          <a:xfrm>
            <a:off x="0" y="6957060"/>
            <a:ext cx="408305" cy="10414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994265" y="290013"/>
            <a:ext cx="1918335" cy="42320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360000"/>
            <a:ext cx="309880" cy="32385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467995" bIns="0" anchor="ctr"/>
          <a:lstStyle/>
          <a:p>
            <a:pPr lvl="0"/>
            <a:endParaRPr lang="zh-CN" altLang="en-US" sz="2800" b="0">
              <a:solidFill>
                <a:srgbClr val="FFFFFF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1569592" y="6493627"/>
            <a:ext cx="4477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7E244C5E-2AF4-BA42-AEE0-6D42AEA53610}" type="slidenum">
              <a:rPr lang="en-US" altLang="zh-CN" sz="1100" smtClean="0">
                <a:solidFill>
                  <a:schemeClr val="tx2">
                    <a:lumMod val="25000"/>
                    <a:lumOff val="7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‹#›</a:t>
            </a:fld>
            <a:endParaRPr lang="zh-CN" altLang="en-US" sz="1100" dirty="0">
              <a:solidFill>
                <a:schemeClr val="tx2">
                  <a:lumMod val="25000"/>
                  <a:lumOff val="7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000" y="288000"/>
            <a:ext cx="9286412" cy="455930"/>
          </a:xfrm>
          <a:prstGeom prst="rect">
            <a:avLst/>
          </a:prstGeom>
          <a:noFill/>
        </p:spPr>
        <p:txBody>
          <a:bodyPr wrap="square" tIns="36195" bIns="36195" rtlCol="0" anchor="ctr">
            <a:noAutofit/>
          </a:bodyPr>
          <a:lstStyle>
            <a:lvl1pPr>
              <a:lnSpc>
                <a:spcPct val="100000"/>
              </a:lnSpc>
              <a:defRPr lang="zh-CN" altLang="en-US" sz="2400" b="1" dirty="0">
                <a:solidFill>
                  <a:schemeClr val="accent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pPr marL="0" lvl="0"/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756000"/>
            <a:ext cx="11379389" cy="730948"/>
          </a:xfrm>
          <a:prstGeom prst="rect">
            <a:avLst/>
          </a:prstGeom>
        </p:spPr>
        <p:txBody>
          <a:bodyPr tIns="36195" bIns="36195"/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90204" pitchFamily="34" charset="0"/>
              <a:buNone/>
              <a:defRPr sz="1600">
                <a:solidFill>
                  <a:schemeClr val="tx2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>
                <a:sym typeface="+mn-ea"/>
              </a:rPr>
              <a:t>单击此处编辑母版副标题样式</a:t>
            </a:r>
            <a:r>
              <a:rPr kumimoji="1" lang="en-US" altLang="zh-CN" dirty="0">
                <a:sym typeface="+mn-ea"/>
              </a:rPr>
              <a:t>-</a:t>
            </a:r>
            <a:r>
              <a:rPr kumimoji="1" lang="zh-CN" altLang="en-US" dirty="0">
                <a:sym typeface="+mn-ea"/>
              </a:rPr>
              <a:t>双行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页-深色">
    <p:bg>
      <p:bgPr>
        <a:gradFill>
          <a:gsLst>
            <a:gs pos="0">
              <a:schemeClr val="accent1"/>
            </a:gs>
            <a:gs pos="100000">
              <a:schemeClr val="accent2">
                <a:lumMod val="75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994265" y="290925"/>
            <a:ext cx="1918180" cy="423208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0" y="367665"/>
            <a:ext cx="309880" cy="323850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lang="zh-CN" altLang="en-US" sz="2800" b="0">
              <a:solidFill>
                <a:srgbClr val="FFFFFF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1539265" y="6493627"/>
            <a:ext cx="4477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7E244C5E-2AF4-BA42-AEE0-6D42AEA53610}" type="slidenum">
              <a:rPr lang="en-US" altLang="zh-CN" sz="1100" smtClean="0">
                <a:solidFill>
                  <a:schemeClr val="tx1">
                    <a:alpha val="50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‹#›</a:t>
            </a:fld>
            <a:endParaRPr lang="zh-CN" altLang="en-US" sz="1100" dirty="0">
              <a:solidFill>
                <a:schemeClr val="tx1">
                  <a:alpha val="50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988" y="301625"/>
            <a:ext cx="9286412" cy="45593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lvl1pPr>
              <a:lnSpc>
                <a:spcPct val="100000"/>
              </a:lnSpc>
              <a:defRPr lang="zh-CN" altLang="en-US" sz="2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defRPr>
            </a:lvl1pPr>
          </a:lstStyle>
          <a:p>
            <a:pPr marL="0" lvl="0"/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2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06305" y="757555"/>
            <a:ext cx="11379389" cy="7309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90204" pitchFamily="34" charset="0"/>
              <a:buNone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>
                <a:sym typeface="+mn-ea"/>
              </a:rPr>
              <a:t>单击此处编辑母版副标题样式</a:t>
            </a:r>
            <a:r>
              <a:rPr kumimoji="1" lang="en-US" altLang="zh-CN" dirty="0">
                <a:sym typeface="+mn-ea"/>
              </a:rPr>
              <a:t>-</a:t>
            </a:r>
            <a:r>
              <a:rPr kumimoji="1" lang="zh-CN" altLang="en-US" dirty="0">
                <a:sym typeface="+mn-ea"/>
              </a:rPr>
              <a:t>双行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442465" y="1862580"/>
            <a:ext cx="5307077" cy="1446550"/>
          </a:xfrm>
          <a:prstGeom prst="rect">
            <a:avLst/>
          </a:prstGeom>
          <a:noFill/>
        </p:spPr>
        <p:txBody>
          <a:bodyPr wrap="none" lIns="72000" tIns="45720" rIns="72000" bIns="45720">
            <a:spAutoFit/>
          </a:bodyPr>
          <a:lstStyle/>
          <a:p>
            <a:pPr marL="0" indent="0" algn="ctr">
              <a:tabLst>
                <a:tab pos="1147445" algn="l"/>
              </a:tabLst>
            </a:pPr>
            <a:r>
              <a:rPr lang="en-US" altLang="zh-CN" sz="8800" b="1" cap="none" spc="600" baseline="0" dirty="0">
                <a:ln w="10160">
                  <a:gradFill>
                    <a:gsLst>
                      <a:gs pos="0">
                        <a:schemeClr val="tx1"/>
                      </a:gs>
                      <a:gs pos="77000">
                        <a:schemeClr val="tx1">
                          <a:alpha val="0"/>
                        </a:schemeClr>
                      </a:gs>
                    </a:gsLst>
                    <a:lin ang="5400000" scaled="1"/>
                  </a:gra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THANKS</a:t>
            </a:r>
            <a:endParaRPr lang="zh-CN" altLang="en-US" sz="8800" b="1" cap="none" spc="600" baseline="0" dirty="0">
              <a:ln w="10160">
                <a:gradFill>
                  <a:gsLst>
                    <a:gs pos="0">
                      <a:schemeClr val="tx1"/>
                    </a:gs>
                    <a:gs pos="77000">
                      <a:schemeClr val="tx1">
                        <a:alpha val="0"/>
                      </a:schemeClr>
                    </a:gs>
                  </a:gsLst>
                  <a:lin ang="5400000" scaled="1"/>
                </a:gra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757240" y="5009136"/>
            <a:ext cx="2677519" cy="590741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825494" y="2714849"/>
            <a:ext cx="8541020" cy="1025369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4800" b="1" i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</a:defRPr>
            </a:lvl1pPr>
          </a:lstStyle>
          <a:p>
            <a:r>
              <a:rPr kumimoji="1" lang="zh-CN" altLang="en-US" dirty="0"/>
              <a:t>封底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3665" y="290013"/>
            <a:ext cx="1918335" cy="42320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156" y="286909"/>
            <a:ext cx="9967929" cy="46166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>
            <a:lvl1pPr>
              <a:lnSpc>
                <a:spcPct val="100000"/>
              </a:lnSpc>
              <a:defRPr lang="zh-CN" altLang="en-US" sz="2400" b="1" dirty="0">
                <a:solidFill>
                  <a:schemeClr val="tx1"/>
                </a:solidFill>
                <a:latin typeface="Arial" panose="020B0604020202090204" pitchFamily="34" charset="0"/>
                <a:ea typeface="Microsoft YaHei" panose="020B0502040204020203" pitchFamily="34" charset="-122"/>
                <a:cs typeface="Arial" panose="020B0604020202090204" pitchFamily="34" charset="0"/>
              </a:defRPr>
            </a:lvl1pPr>
          </a:lstStyle>
          <a:p>
            <a:pPr marL="0" lvl="0"/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-8635" y="358541"/>
            <a:ext cx="216638" cy="324000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/>
            <a:endParaRPr lang="zh-CN" altLang="en-US" sz="2800" b="0">
              <a:solidFill>
                <a:srgbClr val="FFFFFF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06305" y="969836"/>
            <a:ext cx="11379389" cy="73094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Arial" panose="020B0604020202090204" pitchFamily="34" charset="0"/>
              <a:buNone/>
              <a:defRPr sz="1600">
                <a:solidFill>
                  <a:schemeClr val="tx2">
                    <a:lumMod val="75000"/>
                  </a:schemeClr>
                </a:solidFill>
                <a:latin typeface="Microsoft YaHei" panose="020B0502040204020203" pitchFamily="34" charset="-122"/>
                <a:ea typeface="Microsoft YaHei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11571468" y="6424949"/>
            <a:ext cx="44770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7E244C5E-2AF4-BA42-AEE0-6D42AEA53610}" type="slidenum">
              <a:rPr lang="en-US" altLang="zh-CN" sz="110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‹#›</a:t>
            </a:fld>
            <a:endParaRPr lang="zh-CN" altLang="en-US" sz="1100" dirty="0">
              <a:solidFill>
                <a:schemeClr val="tx2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c_penetrative_supervision_product_intro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71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 descr="bg"/>
          <p:cNvPicPr>
            <a:picLocks noChangeAspect="1"/>
          </p:cNvPicPr>
          <p:nvPr userDrawn="1"/>
        </p:nvPicPr>
        <p:blipFill>
          <a:blip r:embed="rId9" cstate="screen"/>
          <a:stretch>
            <a:fillRect/>
          </a:stretch>
        </p:blipFill>
        <p:spPr>
          <a:xfrm>
            <a:off x="1" y="1"/>
            <a:ext cx="12192000" cy="68581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7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8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12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sv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0.sv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Relationship Id="rId14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31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5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32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notesSlide" Target="../notesSlides/notesSlide6.xml"/><Relationship Id="rId5" Type="http://schemas.openxmlformats.org/officeDocument/2006/relationships/tags" Target="../tags/tag16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15.xml"/><Relationship Id="rId9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tags" Target="../tags/tag46.xml"/><Relationship Id="rId3" Type="http://schemas.openxmlformats.org/officeDocument/2006/relationships/tags" Target="../tags/tag23.xml"/><Relationship Id="rId21" Type="http://schemas.openxmlformats.org/officeDocument/2006/relationships/tags" Target="../tags/tag41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tags" Target="../tags/tag45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tags" Target="../tags/tag40.xml"/><Relationship Id="rId29" Type="http://schemas.openxmlformats.org/officeDocument/2006/relationships/tags" Target="../tags/tag49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tags" Target="../tags/tag44.xml"/><Relationship Id="rId32" Type="http://schemas.openxmlformats.org/officeDocument/2006/relationships/notesSlide" Target="../notesSlides/notesSlide7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tags" Target="../tags/tag43.xml"/><Relationship Id="rId28" Type="http://schemas.openxmlformats.org/officeDocument/2006/relationships/tags" Target="../tags/tag48.xml"/><Relationship Id="rId10" Type="http://schemas.openxmlformats.org/officeDocument/2006/relationships/tags" Target="../tags/tag30.xml"/><Relationship Id="rId19" Type="http://schemas.openxmlformats.org/officeDocument/2006/relationships/tags" Target="../tags/tag39.xml"/><Relationship Id="rId31" Type="http://schemas.openxmlformats.org/officeDocument/2006/relationships/slideLayout" Target="../slideLayouts/slideLayout4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tags" Target="../tags/tag42.xml"/><Relationship Id="rId27" Type="http://schemas.openxmlformats.org/officeDocument/2006/relationships/tags" Target="../tags/tag47.xml"/><Relationship Id="rId30" Type="http://schemas.openxmlformats.org/officeDocument/2006/relationships/tags" Target="../tags/tag5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image" Target="../media/image35.svg"/><Relationship Id="rId2" Type="http://schemas.openxmlformats.org/officeDocument/2006/relationships/tags" Target="../tags/tag52.xml"/><Relationship Id="rId16" Type="http://schemas.openxmlformats.org/officeDocument/2006/relationships/image" Target="../media/image34.svg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image" Target="../media/image33.svg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26" Type="http://schemas.openxmlformats.org/officeDocument/2006/relationships/tags" Target="../tags/tag88.xml"/><Relationship Id="rId3" Type="http://schemas.openxmlformats.org/officeDocument/2006/relationships/tags" Target="../tags/tag65.xml"/><Relationship Id="rId21" Type="http://schemas.openxmlformats.org/officeDocument/2006/relationships/tags" Target="../tags/tag83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tags" Target="../tags/tag87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tags" Target="../tags/tag82.xml"/><Relationship Id="rId29" Type="http://schemas.openxmlformats.org/officeDocument/2006/relationships/notesSlide" Target="../notesSlides/notesSlide9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tags" Target="../tags/tag86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tags" Target="../tags/tag85.xml"/><Relationship Id="rId28" Type="http://schemas.openxmlformats.org/officeDocument/2006/relationships/slideLayout" Target="../slideLayouts/slideLayout4.xml"/><Relationship Id="rId10" Type="http://schemas.openxmlformats.org/officeDocument/2006/relationships/tags" Target="../tags/tag72.xml"/><Relationship Id="rId19" Type="http://schemas.openxmlformats.org/officeDocument/2006/relationships/tags" Target="../tags/tag81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tags" Target="../tags/tag84.xml"/><Relationship Id="rId27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13" Type="http://schemas.openxmlformats.org/officeDocument/2006/relationships/tags" Target="../tags/tag106.xml"/><Relationship Id="rId18" Type="http://schemas.openxmlformats.org/officeDocument/2006/relationships/image" Target="../media/image36.png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12" Type="http://schemas.openxmlformats.org/officeDocument/2006/relationships/tags" Target="../tags/tag105.xml"/><Relationship Id="rId17" Type="http://schemas.openxmlformats.org/officeDocument/2006/relationships/notesSlide" Target="../notesSlides/notesSlide19.xml"/><Relationship Id="rId2" Type="http://schemas.openxmlformats.org/officeDocument/2006/relationships/tags" Target="../tags/tag95.xml"/><Relationship Id="rId16" Type="http://schemas.openxmlformats.org/officeDocument/2006/relationships/slideLayout" Target="../slideLayouts/slideLayout4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tags" Target="../tags/tag104.xml"/><Relationship Id="rId5" Type="http://schemas.openxmlformats.org/officeDocument/2006/relationships/tags" Target="../tags/tag98.xml"/><Relationship Id="rId15" Type="http://schemas.openxmlformats.org/officeDocument/2006/relationships/tags" Target="../tags/tag108.xml"/><Relationship Id="rId10" Type="http://schemas.openxmlformats.org/officeDocument/2006/relationships/tags" Target="../tags/tag103.xml"/><Relationship Id="rId4" Type="http://schemas.openxmlformats.org/officeDocument/2006/relationships/tags" Target="../tags/tag97.xml"/><Relationship Id="rId9" Type="http://schemas.openxmlformats.org/officeDocument/2006/relationships/tags" Target="../tags/tag102.xml"/><Relationship Id="rId14" Type="http://schemas.openxmlformats.org/officeDocument/2006/relationships/tags" Target="../tags/tag10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9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0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tags" Target="../tags/tag129.xml"/><Relationship Id="rId26" Type="http://schemas.openxmlformats.org/officeDocument/2006/relationships/tags" Target="../tags/tag137.xml"/><Relationship Id="rId3" Type="http://schemas.openxmlformats.org/officeDocument/2006/relationships/tags" Target="../tags/tag114.xml"/><Relationship Id="rId21" Type="http://schemas.openxmlformats.org/officeDocument/2006/relationships/tags" Target="../tags/tag132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5" Type="http://schemas.openxmlformats.org/officeDocument/2006/relationships/tags" Target="../tags/tag136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20" Type="http://schemas.openxmlformats.org/officeDocument/2006/relationships/tags" Target="../tags/tag131.xml"/><Relationship Id="rId29" Type="http://schemas.openxmlformats.org/officeDocument/2006/relationships/tags" Target="../tags/tag140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24" Type="http://schemas.openxmlformats.org/officeDocument/2006/relationships/tags" Target="../tags/tag135.xml"/><Relationship Id="rId32" Type="http://schemas.openxmlformats.org/officeDocument/2006/relationships/notesSlide" Target="../notesSlides/notesSlide24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23" Type="http://schemas.openxmlformats.org/officeDocument/2006/relationships/tags" Target="../tags/tag134.xml"/><Relationship Id="rId28" Type="http://schemas.openxmlformats.org/officeDocument/2006/relationships/tags" Target="../tags/tag139.xml"/><Relationship Id="rId10" Type="http://schemas.openxmlformats.org/officeDocument/2006/relationships/tags" Target="../tags/tag121.xml"/><Relationship Id="rId19" Type="http://schemas.openxmlformats.org/officeDocument/2006/relationships/tags" Target="../tags/tag130.xml"/><Relationship Id="rId31" Type="http://schemas.openxmlformats.org/officeDocument/2006/relationships/slideLayout" Target="../slideLayouts/slideLayout4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Relationship Id="rId22" Type="http://schemas.openxmlformats.org/officeDocument/2006/relationships/tags" Target="../tags/tag133.xml"/><Relationship Id="rId27" Type="http://schemas.openxmlformats.org/officeDocument/2006/relationships/tags" Target="../tags/tag138.xml"/><Relationship Id="rId30" Type="http://schemas.openxmlformats.org/officeDocument/2006/relationships/tags" Target="../tags/tag14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tags" Target="../tags/tag144.xml"/><Relationship Id="rId7" Type="http://schemas.openxmlformats.org/officeDocument/2006/relationships/notesSlide" Target="../notesSlides/notesSlide25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8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9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0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1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26" Type="http://schemas.openxmlformats.org/officeDocument/2006/relationships/tags" Target="../tags/tag182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5" Type="http://schemas.openxmlformats.org/officeDocument/2006/relationships/tags" Target="../tags/tag181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29" Type="http://schemas.openxmlformats.org/officeDocument/2006/relationships/tags" Target="../tags/tag185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tags" Target="../tags/tag180.xml"/><Relationship Id="rId32" Type="http://schemas.openxmlformats.org/officeDocument/2006/relationships/notesSlide" Target="../notesSlides/notesSlide42.xml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tags" Target="../tags/tag179.xml"/><Relationship Id="rId28" Type="http://schemas.openxmlformats.org/officeDocument/2006/relationships/tags" Target="../tags/tag184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31" Type="http://schemas.openxmlformats.org/officeDocument/2006/relationships/slideLayout" Target="../slideLayouts/slideLayout4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Relationship Id="rId27" Type="http://schemas.openxmlformats.org/officeDocument/2006/relationships/tags" Target="../tags/tag183.xml"/><Relationship Id="rId30" Type="http://schemas.openxmlformats.org/officeDocument/2006/relationships/tags" Target="../tags/tag18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tags" Target="../tags/tag199.xml"/><Relationship Id="rId18" Type="http://schemas.openxmlformats.org/officeDocument/2006/relationships/tags" Target="../tags/tag204.xml"/><Relationship Id="rId26" Type="http://schemas.openxmlformats.org/officeDocument/2006/relationships/tags" Target="../tags/tag212.xml"/><Relationship Id="rId39" Type="http://schemas.openxmlformats.org/officeDocument/2006/relationships/tags" Target="../tags/tag225.xml"/><Relationship Id="rId21" Type="http://schemas.openxmlformats.org/officeDocument/2006/relationships/tags" Target="../tags/tag207.xml"/><Relationship Id="rId34" Type="http://schemas.openxmlformats.org/officeDocument/2006/relationships/tags" Target="../tags/tag220.xml"/><Relationship Id="rId42" Type="http://schemas.openxmlformats.org/officeDocument/2006/relationships/tags" Target="../tags/tag228.xml"/><Relationship Id="rId47" Type="http://schemas.openxmlformats.org/officeDocument/2006/relationships/tags" Target="../tags/tag233.xml"/><Relationship Id="rId50" Type="http://schemas.openxmlformats.org/officeDocument/2006/relationships/slideLayout" Target="../slideLayouts/slideLayout4.xml"/><Relationship Id="rId7" Type="http://schemas.openxmlformats.org/officeDocument/2006/relationships/tags" Target="../tags/tag193.xml"/><Relationship Id="rId2" Type="http://schemas.openxmlformats.org/officeDocument/2006/relationships/tags" Target="../tags/tag188.xml"/><Relationship Id="rId16" Type="http://schemas.openxmlformats.org/officeDocument/2006/relationships/tags" Target="../tags/tag202.xml"/><Relationship Id="rId29" Type="http://schemas.openxmlformats.org/officeDocument/2006/relationships/tags" Target="../tags/tag215.xml"/><Relationship Id="rId11" Type="http://schemas.openxmlformats.org/officeDocument/2006/relationships/tags" Target="../tags/tag197.xml"/><Relationship Id="rId24" Type="http://schemas.openxmlformats.org/officeDocument/2006/relationships/tags" Target="../tags/tag210.xml"/><Relationship Id="rId32" Type="http://schemas.openxmlformats.org/officeDocument/2006/relationships/tags" Target="../tags/tag218.xml"/><Relationship Id="rId37" Type="http://schemas.openxmlformats.org/officeDocument/2006/relationships/tags" Target="../tags/tag223.xml"/><Relationship Id="rId40" Type="http://schemas.openxmlformats.org/officeDocument/2006/relationships/tags" Target="../tags/tag226.xml"/><Relationship Id="rId45" Type="http://schemas.openxmlformats.org/officeDocument/2006/relationships/tags" Target="../tags/tag231.xml"/><Relationship Id="rId5" Type="http://schemas.openxmlformats.org/officeDocument/2006/relationships/tags" Target="../tags/tag191.xml"/><Relationship Id="rId15" Type="http://schemas.openxmlformats.org/officeDocument/2006/relationships/tags" Target="../tags/tag201.xml"/><Relationship Id="rId23" Type="http://schemas.openxmlformats.org/officeDocument/2006/relationships/tags" Target="../tags/tag209.xml"/><Relationship Id="rId28" Type="http://schemas.openxmlformats.org/officeDocument/2006/relationships/tags" Target="../tags/tag214.xml"/><Relationship Id="rId36" Type="http://schemas.openxmlformats.org/officeDocument/2006/relationships/tags" Target="../tags/tag222.xml"/><Relationship Id="rId49" Type="http://schemas.openxmlformats.org/officeDocument/2006/relationships/tags" Target="../tags/tag235.xml"/><Relationship Id="rId10" Type="http://schemas.openxmlformats.org/officeDocument/2006/relationships/tags" Target="../tags/tag196.xml"/><Relationship Id="rId19" Type="http://schemas.openxmlformats.org/officeDocument/2006/relationships/tags" Target="../tags/tag205.xml"/><Relationship Id="rId31" Type="http://schemas.openxmlformats.org/officeDocument/2006/relationships/tags" Target="../tags/tag217.xml"/><Relationship Id="rId44" Type="http://schemas.openxmlformats.org/officeDocument/2006/relationships/tags" Target="../tags/tag230.xml"/><Relationship Id="rId52" Type="http://schemas.openxmlformats.org/officeDocument/2006/relationships/image" Target="../media/image60.svg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tags" Target="../tags/tag200.xml"/><Relationship Id="rId22" Type="http://schemas.openxmlformats.org/officeDocument/2006/relationships/tags" Target="../tags/tag208.xml"/><Relationship Id="rId27" Type="http://schemas.openxmlformats.org/officeDocument/2006/relationships/tags" Target="../tags/tag213.xml"/><Relationship Id="rId30" Type="http://schemas.openxmlformats.org/officeDocument/2006/relationships/tags" Target="../tags/tag216.xml"/><Relationship Id="rId35" Type="http://schemas.openxmlformats.org/officeDocument/2006/relationships/tags" Target="../tags/tag221.xml"/><Relationship Id="rId43" Type="http://schemas.openxmlformats.org/officeDocument/2006/relationships/tags" Target="../tags/tag229.xml"/><Relationship Id="rId48" Type="http://schemas.openxmlformats.org/officeDocument/2006/relationships/tags" Target="../tags/tag234.xml"/><Relationship Id="rId8" Type="http://schemas.openxmlformats.org/officeDocument/2006/relationships/tags" Target="../tags/tag194.xml"/><Relationship Id="rId51" Type="http://schemas.openxmlformats.org/officeDocument/2006/relationships/notesSlide" Target="../notesSlides/notesSlide51.xml"/><Relationship Id="rId3" Type="http://schemas.openxmlformats.org/officeDocument/2006/relationships/tags" Target="../tags/tag189.xml"/><Relationship Id="rId12" Type="http://schemas.openxmlformats.org/officeDocument/2006/relationships/tags" Target="../tags/tag198.xml"/><Relationship Id="rId17" Type="http://schemas.openxmlformats.org/officeDocument/2006/relationships/tags" Target="../tags/tag203.xml"/><Relationship Id="rId25" Type="http://schemas.openxmlformats.org/officeDocument/2006/relationships/tags" Target="../tags/tag211.xml"/><Relationship Id="rId33" Type="http://schemas.openxmlformats.org/officeDocument/2006/relationships/tags" Target="../tags/tag219.xml"/><Relationship Id="rId38" Type="http://schemas.openxmlformats.org/officeDocument/2006/relationships/tags" Target="../tags/tag224.xml"/><Relationship Id="rId46" Type="http://schemas.openxmlformats.org/officeDocument/2006/relationships/tags" Target="../tags/tag232.xml"/><Relationship Id="rId20" Type="http://schemas.openxmlformats.org/officeDocument/2006/relationships/tags" Target="../tags/tag206.xml"/><Relationship Id="rId41" Type="http://schemas.openxmlformats.org/officeDocument/2006/relationships/tags" Target="../tags/tag227.xml"/><Relationship Id="rId1" Type="http://schemas.openxmlformats.org/officeDocument/2006/relationships/tags" Target="../tags/tag187.xml"/><Relationship Id="rId6" Type="http://schemas.openxmlformats.org/officeDocument/2006/relationships/tags" Target="../tags/tag19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svg"/><Relationship Id="rId5" Type="http://schemas.openxmlformats.org/officeDocument/2006/relationships/image" Target="../media/image63.svg"/><Relationship Id="rId4" Type="http://schemas.openxmlformats.org/officeDocument/2006/relationships/image" Target="../media/image6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5037843" y="4301262"/>
            <a:ext cx="1779838" cy="991553"/>
          </a:xfrm>
        </p:spPr>
        <p:txBody>
          <a:bodyPr/>
          <a:lstStyle/>
          <a:p>
            <a:r>
              <a:rPr lang="en-US" altLang="zh-CN" dirty="0" err="1">
                <a:sym typeface="+mn-ea"/>
              </a:rPr>
              <a:t>中国电子云</a:t>
            </a:r>
            <a:endParaRPr lang="en-US" altLang="zh-CN" dirty="0">
              <a:sym typeface="+mn-ea"/>
            </a:endParaRPr>
          </a:p>
          <a:p>
            <a:endParaRPr kumimoji="1" lang="zh-CN" altLang="en-US" dirty="0"/>
          </a:p>
          <a:p>
            <a:r>
              <a:rPr lang="en-US" altLang="zh-CN" dirty="0"/>
              <a:t>2026年7月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968500" y="2101756"/>
            <a:ext cx="8255000" cy="94297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央国企穿透式监管系统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19930" y="1517371"/>
            <a:ext cx="4217670" cy="3822970"/>
          </a:xfrm>
        </p:spPr>
        <p:txBody>
          <a:bodyPr anchor="ctr" anchorCtr="0">
            <a:spAutoFit/>
          </a:bodyPr>
          <a:lstStyle/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01  </a:t>
            </a: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+mj-ea"/>
              </a:rPr>
              <a:t>监管要求与建设目标</a:t>
            </a:r>
            <a:endParaRPr lang="en-US" altLang="zh-CN" dirty="0">
              <a:solidFill>
                <a:schemeClr val="accent1"/>
              </a:solidFill>
              <a:latin typeface="+mj-ea"/>
              <a:ea typeface="+mj-ea"/>
              <a:cs typeface="+mj-ea"/>
            </a:endParaRPr>
          </a:p>
          <a:p>
            <a:pPr marL="0" indent="0">
              <a:buNone/>
            </a:pPr>
            <a:r>
              <a:rPr lang="en-US" altLang="zh-CN" dirty="0"/>
              <a:t>02  </a:t>
            </a:r>
            <a:r>
              <a:rPr lang="zh-CN" altLang="en-US" dirty="0">
                <a:sym typeface="+mn-lt"/>
              </a:rPr>
              <a:t>产品定位与总体方案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03  </a:t>
            </a:r>
            <a:r>
              <a:rPr lang="zh-CN" altLang="zh-CN" dirty="0"/>
              <a:t>核心功能体系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04  </a:t>
            </a:r>
            <a:r>
              <a:rPr lang="zh-CN" altLang="zh-CN" dirty="0"/>
              <a:t>典型应用场景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05  建设实施与应用价值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6106-907D-04D7-362E-459E99F4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椭圆 29">
            <a:extLst>
              <a:ext uri="{FF2B5EF4-FFF2-40B4-BE49-F238E27FC236}">
                <a16:creationId xmlns:a16="http://schemas.microsoft.com/office/drawing/2014/main" id="{10543A8D-3D6B-9DDF-BE93-97B9A08B9684}"/>
              </a:ext>
            </a:extLst>
          </p:cNvPr>
          <p:cNvSpPr/>
          <p:nvPr/>
        </p:nvSpPr>
        <p:spPr>
          <a:xfrm rot="10800000">
            <a:off x="3872186" y="719364"/>
            <a:ext cx="5023485" cy="5023485"/>
          </a:xfrm>
          <a:prstGeom prst="ellipse">
            <a:avLst/>
          </a:prstGeom>
          <a:gradFill>
            <a:gsLst>
              <a:gs pos="31000">
                <a:schemeClr val="bg2">
                  <a:alpha val="0"/>
                </a:schemeClr>
              </a:gs>
              <a:gs pos="0">
                <a:schemeClr val="bg2"/>
              </a:gs>
            </a:gsLst>
            <a:lin ang="0" scaled="0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bg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13CA163-F78A-AA5A-DCF4-3ACBD1DDB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156" y="295799"/>
            <a:ext cx="9967929" cy="461665"/>
          </a:xfrm>
        </p:spPr>
        <p:txBody>
          <a:bodyPr/>
          <a:lstStyle/>
          <a:p>
            <a:r>
              <a:rPr lang="zh-CN" altLang="en-US" dirty="0">
                <a:cs typeface="+mj-ea"/>
              </a:rPr>
              <a:t>监管要求与建设目标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6" name="AutoShape 2">
            <a:extLst>
              <a:ext uri="{FF2B5EF4-FFF2-40B4-BE49-F238E27FC236}">
                <a16:creationId xmlns:a16="http://schemas.microsoft.com/office/drawing/2014/main" id="{25D4F888-5FA1-71F5-D340-6B93C7AA0F6D}"/>
              </a:ext>
            </a:extLst>
          </p:cNvPr>
          <p:cNvSpPr/>
          <p:nvPr/>
        </p:nvSpPr>
        <p:spPr>
          <a:xfrm>
            <a:off x="0" y="1515978"/>
            <a:ext cx="4064000" cy="534202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58FF">
                  <a:alpha val="100000"/>
                </a:srgbClr>
              </a:gs>
              <a:gs pos="100000">
                <a:srgbClr val="0058FF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4">
            <a:extLst>
              <a:ext uri="{FF2B5EF4-FFF2-40B4-BE49-F238E27FC236}">
                <a16:creationId xmlns:a16="http://schemas.microsoft.com/office/drawing/2014/main" id="{941BA555-81C1-CC20-0B97-B87D6E947496}"/>
              </a:ext>
            </a:extLst>
          </p:cNvPr>
          <p:cNvSpPr/>
          <p:nvPr/>
        </p:nvSpPr>
        <p:spPr>
          <a:xfrm>
            <a:off x="381000" y="219075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范式升级：从“人防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b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到“技防+智防</a:t>
            </a: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endParaRPr lang="en-US" sz="1100" dirty="0"/>
          </a:p>
        </p:txBody>
      </p:sp>
      <p:sp>
        <p:nvSpPr>
          <p:cNvPr id="60" name="AutoShape 5">
            <a:extLst>
              <a:ext uri="{FF2B5EF4-FFF2-40B4-BE49-F238E27FC236}">
                <a16:creationId xmlns:a16="http://schemas.microsoft.com/office/drawing/2014/main" id="{F9909F0A-7931-CD95-F7C4-80747475ECE7}"/>
              </a:ext>
            </a:extLst>
          </p:cNvPr>
          <p:cNvSpPr/>
          <p:nvPr/>
        </p:nvSpPr>
        <p:spPr>
          <a:xfrm>
            <a:off x="381000" y="3937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新一代数字技术推动国资监管从人工管控、事后处置，全面转向智能预警、全程智控的深刻变革。</a:t>
            </a:r>
            <a:endParaRPr lang="en-US" sz="1100"/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E032D459-5F7D-5A1B-F208-67459C784454}"/>
              </a:ext>
            </a:extLst>
          </p:cNvPr>
          <p:cNvSpPr/>
          <p:nvPr/>
        </p:nvSpPr>
        <p:spPr>
          <a:xfrm>
            <a:off x="381000" y="571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科技赋能监管 · 智创国资未来</a:t>
            </a:r>
            <a:endParaRPr lang="en-US" sz="1100"/>
          </a:p>
        </p:txBody>
      </p:sp>
      <p:sp>
        <p:nvSpPr>
          <p:cNvPr id="64" name="AutoShape 8">
            <a:extLst>
              <a:ext uri="{FF2B5EF4-FFF2-40B4-BE49-F238E27FC236}">
                <a16:creationId xmlns:a16="http://schemas.microsoft.com/office/drawing/2014/main" id="{E05BE26C-FEA4-7D75-94A8-7F1614D28D45}"/>
              </a:ext>
            </a:extLst>
          </p:cNvPr>
          <p:cNvSpPr/>
          <p:nvPr/>
        </p:nvSpPr>
        <p:spPr>
          <a:xfrm>
            <a:off x="4572000" y="1397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" name="AutoShape 9">
            <a:extLst>
              <a:ext uri="{FF2B5EF4-FFF2-40B4-BE49-F238E27FC236}">
                <a16:creationId xmlns:a16="http://schemas.microsoft.com/office/drawing/2014/main" id="{7C601299-5EFB-A813-8566-BEC8ACA686EB}"/>
              </a:ext>
            </a:extLst>
          </p:cNvPr>
          <p:cNvSpPr/>
          <p:nvPr/>
        </p:nvSpPr>
        <p:spPr>
          <a:xfrm>
            <a:off x="4826000" y="1714500"/>
            <a:ext cx="889000" cy="889000"/>
          </a:xfrm>
          <a:prstGeom prst="ellipse">
            <a:avLst/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8" name="Picture 10">
            <a:extLst>
              <a:ext uri="{FF2B5EF4-FFF2-40B4-BE49-F238E27FC236}">
                <a16:creationId xmlns:a16="http://schemas.microsoft.com/office/drawing/2014/main" id="{25816162-3CE2-EDE4-F152-833B7233B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0" y="1968500"/>
            <a:ext cx="381000" cy="381000"/>
          </a:xfrm>
          <a:prstGeom prst="rect">
            <a:avLst/>
          </a:prstGeom>
        </p:spPr>
      </p:pic>
      <p:sp>
        <p:nvSpPr>
          <p:cNvPr id="70" name="AutoShape 11">
            <a:extLst>
              <a:ext uri="{FF2B5EF4-FFF2-40B4-BE49-F238E27FC236}">
                <a16:creationId xmlns:a16="http://schemas.microsoft.com/office/drawing/2014/main" id="{9391419F-B83F-79C5-EE82-61B58CE3DD06}"/>
              </a:ext>
            </a:extLst>
          </p:cNvPr>
          <p:cNvSpPr/>
          <p:nvPr/>
        </p:nvSpPr>
        <p:spPr>
          <a:xfrm>
            <a:off x="5969000" y="1587500"/>
            <a:ext cx="546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技术赋能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智能驱动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依托AI大模型、知识图谱、大数据技术，实现规则自学习、风险自识别与穿透分析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2" name="AutoShape 12">
            <a:extLst>
              <a:ext uri="{FF2B5EF4-FFF2-40B4-BE49-F238E27FC236}">
                <a16:creationId xmlns:a16="http://schemas.microsoft.com/office/drawing/2014/main" id="{F8C935AD-F305-CC28-CCF8-E152BDD57624}"/>
              </a:ext>
            </a:extLst>
          </p:cNvPr>
          <p:cNvSpPr/>
          <p:nvPr/>
        </p:nvSpPr>
        <p:spPr>
          <a:xfrm>
            <a:off x="4572000" y="3175000"/>
            <a:ext cx="7112000" cy="1524000"/>
          </a:xfrm>
          <a:prstGeom prst="roundRect">
            <a:avLst>
              <a:gd name="adj" fmla="val 8333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" name="AutoShape 13">
            <a:extLst>
              <a:ext uri="{FF2B5EF4-FFF2-40B4-BE49-F238E27FC236}">
                <a16:creationId xmlns:a16="http://schemas.microsoft.com/office/drawing/2014/main" id="{9A5F157B-790A-EDE6-8C85-4FE16CFB3DB0}"/>
              </a:ext>
            </a:extLst>
          </p:cNvPr>
          <p:cNvSpPr/>
          <p:nvPr/>
        </p:nvSpPr>
        <p:spPr>
          <a:xfrm>
            <a:off x="4826000" y="3492500"/>
            <a:ext cx="889000" cy="889000"/>
          </a:xfrm>
          <a:prstGeom prst="ellipse">
            <a:avLst/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6" name="Picture 14">
            <a:extLst>
              <a:ext uri="{FF2B5EF4-FFF2-40B4-BE49-F238E27FC236}">
                <a16:creationId xmlns:a16="http://schemas.microsoft.com/office/drawing/2014/main" id="{818FA121-52BD-00D4-4ECA-EEEC96B412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3746500"/>
            <a:ext cx="381000" cy="381000"/>
          </a:xfrm>
          <a:prstGeom prst="rect">
            <a:avLst/>
          </a:prstGeom>
        </p:spPr>
      </p:pic>
      <p:sp>
        <p:nvSpPr>
          <p:cNvPr id="78" name="AutoShape 15">
            <a:extLst>
              <a:ext uri="{FF2B5EF4-FFF2-40B4-BE49-F238E27FC236}">
                <a16:creationId xmlns:a16="http://schemas.microsoft.com/office/drawing/2014/main" id="{7C7CBD0B-8AD4-D3DC-32CF-E6F7611C7449}"/>
              </a:ext>
            </a:extLst>
          </p:cNvPr>
          <p:cNvSpPr/>
          <p:nvPr/>
        </p:nvSpPr>
        <p:spPr>
          <a:xfrm>
            <a:off x="5969000" y="3365500"/>
            <a:ext cx="546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能力提升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穿透预警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实现风险早发现、早预警、早干预，确保多层级股权、资金与责任链条“一穿到底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</a:p>
        </p:txBody>
      </p:sp>
      <p:sp>
        <p:nvSpPr>
          <p:cNvPr id="80" name="AutoShape 16">
            <a:extLst>
              <a:ext uri="{FF2B5EF4-FFF2-40B4-BE49-F238E27FC236}">
                <a16:creationId xmlns:a16="http://schemas.microsoft.com/office/drawing/2014/main" id="{8EE54AF0-1751-ED9B-3CF0-E82A99BC667F}"/>
              </a:ext>
            </a:extLst>
          </p:cNvPr>
          <p:cNvSpPr/>
          <p:nvPr/>
        </p:nvSpPr>
        <p:spPr>
          <a:xfrm>
            <a:off x="4572000" y="4953000"/>
            <a:ext cx="7112000" cy="1397000"/>
          </a:xfrm>
          <a:prstGeom prst="roundRect">
            <a:avLst>
              <a:gd name="adj" fmla="val 909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" name="AutoShape 17">
            <a:extLst>
              <a:ext uri="{FF2B5EF4-FFF2-40B4-BE49-F238E27FC236}">
                <a16:creationId xmlns:a16="http://schemas.microsoft.com/office/drawing/2014/main" id="{DDBF06F9-EE69-D4B0-2D5E-75557EEAD243}"/>
              </a:ext>
            </a:extLst>
          </p:cNvPr>
          <p:cNvSpPr/>
          <p:nvPr/>
        </p:nvSpPr>
        <p:spPr>
          <a:xfrm>
            <a:off x="4826000" y="5207000"/>
            <a:ext cx="889000" cy="889000"/>
          </a:xfrm>
          <a:prstGeom prst="ellipse">
            <a:avLst/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4" name="Picture 18">
            <a:extLst>
              <a:ext uri="{FF2B5EF4-FFF2-40B4-BE49-F238E27FC236}">
                <a16:creationId xmlns:a16="http://schemas.microsoft.com/office/drawing/2014/main" id="{B80017DF-9C19-08B6-9D94-A6E3C9E972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5461000"/>
            <a:ext cx="381000" cy="381000"/>
          </a:xfrm>
          <a:prstGeom prst="rect">
            <a:avLst/>
          </a:prstGeom>
        </p:spPr>
      </p:pic>
      <p:sp>
        <p:nvSpPr>
          <p:cNvPr id="86" name="AutoShape 19">
            <a:extLst>
              <a:ext uri="{FF2B5EF4-FFF2-40B4-BE49-F238E27FC236}">
                <a16:creationId xmlns:a16="http://schemas.microsoft.com/office/drawing/2014/main" id="{D4243CF4-E1D4-39D3-AA94-8A9832F9C26A}"/>
              </a:ext>
            </a:extLst>
          </p:cNvPr>
          <p:cNvSpPr/>
          <p:nvPr/>
        </p:nvSpPr>
        <p:spPr>
          <a:xfrm>
            <a:off x="5969000" y="51435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数智愿景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全景闭环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迈向全要素感知、全链路可视、全场景智能、全闭环管控的数智化监管新形态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8" name="AutoShape 20">
            <a:extLst>
              <a:ext uri="{FF2B5EF4-FFF2-40B4-BE49-F238E27FC236}">
                <a16:creationId xmlns:a16="http://schemas.microsoft.com/office/drawing/2014/main" id="{28E88402-7EED-507D-9F90-0A1DDE228C3D}"/>
              </a:ext>
            </a:extLst>
          </p:cNvPr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" name="AutoShape 7">
            <a:extLst>
              <a:ext uri="{FF2B5EF4-FFF2-40B4-BE49-F238E27FC236}">
                <a16:creationId xmlns:a16="http://schemas.microsoft.com/office/drawing/2014/main" id="{F71AB34D-EB8E-DD49-13BA-57A5BFE24674}"/>
              </a:ext>
            </a:extLst>
          </p:cNvPr>
          <p:cNvSpPr/>
          <p:nvPr/>
        </p:nvSpPr>
        <p:spPr>
          <a:xfrm>
            <a:off x="1942574" y="789849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AI与大模型：驱动国资监管迈向“技防+智防”新范式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73127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E9A7B-6D45-9B02-A70E-20EF52A0A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507F2-ED56-13E6-7AED-5E51923E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cs typeface="+mj-ea"/>
              </a:rPr>
              <a:t>形势与监管要求</a:t>
            </a:r>
            <a:endParaRPr lang="zh-CN" altLang="en-US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45EB8C2-4151-56F5-4815-BA72F7DC31E1}"/>
              </a:ext>
            </a:extLst>
          </p:cNvPr>
          <p:cNvSpPr/>
          <p:nvPr/>
        </p:nvSpPr>
        <p:spPr>
          <a:xfrm>
            <a:off x="735774" y="831663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400" b="1" dirty="0">
                <a:solidFill>
                  <a:srgbClr val="0058FF"/>
                </a:solidFill>
                <a:cs typeface="+mn-ea"/>
                <a:sym typeface="+mn-lt"/>
              </a:rPr>
              <a:t>2026</a:t>
            </a:r>
            <a:r>
              <a:rPr lang="zh-CN" altLang="en-US" sz="2400" b="1" dirty="0">
                <a:solidFill>
                  <a:srgbClr val="0058FF"/>
                </a:solidFill>
                <a:cs typeface="+mn-ea"/>
                <a:sym typeface="+mn-lt"/>
              </a:rPr>
              <a:t>年</a:t>
            </a:r>
            <a:r>
              <a:rPr lang="en-US" altLang="zh-CN" sz="2400" b="1" dirty="0">
                <a:solidFill>
                  <a:srgbClr val="0058FF"/>
                </a:solidFill>
                <a:cs typeface="+mn-ea"/>
                <a:sym typeface="+mn-lt"/>
              </a:rPr>
              <a:t>1</a:t>
            </a:r>
            <a:r>
              <a:rPr lang="zh-CN" altLang="en-US" sz="2400" b="1" dirty="0">
                <a:solidFill>
                  <a:srgbClr val="0058FF"/>
                </a:solidFill>
                <a:cs typeface="+mn-ea"/>
                <a:sym typeface="+mn-lt"/>
              </a:rPr>
              <a:t>月，国务院国资委“双文齐发”，内部升级与外部治理双管齐下</a:t>
            </a:r>
            <a:endParaRPr lang="en-US" altLang="en-US" sz="2400" b="1" dirty="0">
              <a:solidFill>
                <a:srgbClr val="0058FF"/>
              </a:solidFill>
              <a:cs typeface="+mn-ea"/>
            </a:endParaRPr>
          </a:p>
        </p:txBody>
      </p:sp>
      <p:sp>
        <p:nvSpPr>
          <p:cNvPr id="56" name="AutoShape 18">
            <a:extLst>
              <a:ext uri="{FF2B5EF4-FFF2-40B4-BE49-F238E27FC236}">
                <a16:creationId xmlns:a16="http://schemas.microsoft.com/office/drawing/2014/main" id="{672AE660-380C-168E-6798-185111CA9997}"/>
              </a:ext>
            </a:extLst>
          </p:cNvPr>
          <p:cNvSpPr/>
          <p:nvPr/>
        </p:nvSpPr>
        <p:spPr>
          <a:xfrm>
            <a:off x="927100" y="5198293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FFEBEB">
              <a:alpha val="100000"/>
            </a:srgbClr>
          </a:solidFill>
          <a:ln w="12700" cap="flat" cmpd="sng">
            <a:solidFill>
              <a:srgbClr val="FFCDC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8" name="AutoShape 19">
            <a:extLst>
              <a:ext uri="{FF2B5EF4-FFF2-40B4-BE49-F238E27FC236}">
                <a16:creationId xmlns:a16="http://schemas.microsoft.com/office/drawing/2014/main" id="{84FA7B7F-B50B-4D5D-1FA5-1A53BC0CBCCD}"/>
              </a:ext>
            </a:extLst>
          </p:cNvPr>
          <p:cNvSpPr/>
          <p:nvPr/>
        </p:nvSpPr>
        <p:spPr>
          <a:xfrm>
            <a:off x="698500" y="52451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数据筑基驱动监管升级，监管需求反哺数据建设</a:t>
            </a:r>
            <a:endParaRPr lang="en-US" sz="1100" dirty="0"/>
          </a:p>
        </p:txBody>
      </p:sp>
      <p:sp>
        <p:nvSpPr>
          <p:cNvPr id="60" name="AutoShape 20">
            <a:extLst>
              <a:ext uri="{FF2B5EF4-FFF2-40B4-BE49-F238E27FC236}">
                <a16:creationId xmlns:a16="http://schemas.microsoft.com/office/drawing/2014/main" id="{8AF755E0-9020-0747-D872-6140F13481DD}"/>
              </a:ext>
            </a:extLst>
          </p:cNvPr>
          <p:cNvSpPr/>
          <p:nvPr/>
        </p:nvSpPr>
        <p:spPr>
          <a:xfrm>
            <a:off x="737275" y="5987801"/>
            <a:ext cx="10972800" cy="812800"/>
          </a:xfrm>
          <a:prstGeom prst="roundRect">
            <a:avLst>
              <a:gd name="adj" fmla="val 1250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8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AutoShape 21">
            <a:extLst>
              <a:ext uri="{FF2B5EF4-FFF2-40B4-BE49-F238E27FC236}">
                <a16:creationId xmlns:a16="http://schemas.microsoft.com/office/drawing/2014/main" id="{E34857F4-FDF8-37B6-0DD5-7099C841E397}"/>
              </a:ext>
            </a:extLst>
          </p:cNvPr>
          <p:cNvSpPr/>
          <p:nvPr/>
        </p:nvSpPr>
        <p:spPr>
          <a:xfrm>
            <a:off x="800100" y="6184900"/>
            <a:ext cx="10464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一体规划、一体建设、一体运营，构建符合新时代要求的国资数智化监管新体系</a:t>
            </a:r>
            <a:endParaRPr lang="en-US" sz="1100"/>
          </a:p>
        </p:txBody>
      </p:sp>
      <p:sp>
        <p:nvSpPr>
          <p:cNvPr id="197" name="TextBox 77">
            <a:extLst>
              <a:ext uri="{FF2B5EF4-FFF2-40B4-BE49-F238E27FC236}">
                <a16:creationId xmlns:a16="http://schemas.microsoft.com/office/drawing/2014/main" id="{8E24BA72-5127-1664-5928-1477FEAB4E7B}"/>
              </a:ext>
            </a:extLst>
          </p:cNvPr>
          <p:cNvSpPr txBox="1"/>
          <p:nvPr/>
        </p:nvSpPr>
        <p:spPr>
          <a:xfrm>
            <a:off x="4910968" y="1427397"/>
            <a:ext cx="2406607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26384C"/>
                </a:solidFill>
                <a:effectLst/>
                <a:uLnTx/>
                <a:uFillTx/>
                <a:ea typeface="Microsoft YaHei" panose="020B0503020204020204" pitchFamily="34" charset="-122"/>
                <a:cs typeface="Arial"/>
              </a:rPr>
              <a:t>国资数智化监管体系</a:t>
            </a:r>
          </a:p>
        </p:txBody>
      </p:sp>
      <p:sp>
        <p:nvSpPr>
          <p:cNvPr id="198" name="Ellipse 78">
            <a:extLst>
              <a:ext uri="{FF2B5EF4-FFF2-40B4-BE49-F238E27FC236}">
                <a16:creationId xmlns:a16="http://schemas.microsoft.com/office/drawing/2014/main" id="{DFB2FC29-6095-4DED-FCFB-FDDF38D4E32A}"/>
              </a:ext>
            </a:extLst>
          </p:cNvPr>
          <p:cNvSpPr/>
          <p:nvPr/>
        </p:nvSpPr>
        <p:spPr>
          <a:xfrm>
            <a:off x="5084377" y="2127998"/>
            <a:ext cx="2059792" cy="2082751"/>
          </a:xfrm>
          <a:prstGeom prst="ellipse">
            <a:avLst/>
          </a:prstGeom>
          <a:solidFill>
            <a:srgbClr val="F8F9FA"/>
          </a:solidFill>
          <a:ln w="19050">
            <a:solidFill>
              <a:schemeClr val="accent1"/>
            </a:solidFill>
          </a:ln>
        </p:spPr>
      </p:sp>
      <p:sp>
        <p:nvSpPr>
          <p:cNvPr id="199" name="Ellipse 79">
            <a:extLst>
              <a:ext uri="{FF2B5EF4-FFF2-40B4-BE49-F238E27FC236}">
                <a16:creationId xmlns:a16="http://schemas.microsoft.com/office/drawing/2014/main" id="{2D3476E8-8DB5-440B-6CF2-3648EBFBB81C}"/>
              </a:ext>
            </a:extLst>
          </p:cNvPr>
          <p:cNvSpPr/>
          <p:nvPr/>
        </p:nvSpPr>
        <p:spPr>
          <a:xfrm>
            <a:off x="10300969" y="1276542"/>
            <a:ext cx="1561997" cy="1579407"/>
          </a:xfrm>
          <a:prstGeom prst="ellipse">
            <a:avLst/>
          </a:prstGeom>
          <a:solidFill>
            <a:srgbClr val="FFFFFF"/>
          </a:solidFill>
          <a:ln w="9525">
            <a:solidFill>
              <a:srgbClr val="BFDDF7"/>
            </a:solidFill>
          </a:ln>
        </p:spPr>
      </p:sp>
      <p:sp>
        <p:nvSpPr>
          <p:cNvPr id="200" name="Rectangle 80">
            <a:extLst>
              <a:ext uri="{FF2B5EF4-FFF2-40B4-BE49-F238E27FC236}">
                <a16:creationId xmlns:a16="http://schemas.microsoft.com/office/drawing/2014/main" id="{77F83245-C1C3-7D41-C201-73930FEED957}"/>
              </a:ext>
            </a:extLst>
          </p:cNvPr>
          <p:cNvSpPr/>
          <p:nvPr/>
        </p:nvSpPr>
        <p:spPr>
          <a:xfrm>
            <a:off x="5785431" y="2315034"/>
            <a:ext cx="657683" cy="665014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01" name="Group 89">
            <a:extLst>
              <a:ext uri="{FF2B5EF4-FFF2-40B4-BE49-F238E27FC236}">
                <a16:creationId xmlns:a16="http://schemas.microsoft.com/office/drawing/2014/main" id="{5190D642-350C-C33C-A0FF-E742BE011B28}"/>
              </a:ext>
            </a:extLst>
          </p:cNvPr>
          <p:cNvGrpSpPr/>
          <p:nvPr/>
        </p:nvGrpSpPr>
        <p:grpSpPr>
          <a:xfrm>
            <a:off x="5975542" y="2507264"/>
            <a:ext cx="277460" cy="290945"/>
            <a:chOff x="5967412" y="2405062"/>
            <a:chExt cx="257175" cy="266701"/>
          </a:xfrm>
        </p:grpSpPr>
        <p:sp>
          <p:nvSpPr>
            <p:cNvPr id="210" name="Freeform 81">
              <a:extLst>
                <a:ext uri="{FF2B5EF4-FFF2-40B4-BE49-F238E27FC236}">
                  <a16:creationId xmlns:a16="http://schemas.microsoft.com/office/drawing/2014/main" id="{1348511A-EBE9-ADB6-6160-62D8856D72A2}"/>
                </a:ext>
              </a:extLst>
            </p:cNvPr>
            <p:cNvSpPr/>
            <p:nvPr/>
          </p:nvSpPr>
          <p:spPr>
            <a:xfrm>
              <a:off x="5967412" y="2662238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1" name="Freeform 82">
              <a:extLst>
                <a:ext uri="{FF2B5EF4-FFF2-40B4-BE49-F238E27FC236}">
                  <a16:creationId xmlns:a16="http://schemas.microsoft.com/office/drawing/2014/main" id="{A221BDE3-1BE3-EF00-47A6-EAED83C03531}"/>
                </a:ext>
              </a:extLst>
            </p:cNvPr>
            <p:cNvSpPr/>
            <p:nvPr/>
          </p:nvSpPr>
          <p:spPr>
            <a:xfrm>
              <a:off x="5967412" y="250507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2" name="Freeform 83">
              <a:extLst>
                <a:ext uri="{FF2B5EF4-FFF2-40B4-BE49-F238E27FC236}">
                  <a16:creationId xmlns:a16="http://schemas.microsoft.com/office/drawing/2014/main" id="{9D29E9B4-12C6-9F81-BA54-68E6684FBCFD}"/>
                </a:ext>
              </a:extLst>
            </p:cNvPr>
            <p:cNvSpPr/>
            <p:nvPr/>
          </p:nvSpPr>
          <p:spPr>
            <a:xfrm>
              <a:off x="5995988" y="2405062"/>
              <a:ext cx="200025" cy="42862"/>
            </a:xfrm>
            <a:custGeom>
              <a:avLst/>
              <a:gdLst/>
              <a:ahLst/>
              <a:cxnLst/>
              <a:rect l="l" t="t" r="r" b="b"/>
              <a:pathLst>
                <a:path w="200025" h="42862">
                  <a:moveTo>
                    <a:pt x="0" y="42862"/>
                  </a:moveTo>
                  <a:lnTo>
                    <a:pt x="100012" y="0"/>
                  </a:lnTo>
                  <a:lnTo>
                    <a:pt x="200025" y="42862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3" name="Freeform 84">
              <a:extLst>
                <a:ext uri="{FF2B5EF4-FFF2-40B4-BE49-F238E27FC236}">
                  <a16:creationId xmlns:a16="http://schemas.microsoft.com/office/drawing/2014/main" id="{49E45908-A330-14FE-BC2E-EF5F4A931C88}"/>
                </a:ext>
              </a:extLst>
            </p:cNvPr>
            <p:cNvSpPr/>
            <p:nvPr/>
          </p:nvSpPr>
          <p:spPr>
            <a:xfrm>
              <a:off x="5981700" y="2505075"/>
              <a:ext cx="9525" cy="157162"/>
            </a:xfrm>
            <a:custGeom>
              <a:avLst/>
              <a:gdLst/>
              <a:ahLst/>
              <a:cxnLst/>
              <a:rect l="l" t="t" r="r" b="b"/>
              <a:pathLst>
                <a:path w="9525" h="157162">
                  <a:moveTo>
                    <a:pt x="0" y="0"/>
                  </a:moveTo>
                  <a:lnTo>
                    <a:pt x="0" y="157162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4" name="Freeform 85">
              <a:extLst>
                <a:ext uri="{FF2B5EF4-FFF2-40B4-BE49-F238E27FC236}">
                  <a16:creationId xmlns:a16="http://schemas.microsoft.com/office/drawing/2014/main" id="{CACDAD52-7BF8-B019-F800-45173C1EC24B}"/>
                </a:ext>
              </a:extLst>
            </p:cNvPr>
            <p:cNvSpPr/>
            <p:nvPr/>
          </p:nvSpPr>
          <p:spPr>
            <a:xfrm>
              <a:off x="6210300" y="2505075"/>
              <a:ext cx="9525" cy="157162"/>
            </a:xfrm>
            <a:custGeom>
              <a:avLst/>
              <a:gdLst/>
              <a:ahLst/>
              <a:cxnLst/>
              <a:rect l="l" t="t" r="r" b="b"/>
              <a:pathLst>
                <a:path w="9525" h="157162">
                  <a:moveTo>
                    <a:pt x="0" y="0"/>
                  </a:moveTo>
                  <a:lnTo>
                    <a:pt x="0" y="157162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5" name="Freeform 86">
              <a:extLst>
                <a:ext uri="{FF2B5EF4-FFF2-40B4-BE49-F238E27FC236}">
                  <a16:creationId xmlns:a16="http://schemas.microsoft.com/office/drawing/2014/main" id="{9C32EF9F-033C-A8F8-D39F-A383DAE2F45C}"/>
                </a:ext>
              </a:extLst>
            </p:cNvPr>
            <p:cNvSpPr/>
            <p:nvPr/>
          </p:nvSpPr>
          <p:spPr>
            <a:xfrm>
              <a:off x="6038850" y="256222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6" name="Freeform 87">
              <a:extLst>
                <a:ext uri="{FF2B5EF4-FFF2-40B4-BE49-F238E27FC236}">
                  <a16:creationId xmlns:a16="http://schemas.microsoft.com/office/drawing/2014/main" id="{F7EC0649-8813-5CD5-7158-1CF3ECBF190A}"/>
                </a:ext>
              </a:extLst>
            </p:cNvPr>
            <p:cNvSpPr/>
            <p:nvPr/>
          </p:nvSpPr>
          <p:spPr>
            <a:xfrm>
              <a:off x="6096000" y="256222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  <p:sp>
          <p:nvSpPr>
            <p:cNvPr id="217" name="Freeform 88">
              <a:extLst>
                <a:ext uri="{FF2B5EF4-FFF2-40B4-BE49-F238E27FC236}">
                  <a16:creationId xmlns:a16="http://schemas.microsoft.com/office/drawing/2014/main" id="{E98D7810-2C75-13A7-FE19-61A70CAD9CD6}"/>
                </a:ext>
              </a:extLst>
            </p:cNvPr>
            <p:cNvSpPr/>
            <p:nvPr/>
          </p:nvSpPr>
          <p:spPr>
            <a:xfrm>
              <a:off x="6153150" y="256222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0"/>
                  </a:moveTo>
                  <a:lnTo>
                    <a:pt x="0" y="42862"/>
                  </a:lnTo>
                </a:path>
              </a:pathLst>
            </a:custGeom>
            <a:noFill/>
            <a:ln w="28575">
              <a:solidFill>
                <a:schemeClr val="bg1"/>
              </a:solidFill>
            </a:ln>
          </p:spPr>
        </p:sp>
      </p:grpSp>
      <p:sp>
        <p:nvSpPr>
          <p:cNvPr id="202" name="TextBox 90">
            <a:extLst>
              <a:ext uri="{FF2B5EF4-FFF2-40B4-BE49-F238E27FC236}">
                <a16:creationId xmlns:a16="http://schemas.microsoft.com/office/drawing/2014/main" id="{11BBBE0D-A233-9161-51D5-20B332F51AB9}"/>
              </a:ext>
            </a:extLst>
          </p:cNvPr>
          <p:cNvSpPr txBox="1"/>
          <p:nvPr/>
        </p:nvSpPr>
        <p:spPr>
          <a:xfrm>
            <a:off x="5498719" y="3101620"/>
            <a:ext cx="123110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ea typeface="Microsoft YaHei" panose="020B0503020204020204" pitchFamily="34" charset="-122"/>
                <a:cs typeface="Arial"/>
              </a:rPr>
              <a:t>数据赋能监管</a:t>
            </a:r>
          </a:p>
        </p:txBody>
      </p:sp>
      <p:sp>
        <p:nvSpPr>
          <p:cNvPr id="203" name="TextBox 91">
            <a:extLst>
              <a:ext uri="{FF2B5EF4-FFF2-40B4-BE49-F238E27FC236}">
                <a16:creationId xmlns:a16="http://schemas.microsoft.com/office/drawing/2014/main" id="{C26782C0-926C-F5E9-C021-42A8CDDE7438}"/>
              </a:ext>
            </a:extLst>
          </p:cNvPr>
          <p:cNvSpPr txBox="1"/>
          <p:nvPr/>
        </p:nvSpPr>
        <p:spPr>
          <a:xfrm>
            <a:off x="5498719" y="3361392"/>
            <a:ext cx="1231106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ea typeface="Microsoft YaHei" panose="020B0503020204020204" pitchFamily="34" charset="-122"/>
                <a:cs typeface="Arial"/>
              </a:rPr>
              <a:t>监管驱动价值</a:t>
            </a:r>
          </a:p>
        </p:txBody>
      </p:sp>
      <p:sp>
        <p:nvSpPr>
          <p:cNvPr id="204" name="Rectangle 92">
            <a:extLst>
              <a:ext uri="{FF2B5EF4-FFF2-40B4-BE49-F238E27FC236}">
                <a16:creationId xmlns:a16="http://schemas.microsoft.com/office/drawing/2014/main" id="{B51F980B-A3CF-0A82-01CE-F9A21ED0AD41}"/>
              </a:ext>
            </a:extLst>
          </p:cNvPr>
          <p:cNvSpPr/>
          <p:nvPr/>
        </p:nvSpPr>
        <p:spPr>
          <a:xfrm>
            <a:off x="5621010" y="3676233"/>
            <a:ext cx="986524" cy="33203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</p:sp>
      <p:sp>
        <p:nvSpPr>
          <p:cNvPr id="205" name="TextBox 93">
            <a:extLst>
              <a:ext uri="{FF2B5EF4-FFF2-40B4-BE49-F238E27FC236}">
                <a16:creationId xmlns:a16="http://schemas.microsoft.com/office/drawing/2014/main" id="{F15949B3-8571-F324-B923-5C38AE9F6E81}"/>
              </a:ext>
            </a:extLst>
          </p:cNvPr>
          <p:cNvSpPr txBox="1"/>
          <p:nvPr/>
        </p:nvSpPr>
        <p:spPr>
          <a:xfrm>
            <a:off x="5668503" y="3745488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ea typeface="Microsoft YaHei" panose="020B0503020204020204" pitchFamily="34" charset="-122"/>
                <a:cs typeface="Arial"/>
              </a:rPr>
              <a:t>双向反馈闭环</a:t>
            </a:r>
          </a:p>
        </p:txBody>
      </p:sp>
      <p:sp>
        <p:nvSpPr>
          <p:cNvPr id="208" name="TextBox 96">
            <a:extLst>
              <a:ext uri="{FF2B5EF4-FFF2-40B4-BE49-F238E27FC236}">
                <a16:creationId xmlns:a16="http://schemas.microsoft.com/office/drawing/2014/main" id="{A7E330A3-B700-C1E6-330D-98BB07A604DB}"/>
              </a:ext>
            </a:extLst>
          </p:cNvPr>
          <p:cNvSpPr txBox="1"/>
          <p:nvPr/>
        </p:nvSpPr>
        <p:spPr>
          <a:xfrm>
            <a:off x="7138380" y="3551704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ea typeface="Microsoft YaHei" panose="020B0503020204020204" pitchFamily="34" charset="-122"/>
                <a:cs typeface="Arial"/>
              </a:rPr>
              <a:t>监管反馈数据</a:t>
            </a:r>
          </a:p>
        </p:txBody>
      </p:sp>
      <p:sp>
        <p:nvSpPr>
          <p:cNvPr id="273" name="文本框 272">
            <a:extLst>
              <a:ext uri="{FF2B5EF4-FFF2-40B4-BE49-F238E27FC236}">
                <a16:creationId xmlns:a16="http://schemas.microsoft.com/office/drawing/2014/main" id="{79BE6E39-5A49-F641-C051-54CB9E8DF6A9}"/>
              </a:ext>
            </a:extLst>
          </p:cNvPr>
          <p:cNvSpPr txBox="1"/>
          <p:nvPr/>
        </p:nvSpPr>
        <p:spPr>
          <a:xfrm>
            <a:off x="3096364" y="4381812"/>
            <a:ext cx="6097384" cy="441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国资委1号文 + 2号文</a:t>
            </a:r>
            <a:endParaRPr lang="en-US" altLang="zh-CN" sz="1100" dirty="0"/>
          </a:p>
        </p:txBody>
      </p:sp>
      <p:sp>
        <p:nvSpPr>
          <p:cNvPr id="275" name="AutoShape 3">
            <a:extLst>
              <a:ext uri="{FF2B5EF4-FFF2-40B4-BE49-F238E27FC236}">
                <a16:creationId xmlns:a16="http://schemas.microsoft.com/office/drawing/2014/main" id="{D4A52343-39DF-66EA-352B-EB20D924183C}"/>
              </a:ext>
            </a:extLst>
          </p:cNvPr>
          <p:cNvSpPr/>
          <p:nvPr/>
        </p:nvSpPr>
        <p:spPr>
          <a:xfrm>
            <a:off x="1004365" y="1770148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7" name="Picture 4">
            <a:extLst>
              <a:ext uri="{FF2B5EF4-FFF2-40B4-BE49-F238E27FC236}">
                <a16:creationId xmlns:a16="http://schemas.microsoft.com/office/drawing/2014/main" id="{B8F9652C-C82B-44E3-B36B-FF397D88E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4365" y="2087648"/>
            <a:ext cx="762000" cy="762000"/>
          </a:xfrm>
          <a:prstGeom prst="rect">
            <a:avLst/>
          </a:prstGeom>
        </p:spPr>
      </p:pic>
      <p:sp>
        <p:nvSpPr>
          <p:cNvPr id="279" name="AutoShape 5">
            <a:extLst>
              <a:ext uri="{FF2B5EF4-FFF2-40B4-BE49-F238E27FC236}">
                <a16:creationId xmlns:a16="http://schemas.microsoft.com/office/drawing/2014/main" id="{9384C077-ABA9-297F-85C5-471EB05852D0}"/>
              </a:ext>
            </a:extLst>
          </p:cNvPr>
          <p:cNvSpPr/>
          <p:nvPr/>
        </p:nvSpPr>
        <p:spPr>
          <a:xfrm>
            <a:off x="1131365" y="2976648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DRP 数据资源规划</a:t>
            </a:r>
            <a:endParaRPr lang="en-US" sz="1100"/>
          </a:p>
        </p:txBody>
      </p:sp>
      <p:sp>
        <p:nvSpPr>
          <p:cNvPr id="281" name="AutoShape 6">
            <a:extLst>
              <a:ext uri="{FF2B5EF4-FFF2-40B4-BE49-F238E27FC236}">
                <a16:creationId xmlns:a16="http://schemas.microsoft.com/office/drawing/2014/main" id="{8FC46B16-91AB-683E-5CD1-BE853A73FE62}"/>
              </a:ext>
            </a:extLst>
          </p:cNvPr>
          <p:cNvSpPr/>
          <p:nvPr/>
        </p:nvSpPr>
        <p:spPr>
          <a:xfrm>
            <a:off x="1131365" y="3421148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数据之基</a:t>
            </a:r>
            <a:endParaRPr lang="en-US" sz="1100" dirty="0"/>
          </a:p>
        </p:txBody>
      </p:sp>
      <p:sp>
        <p:nvSpPr>
          <p:cNvPr id="283" name="AutoShape 7">
            <a:extLst>
              <a:ext uri="{FF2B5EF4-FFF2-40B4-BE49-F238E27FC236}">
                <a16:creationId xmlns:a16="http://schemas.microsoft.com/office/drawing/2014/main" id="{006E33B5-DE09-06D4-6ECD-0A4F1F40884E}"/>
              </a:ext>
            </a:extLst>
          </p:cNvPr>
          <p:cNvSpPr/>
          <p:nvPr/>
        </p:nvSpPr>
        <p:spPr>
          <a:xfrm>
            <a:off x="1194865" y="3802148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统一数据标准、强化数据治理、构建数据中台，为监管提供可信数据源与智能引擎。</a:t>
            </a:r>
            <a:endParaRPr lang="en-US" sz="1100"/>
          </a:p>
        </p:txBody>
      </p:sp>
      <p:sp>
        <p:nvSpPr>
          <p:cNvPr id="285" name="AutoShape 13">
            <a:extLst>
              <a:ext uri="{FF2B5EF4-FFF2-40B4-BE49-F238E27FC236}">
                <a16:creationId xmlns:a16="http://schemas.microsoft.com/office/drawing/2014/main" id="{1940CF4A-2EC2-3009-7065-D6AFC92EE64D}"/>
              </a:ext>
            </a:extLst>
          </p:cNvPr>
          <p:cNvSpPr/>
          <p:nvPr/>
        </p:nvSpPr>
        <p:spPr>
          <a:xfrm>
            <a:off x="8055921" y="1783121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7" name="Picture 14">
            <a:extLst>
              <a:ext uri="{FF2B5EF4-FFF2-40B4-BE49-F238E27FC236}">
                <a16:creationId xmlns:a16="http://schemas.microsoft.com/office/drawing/2014/main" id="{79DD9928-97D9-6E2A-DDE5-DB6C84FD7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5921" y="2100621"/>
            <a:ext cx="762000" cy="762000"/>
          </a:xfrm>
          <a:prstGeom prst="rect">
            <a:avLst/>
          </a:prstGeom>
        </p:spPr>
      </p:pic>
      <p:sp>
        <p:nvSpPr>
          <p:cNvPr id="289" name="AutoShape 15">
            <a:extLst>
              <a:ext uri="{FF2B5EF4-FFF2-40B4-BE49-F238E27FC236}">
                <a16:creationId xmlns:a16="http://schemas.microsoft.com/office/drawing/2014/main" id="{334657F1-D4F4-5EB6-322F-B4C08A0CCA3B}"/>
              </a:ext>
            </a:extLst>
          </p:cNvPr>
          <p:cNvSpPr/>
          <p:nvPr/>
        </p:nvSpPr>
        <p:spPr>
          <a:xfrm>
            <a:off x="8182921" y="2989621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穿透式监管体系</a:t>
            </a:r>
            <a:endParaRPr lang="en-US" sz="1100"/>
          </a:p>
        </p:txBody>
      </p:sp>
      <p:sp>
        <p:nvSpPr>
          <p:cNvPr id="291" name="AutoShape 16">
            <a:extLst>
              <a:ext uri="{FF2B5EF4-FFF2-40B4-BE49-F238E27FC236}">
                <a16:creationId xmlns:a16="http://schemas.microsoft.com/office/drawing/2014/main" id="{7A282DF8-671E-16BB-A015-F61BE052CAAF}"/>
              </a:ext>
            </a:extLst>
          </p:cNvPr>
          <p:cNvSpPr/>
          <p:nvPr/>
        </p:nvSpPr>
        <p:spPr>
          <a:xfrm>
            <a:off x="8182921" y="3434121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监管之向</a:t>
            </a:r>
            <a:endParaRPr lang="en-US" sz="1100" dirty="0"/>
          </a:p>
        </p:txBody>
      </p:sp>
      <p:sp>
        <p:nvSpPr>
          <p:cNvPr id="293" name="AutoShape 17">
            <a:extLst>
              <a:ext uri="{FF2B5EF4-FFF2-40B4-BE49-F238E27FC236}">
                <a16:creationId xmlns:a16="http://schemas.microsoft.com/office/drawing/2014/main" id="{3EDA9B39-B125-CE59-AD0C-54C38BA6D955}"/>
              </a:ext>
            </a:extLst>
          </p:cNvPr>
          <p:cNvSpPr/>
          <p:nvPr/>
        </p:nvSpPr>
        <p:spPr>
          <a:xfrm>
            <a:off x="8246421" y="3815121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08333"/>
              </a:lnSpc>
              <a:defRPr/>
            </a:pPr>
            <a:r>
              <a:rPr lang="en-US" altLang="zh-CN" sz="1200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围绕重点领域、关键事项和风险问题，推动监管在线化、实时化、模型化</a:t>
            </a:r>
            <a:r>
              <a:rPr lang="en-US" altLang="zh-CN" sz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6" name="TextBox 94">
            <a:extLst>
              <a:ext uri="{FF2B5EF4-FFF2-40B4-BE49-F238E27FC236}">
                <a16:creationId xmlns:a16="http://schemas.microsoft.com/office/drawing/2014/main" id="{6CA0D834-BF02-DD06-D97A-86201E42EFA6}"/>
              </a:ext>
            </a:extLst>
          </p:cNvPr>
          <p:cNvSpPr txBox="1"/>
          <p:nvPr/>
        </p:nvSpPr>
        <p:spPr>
          <a:xfrm>
            <a:off x="4225612" y="3558600"/>
            <a:ext cx="92333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ea typeface="Microsoft YaHei" panose="020B0503020204020204" pitchFamily="34" charset="-122"/>
                <a:cs typeface="Arial"/>
              </a:rPr>
              <a:t>数据驱动监管</a:t>
            </a:r>
          </a:p>
        </p:txBody>
      </p:sp>
      <p:sp>
        <p:nvSpPr>
          <p:cNvPr id="294" name="箭头: 右 293">
            <a:extLst>
              <a:ext uri="{FF2B5EF4-FFF2-40B4-BE49-F238E27FC236}">
                <a16:creationId xmlns:a16="http://schemas.microsoft.com/office/drawing/2014/main" id="{5110C812-FA79-E997-79F3-199BB113C4D0}"/>
              </a:ext>
            </a:extLst>
          </p:cNvPr>
          <p:cNvSpPr/>
          <p:nvPr/>
        </p:nvSpPr>
        <p:spPr>
          <a:xfrm>
            <a:off x="4488589" y="3137234"/>
            <a:ext cx="465470" cy="331412"/>
          </a:xfrm>
          <a:prstGeom prst="rightArrow">
            <a:avLst/>
          </a:prstGeom>
          <a:solidFill>
            <a:srgbClr val="0058FF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96" name="箭头: 右 295">
            <a:extLst>
              <a:ext uri="{FF2B5EF4-FFF2-40B4-BE49-F238E27FC236}">
                <a16:creationId xmlns:a16="http://schemas.microsoft.com/office/drawing/2014/main" id="{50409E16-E226-2F3C-5F97-F9844D0AE2BA}"/>
              </a:ext>
            </a:extLst>
          </p:cNvPr>
          <p:cNvSpPr/>
          <p:nvPr/>
        </p:nvSpPr>
        <p:spPr>
          <a:xfrm rot="10800000">
            <a:off x="7385904" y="3097588"/>
            <a:ext cx="465470" cy="331412"/>
          </a:xfrm>
          <a:prstGeom prst="rightArrow">
            <a:avLst/>
          </a:prstGeom>
          <a:solidFill>
            <a:srgbClr val="0058FF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7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3D85-FE35-C463-17AC-3189CA1E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7DCDF-BBC4-1918-F06D-A1FC12393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cs typeface="+mj-ea"/>
              </a:rPr>
              <a:t>形势与监管要求</a:t>
            </a:r>
            <a:endParaRPr lang="zh-CN" altLang="en-US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9224BDA-8AF2-0F53-6B7F-32F9BDD13D82}"/>
              </a:ext>
            </a:extLst>
          </p:cNvPr>
          <p:cNvSpPr/>
          <p:nvPr/>
        </p:nvSpPr>
        <p:spPr>
          <a:xfrm>
            <a:off x="508000" y="1326889"/>
            <a:ext cx="11176000" cy="82550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058FF">
                  <a:alpha val="100000"/>
                </a:srgbClr>
              </a:gs>
              <a:gs pos="100000">
                <a:srgbClr val="2872FF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8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EA8D6EB-7443-91F0-443E-ABA015A38959}"/>
              </a:ext>
            </a:extLst>
          </p:cNvPr>
          <p:cNvSpPr/>
          <p:nvPr/>
        </p:nvSpPr>
        <p:spPr>
          <a:xfrm>
            <a:off x="508000" y="1415789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产品建设目标：构建“四全贯通、五通融合”的监管能力底座</a:t>
            </a:r>
            <a:endParaRPr lang="en-US" sz="110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60572F7-D578-09FD-6F3E-1E5073CBF599}"/>
              </a:ext>
            </a:extLst>
          </p:cNvPr>
          <p:cNvSpPr/>
          <p:nvPr/>
        </p:nvSpPr>
        <p:spPr>
          <a:xfrm>
            <a:off x="508000" y="2406389"/>
            <a:ext cx="2082800" cy="3175000"/>
          </a:xfrm>
          <a:prstGeom prst="roundRect">
            <a:avLst>
              <a:gd name="adj" fmla="val 609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41A0C3E-4A9A-2013-ED10-14AEC5B855E4}"/>
              </a:ext>
            </a:extLst>
          </p:cNvPr>
          <p:cNvSpPr/>
          <p:nvPr/>
        </p:nvSpPr>
        <p:spPr>
          <a:xfrm>
            <a:off x="508000" y="2406389"/>
            <a:ext cx="2082800" cy="762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5CD97288-3C60-A02E-D46A-5E85A46F7506}"/>
              </a:ext>
            </a:extLst>
          </p:cNvPr>
          <p:cNvSpPr/>
          <p:nvPr/>
        </p:nvSpPr>
        <p:spPr>
          <a:xfrm>
            <a:off x="1168400" y="2787389"/>
            <a:ext cx="762000" cy="762000"/>
          </a:xfrm>
          <a:prstGeom prst="ellipse">
            <a:avLst/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259232B2-5373-5EBE-5BBB-571C800AB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5400" y="2914389"/>
            <a:ext cx="508000" cy="508000"/>
          </a:xfrm>
          <a:prstGeom prst="rect">
            <a:avLst/>
          </a:prstGeom>
        </p:spPr>
      </p:pic>
      <p:sp>
        <p:nvSpPr>
          <p:cNvPr id="11" name="AutoShape 9">
            <a:extLst>
              <a:ext uri="{FF2B5EF4-FFF2-40B4-BE49-F238E27FC236}">
                <a16:creationId xmlns:a16="http://schemas.microsoft.com/office/drawing/2014/main" id="{652A34FB-3623-83C5-48EB-89782E85D10D}"/>
              </a:ext>
            </a:extLst>
          </p:cNvPr>
          <p:cNvSpPr/>
          <p:nvPr/>
        </p:nvSpPr>
        <p:spPr>
          <a:xfrm>
            <a:off x="635000" y="3676389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数据同源融合</a:t>
            </a:r>
            <a:endParaRPr lang="en-US" sz="1100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5A513ABF-1BF5-2E02-C84B-F10299A6F7F4}"/>
              </a:ext>
            </a:extLst>
          </p:cNvPr>
          <p:cNvSpPr/>
          <p:nvPr/>
        </p:nvSpPr>
        <p:spPr>
          <a:xfrm>
            <a:off x="635000" y="4184389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统一数据标准与主数据口径，形成唯一可信监管数据源。</a:t>
            </a:r>
            <a:endParaRPr lang="en-US" sz="1100"/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08DD19F2-1415-5760-7098-680D11F45405}"/>
              </a:ext>
            </a:extLst>
          </p:cNvPr>
          <p:cNvSpPr/>
          <p:nvPr/>
        </p:nvSpPr>
        <p:spPr>
          <a:xfrm>
            <a:off x="2717800" y="2406389"/>
            <a:ext cx="2082800" cy="3175000"/>
          </a:xfrm>
          <a:prstGeom prst="roundRect">
            <a:avLst>
              <a:gd name="adj" fmla="val 609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F075BFF3-65A2-3D8C-9525-D889054A2DE6}"/>
              </a:ext>
            </a:extLst>
          </p:cNvPr>
          <p:cNvSpPr/>
          <p:nvPr/>
        </p:nvSpPr>
        <p:spPr>
          <a:xfrm>
            <a:off x="2717800" y="2406389"/>
            <a:ext cx="2082800" cy="762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28426256-EC02-CE65-3E3C-EF549E457D19}"/>
              </a:ext>
            </a:extLst>
          </p:cNvPr>
          <p:cNvSpPr/>
          <p:nvPr/>
        </p:nvSpPr>
        <p:spPr>
          <a:xfrm>
            <a:off x="3378200" y="2787389"/>
            <a:ext cx="762000" cy="762000"/>
          </a:xfrm>
          <a:prstGeom prst="ellipse">
            <a:avLst/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7AD0E87E-07B8-98F9-DC47-F80BA1D38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5200" y="2914389"/>
            <a:ext cx="508000" cy="508000"/>
          </a:xfrm>
          <a:prstGeom prst="rect">
            <a:avLst/>
          </a:prstGeom>
        </p:spPr>
      </p:pic>
      <p:sp>
        <p:nvSpPr>
          <p:cNvPr id="19" name="AutoShape 15">
            <a:extLst>
              <a:ext uri="{FF2B5EF4-FFF2-40B4-BE49-F238E27FC236}">
                <a16:creationId xmlns:a16="http://schemas.microsoft.com/office/drawing/2014/main" id="{E6BFC95A-0FF9-BB61-9454-47D7F62BE924}"/>
              </a:ext>
            </a:extLst>
          </p:cNvPr>
          <p:cNvSpPr/>
          <p:nvPr/>
        </p:nvSpPr>
        <p:spPr>
          <a:xfrm>
            <a:off x="2844800" y="3676389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业务链路贯通</a:t>
            </a:r>
            <a:endParaRPr lang="en-US" sz="1100"/>
          </a:p>
        </p:txBody>
      </p:sp>
      <p:sp>
        <p:nvSpPr>
          <p:cNvPr id="21" name="AutoShape 16">
            <a:extLst>
              <a:ext uri="{FF2B5EF4-FFF2-40B4-BE49-F238E27FC236}">
                <a16:creationId xmlns:a16="http://schemas.microsoft.com/office/drawing/2014/main" id="{E62011E4-B3BE-2842-D9DB-25C177A8CF9D}"/>
              </a:ext>
            </a:extLst>
          </p:cNvPr>
          <p:cNvSpPr/>
          <p:nvPr/>
        </p:nvSpPr>
        <p:spPr>
          <a:xfrm>
            <a:off x="2844800" y="4184389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打通组织、合同、资金、人员、资产等跨系统链路。</a:t>
            </a:r>
            <a:endParaRPr lang="en-US" sz="1100"/>
          </a:p>
        </p:txBody>
      </p:sp>
      <p:sp>
        <p:nvSpPr>
          <p:cNvPr id="22" name="AutoShape 17">
            <a:extLst>
              <a:ext uri="{FF2B5EF4-FFF2-40B4-BE49-F238E27FC236}">
                <a16:creationId xmlns:a16="http://schemas.microsoft.com/office/drawing/2014/main" id="{FDE7509E-0F4B-81E5-6F1D-BBC9E232CE02}"/>
              </a:ext>
            </a:extLst>
          </p:cNvPr>
          <p:cNvSpPr/>
          <p:nvPr/>
        </p:nvSpPr>
        <p:spPr>
          <a:xfrm>
            <a:off x="4927600" y="2406389"/>
            <a:ext cx="2082800" cy="3175000"/>
          </a:xfrm>
          <a:prstGeom prst="roundRect">
            <a:avLst>
              <a:gd name="adj" fmla="val 609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8">
            <a:extLst>
              <a:ext uri="{FF2B5EF4-FFF2-40B4-BE49-F238E27FC236}">
                <a16:creationId xmlns:a16="http://schemas.microsoft.com/office/drawing/2014/main" id="{454B5185-1B43-A54E-ABA4-3C92DD13CACF}"/>
              </a:ext>
            </a:extLst>
          </p:cNvPr>
          <p:cNvSpPr/>
          <p:nvPr/>
        </p:nvSpPr>
        <p:spPr>
          <a:xfrm>
            <a:off x="4927600" y="2406389"/>
            <a:ext cx="2082800" cy="762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9">
            <a:extLst>
              <a:ext uri="{FF2B5EF4-FFF2-40B4-BE49-F238E27FC236}">
                <a16:creationId xmlns:a16="http://schemas.microsoft.com/office/drawing/2014/main" id="{821CFE3C-2189-ABE7-E2BF-F5EE01E68759}"/>
              </a:ext>
            </a:extLst>
          </p:cNvPr>
          <p:cNvSpPr/>
          <p:nvPr/>
        </p:nvSpPr>
        <p:spPr>
          <a:xfrm>
            <a:off x="5588000" y="2787389"/>
            <a:ext cx="762000" cy="762000"/>
          </a:xfrm>
          <a:prstGeom prst="ellipse">
            <a:avLst/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0">
            <a:extLst>
              <a:ext uri="{FF2B5EF4-FFF2-40B4-BE49-F238E27FC236}">
                <a16:creationId xmlns:a16="http://schemas.microsoft.com/office/drawing/2014/main" id="{D624895C-2F63-5D25-D255-F76475B18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2914389"/>
            <a:ext cx="508000" cy="508000"/>
          </a:xfrm>
          <a:prstGeom prst="rect">
            <a:avLst/>
          </a:prstGeom>
        </p:spPr>
      </p:pic>
      <p:sp>
        <p:nvSpPr>
          <p:cNvPr id="27" name="AutoShape 21">
            <a:extLst>
              <a:ext uri="{FF2B5EF4-FFF2-40B4-BE49-F238E27FC236}">
                <a16:creationId xmlns:a16="http://schemas.microsoft.com/office/drawing/2014/main" id="{706A7768-AFFD-4DCD-14F6-EE4CCE0471C6}"/>
              </a:ext>
            </a:extLst>
          </p:cNvPr>
          <p:cNvSpPr/>
          <p:nvPr/>
        </p:nvSpPr>
        <p:spPr>
          <a:xfrm>
            <a:off x="5054600" y="3676389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指标体系统一</a:t>
            </a:r>
            <a:endParaRPr lang="en-US" sz="1100"/>
          </a:p>
        </p:txBody>
      </p:sp>
      <p:sp>
        <p:nvSpPr>
          <p:cNvPr id="29" name="AutoShape 22">
            <a:extLst>
              <a:ext uri="{FF2B5EF4-FFF2-40B4-BE49-F238E27FC236}">
                <a16:creationId xmlns:a16="http://schemas.microsoft.com/office/drawing/2014/main" id="{DC458BA7-4C56-CC36-5C7E-1E6D8ABD6956}"/>
              </a:ext>
            </a:extLst>
          </p:cNvPr>
          <p:cNvSpPr/>
          <p:nvPr/>
        </p:nvSpPr>
        <p:spPr>
          <a:xfrm>
            <a:off x="5054600" y="4184389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沉淀监管指标和规则资产，支持自动核算与穿透钻取。</a:t>
            </a:r>
            <a:endParaRPr lang="en-US" sz="1100"/>
          </a:p>
        </p:txBody>
      </p:sp>
      <p:sp>
        <p:nvSpPr>
          <p:cNvPr id="30" name="AutoShape 23">
            <a:extLst>
              <a:ext uri="{FF2B5EF4-FFF2-40B4-BE49-F238E27FC236}">
                <a16:creationId xmlns:a16="http://schemas.microsoft.com/office/drawing/2014/main" id="{2714B9C1-6F05-6F1D-0F84-5D6590A201EF}"/>
              </a:ext>
            </a:extLst>
          </p:cNvPr>
          <p:cNvSpPr/>
          <p:nvPr/>
        </p:nvSpPr>
        <p:spPr>
          <a:xfrm>
            <a:off x="7137400" y="2406389"/>
            <a:ext cx="2082800" cy="3175000"/>
          </a:xfrm>
          <a:prstGeom prst="roundRect">
            <a:avLst>
              <a:gd name="adj" fmla="val 609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24">
            <a:extLst>
              <a:ext uri="{FF2B5EF4-FFF2-40B4-BE49-F238E27FC236}">
                <a16:creationId xmlns:a16="http://schemas.microsoft.com/office/drawing/2014/main" id="{84CB04C7-2CF2-57C3-1BE4-E03FC9C78C6B}"/>
              </a:ext>
            </a:extLst>
          </p:cNvPr>
          <p:cNvSpPr/>
          <p:nvPr/>
        </p:nvSpPr>
        <p:spPr>
          <a:xfrm>
            <a:off x="7137400" y="2406389"/>
            <a:ext cx="2082800" cy="762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25">
            <a:extLst>
              <a:ext uri="{FF2B5EF4-FFF2-40B4-BE49-F238E27FC236}">
                <a16:creationId xmlns:a16="http://schemas.microsoft.com/office/drawing/2014/main" id="{63684F46-556D-63AC-FA30-6F49023FC8EB}"/>
              </a:ext>
            </a:extLst>
          </p:cNvPr>
          <p:cNvSpPr/>
          <p:nvPr/>
        </p:nvSpPr>
        <p:spPr>
          <a:xfrm>
            <a:off x="7797800" y="2787389"/>
            <a:ext cx="762000" cy="762000"/>
          </a:xfrm>
          <a:prstGeom prst="ellipse">
            <a:avLst/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26">
            <a:extLst>
              <a:ext uri="{FF2B5EF4-FFF2-40B4-BE49-F238E27FC236}">
                <a16:creationId xmlns:a16="http://schemas.microsoft.com/office/drawing/2014/main" id="{3B0F0F79-3B68-AF2B-F818-CB4A3753A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4800" y="2914389"/>
            <a:ext cx="508000" cy="508000"/>
          </a:xfrm>
          <a:prstGeom prst="rect">
            <a:avLst/>
          </a:prstGeom>
        </p:spPr>
      </p:pic>
      <p:sp>
        <p:nvSpPr>
          <p:cNvPr id="35" name="AutoShape 27">
            <a:extLst>
              <a:ext uri="{FF2B5EF4-FFF2-40B4-BE49-F238E27FC236}">
                <a16:creationId xmlns:a16="http://schemas.microsoft.com/office/drawing/2014/main" id="{92ADD149-7DD0-46F6-5233-8A29FA75C52E}"/>
              </a:ext>
            </a:extLst>
          </p:cNvPr>
          <p:cNvSpPr/>
          <p:nvPr/>
        </p:nvSpPr>
        <p:spPr>
          <a:xfrm>
            <a:off x="7264400" y="3676389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智能模型驱动</a:t>
            </a:r>
            <a:endParaRPr lang="en-US" sz="1100"/>
          </a:p>
        </p:txBody>
      </p:sp>
      <p:sp>
        <p:nvSpPr>
          <p:cNvPr id="37" name="AutoShape 28">
            <a:extLst>
              <a:ext uri="{FF2B5EF4-FFF2-40B4-BE49-F238E27FC236}">
                <a16:creationId xmlns:a16="http://schemas.microsoft.com/office/drawing/2014/main" id="{E4F4663A-5AF3-2BCE-B75C-EC7211CD5A39}"/>
              </a:ext>
            </a:extLst>
          </p:cNvPr>
          <p:cNvSpPr/>
          <p:nvPr/>
        </p:nvSpPr>
        <p:spPr>
          <a:xfrm>
            <a:off x="7264400" y="4184389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用规则、图谱和AI辅助识别风险，提升预警解释效率。</a:t>
            </a:r>
            <a:endParaRPr lang="en-US" sz="1100"/>
          </a:p>
        </p:txBody>
      </p:sp>
      <p:sp>
        <p:nvSpPr>
          <p:cNvPr id="38" name="AutoShape 29">
            <a:extLst>
              <a:ext uri="{FF2B5EF4-FFF2-40B4-BE49-F238E27FC236}">
                <a16:creationId xmlns:a16="http://schemas.microsoft.com/office/drawing/2014/main" id="{BDF12FE6-A96E-0FD1-4C31-033FA9DC8D13}"/>
              </a:ext>
            </a:extLst>
          </p:cNvPr>
          <p:cNvSpPr/>
          <p:nvPr/>
        </p:nvSpPr>
        <p:spPr>
          <a:xfrm>
            <a:off x="9347200" y="2406389"/>
            <a:ext cx="2082800" cy="3175000"/>
          </a:xfrm>
          <a:prstGeom prst="roundRect">
            <a:avLst>
              <a:gd name="adj" fmla="val 6097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0">
            <a:extLst>
              <a:ext uri="{FF2B5EF4-FFF2-40B4-BE49-F238E27FC236}">
                <a16:creationId xmlns:a16="http://schemas.microsoft.com/office/drawing/2014/main" id="{BA8202CD-8352-2661-CD79-D5672191F89B}"/>
              </a:ext>
            </a:extLst>
          </p:cNvPr>
          <p:cNvSpPr/>
          <p:nvPr/>
        </p:nvSpPr>
        <p:spPr>
          <a:xfrm>
            <a:off x="9347200" y="2406389"/>
            <a:ext cx="2082800" cy="762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31">
            <a:extLst>
              <a:ext uri="{FF2B5EF4-FFF2-40B4-BE49-F238E27FC236}">
                <a16:creationId xmlns:a16="http://schemas.microsoft.com/office/drawing/2014/main" id="{D05476F3-E519-5859-F45B-6855762E000C}"/>
              </a:ext>
            </a:extLst>
          </p:cNvPr>
          <p:cNvSpPr/>
          <p:nvPr/>
        </p:nvSpPr>
        <p:spPr>
          <a:xfrm>
            <a:off x="10007600" y="2787389"/>
            <a:ext cx="762000" cy="762000"/>
          </a:xfrm>
          <a:prstGeom prst="ellipse">
            <a:avLst/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32">
            <a:extLst>
              <a:ext uri="{FF2B5EF4-FFF2-40B4-BE49-F238E27FC236}">
                <a16:creationId xmlns:a16="http://schemas.microsoft.com/office/drawing/2014/main" id="{03DC5D66-BD30-EF98-C45E-CE1AFAA01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34600" y="2914389"/>
            <a:ext cx="508000" cy="508000"/>
          </a:xfrm>
          <a:prstGeom prst="rect">
            <a:avLst/>
          </a:prstGeom>
        </p:spPr>
      </p:pic>
      <p:sp>
        <p:nvSpPr>
          <p:cNvPr id="43" name="AutoShape 33">
            <a:extLst>
              <a:ext uri="{FF2B5EF4-FFF2-40B4-BE49-F238E27FC236}">
                <a16:creationId xmlns:a16="http://schemas.microsoft.com/office/drawing/2014/main" id="{D8A33D62-7DD8-809E-D18C-CF676A3F90CC}"/>
              </a:ext>
            </a:extLst>
          </p:cNvPr>
          <p:cNvSpPr/>
          <p:nvPr/>
        </p:nvSpPr>
        <p:spPr>
          <a:xfrm>
            <a:off x="9474200" y="3676389"/>
            <a:ext cx="182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闭环治理运营</a:t>
            </a:r>
            <a:endParaRPr lang="en-US" sz="1100"/>
          </a:p>
        </p:txBody>
      </p:sp>
      <p:sp>
        <p:nvSpPr>
          <p:cNvPr id="45" name="AutoShape 34">
            <a:extLst>
              <a:ext uri="{FF2B5EF4-FFF2-40B4-BE49-F238E27FC236}">
                <a16:creationId xmlns:a16="http://schemas.microsoft.com/office/drawing/2014/main" id="{F6359328-6993-255A-F340-E93569179F14}"/>
              </a:ext>
            </a:extLst>
          </p:cNvPr>
          <p:cNvSpPr/>
          <p:nvPr/>
        </p:nvSpPr>
        <p:spPr>
          <a:xfrm>
            <a:off x="9474200" y="4184389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贯通预警、研判、派单、整改、复核和模型优化。</a:t>
            </a:r>
            <a:endParaRPr lang="en-US" sz="1100"/>
          </a:p>
        </p:txBody>
      </p:sp>
      <p:sp>
        <p:nvSpPr>
          <p:cNvPr id="47" name="AutoShape 35">
            <a:extLst>
              <a:ext uri="{FF2B5EF4-FFF2-40B4-BE49-F238E27FC236}">
                <a16:creationId xmlns:a16="http://schemas.microsoft.com/office/drawing/2014/main" id="{99FDD73B-75C7-68F5-3EEA-3424021B2863}"/>
              </a:ext>
            </a:extLst>
          </p:cNvPr>
          <p:cNvSpPr/>
          <p:nvPr/>
        </p:nvSpPr>
        <p:spPr>
          <a:xfrm>
            <a:off x="0" y="5962389"/>
            <a:ext cx="12192000" cy="8890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36">
            <a:extLst>
              <a:ext uri="{FF2B5EF4-FFF2-40B4-BE49-F238E27FC236}">
                <a16:creationId xmlns:a16="http://schemas.microsoft.com/office/drawing/2014/main" id="{FC165BFC-3109-856B-FD4B-2D8FFA7C2E67}"/>
              </a:ext>
            </a:extLst>
          </p:cNvPr>
          <p:cNvSpPr/>
          <p:nvPr/>
        </p:nvSpPr>
        <p:spPr>
          <a:xfrm>
            <a:off x="508000" y="5962389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体系价值：形成数据通、层级通、业务通、监管通、处置通的一体化产品能力</a:t>
            </a:r>
            <a:endParaRPr lang="en-US" sz="1100"/>
          </a:p>
        </p:txBody>
      </p:sp>
      <p:sp>
        <p:nvSpPr>
          <p:cNvPr id="51" name="标题 37">
            <a:extLst>
              <a:ext uri="{FF2B5EF4-FFF2-40B4-BE49-F238E27FC236}">
                <a16:creationId xmlns:a16="http://schemas.microsoft.com/office/drawing/2014/main" id="{940347F5-58FB-EE7F-64E8-35677538C9F5}"/>
              </a:ext>
            </a:extLst>
          </p:cNvPr>
          <p:cNvSpPr txBox="1">
            <a:spLocks/>
          </p:cNvSpPr>
          <p:nvPr/>
        </p:nvSpPr>
        <p:spPr>
          <a:xfrm>
            <a:off x="3720926" y="760439"/>
            <a:ext cx="5715000" cy="522000"/>
          </a:xfrm>
          <a:prstGeom prst="rect">
            <a:avLst/>
          </a:prstGeom>
          <a:noFill/>
        </p:spPr>
        <p:txBody>
          <a:bodyPr wrap="square" tIns="36195" bIns="36195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accent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r>
              <a:rPr lang="zh-CN" altLang="en-US">
                <a:solidFill>
                  <a:srgbClr val="0058FF"/>
                </a:solidFill>
                <a:latin typeface="+mn-lt"/>
                <a:ea typeface="+mn-ea"/>
                <a:cs typeface="+mn-ea"/>
              </a:rPr>
              <a:t>从监管要求到产品能力的闭环落地</a:t>
            </a:r>
          </a:p>
        </p:txBody>
      </p:sp>
    </p:spTree>
    <p:extLst>
      <p:ext uri="{BB962C8B-B14F-4D97-AF65-F5344CB8AC3E}">
        <p14:creationId xmlns:p14="http://schemas.microsoft.com/office/powerpoint/2010/main" val="317724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702C-7318-4C88-6B5A-5A49F0D5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C0CCD45-2B5B-8391-AF3D-34B618A69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930" y="1517371"/>
            <a:ext cx="4217670" cy="3822970"/>
          </a:xfrm>
        </p:spPr>
        <p:txBody>
          <a:bodyPr anchor="ctr" anchorCtr="0">
            <a:spAutoFit/>
          </a:bodyPr>
          <a:lstStyle/>
          <a:p>
            <a:pPr marL="0" indent="0">
              <a:buClrTx/>
              <a:buSzTx/>
              <a:buNone/>
            </a:pPr>
            <a:r>
              <a:rPr lang="en-US" altLang="zh-CN" dirty="0"/>
              <a:t>01  </a:t>
            </a:r>
            <a:r>
              <a:rPr lang="zh-CN" altLang="en-US" dirty="0"/>
              <a:t>监管要求与建设目标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chemeClr val="accent1"/>
                </a:solidFill>
              </a:rPr>
              <a:t>02  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产品定位与总体方案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03  </a:t>
            </a:r>
            <a:r>
              <a:rPr lang="zh-CN" altLang="zh-CN" dirty="0"/>
              <a:t>核心功能体系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04  </a:t>
            </a:r>
            <a:r>
              <a:rPr lang="zh-CN" altLang="en-US" dirty="0">
                <a:sym typeface="+mn-lt"/>
              </a:rPr>
              <a:t>典型应用场景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05  建设实施与应用价值</a:t>
            </a:r>
          </a:p>
        </p:txBody>
      </p:sp>
    </p:spTree>
    <p:extLst>
      <p:ext uri="{BB962C8B-B14F-4D97-AF65-F5344CB8AC3E}">
        <p14:creationId xmlns:p14="http://schemas.microsoft.com/office/powerpoint/2010/main" val="7988219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52B2E-60C1-A865-3E66-CDB67576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产品方针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7581A232-FA9C-D4D3-0AD4-9D73F0BAE1A5}"/>
              </a:ext>
            </a:extLst>
          </p:cNvPr>
          <p:cNvSpPr/>
          <p:nvPr/>
        </p:nvSpPr>
        <p:spPr>
          <a:xfrm>
            <a:off x="743857" y="1752600"/>
            <a:ext cx="2667000" cy="4953000"/>
          </a:xfrm>
          <a:prstGeom prst="roundRect">
            <a:avLst>
              <a:gd name="adj" fmla="val 4761"/>
            </a:avLst>
          </a:prstGeom>
          <a:solidFill>
            <a:srgbClr val="F7F8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2AF92-572F-C1C7-1CF5-23F76A1C1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2357" y="2006600"/>
            <a:ext cx="1270000" cy="1270000"/>
          </a:xfrm>
          <a:prstGeom prst="rect">
            <a:avLst/>
          </a:prstGeom>
        </p:spPr>
      </p:pic>
      <p:sp>
        <p:nvSpPr>
          <p:cNvPr id="6" name="AutoShape 5">
            <a:extLst>
              <a:ext uri="{FF2B5EF4-FFF2-40B4-BE49-F238E27FC236}">
                <a16:creationId xmlns:a16="http://schemas.microsoft.com/office/drawing/2014/main" id="{4D6A50C0-69A6-9B5C-EB4B-A15FAD1C42D2}"/>
              </a:ext>
            </a:extLst>
          </p:cNvPr>
          <p:cNvSpPr/>
          <p:nvPr/>
        </p:nvSpPr>
        <p:spPr>
          <a:xfrm>
            <a:off x="870857" y="3340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</a:t>
            </a:r>
            <a:endParaRPr lang="en-US" sz="110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65DBD8A-AB4B-4BFA-0F2D-B5FFC65E591B}"/>
              </a:ext>
            </a:extLst>
          </p:cNvPr>
          <p:cNvSpPr/>
          <p:nvPr/>
        </p:nvSpPr>
        <p:spPr>
          <a:xfrm>
            <a:off x="934357" y="39116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四类</a:t>
            </a:r>
            <a:r>
              <a:rPr lang="en-US" sz="1600" b="1" i="0" u="none" strike="noStrike" dirty="0" err="1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穿透</a:t>
            </a:r>
            <a:endParaRPr lang="en-US" sz="1100" dirty="0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15CD4F12-1EF7-B374-1046-4D1496374A2A}"/>
              </a:ext>
            </a:extLst>
          </p:cNvPr>
          <p:cNvSpPr/>
          <p:nvPr/>
        </p:nvSpPr>
        <p:spPr>
          <a:xfrm>
            <a:off x="934357" y="46736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四项</a:t>
            </a:r>
            <a:r>
              <a:rPr lang="zh-CN" altLang="en-US" sz="1600" b="1" i="0" u="none" strike="noStrike" dirty="0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支撑</a:t>
            </a:r>
            <a:endParaRPr lang="en-US" sz="1100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0DC44747-5864-6553-404F-37DBAEEBD074}"/>
              </a:ext>
            </a:extLst>
          </p:cNvPr>
          <p:cNvSpPr/>
          <p:nvPr/>
        </p:nvSpPr>
        <p:spPr>
          <a:xfrm>
            <a:off x="934357" y="5435600"/>
            <a:ext cx="2286000" cy="635000"/>
          </a:xfrm>
          <a:prstGeom prst="roundRect">
            <a:avLst>
              <a:gd name="adj" fmla="val 10000"/>
            </a:avLst>
          </a:prstGeom>
          <a:solidFill>
            <a:srgbClr val="0058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8FF"/>
                </a:solidFill>
                <a:latin typeface="Noto Sans SC"/>
                <a:ea typeface="Noto Sans SC"/>
                <a:cs typeface="Noto Sans SC"/>
                <a:sym typeface="Noto Sans SC"/>
              </a:rPr>
              <a:t>五类能力</a:t>
            </a:r>
            <a:endParaRPr lang="en-US" sz="1100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B10CE120-5844-DB20-AC67-F4C9499C88E7}"/>
              </a:ext>
            </a:extLst>
          </p:cNvPr>
          <p:cNvSpPr/>
          <p:nvPr/>
        </p:nvSpPr>
        <p:spPr>
          <a:xfrm>
            <a:off x="743857" y="6324600"/>
            <a:ext cx="2667000" cy="381000"/>
          </a:xfrm>
          <a:prstGeom prst="roundRect">
            <a:avLst>
              <a:gd name="adj" fmla="val 0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</a:t>
            </a:r>
            <a:r>
              <a:rPr lang="zh-CN" altLang="en-US" sz="12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</a:t>
            </a: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底座</a:t>
            </a:r>
            <a:endParaRPr lang="en-US" sz="1100" dirty="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5E32AF6C-64BB-36E3-03DF-A4BC0823958A}"/>
              </a:ext>
            </a:extLst>
          </p:cNvPr>
          <p:cNvSpPr/>
          <p:nvPr/>
        </p:nvSpPr>
        <p:spPr>
          <a:xfrm>
            <a:off x="3690257" y="1752600"/>
            <a:ext cx="8026400" cy="1079500"/>
          </a:xfrm>
          <a:prstGeom prst="roundRect">
            <a:avLst>
              <a:gd name="adj" fmla="val 5882"/>
            </a:avLst>
          </a:prstGeom>
          <a:solidFill>
            <a:srgbClr val="0058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8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4B8817-CB9B-597A-D32E-D17841A1B6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1257" y="1981200"/>
            <a:ext cx="635000" cy="635000"/>
          </a:xfrm>
          <a:prstGeom prst="rect">
            <a:avLst/>
          </a:prstGeom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FB89E86E-4900-667C-42DD-38879F064864}"/>
              </a:ext>
            </a:extLst>
          </p:cNvPr>
          <p:cNvSpPr/>
          <p:nvPr/>
        </p:nvSpPr>
        <p:spPr>
          <a:xfrm>
            <a:off x="4896757" y="19050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一平台：中国电子云穿透式监管智能应用平台</a:t>
            </a:r>
            <a:endParaRPr lang="en-US" sz="1100" dirty="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523A21E0-77C4-8A5F-66BD-8CB81E4A6355}"/>
              </a:ext>
            </a:extLst>
          </p:cNvPr>
          <p:cNvSpPr/>
          <p:nvPr/>
        </p:nvSpPr>
        <p:spPr>
          <a:xfrm>
            <a:off x="4896757" y="2362200"/>
            <a:ext cx="660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面向央国企多级组织、多业务域、多系统的监管运营中枢</a:t>
            </a:r>
            <a:endParaRPr lang="en-US" sz="1100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8FA25F1F-BC39-FDB5-ABC3-DB347589226C}"/>
              </a:ext>
            </a:extLst>
          </p:cNvPr>
          <p:cNvSpPr/>
          <p:nvPr/>
        </p:nvSpPr>
        <p:spPr>
          <a:xfrm>
            <a:off x="3736978" y="3007397"/>
            <a:ext cx="8026400" cy="1079500"/>
          </a:xfrm>
          <a:prstGeom prst="roundRect">
            <a:avLst>
              <a:gd name="adj" fmla="val 5882"/>
            </a:avLst>
          </a:prstGeom>
          <a:solidFill>
            <a:srgbClr val="F2F3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BA91E7-20FF-BC2F-0122-6C034ACAD9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7864" y="3276600"/>
            <a:ext cx="508000" cy="508000"/>
          </a:xfrm>
          <a:prstGeom prst="rect">
            <a:avLst/>
          </a:prstGeom>
        </p:spPr>
      </p:pic>
      <p:sp>
        <p:nvSpPr>
          <p:cNvPr id="17" name="AutoShape 16">
            <a:extLst>
              <a:ext uri="{FF2B5EF4-FFF2-40B4-BE49-F238E27FC236}">
                <a16:creationId xmlns:a16="http://schemas.microsoft.com/office/drawing/2014/main" id="{212BCC5D-C3B5-AA04-D13D-F7DA696026A7}"/>
              </a:ext>
            </a:extLst>
          </p:cNvPr>
          <p:cNvSpPr/>
          <p:nvPr/>
        </p:nvSpPr>
        <p:spPr>
          <a:xfrm>
            <a:off x="4652864" y="32512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组织穿透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全级次覆盖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AFB3C7EB-5256-1BAD-76EC-82559D11E4ED}"/>
              </a:ext>
            </a:extLst>
          </p:cNvPr>
          <p:cNvCxnSpPr/>
          <p:nvPr/>
        </p:nvCxnSpPr>
        <p:spPr>
          <a:xfrm rot="5337502">
            <a:off x="5357714" y="35744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50AF6F0-FF52-E9EC-1C3B-2892CC41E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1522" y="3308350"/>
            <a:ext cx="508000" cy="508000"/>
          </a:xfrm>
          <a:prstGeom prst="rect">
            <a:avLst/>
          </a:prstGeom>
        </p:spPr>
      </p:pic>
      <p:sp>
        <p:nvSpPr>
          <p:cNvPr id="20" name="AutoShape 19">
            <a:extLst>
              <a:ext uri="{FF2B5EF4-FFF2-40B4-BE49-F238E27FC236}">
                <a16:creationId xmlns:a16="http://schemas.microsoft.com/office/drawing/2014/main" id="{EF04CCF4-4D6A-2E3D-8198-11DCDBF79A4F}"/>
              </a:ext>
            </a:extLst>
          </p:cNvPr>
          <p:cNvSpPr/>
          <p:nvPr/>
        </p:nvSpPr>
        <p:spPr>
          <a:xfrm>
            <a:off x="6553719" y="3231492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业务穿透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全链条贯通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7EC866C4-7CDE-6177-E098-DE4477056894}"/>
              </a:ext>
            </a:extLst>
          </p:cNvPr>
          <p:cNvCxnSpPr/>
          <p:nvPr/>
        </p:nvCxnSpPr>
        <p:spPr>
          <a:xfrm rot="5337502">
            <a:off x="7227585" y="3574450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551569D4-9F1C-2E25-DF0F-1CED9A133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2276" y="3271594"/>
            <a:ext cx="508000" cy="508000"/>
          </a:xfrm>
          <a:prstGeom prst="rect">
            <a:avLst/>
          </a:prstGeom>
        </p:spPr>
      </p:pic>
      <p:sp>
        <p:nvSpPr>
          <p:cNvPr id="23" name="AutoShape 22">
            <a:extLst>
              <a:ext uri="{FF2B5EF4-FFF2-40B4-BE49-F238E27FC236}">
                <a16:creationId xmlns:a16="http://schemas.microsoft.com/office/drawing/2014/main" id="{40C7EE19-C6E6-B82B-61F0-7DB248464665}"/>
              </a:ext>
            </a:extLst>
          </p:cNvPr>
          <p:cNvSpPr/>
          <p:nvPr/>
        </p:nvSpPr>
        <p:spPr>
          <a:xfrm>
            <a:off x="8467276" y="3216765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过程</a:t>
            </a: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穿透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全过程闭环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EDF3284D-EC00-A7B9-6526-F8BD5D048322}"/>
              </a:ext>
            </a:extLst>
          </p:cNvPr>
          <p:cNvSpPr/>
          <p:nvPr/>
        </p:nvSpPr>
        <p:spPr>
          <a:xfrm>
            <a:off x="3690257" y="4394200"/>
            <a:ext cx="8026400" cy="1079500"/>
          </a:xfrm>
          <a:prstGeom prst="roundRect">
            <a:avLst>
              <a:gd name="adj" fmla="val 5882"/>
            </a:avLst>
          </a:prstGeom>
          <a:solidFill>
            <a:srgbClr val="F2F3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783A114-01DF-DB4F-C604-242AAFC28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1257" y="4546600"/>
            <a:ext cx="457200" cy="457200"/>
          </a:xfrm>
          <a:prstGeom prst="rect">
            <a:avLst/>
          </a:prstGeom>
        </p:spPr>
      </p:pic>
      <p:sp>
        <p:nvSpPr>
          <p:cNvPr id="26" name="AutoShape 25">
            <a:extLst>
              <a:ext uri="{FF2B5EF4-FFF2-40B4-BE49-F238E27FC236}">
                <a16:creationId xmlns:a16="http://schemas.microsoft.com/office/drawing/2014/main" id="{07AC093A-88A7-FF65-21D2-B253FB2DBDB1}"/>
              </a:ext>
            </a:extLst>
          </p:cNvPr>
          <p:cNvSpPr/>
          <p:nvPr/>
        </p:nvSpPr>
        <p:spPr>
          <a:xfrm>
            <a:off x="4642757" y="45466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数据治理支撑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zh-CN" alt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数据源接入、字段映射、质量校验</a:t>
            </a:r>
            <a:endParaRPr lang="en-US" sz="11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D1ECD2-7532-5F67-F9A3-E87FB404F6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6257" y="4546600"/>
            <a:ext cx="457200" cy="457200"/>
          </a:xfrm>
          <a:prstGeom prst="rect">
            <a:avLst/>
          </a:prstGeom>
        </p:spPr>
      </p:pic>
      <p:sp>
        <p:nvSpPr>
          <p:cNvPr id="28" name="AutoShape 27">
            <a:extLst>
              <a:ext uri="{FF2B5EF4-FFF2-40B4-BE49-F238E27FC236}">
                <a16:creationId xmlns:a16="http://schemas.microsoft.com/office/drawing/2014/main" id="{7813E2CA-77B6-94CF-CD7A-BD2C31C2B007}"/>
              </a:ext>
            </a:extLst>
          </p:cNvPr>
          <p:cNvSpPr/>
          <p:nvPr/>
        </p:nvSpPr>
        <p:spPr>
          <a:xfrm>
            <a:off x="6547757" y="45466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</a:t>
            </a:r>
            <a:endParaRPr lang="en-US" altLang="zh-CN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图谱结构、知识图谱生成、证据子图</a:t>
            </a:r>
            <a:endParaRPr lang="en-US" sz="11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E498E69-2171-6354-3A8F-F0DA82C25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7757" y="4546600"/>
            <a:ext cx="457200" cy="457200"/>
          </a:xfrm>
          <a:prstGeom prst="rect">
            <a:avLst/>
          </a:prstGeom>
        </p:spPr>
      </p:pic>
      <p:sp>
        <p:nvSpPr>
          <p:cNvPr id="30" name="AutoShape 29">
            <a:extLst>
              <a:ext uri="{FF2B5EF4-FFF2-40B4-BE49-F238E27FC236}">
                <a16:creationId xmlns:a16="http://schemas.microsoft.com/office/drawing/2014/main" id="{CB9FEF8C-58B1-010D-272C-80D3E057E7A2}"/>
              </a:ext>
            </a:extLst>
          </p:cNvPr>
          <p:cNvSpPr/>
          <p:nvPr/>
        </p:nvSpPr>
        <p:spPr>
          <a:xfrm>
            <a:off x="8389257" y="45466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场景规则</a:t>
            </a:r>
            <a:endParaRPr lang="en-US" altLang="zh-CN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风险场景、规则资产、</a:t>
            </a:r>
            <a:r>
              <a:rPr lang="en-US" altLang="zh-CN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Skill</a:t>
            </a:r>
            <a:r>
              <a:rPr lang="zh-CN" alt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、试跑发布</a:t>
            </a:r>
            <a:endParaRPr lang="en-US" sz="11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FF59A5-04D9-DCC8-7329-820AE9AED1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9257" y="4546600"/>
            <a:ext cx="457200" cy="457200"/>
          </a:xfrm>
          <a:prstGeom prst="rect">
            <a:avLst/>
          </a:prstGeom>
        </p:spPr>
      </p:pic>
      <p:sp>
        <p:nvSpPr>
          <p:cNvPr id="32" name="AutoShape 31">
            <a:extLst>
              <a:ext uri="{FF2B5EF4-FFF2-40B4-BE49-F238E27FC236}">
                <a16:creationId xmlns:a16="http://schemas.microsoft.com/office/drawing/2014/main" id="{DD92E719-048A-F255-1F73-B6F645FF5339}"/>
              </a:ext>
            </a:extLst>
          </p:cNvPr>
          <p:cNvSpPr/>
          <p:nvPr/>
        </p:nvSpPr>
        <p:spPr>
          <a:xfrm>
            <a:off x="10230757" y="45466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权限审计</a:t>
            </a:r>
            <a:endParaRPr lang="en-US" altLang="zh-CN" sz="14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1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用户组织、角色权限、审计日志</a:t>
            </a:r>
            <a:endParaRPr lang="en-US" sz="11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32">
            <a:extLst>
              <a:ext uri="{FF2B5EF4-FFF2-40B4-BE49-F238E27FC236}">
                <a16:creationId xmlns:a16="http://schemas.microsoft.com/office/drawing/2014/main" id="{768EAB15-5DB0-59C8-3B72-D4687D8F2571}"/>
              </a:ext>
            </a:extLst>
          </p:cNvPr>
          <p:cNvSpPr/>
          <p:nvPr/>
        </p:nvSpPr>
        <p:spPr>
          <a:xfrm>
            <a:off x="3690257" y="5562600"/>
            <a:ext cx="8026400" cy="1079500"/>
          </a:xfrm>
          <a:prstGeom prst="roundRect">
            <a:avLst>
              <a:gd name="adj" fmla="val 5882"/>
            </a:avLst>
          </a:prstGeom>
          <a:solidFill>
            <a:srgbClr val="F2F3F5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243990E-C8BD-2B5F-A3F5-7C3E36922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07757" y="5791200"/>
            <a:ext cx="406400" cy="406400"/>
          </a:xfrm>
          <a:prstGeom prst="rect">
            <a:avLst/>
          </a:prstGeom>
        </p:spPr>
      </p:pic>
      <p:sp>
        <p:nvSpPr>
          <p:cNvPr id="35" name="AutoShape 34">
            <a:extLst>
              <a:ext uri="{FF2B5EF4-FFF2-40B4-BE49-F238E27FC236}">
                <a16:creationId xmlns:a16="http://schemas.microsoft.com/office/drawing/2014/main" id="{AC6CDB6E-C740-E068-9D6A-FD29162BC59C}"/>
              </a:ext>
            </a:extLst>
          </p:cNvPr>
          <p:cNvSpPr/>
          <p:nvPr/>
        </p:nvSpPr>
        <p:spPr>
          <a:xfrm>
            <a:off x="4490357" y="584835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对象画像力</a:t>
            </a:r>
            <a:endParaRPr lang="en-US" sz="13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666666"/>
                </a:solidFill>
                <a:latin typeface="Noto Sans SC"/>
                <a:ea typeface="Noto Sans SC"/>
              </a:rPr>
              <a:t>识别组织、人员、供应商、项目、合同等监管对象</a:t>
            </a:r>
            <a:endParaRPr lang="en-US" sz="11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5A0B338-29BC-1867-1571-99B7FBAD1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95257" y="5791200"/>
            <a:ext cx="406400" cy="406400"/>
          </a:xfrm>
          <a:prstGeom prst="rect">
            <a:avLst/>
          </a:prstGeom>
        </p:spPr>
      </p:pic>
      <p:sp>
        <p:nvSpPr>
          <p:cNvPr id="37" name="AutoShape 36">
            <a:extLst>
              <a:ext uri="{FF2B5EF4-FFF2-40B4-BE49-F238E27FC236}">
                <a16:creationId xmlns:a16="http://schemas.microsoft.com/office/drawing/2014/main" id="{8421FD2B-BBAF-3931-230E-48AB8C327186}"/>
              </a:ext>
            </a:extLst>
          </p:cNvPr>
          <p:cNvSpPr/>
          <p:nvPr/>
        </p:nvSpPr>
        <p:spPr>
          <a:xfrm>
            <a:off x="6065157" y="5816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链路还原力</a:t>
            </a:r>
            <a:endParaRPr lang="en-US" sz="13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666666"/>
                </a:solidFill>
                <a:latin typeface="Noto Sans SC"/>
                <a:ea typeface="Noto Sans SC"/>
              </a:rPr>
              <a:t>还原业务链、资金链、审批链、关系链。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E0685DC-53DC-BB4D-793A-4238BAFB67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9257" y="5791200"/>
            <a:ext cx="406400" cy="406400"/>
          </a:xfrm>
          <a:prstGeom prst="rect">
            <a:avLst/>
          </a:prstGeom>
        </p:spPr>
      </p:pic>
      <p:sp>
        <p:nvSpPr>
          <p:cNvPr id="39" name="AutoShape 38">
            <a:extLst>
              <a:ext uri="{FF2B5EF4-FFF2-40B4-BE49-F238E27FC236}">
                <a16:creationId xmlns:a16="http://schemas.microsoft.com/office/drawing/2014/main" id="{D59DD047-0C9A-D9AA-270A-57C667CFCF9D}"/>
              </a:ext>
            </a:extLst>
          </p:cNvPr>
          <p:cNvSpPr/>
          <p:nvPr/>
        </p:nvSpPr>
        <p:spPr>
          <a:xfrm>
            <a:off x="7589157" y="5816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风险识别力</a:t>
            </a:r>
            <a:endParaRPr lang="en-US" sz="13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1100" dirty="0">
                <a:solidFill>
                  <a:srgbClr val="666666"/>
                </a:solidFill>
                <a:latin typeface="Noto Sans SC"/>
                <a:ea typeface="Noto Sans SC"/>
              </a:rPr>
              <a:t>通过规则、Skill、图谱关系识别风险</a:t>
            </a:r>
            <a:endParaRPr lang="en-US" sz="11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7298802-9E4C-904C-075F-958238526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43257" y="5791200"/>
            <a:ext cx="406400" cy="406400"/>
          </a:xfrm>
          <a:prstGeom prst="rect">
            <a:avLst/>
          </a:prstGeom>
        </p:spPr>
      </p:pic>
      <p:sp>
        <p:nvSpPr>
          <p:cNvPr id="41" name="AutoShape 40">
            <a:extLst>
              <a:ext uri="{FF2B5EF4-FFF2-40B4-BE49-F238E27FC236}">
                <a16:creationId xmlns:a16="http://schemas.microsoft.com/office/drawing/2014/main" id="{A796D55C-199B-5CD4-1C23-75E061296CA5}"/>
              </a:ext>
            </a:extLst>
          </p:cNvPr>
          <p:cNvSpPr/>
          <p:nvPr/>
        </p:nvSpPr>
        <p:spPr>
          <a:xfrm>
            <a:off x="9113157" y="58166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证据解释力</a:t>
            </a:r>
            <a:endParaRPr lang="en-US" sz="13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1100" dirty="0">
                <a:solidFill>
                  <a:srgbClr val="666666"/>
                </a:solidFill>
                <a:latin typeface="Noto Sans SC"/>
                <a:ea typeface="Noto Sans SC"/>
              </a:rPr>
              <a:t>展示规则依据、证据来源、版本快照</a:t>
            </a:r>
            <a:endParaRPr lang="en-US" sz="11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43F0BCC-4A80-2A68-AB2C-CFD4B56839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7257" y="5791200"/>
            <a:ext cx="406400" cy="406400"/>
          </a:xfrm>
          <a:prstGeom prst="rect">
            <a:avLst/>
          </a:prstGeom>
        </p:spPr>
      </p:pic>
      <p:sp>
        <p:nvSpPr>
          <p:cNvPr id="43" name="AutoShape 42">
            <a:extLst>
              <a:ext uri="{FF2B5EF4-FFF2-40B4-BE49-F238E27FC236}">
                <a16:creationId xmlns:a16="http://schemas.microsoft.com/office/drawing/2014/main" id="{82E8DD69-AAFC-9CF6-1C7F-0E43A3D582CF}"/>
              </a:ext>
            </a:extLst>
          </p:cNvPr>
          <p:cNvSpPr/>
          <p:nvPr/>
        </p:nvSpPr>
        <p:spPr>
          <a:xfrm>
            <a:off x="10637157" y="58166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协同闭环力</a:t>
            </a:r>
            <a:endParaRPr lang="en-US" sz="1300" b="1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zh-CN" sz="1100" dirty="0">
                <a:solidFill>
                  <a:srgbClr val="666666"/>
                </a:solidFill>
                <a:latin typeface="Noto Sans SC"/>
                <a:ea typeface="Noto Sans SC"/>
              </a:rPr>
              <a:t>支撑预警转派、解除、升级、整改、复核、关闭</a:t>
            </a:r>
            <a:endParaRPr lang="en-US" sz="1100" dirty="0">
              <a:solidFill>
                <a:srgbClr val="666666"/>
              </a:solidFill>
              <a:latin typeface="Noto Sans SC"/>
              <a:ea typeface="Noto Sans SC"/>
            </a:endParaRPr>
          </a:p>
        </p:txBody>
      </p:sp>
      <p:sp>
        <p:nvSpPr>
          <p:cNvPr id="44" name="标题 45">
            <a:extLst>
              <a:ext uri="{FF2B5EF4-FFF2-40B4-BE49-F238E27FC236}">
                <a16:creationId xmlns:a16="http://schemas.microsoft.com/office/drawing/2014/main" id="{99F94914-22A6-A291-1A03-7B80482F15AF}"/>
              </a:ext>
            </a:extLst>
          </p:cNvPr>
          <p:cNvSpPr txBox="1">
            <a:spLocks/>
          </p:cNvSpPr>
          <p:nvPr/>
        </p:nvSpPr>
        <p:spPr>
          <a:xfrm>
            <a:off x="1442357" y="951200"/>
            <a:ext cx="10080000" cy="522000"/>
          </a:xfrm>
          <a:prstGeom prst="rect">
            <a:avLst/>
          </a:prstGeom>
          <a:noFill/>
        </p:spPr>
        <p:txBody>
          <a:bodyPr wrap="square" tIns="36195" bIns="36195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accent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r>
              <a:rPr lang="zh-CN" altLang="en-US" dirty="0"/>
              <a:t>结合央国企监管要求，中国电子云构建穿透式监管</a:t>
            </a:r>
            <a:r>
              <a:rPr lang="en-US" altLang="zh-CN" dirty="0"/>
              <a:t>1-3-4-5</a:t>
            </a:r>
            <a:r>
              <a:rPr lang="zh-CN" altLang="en-US" dirty="0"/>
              <a:t>产品框架</a:t>
            </a:r>
          </a:p>
        </p:txBody>
      </p:sp>
      <p:cxnSp>
        <p:nvCxnSpPr>
          <p:cNvPr id="76" name="Connector 20">
            <a:extLst>
              <a:ext uri="{FF2B5EF4-FFF2-40B4-BE49-F238E27FC236}">
                <a16:creationId xmlns:a16="http://schemas.microsoft.com/office/drawing/2014/main" id="{71477F98-6BA9-AC8D-B6F8-5F9228E38F83}"/>
              </a:ext>
            </a:extLst>
          </p:cNvPr>
          <p:cNvCxnSpPr/>
          <p:nvPr/>
        </p:nvCxnSpPr>
        <p:spPr>
          <a:xfrm rot="5337502">
            <a:off x="9115742" y="3530542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6" name="Picture 21">
            <a:extLst>
              <a:ext uri="{FF2B5EF4-FFF2-40B4-BE49-F238E27FC236}">
                <a16:creationId xmlns:a16="http://schemas.microsoft.com/office/drawing/2014/main" id="{5483EA61-74F4-8014-7924-3C4975E77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2356" y="3288812"/>
            <a:ext cx="508000" cy="508000"/>
          </a:xfrm>
          <a:prstGeom prst="rect">
            <a:avLst/>
          </a:prstGeom>
        </p:spPr>
      </p:pic>
      <p:sp>
        <p:nvSpPr>
          <p:cNvPr id="88" name="AutoShape 22">
            <a:extLst>
              <a:ext uri="{FF2B5EF4-FFF2-40B4-BE49-F238E27FC236}">
                <a16:creationId xmlns:a16="http://schemas.microsoft.com/office/drawing/2014/main" id="{356734D1-EB14-E537-F5F3-C4E2FAFA5758}"/>
              </a:ext>
            </a:extLst>
          </p:cNvPr>
          <p:cNvSpPr/>
          <p:nvPr/>
        </p:nvSpPr>
        <p:spPr>
          <a:xfrm>
            <a:off x="10297356" y="3233983"/>
            <a:ext cx="139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要素</a:t>
            </a:r>
            <a:r>
              <a:rPr lang="en-US" sz="15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穿透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</a:t>
            </a:r>
            <a:r>
              <a:rPr lang="zh-CN" altLang="en-US" sz="1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要素贯穿</a:t>
            </a:r>
            <a:endParaRPr lang="en-US" sz="12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77290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上箭头 285"/>
          <p:cNvSpPr/>
          <p:nvPr/>
        </p:nvSpPr>
        <p:spPr>
          <a:xfrm>
            <a:off x="474944" y="1512986"/>
            <a:ext cx="968679" cy="4901184"/>
          </a:xfrm>
          <a:prstGeom prst="upArrow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88000">
                <a:schemeClr val="accent1">
                  <a:lumMod val="10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156" y="295799"/>
            <a:ext cx="9967929" cy="461665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产品架构图</a:t>
            </a: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1124813" y="670404"/>
            <a:ext cx="10080000" cy="52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0" normalizeH="0" baseline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+mn-lt"/>
              </a:rPr>
              <a:t>中国电子云穿透式监管智能应用平台</a:t>
            </a:r>
          </a:p>
        </p:txBody>
      </p:sp>
      <p:sp>
        <p:nvSpPr>
          <p:cNvPr id="40" name="文本框 39"/>
          <p:cNvSpPr txBox="1"/>
          <p:nvPr>
            <p:custDataLst>
              <p:tags r:id="rId1"/>
            </p:custDataLst>
          </p:nvPr>
        </p:nvSpPr>
        <p:spPr>
          <a:xfrm>
            <a:off x="294360" y="5847552"/>
            <a:ext cx="1329848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L5 </a:t>
            </a:r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源系统与外部数据层</a:t>
            </a:r>
          </a:p>
        </p:txBody>
      </p:sp>
      <p:sp>
        <p:nvSpPr>
          <p:cNvPr id="44" name="等腰三角形 15"/>
          <p:cNvSpPr/>
          <p:nvPr>
            <p:custDataLst>
              <p:tags r:id="rId2"/>
            </p:custDataLst>
          </p:nvPr>
        </p:nvSpPr>
        <p:spPr>
          <a:xfrm>
            <a:off x="2016760" y="1234528"/>
            <a:ext cx="9493250" cy="419100"/>
          </a:xfrm>
          <a:prstGeom prst="triangle">
            <a:avLst>
              <a:gd name="adj" fmla="val 50000"/>
            </a:avLst>
          </a:prstGeom>
          <a:gradFill>
            <a:gsLst>
              <a:gs pos="100000">
                <a:schemeClr val="accent2">
                  <a:alpha val="30000"/>
                </a:schemeClr>
              </a:gs>
              <a:gs pos="0">
                <a:srgbClr val="0058FF">
                  <a:alpha val="9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BFAF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>
            <p:custDataLst>
              <p:tags r:id="rId3"/>
            </p:custDataLst>
          </p:nvPr>
        </p:nvSpPr>
        <p:spPr>
          <a:xfrm>
            <a:off x="5637530" y="1299298"/>
            <a:ext cx="2190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穿透式监管平台</a:t>
            </a:r>
          </a:p>
        </p:txBody>
      </p:sp>
      <p:sp>
        <p:nvSpPr>
          <p:cNvPr id="47" name="圆角矩形 28"/>
          <p:cNvSpPr/>
          <p:nvPr>
            <p:custDataLst>
              <p:tags r:id="rId4"/>
            </p:custDataLst>
          </p:nvPr>
        </p:nvSpPr>
        <p:spPr>
          <a:xfrm>
            <a:off x="1929765" y="1664335"/>
            <a:ext cx="9580245" cy="314325"/>
          </a:xfrm>
          <a:prstGeom prst="roundRect">
            <a:avLst>
              <a:gd name="adj" fmla="val 3252"/>
            </a:avLst>
          </a:prstGeom>
          <a:solidFill>
            <a:srgbClr val="005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BFAF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1" name="文本框 50"/>
          <p:cNvSpPr txBox="1"/>
          <p:nvPr>
            <p:custDataLst>
              <p:tags r:id="rId5"/>
            </p:custDataLst>
          </p:nvPr>
        </p:nvSpPr>
        <p:spPr>
          <a:xfrm>
            <a:off x="10151772" y="1459646"/>
            <a:ext cx="1152455" cy="2527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7" name="文本框 96"/>
          <p:cNvSpPr txBox="1"/>
          <p:nvPr>
            <p:custDataLst>
              <p:tags r:id="rId6"/>
            </p:custDataLst>
          </p:nvPr>
        </p:nvSpPr>
        <p:spPr>
          <a:xfrm>
            <a:off x="252449" y="5147686"/>
            <a:ext cx="1413671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L4 </a:t>
            </a:r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数据资产层</a:t>
            </a: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311014" y="4156334"/>
            <a:ext cx="129654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L3 </a:t>
            </a:r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监管能力中台层</a:t>
            </a: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251577" y="3226536"/>
            <a:ext cx="1415415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L2 </a:t>
            </a:r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业务监管层</a:t>
            </a: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238242" y="2187257"/>
            <a:ext cx="1442085" cy="3067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L1 </a:t>
            </a:r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监控分析层</a:t>
            </a:r>
          </a:p>
        </p:txBody>
      </p:sp>
      <p:sp>
        <p:nvSpPr>
          <p:cNvPr id="14" name="圆角矩形 45"/>
          <p:cNvSpPr/>
          <p:nvPr>
            <p:custDataLst>
              <p:tags r:id="rId10"/>
            </p:custDataLst>
          </p:nvPr>
        </p:nvSpPr>
        <p:spPr>
          <a:xfrm>
            <a:off x="2055141" y="1786412"/>
            <a:ext cx="9290686" cy="24511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BFAF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有效防范化解风险隐患业务监管层按十大领域展开监控场景，由中台能力、数据资产和源系统数据统一支撑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FBFAF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931670" y="2030730"/>
            <a:ext cx="9579610" cy="619760"/>
            <a:chOff x="3039" y="3198"/>
            <a:chExt cx="15086" cy="976"/>
          </a:xfrm>
        </p:grpSpPr>
        <p:sp>
          <p:nvSpPr>
            <p:cNvPr id="9" name="Shape 7"/>
            <p:cNvSpPr/>
            <p:nvPr/>
          </p:nvSpPr>
          <p:spPr>
            <a:xfrm>
              <a:off x="3039" y="3198"/>
              <a:ext cx="15087" cy="976"/>
            </a:xfrm>
            <a:prstGeom prst="roundRect">
              <a:avLst>
                <a:gd name="adj" fmla="val 5128"/>
              </a:avLst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156" y="3208"/>
              <a:ext cx="7308" cy="3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面</a:t>
              </a:r>
              <a:r>
                <a:rPr lang="en-US" sz="900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向集团领导、监管负责人和领域专家，提供态势总览、领域定位、处置入口和监管报告</a:t>
              </a:r>
              <a:endParaRPr lang="en-US" altLang="en-US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3277" y="3599"/>
              <a:ext cx="14652" cy="473"/>
              <a:chOff x="3156" y="3608"/>
              <a:chExt cx="14652" cy="473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3156" y="3621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监控大盘</a:t>
                </a:r>
              </a:p>
            </p:txBody>
          </p:sp>
          <p:sp>
            <p:nvSpPr>
              <p:cNvPr id="15" name="Shape 22"/>
              <p:cNvSpPr/>
              <p:nvPr/>
            </p:nvSpPr>
            <p:spPr>
              <a:xfrm>
                <a:off x="6133" y="3621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领域详情页</a:t>
                </a:r>
              </a:p>
            </p:txBody>
          </p:sp>
          <p:sp>
            <p:nvSpPr>
              <p:cNvPr id="18" name="Shape 22"/>
              <p:cNvSpPr/>
              <p:nvPr/>
            </p:nvSpPr>
            <p:spPr>
              <a:xfrm>
                <a:off x="9110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预警风险处置</a:t>
                </a:r>
              </a:p>
            </p:txBody>
          </p:sp>
          <p:sp>
            <p:nvSpPr>
              <p:cNvPr id="19" name="Shape 22"/>
              <p:cNvSpPr/>
              <p:nvPr/>
            </p:nvSpPr>
            <p:spPr>
              <a:xfrm>
                <a:off x="12087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趋势研判</a:t>
                </a:r>
              </a:p>
            </p:txBody>
          </p:sp>
          <p:sp>
            <p:nvSpPr>
              <p:cNvPr id="20" name="Shape 22"/>
              <p:cNvSpPr/>
              <p:nvPr/>
            </p:nvSpPr>
            <p:spPr>
              <a:xfrm>
                <a:off x="15064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监管报告</a:t>
                </a:r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1931353" y="2833055"/>
            <a:ext cx="9580245" cy="1007110"/>
            <a:chOff x="1932940" y="2832100"/>
            <a:chExt cx="9580245" cy="1007110"/>
          </a:xfrm>
        </p:grpSpPr>
        <p:sp>
          <p:nvSpPr>
            <p:cNvPr id="26" name="Shape 7"/>
            <p:cNvSpPr/>
            <p:nvPr/>
          </p:nvSpPr>
          <p:spPr>
            <a:xfrm>
              <a:off x="1932940" y="2832100"/>
              <a:ext cx="9580245" cy="1007110"/>
            </a:xfrm>
            <a:prstGeom prst="roundRect">
              <a:avLst>
                <a:gd name="adj" fmla="val 5128"/>
              </a:avLst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007235" y="2838450"/>
              <a:ext cx="46405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CJK SC" pitchFamily="34" charset="-120"/>
                  <a:sym typeface="+mn-ea"/>
                </a:rPr>
                <a:t>十大领域承接具体监控场景，进入领域详情查看监管对象、风险线索、证据链并发起处理</a:t>
              </a:r>
            </a:p>
            <a:p>
              <a:pPr algn="l"/>
              <a:endParaRPr lang="zh-CN" altLang="en-US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  <a:sym typeface="+mn-ea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084070" y="3086735"/>
              <a:ext cx="9304020" cy="300355"/>
              <a:chOff x="3156" y="3608"/>
              <a:chExt cx="14652" cy="473"/>
            </a:xfrm>
          </p:grpSpPr>
          <p:sp>
            <p:nvSpPr>
              <p:cNvPr id="29" name="Shape 22"/>
              <p:cNvSpPr/>
              <p:nvPr/>
            </p:nvSpPr>
            <p:spPr>
              <a:xfrm>
                <a:off x="3156" y="3621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采购与供应链</a:t>
                </a:r>
              </a:p>
            </p:txBody>
          </p:sp>
          <p:sp>
            <p:nvSpPr>
              <p:cNvPr id="30" name="Shape 22"/>
              <p:cNvSpPr/>
              <p:nvPr/>
            </p:nvSpPr>
            <p:spPr>
              <a:xfrm>
                <a:off x="6133" y="3621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财务</a:t>
                </a:r>
              </a:p>
            </p:txBody>
          </p:sp>
          <p:sp>
            <p:nvSpPr>
              <p:cNvPr id="31" name="Shape 22"/>
              <p:cNvSpPr/>
              <p:nvPr/>
            </p:nvSpPr>
            <p:spPr>
              <a:xfrm>
                <a:off x="9110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会计</a:t>
                </a:r>
              </a:p>
            </p:txBody>
          </p:sp>
          <p:sp>
            <p:nvSpPr>
              <p:cNvPr id="32" name="Shape 22"/>
              <p:cNvSpPr/>
              <p:nvPr/>
            </p:nvSpPr>
            <p:spPr>
              <a:xfrm>
                <a:off x="12087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投资</a:t>
                </a:r>
              </a:p>
            </p:txBody>
          </p:sp>
          <p:sp>
            <p:nvSpPr>
              <p:cNvPr id="33" name="Shape 22"/>
              <p:cNvSpPr/>
              <p:nvPr/>
            </p:nvSpPr>
            <p:spPr>
              <a:xfrm>
                <a:off x="15064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产权</a:t>
                </a: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2084705" y="3458845"/>
              <a:ext cx="9304020" cy="300355"/>
              <a:chOff x="3156" y="3608"/>
              <a:chExt cx="14652" cy="473"/>
            </a:xfrm>
          </p:grpSpPr>
          <p:sp>
            <p:nvSpPr>
              <p:cNvPr id="35" name="Shape 22"/>
              <p:cNvSpPr/>
              <p:nvPr/>
            </p:nvSpPr>
            <p:spPr>
              <a:xfrm>
                <a:off x="3156" y="3621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金融</a:t>
                </a:r>
              </a:p>
            </p:txBody>
          </p:sp>
          <p:sp>
            <p:nvSpPr>
              <p:cNvPr id="36" name="Shape 22"/>
              <p:cNvSpPr/>
              <p:nvPr/>
            </p:nvSpPr>
            <p:spPr>
              <a:xfrm>
                <a:off x="6133" y="3621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薪酬</a:t>
                </a:r>
              </a:p>
            </p:txBody>
          </p:sp>
          <p:sp>
            <p:nvSpPr>
              <p:cNvPr id="37" name="Shape 22"/>
              <p:cNvSpPr/>
              <p:nvPr/>
            </p:nvSpPr>
            <p:spPr>
              <a:xfrm>
                <a:off x="9110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军品</a:t>
                </a:r>
              </a:p>
            </p:txBody>
          </p:sp>
          <p:sp>
            <p:nvSpPr>
              <p:cNvPr id="38" name="Shape 22"/>
              <p:cNvSpPr/>
              <p:nvPr/>
            </p:nvSpPr>
            <p:spPr>
              <a:xfrm>
                <a:off x="12087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境外</a:t>
                </a:r>
              </a:p>
            </p:txBody>
          </p:sp>
          <p:sp>
            <p:nvSpPr>
              <p:cNvPr id="39" name="Shape 22"/>
              <p:cNvSpPr/>
              <p:nvPr/>
            </p:nvSpPr>
            <p:spPr>
              <a:xfrm>
                <a:off x="15064" y="3608"/>
                <a:ext cx="2745" cy="461"/>
              </a:xfrm>
              <a:prstGeom prst="roundRect">
                <a:avLst>
                  <a:gd name="adj" fmla="val 12500"/>
                </a:avLst>
              </a:prstGeom>
              <a:solidFill>
                <a:srgbClr val="EAF3FF"/>
              </a:solidFill>
              <a:ln w="10160">
                <a:solidFill>
                  <a:srgbClr val="8FBCFF"/>
                </a:solidFill>
                <a:prstDash val="solid"/>
              </a:ln>
            </p:spPr>
            <p:txBody>
              <a:bodyPr/>
              <a:lstStyle/>
              <a:p>
                <a:pPr algn="ctr"/>
                <a:r>
                  <a:rPr lang="zh-CN" altLang="en-US" sz="1200" b="1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合同</a:t>
                </a: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1931353" y="4022730"/>
            <a:ext cx="9580245" cy="786792"/>
            <a:chOff x="1929765" y="4020820"/>
            <a:chExt cx="9580245" cy="786792"/>
          </a:xfrm>
        </p:grpSpPr>
        <p:sp>
          <p:nvSpPr>
            <p:cNvPr id="50" name="Shape 7"/>
            <p:cNvSpPr/>
            <p:nvPr/>
          </p:nvSpPr>
          <p:spPr>
            <a:xfrm>
              <a:off x="1929765" y="4020820"/>
              <a:ext cx="9580245" cy="786792"/>
            </a:xfrm>
            <a:prstGeom prst="roundRect">
              <a:avLst>
                <a:gd name="adj" fmla="val 5128"/>
              </a:avLst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004060" y="4027170"/>
              <a:ext cx="42976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indent="0" algn="l">
                <a:buNone/>
              </a:pPr>
              <a:r>
                <a:rPr lang="en-US" sz="900" dirty="0" err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沉淀跨领域通用能力，支持场景配置、风险识别、证据穿透、闭环流转和智能研判</a:t>
              </a:r>
              <a:endParaRPr lang="en-US" altLang="en-US" sz="9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3" name="Shape 22"/>
            <p:cNvSpPr/>
            <p:nvPr/>
          </p:nvSpPr>
          <p:spPr>
            <a:xfrm>
              <a:off x="2109153" y="4285090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发布前试跑</a:t>
              </a:r>
            </a:p>
          </p:txBody>
        </p:sp>
        <p:sp>
          <p:nvSpPr>
            <p:cNvPr id="108" name="Shape 22"/>
            <p:cNvSpPr/>
            <p:nvPr/>
          </p:nvSpPr>
          <p:spPr>
            <a:xfrm>
              <a:off x="3269615" y="4285089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规则库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规则配置复用</a:t>
              </a:r>
            </a:p>
          </p:txBody>
        </p:sp>
        <p:sp>
          <p:nvSpPr>
            <p:cNvPr id="110" name="Shape 22"/>
            <p:cNvSpPr/>
            <p:nvPr/>
          </p:nvSpPr>
          <p:spPr>
            <a:xfrm>
              <a:off x="8024495" y="4285089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证据链管理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原始记录联查</a:t>
              </a:r>
            </a:p>
          </p:txBody>
        </p:sp>
        <p:sp>
          <p:nvSpPr>
            <p:cNvPr id="112" name="Shape 22"/>
            <p:cNvSpPr/>
            <p:nvPr/>
          </p:nvSpPr>
          <p:spPr>
            <a:xfrm>
              <a:off x="6835775" y="4285089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风险闭环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派发整改复核</a:t>
              </a:r>
            </a:p>
          </p:txBody>
        </p:sp>
        <p:sp>
          <p:nvSpPr>
            <p:cNvPr id="113" name="Shape 22"/>
            <p:cNvSpPr/>
            <p:nvPr/>
          </p:nvSpPr>
          <p:spPr>
            <a:xfrm>
              <a:off x="5647055" y="4285089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预警引擎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线索识别推送</a:t>
              </a:r>
            </a:p>
          </p:txBody>
        </p:sp>
        <p:sp>
          <p:nvSpPr>
            <p:cNvPr id="124" name="Shape 22"/>
            <p:cNvSpPr/>
            <p:nvPr/>
          </p:nvSpPr>
          <p:spPr>
            <a:xfrm>
              <a:off x="9213215" y="4285089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报告生成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专题材料输出</a:t>
              </a:r>
            </a:p>
          </p:txBody>
        </p:sp>
        <p:sp>
          <p:nvSpPr>
            <p:cNvPr id="125" name="Shape 22"/>
            <p:cNvSpPr/>
            <p:nvPr/>
          </p:nvSpPr>
          <p:spPr>
            <a:xfrm>
              <a:off x="10401935" y="4285089"/>
              <a:ext cx="983615" cy="435600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编排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RAG</a:t>
              </a:r>
              <a:r>
                <a:rPr lang="zh-CN" altLang="en-US" sz="900" b="1" dirty="0">
                  <a:solidFill>
                    <a:schemeClr val="bg2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问答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1931670" y="5794410"/>
            <a:ext cx="9580245" cy="619760"/>
            <a:chOff x="3039" y="3198"/>
            <a:chExt cx="15087" cy="976"/>
          </a:xfrm>
        </p:grpSpPr>
        <p:sp>
          <p:nvSpPr>
            <p:cNvPr id="64" name="Shape 7"/>
            <p:cNvSpPr/>
            <p:nvPr/>
          </p:nvSpPr>
          <p:spPr>
            <a:xfrm>
              <a:off x="3039" y="3198"/>
              <a:ext cx="15087" cy="976"/>
            </a:xfrm>
            <a:prstGeom prst="roundRect">
              <a:avLst>
                <a:gd name="adj" fmla="val 5128"/>
              </a:avLst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156" y="3208"/>
              <a:ext cx="7743" cy="3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承接客户源系统、流程系统、文档资料和外部数据，为数据资产产出供给业务事实和证据来源</a:t>
              </a:r>
            </a:p>
          </p:txBody>
        </p:sp>
        <p:sp>
          <p:nvSpPr>
            <p:cNvPr id="67" name="Shape 22"/>
            <p:cNvSpPr/>
            <p:nvPr/>
          </p:nvSpPr>
          <p:spPr>
            <a:xfrm>
              <a:off x="3277" y="3629"/>
              <a:ext cx="1960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ERP/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采购平台</a:t>
              </a:r>
            </a:p>
          </p:txBody>
        </p:sp>
        <p:sp>
          <p:nvSpPr>
            <p:cNvPr id="88" name="Shape 22"/>
            <p:cNvSpPr/>
            <p:nvPr/>
          </p:nvSpPr>
          <p:spPr>
            <a:xfrm>
              <a:off x="5392" y="3629"/>
              <a:ext cx="1960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</a:t>
              </a:r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司库系统</a:t>
              </a:r>
            </a:p>
          </p:txBody>
        </p:sp>
        <p:sp>
          <p:nvSpPr>
            <p:cNvPr id="89" name="Shape 22"/>
            <p:cNvSpPr/>
            <p:nvPr/>
          </p:nvSpPr>
          <p:spPr>
            <a:xfrm>
              <a:off x="7507" y="3629"/>
              <a:ext cx="1960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OA/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审批流程</a:t>
              </a:r>
            </a:p>
          </p:txBody>
        </p:sp>
        <p:sp>
          <p:nvSpPr>
            <p:cNvPr id="90" name="Shape 22"/>
            <p:cNvSpPr/>
            <p:nvPr/>
          </p:nvSpPr>
          <p:spPr>
            <a:xfrm>
              <a:off x="9623" y="3629"/>
              <a:ext cx="1960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</a:t>
              </a:r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文档系统</a:t>
              </a:r>
            </a:p>
          </p:txBody>
        </p:sp>
        <p:sp>
          <p:nvSpPr>
            <p:cNvPr id="91" name="Shape 22"/>
            <p:cNvSpPr/>
            <p:nvPr/>
          </p:nvSpPr>
          <p:spPr>
            <a:xfrm>
              <a:off x="11738" y="3629"/>
              <a:ext cx="1960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</a:t>
              </a:r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薪酬系统</a:t>
              </a:r>
            </a:p>
          </p:txBody>
        </p:sp>
        <p:sp>
          <p:nvSpPr>
            <p:cNvPr id="92" name="Shape 22"/>
            <p:cNvSpPr/>
            <p:nvPr/>
          </p:nvSpPr>
          <p:spPr>
            <a:xfrm>
              <a:off x="13853" y="3629"/>
              <a:ext cx="2017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</a:t>
              </a:r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产权</a:t>
              </a:r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资产</a:t>
              </a:r>
            </a:p>
          </p:txBody>
        </p:sp>
        <p:sp>
          <p:nvSpPr>
            <p:cNvPr id="93" name="Shape 22"/>
            <p:cNvSpPr/>
            <p:nvPr/>
          </p:nvSpPr>
          <p:spPr>
            <a:xfrm>
              <a:off x="16025" y="3630"/>
              <a:ext cx="1960" cy="461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外部数据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931670" y="4992087"/>
            <a:ext cx="9580245" cy="619760"/>
            <a:chOff x="1931670" y="4992087"/>
            <a:chExt cx="9580245" cy="619760"/>
          </a:xfrm>
        </p:grpSpPr>
        <p:sp>
          <p:nvSpPr>
            <p:cNvPr id="54" name="Shape 7"/>
            <p:cNvSpPr/>
            <p:nvPr/>
          </p:nvSpPr>
          <p:spPr>
            <a:xfrm>
              <a:off x="1931670" y="4992087"/>
              <a:ext cx="9580245" cy="619760"/>
            </a:xfrm>
            <a:prstGeom prst="roundRect">
              <a:avLst>
                <a:gd name="adj" fmla="val 5128"/>
              </a:avLst>
            </a:prstGeom>
            <a:ln w="19050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2005965" y="4998437"/>
              <a:ext cx="46405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把源系统数据转化为可监管、可穿透、可追溯的标准对象、事实表、证据索引和质量口径</a:t>
              </a:r>
            </a:p>
          </p:txBody>
        </p:sp>
        <p:sp>
          <p:nvSpPr>
            <p:cNvPr id="74" name="Shape 22"/>
            <p:cNvSpPr/>
            <p:nvPr/>
          </p:nvSpPr>
          <p:spPr>
            <a:xfrm>
              <a:off x="2083118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Shape 22"/>
            <p:cNvSpPr/>
            <p:nvPr/>
          </p:nvSpPr>
          <p:spPr>
            <a:xfrm>
              <a:off x="3277142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Shape 22"/>
            <p:cNvSpPr/>
            <p:nvPr/>
          </p:nvSpPr>
          <p:spPr>
            <a:xfrm>
              <a:off x="4471166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Shape 22"/>
            <p:cNvSpPr/>
            <p:nvPr/>
          </p:nvSpPr>
          <p:spPr>
            <a:xfrm>
              <a:off x="5665190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Shape 22"/>
            <p:cNvSpPr/>
            <p:nvPr/>
          </p:nvSpPr>
          <p:spPr>
            <a:xfrm>
              <a:off x="6859214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Shape 22"/>
            <p:cNvSpPr/>
            <p:nvPr/>
          </p:nvSpPr>
          <p:spPr>
            <a:xfrm>
              <a:off x="8053238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Shape 22"/>
            <p:cNvSpPr/>
            <p:nvPr/>
          </p:nvSpPr>
          <p:spPr>
            <a:xfrm>
              <a:off x="9247262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Shape 22"/>
            <p:cNvSpPr/>
            <p:nvPr/>
          </p:nvSpPr>
          <p:spPr>
            <a:xfrm>
              <a:off x="10441286" y="5253707"/>
              <a:ext cx="983615" cy="295595"/>
            </a:xfrm>
            <a:prstGeom prst="roundRect">
              <a:avLst>
                <a:gd name="adj" fmla="val 12500"/>
              </a:avLst>
            </a:prstGeom>
            <a:solidFill>
              <a:srgbClr val="EAF3FF"/>
            </a:solidFill>
            <a:ln w="10160">
              <a:solidFill>
                <a:srgbClr val="8FBCFF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zh-CN" altLang="en-US" sz="12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模型卡片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5" name="箭头: 下 94"/>
          <p:cNvSpPr/>
          <p:nvPr/>
        </p:nvSpPr>
        <p:spPr>
          <a:xfrm rot="10800000">
            <a:off x="6482037" y="2658355"/>
            <a:ext cx="562696" cy="174700"/>
          </a:xfrm>
          <a:prstGeom prst="downArrow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6" name="箭头: 下 95"/>
          <p:cNvSpPr/>
          <p:nvPr/>
        </p:nvSpPr>
        <p:spPr>
          <a:xfrm rot="10800000">
            <a:off x="6482037" y="3848028"/>
            <a:ext cx="562696" cy="174700"/>
          </a:xfrm>
          <a:prstGeom prst="downArrow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8" name="箭头: 下 97"/>
          <p:cNvSpPr/>
          <p:nvPr/>
        </p:nvSpPr>
        <p:spPr>
          <a:xfrm rot="10800000">
            <a:off x="6482036" y="4817812"/>
            <a:ext cx="562696" cy="174700"/>
          </a:xfrm>
          <a:prstGeom prst="downArrow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9" name="箭头: 下 98"/>
          <p:cNvSpPr/>
          <p:nvPr/>
        </p:nvSpPr>
        <p:spPr>
          <a:xfrm rot="10800000">
            <a:off x="6482037" y="5626060"/>
            <a:ext cx="562696" cy="174700"/>
          </a:xfrm>
          <a:prstGeom prst="downArrow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EF04A8-4D97-A7B2-1D2E-1AFDEF135E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6562" y="1831121"/>
            <a:ext cx="6876854" cy="52519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/>
        </p:nvGrpSpPr>
        <p:grpSpPr>
          <a:xfrm>
            <a:off x="4274962" y="1904074"/>
            <a:ext cx="3642075" cy="3646749"/>
            <a:chOff x="4326372" y="1753732"/>
            <a:chExt cx="3642075" cy="3646749"/>
          </a:xfrm>
        </p:grpSpPr>
        <p:grpSp>
          <p:nvGrpSpPr>
            <p:cNvPr id="48" name="组合 47"/>
            <p:cNvGrpSpPr/>
            <p:nvPr/>
          </p:nvGrpSpPr>
          <p:grpSpPr>
            <a:xfrm>
              <a:off x="4326372" y="1753732"/>
              <a:ext cx="3642075" cy="3646749"/>
              <a:chOff x="4308361" y="1800481"/>
              <a:chExt cx="3642075" cy="3646749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4869359" y="2363698"/>
                <a:ext cx="2520078" cy="2520315"/>
                <a:chOff x="6904" y="2236"/>
                <a:chExt cx="5504" cy="5419"/>
              </a:xfrm>
            </p:grpSpPr>
            <p:sp>
              <p:nvSpPr>
                <p:cNvPr id="59" name="椭圆 58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8693" y="3982"/>
                  <a:ext cx="1927" cy="1927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style>
                <a:lnRef idx="2">
                  <a:srgbClr val="00E9DB">
                    <a:shade val="50000"/>
                  </a:srgbClr>
                </a:lnRef>
                <a:fillRef idx="1">
                  <a:srgbClr val="00E9DB"/>
                </a:fillRef>
                <a:effectRef idx="0">
                  <a:srgbClr val="00E9DB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0" name="椭圆 59"/>
                <p:cNvSpPr>
                  <a:spLocks noChangeAspect="1"/>
                </p:cNvSpPr>
                <p:nvPr>
                  <p:custDataLst>
                    <p:tags r:id="rId2"/>
                  </p:custDataLst>
                </p:nvPr>
              </p:nvSpPr>
              <p:spPr>
                <a:xfrm>
                  <a:off x="6992" y="2430"/>
                  <a:ext cx="5111" cy="5031"/>
                </a:xfrm>
                <a:prstGeom prst="ellipse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ash"/>
                </a:ln>
              </p:spPr>
              <p:style>
                <a:lnRef idx="2">
                  <a:srgbClr val="00E9DB">
                    <a:shade val="50000"/>
                  </a:srgbClr>
                </a:lnRef>
                <a:fillRef idx="1">
                  <a:srgbClr val="00E9DB"/>
                </a:fillRef>
                <a:effectRef idx="0">
                  <a:srgbClr val="00E9DB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solidFill>
                      <a:srgbClr val="000000"/>
                    </a:solidFill>
                    <a:latin typeface="MiSans" panose="00000500000000000000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1" name="椭圆 60"/>
                <p:cNvSpPr>
                  <a:spLocks noChangeAspect="1"/>
                </p:cNvSpPr>
                <p:nvPr>
                  <p:custDataLst>
                    <p:tags r:id="rId3"/>
                  </p:custDataLst>
                </p:nvPr>
              </p:nvSpPr>
              <p:spPr>
                <a:xfrm>
                  <a:off x="7881" y="3169"/>
                  <a:ext cx="3617" cy="3561"/>
                </a:xfrm>
                <a:prstGeom prst="ellipse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ash"/>
                </a:ln>
              </p:spPr>
              <p:style>
                <a:lnRef idx="2">
                  <a:srgbClr val="00E9DB">
                    <a:shade val="50000"/>
                  </a:srgbClr>
                </a:lnRef>
                <a:fillRef idx="1">
                  <a:srgbClr val="00E9DB"/>
                </a:fillRef>
                <a:effectRef idx="0">
                  <a:srgbClr val="00E9DB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solidFill>
                      <a:srgbClr val="000000"/>
                    </a:solidFill>
                    <a:latin typeface="MiSans" panose="00000500000000000000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2" name="任意多边形 12"/>
                <p:cNvSpPr>
                  <a:spLocks noChangeAspect="1"/>
                </p:cNvSpPr>
                <p:nvPr>
                  <p:custDataLst>
                    <p:tags r:id="rId4"/>
                  </p:custDataLst>
                </p:nvPr>
              </p:nvSpPr>
              <p:spPr bwMode="auto">
                <a:xfrm>
                  <a:off x="7611" y="2933"/>
                  <a:ext cx="4089" cy="4025"/>
                </a:xfrm>
                <a:custGeom>
                  <a:avLst/>
                  <a:gdLst>
                    <a:gd name="T0" fmla="*/ 5 w 479"/>
                    <a:gd name="T1" fmla="*/ 227 h 480"/>
                    <a:gd name="T2" fmla="*/ 160 w 479"/>
                    <a:gd name="T3" fmla="*/ 461 h 480"/>
                    <a:gd name="T4" fmla="*/ 156 w 479"/>
                    <a:gd name="T5" fmla="*/ 480 h 480"/>
                    <a:gd name="T6" fmla="*/ 242 w 479"/>
                    <a:gd name="T7" fmla="*/ 450 h 480"/>
                    <a:gd name="T8" fmla="*/ 173 w 479"/>
                    <a:gd name="T9" fmla="*/ 391 h 480"/>
                    <a:gd name="T10" fmla="*/ 169 w 479"/>
                    <a:gd name="T11" fmla="*/ 410 h 480"/>
                    <a:gd name="T12" fmla="*/ 56 w 479"/>
                    <a:gd name="T13" fmla="*/ 224 h 480"/>
                    <a:gd name="T14" fmla="*/ 236 w 479"/>
                    <a:gd name="T15" fmla="*/ 52 h 480"/>
                    <a:gd name="T16" fmla="*/ 427 w 479"/>
                    <a:gd name="T17" fmla="*/ 216 h 480"/>
                    <a:gd name="T18" fmla="*/ 452 w 479"/>
                    <a:gd name="T19" fmla="*/ 238 h 480"/>
                    <a:gd name="T20" fmla="*/ 453 w 479"/>
                    <a:gd name="T21" fmla="*/ 238 h 480"/>
                    <a:gd name="T22" fmla="*/ 478 w 479"/>
                    <a:gd name="T23" fmla="*/ 210 h 480"/>
                    <a:gd name="T24" fmla="*/ 240 w 479"/>
                    <a:gd name="T25" fmla="*/ 1 h 480"/>
                    <a:gd name="T26" fmla="*/ 5 w 479"/>
                    <a:gd name="T27" fmla="*/ 227 h 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79" h="480">
                      <a:moveTo>
                        <a:pt x="5" y="227"/>
                      </a:moveTo>
                      <a:cubicBezTo>
                        <a:pt x="0" y="331"/>
                        <a:pt x="63" y="425"/>
                        <a:pt x="160" y="461"/>
                      </a:cubicBezTo>
                      <a:cubicBezTo>
                        <a:pt x="156" y="480"/>
                        <a:pt x="156" y="480"/>
                        <a:pt x="156" y="480"/>
                      </a:cubicBezTo>
                      <a:cubicBezTo>
                        <a:pt x="242" y="450"/>
                        <a:pt x="242" y="450"/>
                        <a:pt x="242" y="450"/>
                      </a:cubicBezTo>
                      <a:cubicBezTo>
                        <a:pt x="173" y="391"/>
                        <a:pt x="173" y="391"/>
                        <a:pt x="173" y="391"/>
                      </a:cubicBezTo>
                      <a:cubicBezTo>
                        <a:pt x="169" y="410"/>
                        <a:pt x="169" y="410"/>
                        <a:pt x="169" y="410"/>
                      </a:cubicBezTo>
                      <a:cubicBezTo>
                        <a:pt x="97" y="379"/>
                        <a:pt x="50" y="305"/>
                        <a:pt x="56" y="224"/>
                      </a:cubicBezTo>
                      <a:cubicBezTo>
                        <a:pt x="64" y="130"/>
                        <a:pt x="142" y="55"/>
                        <a:pt x="236" y="52"/>
                      </a:cubicBezTo>
                      <a:cubicBezTo>
                        <a:pt x="334" y="49"/>
                        <a:pt x="416" y="122"/>
                        <a:pt x="427" y="216"/>
                      </a:cubicBezTo>
                      <a:cubicBezTo>
                        <a:pt x="429" y="229"/>
                        <a:pt x="439" y="238"/>
                        <a:pt x="452" y="238"/>
                      </a:cubicBezTo>
                      <a:cubicBezTo>
                        <a:pt x="453" y="238"/>
                        <a:pt x="453" y="238"/>
                        <a:pt x="453" y="238"/>
                      </a:cubicBezTo>
                      <a:cubicBezTo>
                        <a:pt x="468" y="238"/>
                        <a:pt x="479" y="225"/>
                        <a:pt x="478" y="210"/>
                      </a:cubicBezTo>
                      <a:cubicBezTo>
                        <a:pt x="463" y="92"/>
                        <a:pt x="362" y="0"/>
                        <a:pt x="240" y="1"/>
                      </a:cubicBezTo>
                      <a:cubicBezTo>
                        <a:pt x="116" y="2"/>
                        <a:pt x="11" y="102"/>
                        <a:pt x="5" y="227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vert="horz" wrap="square" lIns="91435" tIns="45717" rIns="91435" bIns="45717" numCol="1" anchor="t" anchorCtr="0" compatLnSpc="1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000000"/>
                    </a:solidFill>
                    <a:latin typeface="MiSans" panose="00000500000000000000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3" name="任意多边形 13"/>
                <p:cNvSpPr>
                  <a:spLocks noChangeAspect="1"/>
                </p:cNvSpPr>
                <p:nvPr>
                  <p:custDataLst>
                    <p:tags r:id="rId5"/>
                  </p:custDataLst>
                </p:nvPr>
              </p:nvSpPr>
              <p:spPr bwMode="auto">
                <a:xfrm>
                  <a:off x="6904" y="2236"/>
                  <a:ext cx="5504" cy="5419"/>
                </a:xfrm>
                <a:custGeom>
                  <a:avLst/>
                  <a:gdLst>
                    <a:gd name="T0" fmla="*/ 654 w 654"/>
                    <a:gd name="T1" fmla="*/ 406 h 644"/>
                    <a:gd name="T2" fmla="*/ 619 w 654"/>
                    <a:gd name="T3" fmla="*/ 322 h 644"/>
                    <a:gd name="T4" fmla="*/ 563 w 654"/>
                    <a:gd name="T5" fmla="*/ 395 h 644"/>
                    <a:gd name="T6" fmla="*/ 583 w 654"/>
                    <a:gd name="T7" fmla="*/ 397 h 644"/>
                    <a:gd name="T8" fmla="*/ 322 w 654"/>
                    <a:gd name="T9" fmla="*/ 593 h 644"/>
                    <a:gd name="T10" fmla="*/ 51 w 654"/>
                    <a:gd name="T11" fmla="*/ 322 h 644"/>
                    <a:gd name="T12" fmla="*/ 299 w 654"/>
                    <a:gd name="T13" fmla="*/ 52 h 644"/>
                    <a:gd name="T14" fmla="*/ 322 w 654"/>
                    <a:gd name="T15" fmla="*/ 27 h 644"/>
                    <a:gd name="T16" fmla="*/ 322 w 654"/>
                    <a:gd name="T17" fmla="*/ 27 h 644"/>
                    <a:gd name="T18" fmla="*/ 295 w 654"/>
                    <a:gd name="T19" fmla="*/ 2 h 644"/>
                    <a:gd name="T20" fmla="*/ 0 w 654"/>
                    <a:gd name="T21" fmla="*/ 322 h 644"/>
                    <a:gd name="T22" fmla="*/ 322 w 654"/>
                    <a:gd name="T23" fmla="*/ 644 h 644"/>
                    <a:gd name="T24" fmla="*/ 525 w 654"/>
                    <a:gd name="T25" fmla="*/ 572 h 644"/>
                    <a:gd name="T26" fmla="*/ 633 w 654"/>
                    <a:gd name="T27" fmla="*/ 404 h 644"/>
                    <a:gd name="T28" fmla="*/ 654 w 654"/>
                    <a:gd name="T29" fmla="*/ 406 h 6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654" h="644">
                      <a:moveTo>
                        <a:pt x="654" y="406"/>
                      </a:moveTo>
                      <a:cubicBezTo>
                        <a:pt x="619" y="322"/>
                        <a:pt x="619" y="322"/>
                        <a:pt x="619" y="322"/>
                      </a:cubicBezTo>
                      <a:cubicBezTo>
                        <a:pt x="563" y="395"/>
                        <a:pt x="563" y="395"/>
                        <a:pt x="563" y="395"/>
                      </a:cubicBezTo>
                      <a:cubicBezTo>
                        <a:pt x="583" y="397"/>
                        <a:pt x="583" y="397"/>
                        <a:pt x="583" y="397"/>
                      </a:cubicBezTo>
                      <a:cubicBezTo>
                        <a:pt x="550" y="512"/>
                        <a:pt x="443" y="593"/>
                        <a:pt x="322" y="593"/>
                      </a:cubicBezTo>
                      <a:cubicBezTo>
                        <a:pt x="173" y="593"/>
                        <a:pt x="51" y="472"/>
                        <a:pt x="51" y="322"/>
                      </a:cubicBezTo>
                      <a:cubicBezTo>
                        <a:pt x="51" y="181"/>
                        <a:pt x="161" y="64"/>
                        <a:pt x="299" y="52"/>
                      </a:cubicBezTo>
                      <a:cubicBezTo>
                        <a:pt x="312" y="51"/>
                        <a:pt x="322" y="40"/>
                        <a:pt x="322" y="27"/>
                      </a:cubicBezTo>
                      <a:cubicBezTo>
                        <a:pt x="322" y="27"/>
                        <a:pt x="322" y="27"/>
                        <a:pt x="322" y="27"/>
                      </a:cubicBezTo>
                      <a:cubicBezTo>
                        <a:pt x="322" y="12"/>
                        <a:pt x="310" y="0"/>
                        <a:pt x="295" y="2"/>
                      </a:cubicBezTo>
                      <a:cubicBezTo>
                        <a:pt x="130" y="15"/>
                        <a:pt x="0" y="154"/>
                        <a:pt x="0" y="322"/>
                      </a:cubicBezTo>
                      <a:cubicBezTo>
                        <a:pt x="0" y="500"/>
                        <a:pt x="145" y="644"/>
                        <a:pt x="322" y="644"/>
                      </a:cubicBezTo>
                      <a:cubicBezTo>
                        <a:pt x="396" y="644"/>
                        <a:pt x="468" y="618"/>
                        <a:pt x="525" y="572"/>
                      </a:cubicBezTo>
                      <a:cubicBezTo>
                        <a:pt x="578" y="529"/>
                        <a:pt x="616" y="470"/>
                        <a:pt x="633" y="404"/>
                      </a:cubicBezTo>
                      <a:lnTo>
                        <a:pt x="654" y="406"/>
                      </a:lnTo>
                      <a:close/>
                    </a:path>
                  </a:pathLst>
                </a:custGeom>
              </p:spPr>
              <p:style>
                <a:lnRef idx="0">
                  <a:srgbClr val="FFFFFF"/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="horz" wrap="square" lIns="91435" tIns="45717" rIns="91435" bIns="45717" numCol="1" anchor="t" anchorCtr="0" compatLnSpc="1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000000"/>
                    </a:solidFill>
                    <a:latin typeface="MiSans" panose="00000500000000000000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4" name="椭圆 63"/>
                <p:cNvSpPr>
                  <a:spLocks noChangeAspect="1"/>
                </p:cNvSpPr>
                <p:nvPr>
                  <p:custDataLst>
                    <p:tags r:id="rId6"/>
                  </p:custDataLst>
                </p:nvPr>
              </p:nvSpPr>
              <p:spPr>
                <a:xfrm rot="11460000">
                  <a:off x="8640" y="3967"/>
                  <a:ext cx="2044" cy="2013"/>
                </a:xfrm>
                <a:prstGeom prst="ellipse">
                  <a:avLst/>
                </a:prstGeom>
                <a:noFill/>
                <a:ln w="28575" cmpd="sng">
                  <a:solidFill>
                    <a:schemeClr val="accent1">
                      <a:shade val="50000"/>
                    </a:schemeClr>
                  </a:solidFill>
                  <a:prstDash val="sysDash"/>
                </a:ln>
              </p:spPr>
              <p:style>
                <a:lnRef idx="2">
                  <a:srgbClr val="00E9DB">
                    <a:shade val="50000"/>
                  </a:srgbClr>
                </a:lnRef>
                <a:fillRef idx="1">
                  <a:srgbClr val="00E9DB"/>
                </a:fillRef>
                <a:effectRef idx="0">
                  <a:srgbClr val="00E9DB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dirty="0">
                    <a:solidFill>
                      <a:srgbClr val="000000"/>
                    </a:solidFill>
                    <a:latin typeface="MiSans" panose="00000500000000000000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5" name="任意多边形 12"/>
                <p:cNvSpPr>
                  <a:spLocks noChangeAspect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 rot="11460000">
                  <a:off x="8467" y="3796"/>
                  <a:ext cx="2359" cy="2322"/>
                </a:xfrm>
                <a:custGeom>
                  <a:avLst/>
                  <a:gdLst>
                    <a:gd name="T0" fmla="*/ 5 w 479"/>
                    <a:gd name="T1" fmla="*/ 227 h 480"/>
                    <a:gd name="T2" fmla="*/ 160 w 479"/>
                    <a:gd name="T3" fmla="*/ 461 h 480"/>
                    <a:gd name="T4" fmla="*/ 156 w 479"/>
                    <a:gd name="T5" fmla="*/ 480 h 480"/>
                    <a:gd name="T6" fmla="*/ 242 w 479"/>
                    <a:gd name="T7" fmla="*/ 450 h 480"/>
                    <a:gd name="T8" fmla="*/ 173 w 479"/>
                    <a:gd name="T9" fmla="*/ 391 h 480"/>
                    <a:gd name="T10" fmla="*/ 169 w 479"/>
                    <a:gd name="T11" fmla="*/ 410 h 480"/>
                    <a:gd name="T12" fmla="*/ 56 w 479"/>
                    <a:gd name="T13" fmla="*/ 224 h 480"/>
                    <a:gd name="T14" fmla="*/ 236 w 479"/>
                    <a:gd name="T15" fmla="*/ 52 h 480"/>
                    <a:gd name="T16" fmla="*/ 427 w 479"/>
                    <a:gd name="T17" fmla="*/ 216 h 480"/>
                    <a:gd name="T18" fmla="*/ 452 w 479"/>
                    <a:gd name="T19" fmla="*/ 238 h 480"/>
                    <a:gd name="T20" fmla="*/ 453 w 479"/>
                    <a:gd name="T21" fmla="*/ 238 h 480"/>
                    <a:gd name="T22" fmla="*/ 478 w 479"/>
                    <a:gd name="T23" fmla="*/ 210 h 480"/>
                    <a:gd name="T24" fmla="*/ 240 w 479"/>
                    <a:gd name="T25" fmla="*/ 1 h 480"/>
                    <a:gd name="T26" fmla="*/ 5 w 479"/>
                    <a:gd name="T27" fmla="*/ 227 h 4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479" h="480">
                      <a:moveTo>
                        <a:pt x="5" y="227"/>
                      </a:moveTo>
                      <a:cubicBezTo>
                        <a:pt x="0" y="331"/>
                        <a:pt x="63" y="425"/>
                        <a:pt x="160" y="461"/>
                      </a:cubicBezTo>
                      <a:cubicBezTo>
                        <a:pt x="156" y="480"/>
                        <a:pt x="156" y="480"/>
                        <a:pt x="156" y="480"/>
                      </a:cubicBezTo>
                      <a:cubicBezTo>
                        <a:pt x="242" y="450"/>
                        <a:pt x="242" y="450"/>
                        <a:pt x="242" y="450"/>
                      </a:cubicBezTo>
                      <a:cubicBezTo>
                        <a:pt x="173" y="391"/>
                        <a:pt x="173" y="391"/>
                        <a:pt x="173" y="391"/>
                      </a:cubicBezTo>
                      <a:cubicBezTo>
                        <a:pt x="169" y="410"/>
                        <a:pt x="169" y="410"/>
                        <a:pt x="169" y="410"/>
                      </a:cubicBezTo>
                      <a:cubicBezTo>
                        <a:pt x="97" y="379"/>
                        <a:pt x="50" y="305"/>
                        <a:pt x="56" y="224"/>
                      </a:cubicBezTo>
                      <a:cubicBezTo>
                        <a:pt x="64" y="130"/>
                        <a:pt x="142" y="55"/>
                        <a:pt x="236" y="52"/>
                      </a:cubicBezTo>
                      <a:cubicBezTo>
                        <a:pt x="334" y="49"/>
                        <a:pt x="416" y="122"/>
                        <a:pt x="427" y="216"/>
                      </a:cubicBezTo>
                      <a:cubicBezTo>
                        <a:pt x="429" y="229"/>
                        <a:pt x="439" y="238"/>
                        <a:pt x="452" y="238"/>
                      </a:cubicBezTo>
                      <a:cubicBezTo>
                        <a:pt x="453" y="238"/>
                        <a:pt x="453" y="238"/>
                        <a:pt x="453" y="238"/>
                      </a:cubicBezTo>
                      <a:cubicBezTo>
                        <a:pt x="468" y="238"/>
                        <a:pt x="479" y="225"/>
                        <a:pt x="478" y="210"/>
                      </a:cubicBezTo>
                      <a:cubicBezTo>
                        <a:pt x="463" y="92"/>
                        <a:pt x="362" y="0"/>
                        <a:pt x="240" y="1"/>
                      </a:cubicBezTo>
                      <a:cubicBezTo>
                        <a:pt x="116" y="2"/>
                        <a:pt x="11" y="102"/>
                        <a:pt x="5" y="227"/>
                      </a:cubicBezTo>
                      <a:close/>
                    </a:path>
                  </a:pathLst>
                </a:cu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vert="horz" wrap="square" lIns="91435" tIns="45717" rIns="91435" bIns="45717" numCol="1" anchor="t" anchorCtr="0" compatLnSpc="1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000000"/>
                    </a:solidFill>
                    <a:latin typeface="MiSans" panose="00000500000000000000" charset="-122"/>
                    <a:cs typeface="MiSans" panose="00000500000000000000" charset="-122"/>
                  </a:endParaRPr>
                </a:p>
              </p:txBody>
            </p:sp>
            <p:sp>
              <p:nvSpPr>
                <p:cNvPr id="66" name="椭圆 65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9031" y="4320"/>
                  <a:ext cx="1251" cy="1251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114300" dist="25400" dir="5400000" algn="ctr" rotWithShape="0">
                    <a:srgbClr val="000000">
                      <a:alpha val="27000"/>
                    </a:srgbClr>
                  </a:outerShdw>
                </a:effectLst>
              </p:spPr>
              <p:style>
                <a:lnRef idx="2">
                  <a:srgbClr val="00E9DB">
                    <a:shade val="50000"/>
                  </a:srgbClr>
                </a:lnRef>
                <a:fillRef idx="1">
                  <a:srgbClr val="00E9DB"/>
                </a:fillRef>
                <a:effectRef idx="0">
                  <a:srgbClr val="00E9DB"/>
                </a:effectRef>
                <a:fontRef idx="minor">
                  <a:srgbClr val="FFFFFF"/>
                </a:fontRef>
              </p:style>
              <p:txBody>
                <a:bodyPr rtlCol="0" anchor="ctr"/>
                <a:lstStyle>
                  <a:lvl1pPr marL="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  <p:pic>
              <p:nvPicPr>
                <p:cNvPr id="67" name="图片 1" descr="3b35303034303738383bbcfdcdb7"/>
                <p:cNvPicPr>
                  <a:picLocks noChangeAspect="1"/>
                </p:cNvPicPr>
                <p:nvPr>
                  <p:custDataLst>
                    <p:tags r:id="rId9"/>
                  </p:custDataLst>
                </p:nvPr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00" y="4508"/>
                  <a:ext cx="912" cy="912"/>
                </a:xfrm>
                <a:prstGeom prst="rect">
                  <a:avLst/>
                </a:prstGeom>
              </p:spPr>
            </p:pic>
          </p:grpSp>
          <p:grpSp>
            <p:nvGrpSpPr>
              <p:cNvPr id="54" name="组合 53"/>
              <p:cNvGrpSpPr/>
              <p:nvPr/>
            </p:nvGrpSpPr>
            <p:grpSpPr>
              <a:xfrm>
                <a:off x="4308361" y="1800481"/>
                <a:ext cx="3642075" cy="3646749"/>
                <a:chOff x="4308361" y="1800481"/>
                <a:chExt cx="3642075" cy="3646749"/>
              </a:xfrm>
            </p:grpSpPr>
            <p:sp>
              <p:nvSpPr>
                <p:cNvPr id="55" name="空心弧 54"/>
                <p:cNvSpPr>
                  <a:spLocks noChangeAspect="1"/>
                </p:cNvSpPr>
                <p:nvPr/>
              </p:nvSpPr>
              <p:spPr>
                <a:xfrm>
                  <a:off x="4308361" y="1800481"/>
                  <a:ext cx="3600001" cy="3600000"/>
                </a:xfrm>
                <a:prstGeom prst="blockArc">
                  <a:avLst>
                    <a:gd name="adj1" fmla="val 10763488"/>
                    <a:gd name="adj2" fmla="val 16119291"/>
                    <a:gd name="adj3" fmla="val 10171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mpd="sng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空心弧 55"/>
                <p:cNvSpPr>
                  <a:spLocks noChangeAspect="1"/>
                </p:cNvSpPr>
                <p:nvPr/>
              </p:nvSpPr>
              <p:spPr>
                <a:xfrm rot="10800000">
                  <a:off x="4350434" y="1847230"/>
                  <a:ext cx="3600001" cy="3600000"/>
                </a:xfrm>
                <a:prstGeom prst="blockArc">
                  <a:avLst>
                    <a:gd name="adj1" fmla="val 10763488"/>
                    <a:gd name="adj2" fmla="val 16119291"/>
                    <a:gd name="adj3" fmla="val 10171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mpd="sng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空心弧 56"/>
                <p:cNvSpPr>
                  <a:spLocks noChangeAspect="1"/>
                </p:cNvSpPr>
                <p:nvPr/>
              </p:nvSpPr>
              <p:spPr>
                <a:xfrm rot="16200000">
                  <a:off x="4308362" y="1847229"/>
                  <a:ext cx="3600001" cy="3600000"/>
                </a:xfrm>
                <a:prstGeom prst="blockArc">
                  <a:avLst>
                    <a:gd name="adj1" fmla="val 10763488"/>
                    <a:gd name="adj2" fmla="val 16119291"/>
                    <a:gd name="adj3" fmla="val 10171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mpd="sng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空心弧 57"/>
                <p:cNvSpPr>
                  <a:spLocks noChangeAspect="1"/>
                </p:cNvSpPr>
                <p:nvPr/>
              </p:nvSpPr>
              <p:spPr>
                <a:xfrm rot="5400000">
                  <a:off x="4350435" y="1800482"/>
                  <a:ext cx="3600001" cy="3600000"/>
                </a:xfrm>
                <a:prstGeom prst="blockArc">
                  <a:avLst>
                    <a:gd name="adj1" fmla="val 10763488"/>
                    <a:gd name="adj2" fmla="val 16119291"/>
                    <a:gd name="adj3" fmla="val 10171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mpd="sng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tx2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9" name="矩形 48"/>
            <p:cNvSpPr/>
            <p:nvPr/>
          </p:nvSpPr>
          <p:spPr>
            <a:xfrm rot="18900000">
              <a:off x="4547750" y="2241387"/>
              <a:ext cx="1019538" cy="303506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全级次</a:t>
              </a:r>
            </a:p>
          </p:txBody>
        </p:sp>
        <p:sp>
          <p:nvSpPr>
            <p:cNvPr id="50" name="矩形 49"/>
            <p:cNvSpPr/>
            <p:nvPr/>
          </p:nvSpPr>
          <p:spPr>
            <a:xfrm rot="2700000">
              <a:off x="6695842" y="2240552"/>
              <a:ext cx="1037644" cy="29698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全流程</a:t>
              </a:r>
            </a:p>
          </p:txBody>
        </p:sp>
        <p:sp>
          <p:nvSpPr>
            <p:cNvPr id="51" name="矩形 50"/>
            <p:cNvSpPr/>
            <p:nvPr/>
          </p:nvSpPr>
          <p:spPr>
            <a:xfrm rot="2700000">
              <a:off x="4542793" y="4675573"/>
              <a:ext cx="1037644" cy="29698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全要素</a:t>
              </a:r>
            </a:p>
          </p:txBody>
        </p:sp>
        <p:sp>
          <p:nvSpPr>
            <p:cNvPr id="52" name="矩形 51"/>
            <p:cNvSpPr/>
            <p:nvPr/>
          </p:nvSpPr>
          <p:spPr>
            <a:xfrm rot="18900000">
              <a:off x="6726491" y="4603340"/>
              <a:ext cx="1134820" cy="29698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l">
                <a:lnSpc>
                  <a:spcPct val="8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实时监测</a:t>
              </a: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96434" y="3367449"/>
            <a:ext cx="3866818" cy="720000"/>
            <a:chOff x="-165955" y="2618785"/>
            <a:chExt cx="3866818" cy="720000"/>
          </a:xfrm>
        </p:grpSpPr>
        <p:sp>
          <p:nvSpPr>
            <p:cNvPr id="69" name="椭圆 68"/>
            <p:cNvSpPr>
              <a:spLocks noChangeAspect="1"/>
            </p:cNvSpPr>
            <p:nvPr/>
          </p:nvSpPr>
          <p:spPr>
            <a:xfrm>
              <a:off x="2980863" y="2618785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采购与供应链</a:t>
              </a: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-16595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采购方式、投标报价文件、供应商资质、合同评定、资金支付审批、采购价格确认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采购方式不合规、虚假招标、围标串标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228746" y="3367449"/>
            <a:ext cx="4070952" cy="720000"/>
            <a:chOff x="-803242" y="2611777"/>
            <a:chExt cx="4070952" cy="720000"/>
          </a:xfrm>
        </p:grpSpPr>
        <p:sp>
          <p:nvSpPr>
            <p:cNvPr id="72" name="椭圆 71"/>
            <p:cNvSpPr>
              <a:spLocks noChangeAspect="1"/>
            </p:cNvSpPr>
            <p:nvPr/>
          </p:nvSpPr>
          <p:spPr>
            <a:xfrm>
              <a:off x="-803242" y="2611777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财务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-10985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会计核算、全面预算、税务管理、费用报销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过度负债、违规拆解、违规金融担保、核心业务持续亏损、资产权属不清、投机交易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322857" y="1191503"/>
            <a:ext cx="3991608" cy="720000"/>
            <a:chOff x="-290745" y="2618785"/>
            <a:chExt cx="3991608" cy="720000"/>
          </a:xfrm>
        </p:grpSpPr>
        <p:sp>
          <p:nvSpPr>
            <p:cNvPr id="76" name="椭圆 75"/>
            <p:cNvSpPr>
              <a:spLocks noChangeAspect="1"/>
            </p:cNvSpPr>
            <p:nvPr/>
          </p:nvSpPr>
          <p:spPr>
            <a:xfrm>
              <a:off x="2980863" y="2618785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合同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-29074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签约对象、合同标的、对赌约定、纠纷处置、违约责任、权益担保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虚构业务合同、合同成果虚假、违规对赌</a:t>
              </a: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877537" y="1184072"/>
            <a:ext cx="4070952" cy="720000"/>
            <a:chOff x="-803242" y="2611777"/>
            <a:chExt cx="4070952" cy="720000"/>
          </a:xfrm>
        </p:grpSpPr>
        <p:sp>
          <p:nvSpPr>
            <p:cNvPr id="79" name="椭圆 78"/>
            <p:cNvSpPr>
              <a:spLocks noChangeAspect="1"/>
            </p:cNvSpPr>
            <p:nvPr/>
          </p:nvSpPr>
          <p:spPr>
            <a:xfrm>
              <a:off x="-803242" y="2611777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投资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-10985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投资计划、资金来源、收益状况、投向行业、决策审批、可研尽调、评估论证、资金支付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违规决策投资、控股不控权、无关多元经营</a:t>
              </a:r>
            </a:p>
          </p:txBody>
        </p:sp>
      </p:grpSp>
      <p:sp>
        <p:nvSpPr>
          <p:cNvPr id="81" name="标题 40"/>
          <p:cNvSpPr>
            <a:spLocks noGrp="1"/>
          </p:cNvSpPr>
          <p:nvPr>
            <p:ph type="title"/>
          </p:nvPr>
        </p:nvSpPr>
        <p:spPr>
          <a:xfrm>
            <a:off x="396000" y="288000"/>
            <a:ext cx="9286412" cy="455930"/>
          </a:xfrm>
        </p:spPr>
        <p:txBody>
          <a:bodyPr/>
          <a:lstStyle/>
          <a:p>
            <a:r>
              <a:rPr kumimoji="1" lang="zh-CN" altLang="en-US" dirty="0"/>
              <a:t>十大重点领域构成监管主战场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346678" y="2154455"/>
            <a:ext cx="3947568" cy="720000"/>
            <a:chOff x="-246705" y="2618785"/>
            <a:chExt cx="3947568" cy="720000"/>
          </a:xfrm>
        </p:grpSpPr>
        <p:sp>
          <p:nvSpPr>
            <p:cNvPr id="83" name="椭圆 82"/>
            <p:cNvSpPr>
              <a:spLocks noChangeAspect="1"/>
            </p:cNvSpPr>
            <p:nvPr/>
          </p:nvSpPr>
          <p:spPr>
            <a:xfrm>
              <a:off x="2980863" y="2618785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境外单位</a:t>
              </a: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-24670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“三重一大”集体决策、物资采购、资金支付、薪酬管理、境外人员、资产安全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盲目投资并购、恶性竞争、违反财经纪律</a:t>
              </a: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338418" y="4513579"/>
            <a:ext cx="3955828" cy="720000"/>
            <a:chOff x="-254965" y="2618785"/>
            <a:chExt cx="3955828" cy="720000"/>
          </a:xfrm>
        </p:grpSpPr>
        <p:sp>
          <p:nvSpPr>
            <p:cNvPr id="92" name="椭圆 91"/>
            <p:cNvSpPr>
              <a:spLocks noChangeAspect="1"/>
            </p:cNvSpPr>
            <p:nvPr/>
          </p:nvSpPr>
          <p:spPr>
            <a:xfrm>
              <a:off x="2980863" y="2618785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军品业务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-25496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涉军业务单位、军品业务合同、军品业务交付、质量控制、军费和政府投资资金使用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虚增军品成本、截留滞拨挪用军费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463107" y="5576020"/>
            <a:ext cx="3851358" cy="720000"/>
            <a:chOff x="-150495" y="2618785"/>
            <a:chExt cx="3851358" cy="720000"/>
          </a:xfrm>
        </p:grpSpPr>
        <p:sp>
          <p:nvSpPr>
            <p:cNvPr id="95" name="椭圆 94"/>
            <p:cNvSpPr>
              <a:spLocks noChangeAspect="1"/>
            </p:cNvSpPr>
            <p:nvPr/>
          </p:nvSpPr>
          <p:spPr>
            <a:xfrm>
              <a:off x="2980863" y="2618785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金融风险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-15049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主要产品类型、业务项目、基金业务布局、金融业务决策过程、资金流向、底层资产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涉众融资、违规兑付薪酬和收益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6877537" y="5576020"/>
            <a:ext cx="4070952" cy="720000"/>
            <a:chOff x="-803242" y="2611777"/>
            <a:chExt cx="4070952" cy="720000"/>
          </a:xfrm>
        </p:grpSpPr>
        <p:sp>
          <p:nvSpPr>
            <p:cNvPr id="98" name="椭圆 97"/>
            <p:cNvSpPr>
              <a:spLocks noChangeAspect="1"/>
            </p:cNvSpPr>
            <p:nvPr/>
          </p:nvSpPr>
          <p:spPr>
            <a:xfrm>
              <a:off x="-803242" y="2611777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薪酬分配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-10985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薪酬水平、薪酬结构、薪酬分布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收入畸高、违规发放津贴、巧立名目滥发高薪、薪酬不合理倒挂</a:t>
              </a: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915255" y="4514878"/>
            <a:ext cx="4070952" cy="720000"/>
            <a:chOff x="-803242" y="2611777"/>
            <a:chExt cx="4070952" cy="720000"/>
          </a:xfrm>
        </p:grpSpPr>
        <p:sp>
          <p:nvSpPr>
            <p:cNvPr id="101" name="椭圆 100"/>
            <p:cNvSpPr>
              <a:spLocks noChangeAspect="1"/>
            </p:cNvSpPr>
            <p:nvPr/>
          </p:nvSpPr>
          <p:spPr>
            <a:xfrm>
              <a:off x="-803242" y="2611777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会计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-10985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企业预算执行、汇集信息质量、两金压降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财务数据造假、滥用会计政策、财务杠杆假、出清出表假、研发统计假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7915255" y="2154455"/>
            <a:ext cx="4070952" cy="720000"/>
            <a:chOff x="-803242" y="2611777"/>
            <a:chExt cx="4070952" cy="720000"/>
          </a:xfrm>
        </p:grpSpPr>
        <p:sp>
          <p:nvSpPr>
            <p:cNvPr id="110" name="椭圆 109"/>
            <p:cNvSpPr>
              <a:spLocks noChangeAspect="1"/>
            </p:cNvSpPr>
            <p:nvPr/>
          </p:nvSpPr>
          <p:spPr>
            <a:xfrm>
              <a:off x="-803242" y="2611777"/>
              <a:ext cx="720000" cy="720000"/>
            </a:xfrm>
            <a:prstGeom prst="ellipse">
              <a:avLst/>
            </a:prstGeom>
            <a:gradFill>
              <a:gsLst>
                <a:gs pos="100000">
                  <a:schemeClr val="accent1"/>
                </a:gs>
                <a:gs pos="0">
                  <a:schemeClr val="accent2"/>
                </a:gs>
              </a:gsLst>
              <a:lin ang="0" scaled="0"/>
            </a:gradFill>
            <a:ln w="9525">
              <a:noFill/>
            </a:ln>
            <a:effectLst>
              <a:outerShdw blurRad="292100" dist="88900" dir="5340000" sx="98000" sy="98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tIns="45720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</a:pPr>
              <a:r>
                <a:rPr lang="zh-CN" altLang="en-US" sz="12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产权</a:t>
              </a: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-109855" y="2656205"/>
              <a:ext cx="33775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产权形成、变动、注销；特殊股权结构、法人户数、层级变动</a:t>
              </a:r>
              <a:endParaRPr kumimoji="1" lang="en-US" altLang="zh-CN" sz="1200" dirty="0">
                <a:solidFill>
                  <a:schemeClr val="tx2"/>
                </a:solidFill>
                <a:ea typeface="+mj-ea"/>
              </a:endParaRPr>
            </a:p>
            <a:p>
              <a:pPr marL="171450" indent="-171450" algn="l">
                <a:buFont typeface="Wingdings" panose="05000000000000000000" pitchFamily="2" charset="2"/>
                <a:buChar char="l"/>
              </a:pPr>
              <a:r>
                <a:rPr kumimoji="1" lang="zh-CN" altLang="en-US" sz="1200" dirty="0">
                  <a:solidFill>
                    <a:schemeClr val="tx2"/>
                  </a:solidFill>
                  <a:ea typeface="+mj-ea"/>
                </a:rPr>
                <a:t>违规新设法人、假冒国企、违规挂靠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穿透监管从事后核查走向在线闭环</a:t>
            </a:r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401955" y="928370"/>
            <a:ext cx="11588507" cy="5055413"/>
            <a:chOff x="801" y="1533"/>
            <a:chExt cx="17871" cy="7795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6850" y="1533"/>
              <a:ext cx="5424" cy="4387"/>
              <a:chOff x="6532" y="1533"/>
              <a:chExt cx="5424" cy="4387"/>
            </a:xfrm>
          </p:grpSpPr>
          <p:sp>
            <p:nvSpPr>
              <p:cNvPr id="4" name="任意多边形: 形状 4"/>
              <p:cNvSpPr/>
              <p:nvPr>
                <p:custDataLst>
                  <p:tags r:id="rId25"/>
                </p:custDataLst>
              </p:nvPr>
            </p:nvSpPr>
            <p:spPr>
              <a:xfrm rot="10800000">
                <a:off x="7293" y="2276"/>
                <a:ext cx="3904" cy="1601"/>
              </a:xfrm>
              <a:custGeom>
                <a:avLst/>
                <a:gdLst>
                  <a:gd name="connsiteX0" fmla="*/ 2666748 w 2666748"/>
                  <a:gd name="connsiteY0" fmla="*/ 4159580 h 4159580"/>
                  <a:gd name="connsiteX1" fmla="*/ 1 w 2666748"/>
                  <a:gd name="connsiteY1" fmla="*/ 4159580 h 4159580"/>
                  <a:gd name="connsiteX2" fmla="*/ 1 w 2666748"/>
                  <a:gd name="connsiteY2" fmla="*/ 253727 h 4159580"/>
                  <a:gd name="connsiteX3" fmla="*/ 0 w 2666748"/>
                  <a:gd name="connsiteY3" fmla="*/ 253723 h 4159580"/>
                  <a:gd name="connsiteX4" fmla="*/ 1 w 2666748"/>
                  <a:gd name="connsiteY4" fmla="*/ 253720 h 4159580"/>
                  <a:gd name="connsiteX5" fmla="*/ 1 w 2666748"/>
                  <a:gd name="connsiteY5" fmla="*/ 224005 h 4159580"/>
                  <a:gd name="connsiteX6" fmla="*/ 9913 w 2666748"/>
                  <a:gd name="connsiteY6" fmla="*/ 224005 h 4159580"/>
                  <a:gd name="connsiteX7" fmla="*/ 27089 w 2666748"/>
                  <a:gd name="connsiteY7" fmla="*/ 202589 h 4159580"/>
                  <a:gd name="connsiteX8" fmla="*/ 1333374 w 2666748"/>
                  <a:gd name="connsiteY8" fmla="*/ 0 h 4159580"/>
                  <a:gd name="connsiteX9" fmla="*/ 2639659 w 2666748"/>
                  <a:gd name="connsiteY9" fmla="*/ 202589 h 4159580"/>
                  <a:gd name="connsiteX10" fmla="*/ 2656835 w 2666748"/>
                  <a:gd name="connsiteY10" fmla="*/ 224005 h 4159580"/>
                  <a:gd name="connsiteX11" fmla="*/ 2666748 w 2666748"/>
                  <a:gd name="connsiteY11" fmla="*/ 224005 h 4159580"/>
                  <a:gd name="connsiteX12" fmla="*/ 2666748 w 2666748"/>
                  <a:gd name="connsiteY12" fmla="*/ 253723 h 4159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66748" h="4159580">
                    <a:moveTo>
                      <a:pt x="2666748" y="4159580"/>
                    </a:moveTo>
                    <a:lnTo>
                      <a:pt x="1" y="4159580"/>
                    </a:lnTo>
                    <a:lnTo>
                      <a:pt x="1" y="253727"/>
                    </a:lnTo>
                    <a:lnTo>
                      <a:pt x="0" y="253723"/>
                    </a:lnTo>
                    <a:lnTo>
                      <a:pt x="1" y="253720"/>
                    </a:lnTo>
                    <a:lnTo>
                      <a:pt x="1" y="224005"/>
                    </a:lnTo>
                    <a:lnTo>
                      <a:pt x="9913" y="224005"/>
                    </a:lnTo>
                    <a:lnTo>
                      <a:pt x="27089" y="202589"/>
                    </a:lnTo>
                    <a:cubicBezTo>
                      <a:pt x="151422" y="86972"/>
                      <a:pt x="689022" y="0"/>
                      <a:pt x="1333374" y="0"/>
                    </a:cubicBezTo>
                    <a:cubicBezTo>
                      <a:pt x="1977726" y="0"/>
                      <a:pt x="2515326" y="86972"/>
                      <a:pt x="2639659" y="202589"/>
                    </a:cubicBezTo>
                    <a:lnTo>
                      <a:pt x="2656835" y="224005"/>
                    </a:lnTo>
                    <a:lnTo>
                      <a:pt x="2666748" y="224005"/>
                    </a:lnTo>
                    <a:lnTo>
                      <a:pt x="2666748" y="253723"/>
                    </a:lnTo>
                    <a:close/>
                  </a:path>
                </a:pathLst>
              </a:custGeom>
              <a:gradFill flip="none" rotWithShape="1">
                <a:gsLst>
                  <a:gs pos="54000">
                    <a:schemeClr val="accent2">
                      <a:alpha val="10000"/>
                    </a:schemeClr>
                  </a:gs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5" name="椭圆 4"/>
              <p:cNvSpPr/>
              <p:nvPr>
                <p:custDataLst>
                  <p:tags r:id="rId26"/>
                </p:custDataLst>
              </p:nvPr>
            </p:nvSpPr>
            <p:spPr>
              <a:xfrm>
                <a:off x="6532" y="3616"/>
                <a:ext cx="5425" cy="1032"/>
              </a:xfrm>
              <a:prstGeom prst="ellipse">
                <a:avLst/>
              </a:prstGeom>
              <a:gradFill>
                <a:gsLst>
                  <a:gs pos="100000">
                    <a:schemeClr val="accent2">
                      <a:alpha val="20000"/>
                    </a:schemeClr>
                  </a:gs>
                  <a:gs pos="0">
                    <a:schemeClr val="accent2">
                      <a:alpha val="1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31" y="3344"/>
                <a:ext cx="5028" cy="934"/>
              </a:xfrm>
              <a:prstGeom prst="ellipse">
                <a:avLst/>
              </a:prstGeom>
              <a:noFill/>
              <a:ln>
                <a:gradFill>
                  <a:gsLst>
                    <a:gs pos="26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2">
                        <a:alpha val="57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28"/>
                </p:custDataLst>
              </p:nvPr>
            </p:nvSpPr>
            <p:spPr>
              <a:xfrm>
                <a:off x="7293" y="3186"/>
                <a:ext cx="3904" cy="743"/>
              </a:xfrm>
              <a:prstGeom prst="ellipse">
                <a:avLst/>
              </a:prstGeom>
              <a:gradFill>
                <a:gsLst>
                  <a:gs pos="100000">
                    <a:schemeClr val="accent2">
                      <a:alpha val="20000"/>
                    </a:schemeClr>
                  </a:gs>
                  <a:gs pos="0">
                    <a:schemeClr val="accent2">
                      <a:lumMod val="20000"/>
                      <a:lumOff val="80000"/>
                      <a:alpha val="30000"/>
                    </a:schemeClr>
                  </a:gs>
                </a:gsLst>
                <a:lin ang="5400000" scaled="0"/>
              </a:gradFill>
              <a:ln w="3175">
                <a:noFill/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vertOverflow="overflow" horzOverflow="overflow" vert="horz" wrap="none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6" name="任意多边形: 形状 10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32" y="4072"/>
                <a:ext cx="5425" cy="1848"/>
              </a:xfrm>
              <a:custGeom>
                <a:avLst/>
                <a:gdLst>
                  <a:gd name="connsiteX0" fmla="*/ 0 w 4023360"/>
                  <a:gd name="connsiteY0" fmla="*/ 7761 h 1357052"/>
                  <a:gd name="connsiteX1" fmla="*/ 2011680 w 4023360"/>
                  <a:gd name="connsiteY1" fmla="*/ 410984 h 1357052"/>
                  <a:gd name="connsiteX2" fmla="*/ 4023360 w 4023360"/>
                  <a:gd name="connsiteY2" fmla="*/ 7761 h 1357052"/>
                  <a:gd name="connsiteX3" fmla="*/ 4023360 w 4023360"/>
                  <a:gd name="connsiteY3" fmla="*/ 953829 h 1357052"/>
                  <a:gd name="connsiteX4" fmla="*/ 2011680 w 4023360"/>
                  <a:gd name="connsiteY4" fmla="*/ 1357052 h 1357052"/>
                  <a:gd name="connsiteX5" fmla="*/ 0 w 4023360"/>
                  <a:gd name="connsiteY5" fmla="*/ 953829 h 1357052"/>
                  <a:gd name="connsiteX6" fmla="*/ 4021405 w 4023360"/>
                  <a:gd name="connsiteY6" fmla="*/ 0 h 1357052"/>
                  <a:gd name="connsiteX7" fmla="*/ 4023360 w 4023360"/>
                  <a:gd name="connsiteY7" fmla="*/ 0 h 1357052"/>
                  <a:gd name="connsiteX8" fmla="*/ 4023360 w 4023360"/>
                  <a:gd name="connsiteY8" fmla="*/ 7761 h 1357052"/>
                  <a:gd name="connsiteX9" fmla="*/ 0 w 4023360"/>
                  <a:gd name="connsiteY9" fmla="*/ 0 h 1357052"/>
                  <a:gd name="connsiteX10" fmla="*/ 1955 w 4023360"/>
                  <a:gd name="connsiteY10" fmla="*/ 0 h 1357052"/>
                  <a:gd name="connsiteX11" fmla="*/ 0 w 4023360"/>
                  <a:gd name="connsiteY11" fmla="*/ 7761 h 135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23360" h="1357052">
                    <a:moveTo>
                      <a:pt x="0" y="7761"/>
                    </a:moveTo>
                    <a:cubicBezTo>
                      <a:pt x="0" y="230455"/>
                      <a:pt x="900660" y="410984"/>
                      <a:pt x="2011680" y="410984"/>
                    </a:cubicBezTo>
                    <a:cubicBezTo>
                      <a:pt x="3122700" y="410984"/>
                      <a:pt x="4023360" y="230455"/>
                      <a:pt x="4023360" y="7761"/>
                    </a:cubicBezTo>
                    <a:lnTo>
                      <a:pt x="4023360" y="953829"/>
                    </a:lnTo>
                    <a:cubicBezTo>
                      <a:pt x="4023360" y="1176523"/>
                      <a:pt x="3122700" y="1357052"/>
                      <a:pt x="2011680" y="1357052"/>
                    </a:cubicBezTo>
                    <a:cubicBezTo>
                      <a:pt x="900660" y="1357052"/>
                      <a:pt x="0" y="1176523"/>
                      <a:pt x="0" y="953829"/>
                    </a:cubicBezTo>
                    <a:close/>
                    <a:moveTo>
                      <a:pt x="4021405" y="0"/>
                    </a:moveTo>
                    <a:lnTo>
                      <a:pt x="4023360" y="0"/>
                    </a:lnTo>
                    <a:lnTo>
                      <a:pt x="4023360" y="7761"/>
                    </a:lnTo>
                    <a:close/>
                    <a:moveTo>
                      <a:pt x="0" y="0"/>
                    </a:moveTo>
                    <a:lnTo>
                      <a:pt x="1955" y="0"/>
                    </a:lnTo>
                    <a:lnTo>
                      <a:pt x="0" y="77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alpha val="45000"/>
                    </a:schemeClr>
                  </a:gs>
                  <a:gs pos="41000">
                    <a:schemeClr val="accent2">
                      <a:alpha val="20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  <a:tileRect/>
              </a:gradFill>
              <a:ln w="19050">
                <a:noFill/>
              </a:ln>
            </p:spPr>
            <p:style>
              <a:lnRef idx="2">
                <a:srgbClr val="376FFF">
                  <a:shade val="15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微软雅黑" panose="020B0502040204020203" pitchFamily="34" charset="-122"/>
                </a:endParaRPr>
              </a:p>
            </p:txBody>
          </p:sp>
          <p:sp>
            <p:nvSpPr>
              <p:cNvPr id="115" name="椭圆 114"/>
              <p:cNvSpPr/>
              <p:nvPr>
                <p:custDataLst>
                  <p:tags r:id="rId30"/>
                </p:custDataLst>
              </p:nvPr>
            </p:nvSpPr>
            <p:spPr>
              <a:xfrm>
                <a:off x="8204" y="1533"/>
                <a:ext cx="1957" cy="1957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  <a:defRPr/>
                </a:pPr>
                <a:r>
                  <a:rPr lang="en-US" altLang="zh-CN" sz="40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穿透</a:t>
                </a:r>
              </a:p>
            </p:txBody>
          </p:sp>
        </p:grpSp>
        <p:grpSp>
          <p:nvGrpSpPr>
            <p:cNvPr id="10" name="组合 9"/>
            <p:cNvGrpSpPr/>
            <p:nvPr>
              <p:custDataLst>
                <p:tags r:id="rId3"/>
              </p:custDataLst>
            </p:nvPr>
          </p:nvGrpSpPr>
          <p:grpSpPr>
            <a:xfrm>
              <a:off x="1639" y="1913"/>
              <a:ext cx="15562" cy="4623"/>
              <a:chOff x="1237" y="1913"/>
              <a:chExt cx="16533" cy="4911"/>
            </a:xfrm>
          </p:grpSpPr>
          <p:sp>
            <p:nvSpPr>
              <p:cNvPr id="27" name="弧形 26"/>
              <p:cNvSpPr/>
              <p:nvPr>
                <p:custDataLst>
                  <p:tags r:id="rId18"/>
                </p:custDataLst>
              </p:nvPr>
            </p:nvSpPr>
            <p:spPr>
              <a:xfrm rot="21075889">
                <a:off x="1687" y="1913"/>
                <a:ext cx="15478" cy="3944"/>
              </a:xfrm>
              <a:prstGeom prst="arc">
                <a:avLst>
                  <a:gd name="adj1" fmla="val 19423901"/>
                  <a:gd name="adj2" fmla="val 12943440"/>
                </a:avLst>
              </a:prstGeom>
              <a:ln w="1587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rgbClr val="376FFF"/>
              </a:lnRef>
              <a:fillRef idx="0">
                <a:srgbClr val="376FFF"/>
              </a:fillRef>
              <a:effectRef idx="0">
                <a:srgbClr val="376FFF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61" name="序号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37" y="4458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01</a:t>
                </a:r>
              </a:p>
            </p:txBody>
          </p:sp>
          <p:sp>
            <p:nvSpPr>
              <p:cNvPr id="77" name="序号"/>
              <p:cNvSpPr/>
              <p:nvPr>
                <p:custDataLst>
                  <p:tags r:id="rId20"/>
                </p:custDataLst>
              </p:nvPr>
            </p:nvSpPr>
            <p:spPr>
              <a:xfrm>
                <a:off x="7466" y="5397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03</a:t>
                </a:r>
              </a:p>
            </p:txBody>
          </p:sp>
          <p:sp>
            <p:nvSpPr>
              <p:cNvPr id="40" name="序号"/>
              <p:cNvSpPr/>
              <p:nvPr>
                <p:custDataLst>
                  <p:tags r:id="rId21"/>
                </p:custDataLst>
              </p:nvPr>
            </p:nvSpPr>
            <p:spPr>
              <a:xfrm>
                <a:off x="4230" y="5514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02</a:t>
                </a:r>
              </a:p>
            </p:txBody>
          </p:sp>
          <p:sp>
            <p:nvSpPr>
              <p:cNvPr id="43" name="序号"/>
              <p:cNvSpPr/>
              <p:nvPr>
                <p:custDataLst>
                  <p:tags r:id="rId22"/>
                </p:custDataLst>
              </p:nvPr>
            </p:nvSpPr>
            <p:spPr>
              <a:xfrm>
                <a:off x="10768" y="4944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04</a:t>
                </a:r>
              </a:p>
            </p:txBody>
          </p:sp>
          <p:sp>
            <p:nvSpPr>
              <p:cNvPr id="46" name="序号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916" y="3930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05</a:t>
                </a:r>
              </a:p>
            </p:txBody>
          </p:sp>
          <p:sp>
            <p:nvSpPr>
              <p:cNvPr id="2" name="序号"/>
              <p:cNvSpPr/>
              <p:nvPr>
                <p:custDataLst>
                  <p:tags r:id="rId24"/>
                </p:custDataLst>
              </p:nvPr>
            </p:nvSpPr>
            <p:spPr>
              <a:xfrm>
                <a:off x="16460" y="2313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06</a:t>
                </a:r>
              </a:p>
            </p:txBody>
          </p:sp>
        </p:grpSp>
        <p:sp>
          <p:nvSpPr>
            <p:cNvPr id="130" name="圆角矩形 74"/>
            <p:cNvSpPr/>
            <p:nvPr>
              <p:custDataLst>
                <p:tags r:id="rId4"/>
              </p:custDataLst>
            </p:nvPr>
          </p:nvSpPr>
          <p:spPr>
            <a:xfrm>
              <a:off x="801" y="8551"/>
              <a:ext cx="17751" cy="777"/>
            </a:xfrm>
            <a:prstGeom prst="roundRect">
              <a:avLst>
                <a:gd name="adj" fmla="val 10623"/>
              </a:avLst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755" tIns="36195" rIns="71755" bIns="36195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监管范式全面升级</a:t>
              </a:r>
            </a:p>
          </p:txBody>
        </p:sp>
        <p:sp>
          <p:nvSpPr>
            <p:cNvPr id="9" name="五边形 8"/>
            <p:cNvSpPr/>
            <p:nvPr>
              <p:custDataLst>
                <p:tags r:id="rId5"/>
              </p:custDataLst>
            </p:nvPr>
          </p:nvSpPr>
          <p:spPr>
            <a:xfrm rot="5400000" flipV="1">
              <a:off x="9301" y="7443"/>
              <a:ext cx="523" cy="1511"/>
            </a:xfrm>
            <a:prstGeom prst="homePlate">
              <a:avLst>
                <a:gd name="adj" fmla="val 10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lin ang="0" scaled="0"/>
            </a:gradFill>
            <a:ln w="9525" cap="flat" cmpd="sng" algn="ctr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>
              <a:outerShdw blurRad="475241" sx="107000" sy="107000" algn="ctr" rotWithShape="0">
                <a:srgbClr val="336FFF">
                  <a:alpha val="6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2400" kern="0">
                <a:solidFill>
                  <a:srgbClr val="000000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1" name="矩形 1"/>
            <p:cNvSpPr/>
            <p:nvPr>
              <p:custDataLst>
                <p:tags r:id="rId6"/>
              </p:custDataLst>
            </p:nvPr>
          </p:nvSpPr>
          <p:spPr>
            <a:xfrm>
              <a:off x="976" y="6434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事前识别、事中监测、事后复核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2" name="矩形 2"/>
            <p:cNvSpPr/>
            <p:nvPr>
              <p:custDataLst>
                <p:tags r:id="rId7"/>
              </p:custDataLst>
            </p:nvPr>
          </p:nvSpPr>
          <p:spPr>
            <a:xfrm>
              <a:off x="976" y="5611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监管时点</a:t>
              </a:r>
            </a:p>
          </p:txBody>
        </p:sp>
        <p:sp>
          <p:nvSpPr>
            <p:cNvPr id="19" name="矩形 1"/>
            <p:cNvSpPr/>
            <p:nvPr>
              <p:custDataLst>
                <p:tags r:id="rId8"/>
              </p:custDataLst>
            </p:nvPr>
          </p:nvSpPr>
          <p:spPr>
            <a:xfrm>
              <a:off x="3925" y="7328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主体、合同、项目、资金与关系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0" name="矩形 2"/>
            <p:cNvSpPr/>
            <p:nvPr>
              <p:custDataLst>
                <p:tags r:id="rId9"/>
              </p:custDataLst>
            </p:nvPr>
          </p:nvSpPr>
          <p:spPr>
            <a:xfrm>
              <a:off x="3925" y="6505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监管对象</a:t>
              </a:r>
            </a:p>
          </p:txBody>
        </p:sp>
        <p:sp>
          <p:nvSpPr>
            <p:cNvPr id="21" name="矩形 1"/>
            <p:cNvSpPr/>
            <p:nvPr>
              <p:custDataLst>
                <p:tags r:id="rId10"/>
              </p:custDataLst>
            </p:nvPr>
          </p:nvSpPr>
          <p:spPr>
            <a:xfrm>
              <a:off x="7085" y="7192"/>
              <a:ext cx="3221" cy="821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事件触发、自动预警、在线派单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2" name="矩形 2"/>
            <p:cNvSpPr/>
            <p:nvPr>
              <p:custDataLst>
                <p:tags r:id="rId11"/>
              </p:custDataLst>
            </p:nvPr>
          </p:nvSpPr>
          <p:spPr>
            <a:xfrm>
              <a:off x="7085" y="636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运行方式</a:t>
              </a:r>
            </a:p>
          </p:txBody>
        </p:sp>
        <p:sp>
          <p:nvSpPr>
            <p:cNvPr id="23" name="矩形 1"/>
            <p:cNvSpPr/>
            <p:nvPr>
              <p:custDataLst>
                <p:tags r:id="rId12"/>
              </p:custDataLst>
            </p:nvPr>
          </p:nvSpPr>
          <p:spPr>
            <a:xfrm>
              <a:off x="10145" y="6712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解释原因、影响与责任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4" name="矩形 2"/>
            <p:cNvSpPr/>
            <p:nvPr>
              <p:custDataLst>
                <p:tags r:id="rId13"/>
              </p:custDataLst>
            </p:nvPr>
          </p:nvSpPr>
          <p:spPr>
            <a:xfrm>
              <a:off x="10145" y="588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管理结果</a:t>
              </a:r>
            </a:p>
          </p:txBody>
        </p:sp>
        <p:sp>
          <p:nvSpPr>
            <p:cNvPr id="25" name="矩形 1"/>
            <p:cNvSpPr/>
            <p:nvPr>
              <p:custDataLst>
                <p:tags r:id="rId14"/>
              </p:custDataLst>
            </p:nvPr>
          </p:nvSpPr>
          <p:spPr>
            <a:xfrm>
              <a:off x="13171" y="6064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识别、研判、整改与复核在线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8" name="矩形 2"/>
            <p:cNvSpPr/>
            <p:nvPr>
              <p:custDataLst>
                <p:tags r:id="rId15"/>
              </p:custDataLst>
            </p:nvPr>
          </p:nvSpPr>
          <p:spPr>
            <a:xfrm>
              <a:off x="13171" y="5241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lvl="0" algn="l" defTabSz="264160" hangingPunct="0">
                <a:buClrTx/>
                <a:buSzTx/>
                <a:buFontTx/>
              </a:pPr>
              <a:r>
                <a:rPr lang="zh-CN" altLang="en-US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持续闭环</a:t>
              </a:r>
            </a:p>
          </p:txBody>
        </p:sp>
        <p:sp>
          <p:nvSpPr>
            <p:cNvPr id="29" name="矩形 1"/>
            <p:cNvSpPr/>
            <p:nvPr>
              <p:custDataLst>
                <p:tags r:id="rId16"/>
              </p:custDataLst>
            </p:nvPr>
          </p:nvSpPr>
          <p:spPr>
            <a:xfrm>
              <a:off x="15451" y="4552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处置结果反哺阈值与模型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0" name="矩形 2"/>
            <p:cNvSpPr/>
            <p:nvPr>
              <p:custDataLst>
                <p:tags r:id="rId17"/>
              </p:custDataLst>
            </p:nvPr>
          </p:nvSpPr>
          <p:spPr>
            <a:xfrm>
              <a:off x="15451" y="372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lvl="0" algn="l" defTabSz="264160" hangingPunct="0">
                <a:buClrTx/>
                <a:buSzTx/>
                <a:buFontTx/>
              </a:pPr>
              <a:r>
                <a:rPr lang="zh-CN" altLang="en-US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规则优化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07987" y="4219313"/>
            <a:ext cx="11375371" cy="702088"/>
            <a:chOff x="988127" y="5312141"/>
            <a:chExt cx="10215746" cy="702088"/>
          </a:xfrm>
        </p:grpSpPr>
        <p:sp>
          <p:nvSpPr>
            <p:cNvPr id="15" name="梯形 14"/>
            <p:cNvSpPr/>
            <p:nvPr/>
          </p:nvSpPr>
          <p:spPr>
            <a:xfrm>
              <a:off x="988127" y="5312141"/>
              <a:ext cx="10215746" cy="630087"/>
            </a:xfrm>
            <a:prstGeom prst="trapezoid">
              <a:avLst>
                <a:gd name="adj" fmla="val 61701"/>
              </a:avLst>
            </a:prstGeom>
            <a:noFill/>
            <a:ln w="12700">
              <a:gradFill>
                <a:gsLst>
                  <a:gs pos="2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88421" y="5942229"/>
              <a:ext cx="10215160" cy="720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07987" y="5734215"/>
            <a:ext cx="11375371" cy="702088"/>
            <a:chOff x="988127" y="5312141"/>
            <a:chExt cx="10215746" cy="702088"/>
          </a:xfrm>
        </p:grpSpPr>
        <p:sp>
          <p:nvSpPr>
            <p:cNvPr id="11" name="梯形 10"/>
            <p:cNvSpPr/>
            <p:nvPr/>
          </p:nvSpPr>
          <p:spPr>
            <a:xfrm>
              <a:off x="988127" y="5312141"/>
              <a:ext cx="10215746" cy="630087"/>
            </a:xfrm>
            <a:prstGeom prst="trapezoid">
              <a:avLst>
                <a:gd name="adj" fmla="val 61701"/>
              </a:avLst>
            </a:prstGeom>
            <a:noFill/>
            <a:ln w="12700">
              <a:gradFill>
                <a:gsLst>
                  <a:gs pos="2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988421" y="5942229"/>
              <a:ext cx="10215160" cy="720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国资国企穿透式监管应用总体架构</a:t>
            </a:r>
          </a:p>
        </p:txBody>
      </p:sp>
      <p:sp>
        <p:nvSpPr>
          <p:cNvPr id="16" name="梯形 15"/>
          <p:cNvSpPr/>
          <p:nvPr/>
        </p:nvSpPr>
        <p:spPr>
          <a:xfrm>
            <a:off x="407989" y="1071645"/>
            <a:ext cx="11375044" cy="789556"/>
          </a:xfrm>
          <a:prstGeom prst="trapezoid">
            <a:avLst>
              <a:gd name="adj" fmla="val 55395"/>
            </a:avLst>
          </a:prstGeom>
          <a:solidFill>
            <a:schemeClr val="bg1"/>
          </a:solidFill>
          <a:ln w="95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ctr"/>
          <a:lstStyle/>
          <a:p>
            <a:pPr algn="ctr">
              <a:lnSpc>
                <a:spcPct val="120000"/>
              </a:lnSpc>
            </a:pPr>
            <a:r>
              <a:rPr kumimoji="1" lang="en-US" altLang="zh-CN" b="1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rPr>
              <a:t>统一监管应用体系</a:t>
            </a:r>
          </a:p>
          <a:p>
            <a:pPr algn="ctr">
              <a:lnSpc>
                <a:spcPct val="120000"/>
              </a:lnSpc>
            </a:pPr>
            <a:r>
              <a:rPr kumimoji="1" lang="zh-CN" altLang="en-US" sz="1400" b="1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</a:rPr>
              <a:t>业务穿透   |   风险闭环   |   数据可信</a:t>
            </a:r>
          </a:p>
        </p:txBody>
      </p:sp>
      <p:grpSp>
        <p:nvGrpSpPr>
          <p:cNvPr id="185" name="组合 184"/>
          <p:cNvGrpSpPr/>
          <p:nvPr/>
        </p:nvGrpSpPr>
        <p:grpSpPr>
          <a:xfrm>
            <a:off x="751903" y="1989257"/>
            <a:ext cx="10689176" cy="1400615"/>
            <a:chOff x="751903" y="1989257"/>
            <a:chExt cx="10689176" cy="1400615"/>
          </a:xfrm>
        </p:grpSpPr>
        <p:sp>
          <p:nvSpPr>
            <p:cNvPr id="17" name="圆角矩形 16"/>
            <p:cNvSpPr/>
            <p:nvPr/>
          </p:nvSpPr>
          <p:spPr>
            <a:xfrm>
              <a:off x="751903" y="1989257"/>
              <a:ext cx="864000" cy="1400615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03999" rtlCol="0" anchor="ctr"/>
            <a:lstStyle/>
            <a:p>
              <a:pPr algn="ctr"/>
              <a:r>
                <a:rPr kumimoji="1" lang="zh-CN" altLang="en-US" sz="1600" b="1" dirty="0">
                  <a:solidFill>
                    <a:schemeClr val="accent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应用</a:t>
              </a: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717673" y="1989257"/>
              <a:ext cx="3888000" cy="1400615"/>
              <a:chOff x="1813740" y="1989257"/>
              <a:chExt cx="3274837" cy="1400615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1813740" y="1989257"/>
                <a:ext cx="3274837" cy="1400615"/>
                <a:chOff x="1813740" y="1989257"/>
                <a:chExt cx="3274837" cy="1400615"/>
              </a:xfrm>
            </p:grpSpPr>
            <p:sp>
              <p:nvSpPr>
                <p:cNvPr id="18" name="圆角矩形 17"/>
                <p:cNvSpPr/>
                <p:nvPr/>
              </p:nvSpPr>
              <p:spPr>
                <a:xfrm>
                  <a:off x="1813740" y="1989257"/>
                  <a:ext cx="3274837" cy="1400615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/>
                </a:solidFill>
                <a:ln w="9525">
                  <a:noFill/>
                  <a:prstDash val="dash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kumimoji="1" lang="zh-CN" altLang="en-US" sz="1400" b="1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决策监管</a:t>
                  </a:r>
                </a:p>
              </p:txBody>
            </p:sp>
            <p:cxnSp>
              <p:nvCxnSpPr>
                <p:cNvPr id="28" name="直线连接符 27"/>
                <p:cNvCxnSpPr/>
                <p:nvPr/>
              </p:nvCxnSpPr>
              <p:spPr>
                <a:xfrm>
                  <a:off x="2287913" y="2145832"/>
                  <a:ext cx="864000" cy="0"/>
                </a:xfrm>
                <a:prstGeom prst="line">
                  <a:avLst/>
                </a:prstGeom>
                <a:ln w="1270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0"/>
                  </a:gra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线连接符 30"/>
                <p:cNvCxnSpPr/>
                <p:nvPr/>
              </p:nvCxnSpPr>
              <p:spPr>
                <a:xfrm flipH="1">
                  <a:off x="3711162" y="2145832"/>
                  <a:ext cx="864000" cy="0"/>
                </a:xfrm>
                <a:prstGeom prst="line">
                  <a:avLst/>
                </a:prstGeom>
                <a:ln w="1270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0"/>
                  </a:gra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" name="组合 32"/>
              <p:cNvGrpSpPr/>
              <p:nvPr/>
            </p:nvGrpSpPr>
            <p:grpSpPr>
              <a:xfrm>
                <a:off x="1937652" y="2308222"/>
                <a:ext cx="3014312" cy="986642"/>
                <a:chOff x="1937652" y="2308222"/>
                <a:chExt cx="3014312" cy="986642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1937652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监管驾驶舱</a:t>
                  </a:r>
                </a:p>
              </p:txBody>
            </p:sp>
            <p:sp>
              <p:nvSpPr>
                <p:cNvPr id="20" name="圆角矩形 19"/>
                <p:cNvSpPr/>
                <p:nvPr/>
              </p:nvSpPr>
              <p:spPr>
                <a:xfrm>
                  <a:off x="2958808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监管态势</a:t>
                  </a:r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3979964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风险地图</a:t>
                  </a:r>
                </a:p>
              </p:txBody>
            </p:sp>
            <p:sp>
              <p:nvSpPr>
                <p:cNvPr id="22" name="圆角矩形 21"/>
                <p:cNvSpPr/>
                <p:nvPr/>
              </p:nvSpPr>
              <p:spPr>
                <a:xfrm>
                  <a:off x="1937652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重点企业</a:t>
                  </a:r>
                </a:p>
              </p:txBody>
            </p:sp>
            <p:sp>
              <p:nvSpPr>
                <p:cNvPr id="23" name="圆角矩形 22"/>
                <p:cNvSpPr/>
                <p:nvPr/>
              </p:nvSpPr>
              <p:spPr>
                <a:xfrm>
                  <a:off x="2958808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穿透查询</a:t>
                  </a:r>
                </a:p>
              </p:txBody>
            </p:sp>
            <p:sp>
              <p:nvSpPr>
                <p:cNvPr id="24" name="圆角矩形 23"/>
                <p:cNvSpPr/>
                <p:nvPr/>
              </p:nvSpPr>
              <p:spPr>
                <a:xfrm>
                  <a:off x="3979964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监管报告</a:t>
                  </a:r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937652" y="3006864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专项分析</a:t>
                  </a:r>
                </a:p>
              </p:txBody>
            </p:sp>
            <p:sp>
              <p:nvSpPr>
                <p:cNvPr id="26" name="圆角矩形 25"/>
                <p:cNvSpPr/>
                <p:nvPr/>
              </p:nvSpPr>
              <p:spPr>
                <a:xfrm>
                  <a:off x="2958808" y="3006864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领导督办</a:t>
                  </a:r>
                </a:p>
              </p:txBody>
            </p:sp>
            <p:sp>
              <p:nvSpPr>
                <p:cNvPr id="27" name="圆角矩形 26"/>
                <p:cNvSpPr/>
                <p:nvPr/>
              </p:nvSpPr>
              <p:spPr>
                <a:xfrm>
                  <a:off x="3979964" y="3006864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决策支持</a:t>
                  </a:r>
                </a:p>
              </p:txBody>
            </p:sp>
          </p:grpSp>
        </p:grpSp>
        <p:grpSp>
          <p:nvGrpSpPr>
            <p:cNvPr id="35" name="组合 34"/>
            <p:cNvGrpSpPr/>
            <p:nvPr/>
          </p:nvGrpSpPr>
          <p:grpSpPr>
            <a:xfrm>
              <a:off x="5702707" y="1989257"/>
              <a:ext cx="3888000" cy="1400615"/>
              <a:chOff x="1813740" y="1989257"/>
              <a:chExt cx="3274837" cy="1400615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1813740" y="1989257"/>
                <a:ext cx="3274837" cy="1400615"/>
                <a:chOff x="1813740" y="1989257"/>
                <a:chExt cx="3274837" cy="1400615"/>
              </a:xfrm>
            </p:grpSpPr>
            <p:sp>
              <p:nvSpPr>
                <p:cNvPr id="47" name="圆角矩形 46"/>
                <p:cNvSpPr/>
                <p:nvPr/>
              </p:nvSpPr>
              <p:spPr>
                <a:xfrm>
                  <a:off x="1813740" y="1989257"/>
                  <a:ext cx="3274837" cy="1400615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bg2"/>
                </a:solidFill>
                <a:ln w="9525">
                  <a:noFill/>
                  <a:prstDash val="dash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kumimoji="1" lang="zh-CN" altLang="en-US" sz="1400" b="1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业务监管</a:t>
                  </a:r>
                </a:p>
              </p:txBody>
            </p:sp>
            <p:cxnSp>
              <p:nvCxnSpPr>
                <p:cNvPr id="48" name="直线连接符 47"/>
                <p:cNvCxnSpPr/>
                <p:nvPr/>
              </p:nvCxnSpPr>
              <p:spPr>
                <a:xfrm>
                  <a:off x="2287913" y="2145832"/>
                  <a:ext cx="864000" cy="0"/>
                </a:xfrm>
                <a:prstGeom prst="line">
                  <a:avLst/>
                </a:prstGeom>
                <a:ln w="1270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0"/>
                  </a:gra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线连接符 48"/>
                <p:cNvCxnSpPr/>
                <p:nvPr/>
              </p:nvCxnSpPr>
              <p:spPr>
                <a:xfrm flipH="1">
                  <a:off x="3711162" y="2145832"/>
                  <a:ext cx="864000" cy="0"/>
                </a:xfrm>
                <a:prstGeom prst="line">
                  <a:avLst/>
                </a:prstGeom>
                <a:ln w="12700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0" scaled="0"/>
                  </a:gra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" name="组合 36"/>
              <p:cNvGrpSpPr/>
              <p:nvPr/>
            </p:nvGrpSpPr>
            <p:grpSpPr>
              <a:xfrm>
                <a:off x="1937652" y="2308222"/>
                <a:ext cx="3014312" cy="986642"/>
                <a:chOff x="1937652" y="2308222"/>
                <a:chExt cx="3014312" cy="986642"/>
              </a:xfrm>
            </p:grpSpPr>
            <p:sp>
              <p:nvSpPr>
                <p:cNvPr id="38" name="圆角矩形 37"/>
                <p:cNvSpPr/>
                <p:nvPr/>
              </p:nvSpPr>
              <p:spPr>
                <a:xfrm>
                  <a:off x="1937652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财务监管</a:t>
                  </a:r>
                </a:p>
              </p:txBody>
            </p:sp>
            <p:sp>
              <p:nvSpPr>
                <p:cNvPr id="39" name="圆角矩形 38"/>
                <p:cNvSpPr/>
                <p:nvPr/>
              </p:nvSpPr>
              <p:spPr>
                <a:xfrm>
                  <a:off x="2958808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采购监管</a:t>
                  </a:r>
                </a:p>
              </p:txBody>
            </p:sp>
            <p:sp>
              <p:nvSpPr>
                <p:cNvPr id="40" name="圆角矩形 39"/>
                <p:cNvSpPr/>
                <p:nvPr/>
              </p:nvSpPr>
              <p:spPr>
                <a:xfrm>
                  <a:off x="3979964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合同监管</a:t>
                  </a:r>
                </a:p>
              </p:txBody>
            </p:sp>
            <p:sp>
              <p:nvSpPr>
                <p:cNvPr id="41" name="圆角矩形 40"/>
                <p:cNvSpPr/>
                <p:nvPr/>
              </p:nvSpPr>
              <p:spPr>
                <a:xfrm>
                  <a:off x="1937652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投资监管</a:t>
                  </a:r>
                </a:p>
              </p:txBody>
            </p:sp>
            <p:sp>
              <p:nvSpPr>
                <p:cNvPr id="42" name="圆角矩形 41"/>
                <p:cNvSpPr/>
                <p:nvPr/>
              </p:nvSpPr>
              <p:spPr>
                <a:xfrm>
                  <a:off x="2958808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资产监管</a:t>
                  </a:r>
                </a:p>
              </p:txBody>
            </p:sp>
            <p:sp>
              <p:nvSpPr>
                <p:cNvPr id="43" name="圆角矩形 42"/>
                <p:cNvSpPr/>
                <p:nvPr/>
              </p:nvSpPr>
              <p:spPr>
                <a:xfrm>
                  <a:off x="3979964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司库监管</a:t>
                  </a:r>
                </a:p>
              </p:txBody>
            </p:sp>
            <p:sp>
              <p:nvSpPr>
                <p:cNvPr id="44" name="圆角矩形 43"/>
                <p:cNvSpPr/>
                <p:nvPr/>
              </p:nvSpPr>
              <p:spPr>
                <a:xfrm>
                  <a:off x="1937652" y="3006864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债务担保</a:t>
                  </a:r>
                </a:p>
              </p:txBody>
            </p:sp>
            <p:sp>
              <p:nvSpPr>
                <p:cNvPr id="45" name="圆角矩形 44"/>
                <p:cNvSpPr/>
                <p:nvPr/>
              </p:nvSpPr>
              <p:spPr>
                <a:xfrm>
                  <a:off x="2958808" y="3006864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境外监管</a:t>
                  </a:r>
                </a:p>
              </p:txBody>
            </p:sp>
          </p:grpSp>
        </p:grpSp>
        <p:grpSp>
          <p:nvGrpSpPr>
            <p:cNvPr id="50" name="组合 49"/>
            <p:cNvGrpSpPr/>
            <p:nvPr/>
          </p:nvGrpSpPr>
          <p:grpSpPr>
            <a:xfrm>
              <a:off x="9687741" y="1989257"/>
              <a:ext cx="1753338" cy="1400615"/>
              <a:chOff x="1813740" y="1989257"/>
              <a:chExt cx="1238983" cy="1400615"/>
            </a:xfrm>
          </p:grpSpPr>
          <p:sp>
            <p:nvSpPr>
              <p:cNvPr id="61" name="圆角矩形 60"/>
              <p:cNvSpPr/>
              <p:nvPr/>
            </p:nvSpPr>
            <p:spPr>
              <a:xfrm>
                <a:off x="1813740" y="1989257"/>
                <a:ext cx="1238983" cy="1400615"/>
              </a:xfrm>
              <a:prstGeom prst="roundRect">
                <a:avLst>
                  <a:gd name="adj" fmla="val 0"/>
                </a:avLst>
              </a:prstGeom>
              <a:solidFill>
                <a:schemeClr val="bg2"/>
              </a:solidFill>
              <a:ln w="9525">
                <a:noFill/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kumimoji="1" lang="zh-CN" altLang="en-US" sz="1400" b="1" dirty="0">
                    <a:solidFill>
                      <a:schemeClr val="tx2"/>
                    </a:solidFill>
                    <a:latin typeface="微软雅黑" panose="020B0502040204020203" pitchFamily="34" charset="-122"/>
                    <a:ea typeface="微软雅黑" panose="020B0502040204020203" pitchFamily="34" charset="-122"/>
                  </a:rPr>
                  <a:t>协同处置</a:t>
                </a: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937652" y="2308222"/>
                <a:ext cx="972000" cy="986642"/>
                <a:chOff x="1937652" y="2308222"/>
                <a:chExt cx="972000" cy="986642"/>
              </a:xfrm>
            </p:grpSpPr>
            <p:sp>
              <p:nvSpPr>
                <p:cNvPr id="53" name="圆角矩形 52"/>
                <p:cNvSpPr/>
                <p:nvPr/>
              </p:nvSpPr>
              <p:spPr>
                <a:xfrm>
                  <a:off x="1937652" y="2308222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监管工作台</a:t>
                  </a:r>
                </a:p>
              </p:txBody>
            </p:sp>
            <p:sp>
              <p:nvSpPr>
                <p:cNvPr id="56" name="圆角矩形 55"/>
                <p:cNvSpPr/>
                <p:nvPr/>
              </p:nvSpPr>
              <p:spPr>
                <a:xfrm>
                  <a:off x="1937652" y="2657543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整改复核</a:t>
                  </a:r>
                </a:p>
              </p:txBody>
            </p:sp>
            <p:sp>
              <p:nvSpPr>
                <p:cNvPr id="59" name="圆角矩形 58"/>
                <p:cNvSpPr/>
                <p:nvPr/>
              </p:nvSpPr>
              <p:spPr>
                <a:xfrm>
                  <a:off x="1937652" y="3006864"/>
                  <a:ext cx="972000" cy="288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9525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kumimoji="1" lang="zh-CN" altLang="en-US" sz="1050" dirty="0">
                      <a:solidFill>
                        <a:schemeClr val="tx2"/>
                      </a:solidFill>
                      <a:latin typeface="微软雅黑" panose="020B0502040204020203" pitchFamily="34" charset="-122"/>
                      <a:ea typeface="微软雅黑" panose="020B0502040204020203" pitchFamily="34" charset="-122"/>
                    </a:rPr>
                    <a:t>配置门户</a:t>
                  </a:r>
                </a:p>
              </p:txBody>
            </p:sp>
          </p:grpSp>
        </p:grpSp>
        <p:pic>
          <p:nvPicPr>
            <p:cNvPr id="64" name="图片 123" descr="基础-应用市场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03903" y="2363304"/>
              <a:ext cx="360000" cy="360000"/>
            </a:xfrm>
            <a:prstGeom prst="rect">
              <a:avLst/>
            </a:prstGeom>
            <a:effectLst>
              <a:outerShdw blurRad="190500" dist="63500" dir="5400000" sx="90000" sy="90000" algn="t" rotWithShape="0">
                <a:schemeClr val="accent1">
                  <a:alpha val="19915"/>
                </a:schemeClr>
              </a:outerShdw>
            </a:effectLst>
          </p:spPr>
        </p:pic>
      </p:grpSp>
      <p:grpSp>
        <p:nvGrpSpPr>
          <p:cNvPr id="184" name="组合 183"/>
          <p:cNvGrpSpPr/>
          <p:nvPr/>
        </p:nvGrpSpPr>
        <p:grpSpPr>
          <a:xfrm>
            <a:off x="751903" y="3505823"/>
            <a:ext cx="10689174" cy="1209014"/>
            <a:chOff x="751903" y="3505823"/>
            <a:chExt cx="10689174" cy="1209014"/>
          </a:xfrm>
        </p:grpSpPr>
        <p:sp>
          <p:nvSpPr>
            <p:cNvPr id="65" name="圆角矩形 64"/>
            <p:cNvSpPr/>
            <p:nvPr/>
          </p:nvSpPr>
          <p:spPr>
            <a:xfrm>
              <a:off x="751903" y="3505823"/>
              <a:ext cx="864000" cy="120901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  <a:effectLst>
              <a:outerShdw blurRad="190500" dist="63500" dir="5400000" sx="90000" sy="90000" algn="t" rotWithShape="0">
                <a:schemeClr val="accent1">
                  <a:alpha val="1991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03999" rtlCol="0" anchor="ctr"/>
            <a:lstStyle/>
            <a:p>
              <a:pPr algn="ctr"/>
              <a:r>
                <a:rPr kumimoji="1" lang="zh-CN" altLang="en-US" sz="1600" b="1" dirty="0">
                  <a:solidFill>
                    <a:schemeClr val="accent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能力</a:t>
              </a:r>
            </a:p>
          </p:txBody>
        </p:sp>
        <p:sp>
          <p:nvSpPr>
            <p:cNvPr id="79" name="圆角矩形 78"/>
            <p:cNvSpPr/>
            <p:nvPr/>
          </p:nvSpPr>
          <p:spPr>
            <a:xfrm>
              <a:off x="1717672" y="3505823"/>
              <a:ext cx="9723405" cy="557372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36000" bIns="36000" rtlCol="0" anchor="ctr"/>
            <a:lstStyle/>
            <a:p>
              <a:r>
                <a:rPr kumimoji="1" lang="zh-CN" altLang="en-US" sz="1400" b="1" dirty="0">
                  <a:solidFill>
                    <a:schemeClr val="accent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平台核心能力</a:t>
              </a: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3272840" y="3754150"/>
              <a:ext cx="482660" cy="251437"/>
              <a:chOff x="4271399" y="5065273"/>
              <a:chExt cx="482660" cy="251437"/>
            </a:xfrm>
          </p:grpSpPr>
          <p:sp>
            <p:nvSpPr>
              <p:cNvPr id="87" name="菱形 86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84" name="菱形 83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本体</a:t>
                </a:r>
                <a:endParaRPr lang="zh-CN" altLang="en-US" sz="11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>
              <a:off x="4445621" y="3754150"/>
              <a:ext cx="482660" cy="251437"/>
              <a:chOff x="4271399" y="5065273"/>
              <a:chExt cx="482660" cy="251437"/>
            </a:xfrm>
          </p:grpSpPr>
          <p:sp>
            <p:nvSpPr>
              <p:cNvPr id="90" name="菱形 89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91" name="菱形 90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映射</a:t>
                </a:r>
                <a:endParaRPr lang="zh-CN" altLang="en-US" sz="11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5618402" y="3754150"/>
              <a:ext cx="482660" cy="251437"/>
              <a:chOff x="4271399" y="5065273"/>
              <a:chExt cx="482660" cy="251437"/>
            </a:xfrm>
          </p:grpSpPr>
          <p:sp>
            <p:nvSpPr>
              <p:cNvPr id="93" name="菱形 92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94" name="菱形 93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图谱</a:t>
                </a:r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>
              <a:off x="6791183" y="3754150"/>
              <a:ext cx="482660" cy="251437"/>
              <a:chOff x="4271399" y="5065273"/>
              <a:chExt cx="482660" cy="251437"/>
            </a:xfrm>
          </p:grpSpPr>
          <p:sp>
            <p:nvSpPr>
              <p:cNvPr id="96" name="菱形 95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97" name="菱形 96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规则</a:t>
                </a: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7963964" y="3754150"/>
              <a:ext cx="482660" cy="251437"/>
              <a:chOff x="4271399" y="5065273"/>
              <a:chExt cx="482660" cy="251437"/>
            </a:xfrm>
          </p:grpSpPr>
          <p:sp>
            <p:nvSpPr>
              <p:cNvPr id="99" name="菱形 98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0" name="菱形 99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证据</a:t>
                </a:r>
                <a:endParaRPr lang="zh-CN" altLang="en-US" sz="11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9136745" y="3754150"/>
              <a:ext cx="482660" cy="251437"/>
              <a:chOff x="4271399" y="5065273"/>
              <a:chExt cx="482660" cy="251437"/>
            </a:xfrm>
          </p:grpSpPr>
          <p:sp>
            <p:nvSpPr>
              <p:cNvPr id="102" name="菱形 101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3" name="菱形 102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研判</a:t>
                </a:r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10309523" y="3754150"/>
              <a:ext cx="482660" cy="251437"/>
              <a:chOff x="4271399" y="5065273"/>
              <a:chExt cx="482660" cy="251437"/>
            </a:xfrm>
          </p:grpSpPr>
          <p:sp>
            <p:nvSpPr>
              <p:cNvPr id="105" name="菱形 104"/>
              <p:cNvSpPr/>
              <p:nvPr/>
            </p:nvSpPr>
            <p:spPr>
              <a:xfrm>
                <a:off x="4271399" y="5136710"/>
                <a:ext cx="482660" cy="180000"/>
              </a:xfrm>
              <a:prstGeom prst="diamond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endParaRPr lang="zh-CN" altLang="en-US" sz="9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06" name="菱形 105"/>
              <p:cNvSpPr/>
              <p:nvPr/>
            </p:nvSpPr>
            <p:spPr>
              <a:xfrm>
                <a:off x="4271399" y="5065273"/>
                <a:ext cx="482660" cy="180000"/>
              </a:xfrm>
              <a:prstGeom prst="diamond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isometricOffAxis1Top">
                  <a:rot lat="0" lon="0" rev="0"/>
                </a:camera>
                <a:lightRig rig="contrasting" dir="t">
                  <a:rot lat="0" lon="0" rev="0"/>
                </a:lightRig>
              </a:scene3d>
              <a:sp3d extrusionH="152400" contourW="25400" prstMaterial="plastic">
                <a:bevelT w="0" h="38100"/>
                <a:extrusionClr>
                  <a:schemeClr val="accent1"/>
                </a:extrusionClr>
                <a:contourClr>
                  <a:schemeClr val="bg1"/>
                </a:contour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43548" tIns="21774" rIns="43548" bIns="216000" numCol="1" spcCol="0" rtlCol="0" fromWordArt="0" anchor="b" anchorCtr="0" forceAA="0" compatLnSpc="1">
                <a:no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AI</a:t>
                </a:r>
              </a:p>
            </p:txBody>
          </p:sp>
        </p:grpSp>
        <p:sp>
          <p:nvSpPr>
            <p:cNvPr id="107" name="圆角矩形 106"/>
            <p:cNvSpPr/>
            <p:nvPr/>
          </p:nvSpPr>
          <p:spPr>
            <a:xfrm>
              <a:off x="1717672" y="4157464"/>
              <a:ext cx="1588727" cy="557372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 w="9525">
              <a:noFill/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36000" bIns="36000" rtlCol="0" anchor="ctr"/>
            <a:lstStyle/>
            <a:p>
              <a:r>
                <a:rPr kumimoji="1" lang="zh-CN" altLang="en-US" sz="1400" b="1" dirty="0">
                  <a:solidFill>
                    <a:schemeClr val="accent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数据与技术底座</a:t>
              </a:r>
            </a:p>
          </p:txBody>
        </p:sp>
        <p:sp>
          <p:nvSpPr>
            <p:cNvPr id="7" name="圆柱体 6"/>
            <p:cNvSpPr/>
            <p:nvPr/>
          </p:nvSpPr>
          <p:spPr>
            <a:xfrm>
              <a:off x="3514170" y="4236694"/>
              <a:ext cx="1800000" cy="398913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接口网关</a:t>
              </a:r>
            </a:p>
          </p:txBody>
        </p:sp>
        <p:sp>
          <p:nvSpPr>
            <p:cNvPr id="108" name="圆柱体 107"/>
            <p:cNvSpPr/>
            <p:nvPr/>
          </p:nvSpPr>
          <p:spPr>
            <a:xfrm>
              <a:off x="5556472" y="4236694"/>
              <a:ext cx="1800000" cy="398913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湖仓平台</a:t>
              </a:r>
            </a:p>
          </p:txBody>
        </p:sp>
        <p:sp>
          <p:nvSpPr>
            <p:cNvPr id="109" name="圆柱体 108"/>
            <p:cNvSpPr/>
            <p:nvPr/>
          </p:nvSpPr>
          <p:spPr>
            <a:xfrm>
              <a:off x="7598774" y="4236694"/>
              <a:ext cx="1800000" cy="398913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图数据库</a:t>
              </a:r>
            </a:p>
          </p:txBody>
        </p:sp>
        <p:sp>
          <p:nvSpPr>
            <p:cNvPr id="110" name="圆柱体 109"/>
            <p:cNvSpPr/>
            <p:nvPr/>
          </p:nvSpPr>
          <p:spPr>
            <a:xfrm>
              <a:off x="9641077" y="4236694"/>
              <a:ext cx="1800000" cy="398913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云原生底座</a:t>
              </a:r>
            </a:p>
          </p:txBody>
        </p:sp>
        <p:pic>
          <p:nvPicPr>
            <p:cNvPr id="113" name="图片 40" descr="安全-数据安全流通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03903" y="3783690"/>
              <a:ext cx="360000" cy="360000"/>
            </a:xfrm>
            <a:prstGeom prst="rect">
              <a:avLst/>
            </a:prstGeom>
            <a:effectLst/>
          </p:spPr>
        </p:pic>
      </p:grpSp>
      <p:grpSp>
        <p:nvGrpSpPr>
          <p:cNvPr id="183" name="组合 182"/>
          <p:cNvGrpSpPr/>
          <p:nvPr/>
        </p:nvGrpSpPr>
        <p:grpSpPr>
          <a:xfrm>
            <a:off x="751903" y="5042088"/>
            <a:ext cx="10510198" cy="1188505"/>
            <a:chOff x="751903" y="5042088"/>
            <a:chExt cx="10510198" cy="1188505"/>
          </a:xfrm>
        </p:grpSpPr>
        <p:sp>
          <p:nvSpPr>
            <p:cNvPr id="114" name="圆角矩形 113"/>
            <p:cNvSpPr/>
            <p:nvPr/>
          </p:nvSpPr>
          <p:spPr>
            <a:xfrm>
              <a:off x="751903" y="5042088"/>
              <a:ext cx="864000" cy="109201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952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  <a:effectLst>
              <a:outerShdw blurRad="190500" dist="63500" dir="5400000" sx="90000" sy="90000" algn="t" rotWithShape="0">
                <a:schemeClr val="accent1">
                  <a:alpha val="1991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503999" rtlCol="0" anchor="ctr"/>
            <a:lstStyle/>
            <a:p>
              <a:pPr algn="ctr"/>
              <a:r>
                <a:rPr kumimoji="1" lang="zh-CN" altLang="en-US" sz="1600" b="1" dirty="0">
                  <a:solidFill>
                    <a:schemeClr val="accent1"/>
                  </a:solidFill>
                  <a:latin typeface="微软雅黑" panose="020B0502040204020203" pitchFamily="34" charset="-122"/>
                  <a:ea typeface="微软雅黑" panose="020B0502040204020203" pitchFamily="34" charset="-122"/>
                </a:rPr>
                <a:t>保障</a:t>
              </a:r>
            </a:p>
          </p:txBody>
        </p:sp>
        <p:pic>
          <p:nvPicPr>
            <p:cNvPr id="111" name="图片 15" descr="大数据-创新空间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03903" y="5317405"/>
              <a:ext cx="360000" cy="360000"/>
            </a:xfrm>
            <a:prstGeom prst="rect">
              <a:avLst/>
            </a:prstGeom>
            <a:effectLst>
              <a:outerShdw blurRad="190500" dist="63500" dir="5400000" sx="90000" sy="90000" algn="t" rotWithShape="0">
                <a:schemeClr val="accent1">
                  <a:alpha val="19915"/>
                </a:schemeClr>
              </a:outerShdw>
            </a:effectLst>
          </p:spPr>
        </p:pic>
        <p:grpSp>
          <p:nvGrpSpPr>
            <p:cNvPr id="135" name="组合 134"/>
            <p:cNvGrpSpPr/>
            <p:nvPr/>
          </p:nvGrpSpPr>
          <p:grpSpPr>
            <a:xfrm>
              <a:off x="2702858" y="5123434"/>
              <a:ext cx="1679517" cy="1107159"/>
              <a:chOff x="1664118" y="5123434"/>
              <a:chExt cx="1679517" cy="1107159"/>
            </a:xfrm>
          </p:grpSpPr>
          <p:sp>
            <p:nvSpPr>
              <p:cNvPr id="118" name="椭圆 117"/>
              <p:cNvSpPr/>
              <p:nvPr/>
            </p:nvSpPr>
            <p:spPr>
              <a:xfrm>
                <a:off x="2104703" y="5432247"/>
                <a:ext cx="798348" cy="7983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6350">
                <a:noFill/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2206073" y="5543499"/>
                <a:ext cx="590600" cy="5906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1800000" scaled="0"/>
                <a:tileRect/>
              </a:gradFill>
              <a:ln w="38100">
                <a:noFill/>
              </a:ln>
              <a:effectLst>
                <a:outerShdw blurRad="254000" dist="50800" dir="5400000" sx="108000" sy="108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8755" tIns="49378" rIns="98755" bIns="49378" rtlCol="0" anchor="ctr"/>
              <a:lstStyle/>
              <a:p>
                <a:pPr algn="ctr"/>
                <a:r>
                  <a:rPr lang="zh-CN" altLang="en-US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组织机制</a:t>
                </a:r>
                <a:br>
                  <a:rPr lang="en-US" altLang="zh-CN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</a:br>
                <a:endParaRPr lang="zh-CN" altLang="en-US" sz="11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grpSp>
            <p:nvGrpSpPr>
              <p:cNvPr id="123" name="组合 122"/>
              <p:cNvGrpSpPr/>
              <p:nvPr/>
            </p:nvGrpSpPr>
            <p:grpSpPr>
              <a:xfrm>
                <a:off x="2708117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24" name="椭圆 123"/>
                <p:cNvSpPr/>
                <p:nvPr>
                  <p:custDataLst>
                    <p:tags r:id="rId12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25" name="椭圆 124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26" name="文本框 125"/>
              <p:cNvSpPr txBox="1"/>
              <p:nvPr/>
            </p:nvSpPr>
            <p:spPr>
              <a:xfrm>
                <a:off x="2632610" y="5260385"/>
                <a:ext cx="711025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权责清单</a:t>
                </a:r>
              </a:p>
            </p:txBody>
          </p:sp>
          <p:grpSp>
            <p:nvGrpSpPr>
              <p:cNvPr id="127" name="组合 126"/>
              <p:cNvGrpSpPr/>
              <p:nvPr/>
            </p:nvGrpSpPr>
            <p:grpSpPr>
              <a:xfrm>
                <a:off x="2443238" y="5382610"/>
                <a:ext cx="85936" cy="85936"/>
                <a:chOff x="7455208" y="2172067"/>
                <a:chExt cx="85936" cy="85936"/>
              </a:xfrm>
            </p:grpSpPr>
            <p:sp>
              <p:nvSpPr>
                <p:cNvPr id="128" name="椭圆 127"/>
                <p:cNvSpPr/>
                <p:nvPr>
                  <p:custDataLst>
                    <p:tags r:id="rId11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29" name="椭圆 128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grpSp>
            <p:nvGrpSpPr>
              <p:cNvPr id="130" name="组合 129"/>
              <p:cNvGrpSpPr/>
              <p:nvPr/>
            </p:nvGrpSpPr>
            <p:grpSpPr>
              <a:xfrm>
                <a:off x="2190906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31" name="椭圆 130"/>
                <p:cNvSpPr/>
                <p:nvPr>
                  <p:custDataLst>
                    <p:tags r:id="rId10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32" name="椭圆 131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33" name="文本框 132"/>
              <p:cNvSpPr txBox="1"/>
              <p:nvPr/>
            </p:nvSpPr>
            <p:spPr>
              <a:xfrm>
                <a:off x="2168752" y="5123434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监管协同</a:t>
                </a:r>
              </a:p>
            </p:txBody>
          </p:sp>
          <p:sp>
            <p:nvSpPr>
              <p:cNvPr id="134" name="文本框 133"/>
              <p:cNvSpPr txBox="1"/>
              <p:nvPr/>
            </p:nvSpPr>
            <p:spPr>
              <a:xfrm>
                <a:off x="1664118" y="5276477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分级处置</a:t>
                </a:r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4742731" y="5123434"/>
              <a:ext cx="1679517" cy="1107159"/>
              <a:chOff x="1664118" y="5123434"/>
              <a:chExt cx="1679517" cy="1107159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2104703" y="5432247"/>
                <a:ext cx="798348" cy="7983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6350">
                <a:noFill/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2206073" y="5543499"/>
                <a:ext cx="590600" cy="5906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1800000" scaled="0"/>
                <a:tileRect/>
              </a:gradFill>
              <a:ln w="38100">
                <a:noFill/>
              </a:ln>
              <a:effectLst>
                <a:outerShdw blurRad="254000" dist="50800" dir="5400000" sx="108000" sy="108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8755" tIns="49378" rIns="98755" bIns="49378" rtlCol="0" anchor="ctr"/>
              <a:lstStyle/>
              <a:p>
                <a:pPr algn="ctr"/>
                <a:r>
                  <a:rPr lang="zh-CN" altLang="en-US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制度标准</a:t>
                </a:r>
                <a:br>
                  <a:rPr lang="en-US" altLang="zh-CN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</a:br>
                <a:endParaRPr lang="zh-CN" altLang="en-US" sz="11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grpSp>
            <p:nvGrpSpPr>
              <p:cNvPr id="139" name="组合 138"/>
              <p:cNvGrpSpPr/>
              <p:nvPr/>
            </p:nvGrpSpPr>
            <p:grpSpPr>
              <a:xfrm>
                <a:off x="2708117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49" name="椭圆 148"/>
                <p:cNvSpPr/>
                <p:nvPr>
                  <p:custDataLst>
                    <p:tags r:id="rId9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50" name="椭圆 149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40" name="文本框 139"/>
              <p:cNvSpPr txBox="1"/>
              <p:nvPr/>
            </p:nvSpPr>
            <p:spPr>
              <a:xfrm>
                <a:off x="2632610" y="5260385"/>
                <a:ext cx="711025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指标标准</a:t>
                </a:r>
              </a:p>
            </p:txBody>
          </p:sp>
          <p:grpSp>
            <p:nvGrpSpPr>
              <p:cNvPr id="141" name="组合 140"/>
              <p:cNvGrpSpPr/>
              <p:nvPr/>
            </p:nvGrpSpPr>
            <p:grpSpPr>
              <a:xfrm>
                <a:off x="2443238" y="5382610"/>
                <a:ext cx="85936" cy="85936"/>
                <a:chOff x="7455208" y="2172067"/>
                <a:chExt cx="85936" cy="85936"/>
              </a:xfrm>
            </p:grpSpPr>
            <p:sp>
              <p:nvSpPr>
                <p:cNvPr id="147" name="椭圆 146"/>
                <p:cNvSpPr/>
                <p:nvPr>
                  <p:custDataLst>
                    <p:tags r:id="rId8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48" name="椭圆 147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grpSp>
            <p:nvGrpSpPr>
              <p:cNvPr id="142" name="组合 141"/>
              <p:cNvGrpSpPr/>
              <p:nvPr/>
            </p:nvGrpSpPr>
            <p:grpSpPr>
              <a:xfrm>
                <a:off x="2190906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45" name="椭圆 144"/>
                <p:cNvSpPr/>
                <p:nvPr>
                  <p:custDataLst>
                    <p:tags r:id="rId7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46" name="椭圆 145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43" name="文本框 142"/>
              <p:cNvSpPr txBox="1"/>
              <p:nvPr/>
            </p:nvSpPr>
            <p:spPr>
              <a:xfrm>
                <a:off x="2168752" y="5123434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规则制度</a:t>
                </a:r>
              </a:p>
            </p:txBody>
          </p:sp>
          <p:sp>
            <p:nvSpPr>
              <p:cNvPr id="144" name="文本框 143"/>
              <p:cNvSpPr txBox="1"/>
              <p:nvPr/>
            </p:nvSpPr>
            <p:spPr>
              <a:xfrm>
                <a:off x="1664118" y="5276477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证据规范</a:t>
                </a: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6782604" y="5123434"/>
              <a:ext cx="1679517" cy="1107159"/>
              <a:chOff x="1664118" y="5123434"/>
              <a:chExt cx="1679517" cy="1107159"/>
            </a:xfrm>
          </p:grpSpPr>
          <p:sp>
            <p:nvSpPr>
              <p:cNvPr id="152" name="椭圆 151"/>
              <p:cNvSpPr/>
              <p:nvPr/>
            </p:nvSpPr>
            <p:spPr>
              <a:xfrm>
                <a:off x="2104703" y="5432247"/>
                <a:ext cx="798348" cy="7983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6350">
                <a:noFill/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>
                <a:off x="2206073" y="5543499"/>
                <a:ext cx="590600" cy="5906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1800000" scaled="0"/>
                <a:tileRect/>
              </a:gradFill>
              <a:ln w="38100">
                <a:noFill/>
              </a:ln>
              <a:effectLst>
                <a:outerShdw blurRad="254000" dist="50800" dir="5400000" sx="108000" sy="108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8755" tIns="49378" rIns="98755" bIns="49378" rtlCol="0" anchor="ctr"/>
              <a:lstStyle/>
              <a:p>
                <a:pPr algn="ctr"/>
                <a:r>
                  <a:rPr lang="zh-CN" altLang="en-US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安全体系</a:t>
                </a:r>
              </a:p>
            </p:txBody>
          </p:sp>
          <p:grpSp>
            <p:nvGrpSpPr>
              <p:cNvPr id="154" name="组合 153"/>
              <p:cNvGrpSpPr/>
              <p:nvPr/>
            </p:nvGrpSpPr>
            <p:grpSpPr>
              <a:xfrm>
                <a:off x="2708117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64" name="椭圆 163"/>
                <p:cNvSpPr/>
                <p:nvPr>
                  <p:custDataLst>
                    <p:tags r:id="rId6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65" name="椭圆 164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55" name="文本框 154"/>
              <p:cNvSpPr txBox="1"/>
              <p:nvPr/>
            </p:nvSpPr>
            <p:spPr>
              <a:xfrm>
                <a:off x="2632610" y="5260385"/>
                <a:ext cx="711025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身份认证</a:t>
                </a:r>
              </a:p>
            </p:txBody>
          </p:sp>
          <p:grpSp>
            <p:nvGrpSpPr>
              <p:cNvPr id="156" name="组合 155"/>
              <p:cNvGrpSpPr/>
              <p:nvPr/>
            </p:nvGrpSpPr>
            <p:grpSpPr>
              <a:xfrm>
                <a:off x="2443238" y="5382610"/>
                <a:ext cx="85936" cy="85936"/>
                <a:chOff x="7455208" y="2172067"/>
                <a:chExt cx="85936" cy="85936"/>
              </a:xfrm>
            </p:grpSpPr>
            <p:sp>
              <p:nvSpPr>
                <p:cNvPr id="162" name="椭圆 161"/>
                <p:cNvSpPr/>
                <p:nvPr>
                  <p:custDataLst>
                    <p:tags r:id="rId5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63" name="椭圆 162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grpSp>
            <p:nvGrpSpPr>
              <p:cNvPr id="157" name="组合 156"/>
              <p:cNvGrpSpPr/>
              <p:nvPr/>
            </p:nvGrpSpPr>
            <p:grpSpPr>
              <a:xfrm>
                <a:off x="2190906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60" name="椭圆 159"/>
                <p:cNvSpPr/>
                <p:nvPr>
                  <p:custDataLst>
                    <p:tags r:id="rId4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61" name="椭圆 160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58" name="文本框 157"/>
              <p:cNvSpPr txBox="1"/>
              <p:nvPr/>
            </p:nvSpPr>
            <p:spPr>
              <a:xfrm>
                <a:off x="2168752" y="5123434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数据权限</a:t>
                </a:r>
              </a:p>
            </p:txBody>
          </p:sp>
          <p:sp>
            <p:nvSpPr>
              <p:cNvPr id="159" name="文本框 158"/>
              <p:cNvSpPr txBox="1"/>
              <p:nvPr/>
            </p:nvSpPr>
            <p:spPr>
              <a:xfrm>
                <a:off x="1664118" y="5276477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安全审计</a:t>
                </a: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8822476" y="5123434"/>
              <a:ext cx="1679517" cy="1107159"/>
              <a:chOff x="1664118" y="5123434"/>
              <a:chExt cx="1679517" cy="1107159"/>
            </a:xfrm>
          </p:grpSpPr>
          <p:sp>
            <p:nvSpPr>
              <p:cNvPr id="167" name="椭圆 166"/>
              <p:cNvSpPr/>
              <p:nvPr/>
            </p:nvSpPr>
            <p:spPr>
              <a:xfrm>
                <a:off x="2104703" y="5432247"/>
                <a:ext cx="798348" cy="7983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  <a:alpha val="50000"/>
                </a:schemeClr>
              </a:solidFill>
              <a:ln w="6350">
                <a:noFill/>
                <a:prstDash val="dash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8755" tIns="49378" rIns="98755" bIns="49378" rtlCol="0" anchor="ctr"/>
              <a:lstStyle/>
              <a:p>
                <a:pPr algn="ctr"/>
                <a:endParaRPr lang="zh-CN" altLang="en-US" sz="1945">
                  <a:solidFill>
                    <a:schemeClr val="bg1"/>
                  </a:solidFill>
                  <a:effectLst>
                    <a:outerShdw blurRad="137160" dist="41148" dir="2699997" algn="tl">
                      <a:srgbClr val="000000">
                        <a:alpha val="40000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68" name="椭圆 167"/>
              <p:cNvSpPr/>
              <p:nvPr/>
            </p:nvSpPr>
            <p:spPr>
              <a:xfrm>
                <a:off x="2206073" y="5543499"/>
                <a:ext cx="590600" cy="5906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1800000" scaled="0"/>
                <a:tileRect/>
              </a:gradFill>
              <a:ln w="38100">
                <a:noFill/>
              </a:ln>
              <a:effectLst>
                <a:outerShdw blurRad="254000" dist="50800" dir="5400000" sx="108000" sy="108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8755" tIns="49378" rIns="98755" bIns="49378" rtlCol="0" anchor="ctr"/>
              <a:lstStyle/>
              <a:p>
                <a:pPr algn="ctr"/>
                <a:r>
                  <a:rPr lang="zh-CN" altLang="en-US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运营体系</a:t>
                </a:r>
                <a:br>
                  <a:rPr lang="en-US" altLang="zh-CN" sz="11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</a:br>
                <a:endParaRPr lang="zh-CN" altLang="en-US" sz="11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grpSp>
            <p:nvGrpSpPr>
              <p:cNvPr id="169" name="组合 168"/>
              <p:cNvGrpSpPr/>
              <p:nvPr/>
            </p:nvGrpSpPr>
            <p:grpSpPr>
              <a:xfrm>
                <a:off x="2708117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79" name="椭圆 178"/>
                <p:cNvSpPr/>
                <p:nvPr>
                  <p:custDataLst>
                    <p:tags r:id="rId3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80" name="椭圆 179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70" name="文本框 169"/>
              <p:cNvSpPr txBox="1"/>
              <p:nvPr/>
            </p:nvSpPr>
            <p:spPr>
              <a:xfrm>
                <a:off x="2632610" y="5260385"/>
                <a:ext cx="711025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版本管理</a:t>
                </a:r>
              </a:p>
            </p:txBody>
          </p:sp>
          <p:grpSp>
            <p:nvGrpSpPr>
              <p:cNvPr id="171" name="组合 170"/>
              <p:cNvGrpSpPr/>
              <p:nvPr/>
            </p:nvGrpSpPr>
            <p:grpSpPr>
              <a:xfrm>
                <a:off x="2443238" y="5382610"/>
                <a:ext cx="85936" cy="85936"/>
                <a:chOff x="7455208" y="2172067"/>
                <a:chExt cx="85936" cy="85936"/>
              </a:xfrm>
            </p:grpSpPr>
            <p:sp>
              <p:nvSpPr>
                <p:cNvPr id="177" name="椭圆 176"/>
                <p:cNvSpPr/>
                <p:nvPr>
                  <p:custDataLst>
                    <p:tags r:id="rId2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78" name="椭圆 177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grpSp>
            <p:nvGrpSpPr>
              <p:cNvPr id="172" name="组合 171"/>
              <p:cNvGrpSpPr/>
              <p:nvPr/>
            </p:nvGrpSpPr>
            <p:grpSpPr>
              <a:xfrm>
                <a:off x="2190906" y="5472914"/>
                <a:ext cx="85936" cy="85936"/>
                <a:chOff x="7455208" y="2172067"/>
                <a:chExt cx="85936" cy="85936"/>
              </a:xfrm>
            </p:grpSpPr>
            <p:sp>
              <p:nvSpPr>
                <p:cNvPr id="175" name="椭圆 174"/>
                <p:cNvSpPr/>
                <p:nvPr>
                  <p:custDataLst>
                    <p:tags r:id="rId1"/>
                  </p:custDataLst>
                </p:nvPr>
              </p:nvSpPr>
              <p:spPr>
                <a:xfrm flipH="1">
                  <a:off x="7455208" y="2172067"/>
                  <a:ext cx="85936" cy="85936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137160" algn="ctr" rotWithShape="0">
                    <a:schemeClr val="accent6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176" name="椭圆 175"/>
                <p:cNvSpPr/>
                <p:nvPr/>
              </p:nvSpPr>
              <p:spPr>
                <a:xfrm flipH="1">
                  <a:off x="7478736" y="2195595"/>
                  <a:ext cx="38880" cy="3888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8755" tIns="49378" rIns="98755" bIns="49378" rtlCol="0" anchor="ctr"/>
                <a:lstStyle/>
                <a:p>
                  <a:pPr algn="ctr"/>
                  <a:endParaRPr lang="zh-CN" altLang="en-US" sz="1945" b="1"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  <p:sp>
            <p:nvSpPr>
              <p:cNvPr id="173" name="文本框 172"/>
              <p:cNvSpPr txBox="1"/>
              <p:nvPr/>
            </p:nvSpPr>
            <p:spPr>
              <a:xfrm>
                <a:off x="2006835" y="5123434"/>
                <a:ext cx="997622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效果评估</a:t>
                </a:r>
              </a:p>
            </p:txBody>
          </p:sp>
          <p:sp>
            <p:nvSpPr>
              <p:cNvPr id="174" name="文本框 173"/>
              <p:cNvSpPr txBox="1"/>
              <p:nvPr/>
            </p:nvSpPr>
            <p:spPr>
              <a:xfrm>
                <a:off x="1664118" y="5276477"/>
                <a:ext cx="673788" cy="2273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kumimoji="0" sz="1400" b="0" u="none" strike="noStrike" cap="none" spc="0" normalizeH="0" baseline="0">
                    <a:ln>
                      <a:noFill/>
                    </a:ln>
                    <a:solidFill>
                      <a:srgbClr val="FFFFFF">
                        <a:lumMod val="50000"/>
                      </a:srgbClr>
                    </a:solidFill>
                    <a:effectLst/>
                    <a:uLnTx/>
                    <a:uFillTx/>
                    <a:latin typeface="思源黑体 CN Normal" panose="020B0600000000000000" charset="-122"/>
                    <a:ea typeface="思源黑体 CN Normal" panose="020B0600000000000000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800" dirty="0">
                    <a:solidFill>
                      <a:schemeClr val="bg2">
                        <a:lumMod val="50000"/>
                      </a:schemeClr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持续优化</a:t>
                </a:r>
              </a:p>
            </p:txBody>
          </p:sp>
        </p:grpSp>
        <p:sp>
          <p:nvSpPr>
            <p:cNvPr id="181" name="箭头: 上 26"/>
            <p:cNvSpPr/>
            <p:nvPr/>
          </p:nvSpPr>
          <p:spPr>
            <a:xfrm rot="1195465">
              <a:off x="1985736" y="5089532"/>
              <a:ext cx="463191" cy="1071571"/>
            </a:xfrm>
            <a:custGeom>
              <a:avLst/>
              <a:gdLst>
                <a:gd name="connsiteX0" fmla="*/ 0 w 846384"/>
                <a:gd name="connsiteY0" fmla="*/ 423192 h 1696315"/>
                <a:gd name="connsiteX1" fmla="*/ 423192 w 846384"/>
                <a:gd name="connsiteY1" fmla="*/ 0 h 1696315"/>
                <a:gd name="connsiteX2" fmla="*/ 846384 w 846384"/>
                <a:gd name="connsiteY2" fmla="*/ 423192 h 1696315"/>
                <a:gd name="connsiteX3" fmla="*/ 634788 w 846384"/>
                <a:gd name="connsiteY3" fmla="*/ 423192 h 1696315"/>
                <a:gd name="connsiteX4" fmla="*/ 634788 w 846384"/>
                <a:gd name="connsiteY4" fmla="*/ 1696315 h 1696315"/>
                <a:gd name="connsiteX5" fmla="*/ 211596 w 846384"/>
                <a:gd name="connsiteY5" fmla="*/ 1696315 h 1696315"/>
                <a:gd name="connsiteX6" fmla="*/ 211596 w 846384"/>
                <a:gd name="connsiteY6" fmla="*/ 423192 h 1696315"/>
                <a:gd name="connsiteX7" fmla="*/ 0 w 846384"/>
                <a:gd name="connsiteY7" fmla="*/ 423192 h 1696315"/>
                <a:gd name="connsiteX0-1" fmla="*/ 0 w 846384"/>
                <a:gd name="connsiteY0-2" fmla="*/ 435957 h 1709080"/>
                <a:gd name="connsiteX1-3" fmla="*/ 415201 w 846384"/>
                <a:gd name="connsiteY1-4" fmla="*/ 0 h 1709080"/>
                <a:gd name="connsiteX2-5" fmla="*/ 846384 w 846384"/>
                <a:gd name="connsiteY2-6" fmla="*/ 435957 h 1709080"/>
                <a:gd name="connsiteX3-7" fmla="*/ 634788 w 846384"/>
                <a:gd name="connsiteY3-8" fmla="*/ 435957 h 1709080"/>
                <a:gd name="connsiteX4-9" fmla="*/ 634788 w 846384"/>
                <a:gd name="connsiteY4-10" fmla="*/ 1709080 h 1709080"/>
                <a:gd name="connsiteX5-11" fmla="*/ 211596 w 846384"/>
                <a:gd name="connsiteY5-12" fmla="*/ 1709080 h 1709080"/>
                <a:gd name="connsiteX6-13" fmla="*/ 211596 w 846384"/>
                <a:gd name="connsiteY6-14" fmla="*/ 435957 h 1709080"/>
                <a:gd name="connsiteX7-15" fmla="*/ 0 w 846384"/>
                <a:gd name="connsiteY7-16" fmla="*/ 435957 h 1709080"/>
                <a:gd name="connsiteX0-17" fmla="*/ 0 w 765454"/>
                <a:gd name="connsiteY0-18" fmla="*/ 435957 h 1709080"/>
                <a:gd name="connsiteX1-19" fmla="*/ 415201 w 765454"/>
                <a:gd name="connsiteY1-20" fmla="*/ 0 h 1709080"/>
                <a:gd name="connsiteX2-21" fmla="*/ 765454 w 765454"/>
                <a:gd name="connsiteY2-22" fmla="*/ 445754 h 1709080"/>
                <a:gd name="connsiteX3-23" fmla="*/ 634788 w 765454"/>
                <a:gd name="connsiteY3-24" fmla="*/ 435957 h 1709080"/>
                <a:gd name="connsiteX4-25" fmla="*/ 634788 w 765454"/>
                <a:gd name="connsiteY4-26" fmla="*/ 1709080 h 1709080"/>
                <a:gd name="connsiteX5-27" fmla="*/ 211596 w 765454"/>
                <a:gd name="connsiteY5-28" fmla="*/ 1709080 h 1709080"/>
                <a:gd name="connsiteX6-29" fmla="*/ 211596 w 765454"/>
                <a:gd name="connsiteY6-30" fmla="*/ 435957 h 1709080"/>
                <a:gd name="connsiteX7-31" fmla="*/ 0 w 765454"/>
                <a:gd name="connsiteY7-32" fmla="*/ 435957 h 1709080"/>
                <a:gd name="connsiteX0-33" fmla="*/ 0 w 765454"/>
                <a:gd name="connsiteY0-34" fmla="*/ 435957 h 1709080"/>
                <a:gd name="connsiteX1-35" fmla="*/ 415201 w 765454"/>
                <a:gd name="connsiteY1-36" fmla="*/ 0 h 1709080"/>
                <a:gd name="connsiteX2-37" fmla="*/ 765454 w 765454"/>
                <a:gd name="connsiteY2-38" fmla="*/ 445754 h 1709080"/>
                <a:gd name="connsiteX3-39" fmla="*/ 619148 w 765454"/>
                <a:gd name="connsiteY3-40" fmla="*/ 442194 h 1709080"/>
                <a:gd name="connsiteX4-41" fmla="*/ 634788 w 765454"/>
                <a:gd name="connsiteY4-42" fmla="*/ 1709080 h 1709080"/>
                <a:gd name="connsiteX5-43" fmla="*/ 211596 w 765454"/>
                <a:gd name="connsiteY5-44" fmla="*/ 1709080 h 1709080"/>
                <a:gd name="connsiteX6-45" fmla="*/ 211596 w 765454"/>
                <a:gd name="connsiteY6-46" fmla="*/ 435957 h 1709080"/>
                <a:gd name="connsiteX7-47" fmla="*/ 0 w 765454"/>
                <a:gd name="connsiteY7-48" fmla="*/ 435957 h 1709080"/>
                <a:gd name="connsiteX0-49" fmla="*/ 0 w 763067"/>
                <a:gd name="connsiteY0-50" fmla="*/ 435957 h 1709080"/>
                <a:gd name="connsiteX1-51" fmla="*/ 415201 w 763067"/>
                <a:gd name="connsiteY1-52" fmla="*/ 0 h 1709080"/>
                <a:gd name="connsiteX2-53" fmla="*/ 763067 w 763067"/>
                <a:gd name="connsiteY2-54" fmla="*/ 456132 h 1709080"/>
                <a:gd name="connsiteX3-55" fmla="*/ 619148 w 763067"/>
                <a:gd name="connsiteY3-56" fmla="*/ 442194 h 1709080"/>
                <a:gd name="connsiteX4-57" fmla="*/ 634788 w 763067"/>
                <a:gd name="connsiteY4-58" fmla="*/ 1709080 h 1709080"/>
                <a:gd name="connsiteX5-59" fmla="*/ 211596 w 763067"/>
                <a:gd name="connsiteY5-60" fmla="*/ 1709080 h 1709080"/>
                <a:gd name="connsiteX6-61" fmla="*/ 211596 w 763067"/>
                <a:gd name="connsiteY6-62" fmla="*/ 435957 h 1709080"/>
                <a:gd name="connsiteX7-63" fmla="*/ 0 w 763067"/>
                <a:gd name="connsiteY7-64" fmla="*/ 435957 h 1709080"/>
                <a:gd name="connsiteX0-65" fmla="*/ 0 w 761386"/>
                <a:gd name="connsiteY0-66" fmla="*/ 435957 h 1709080"/>
                <a:gd name="connsiteX1-67" fmla="*/ 415201 w 761386"/>
                <a:gd name="connsiteY1-68" fmla="*/ 0 h 1709080"/>
                <a:gd name="connsiteX2-69" fmla="*/ 761386 w 761386"/>
                <a:gd name="connsiteY2-70" fmla="*/ 449188 h 1709080"/>
                <a:gd name="connsiteX3-71" fmla="*/ 619148 w 761386"/>
                <a:gd name="connsiteY3-72" fmla="*/ 442194 h 1709080"/>
                <a:gd name="connsiteX4-73" fmla="*/ 634788 w 761386"/>
                <a:gd name="connsiteY4-74" fmla="*/ 1709080 h 1709080"/>
                <a:gd name="connsiteX5-75" fmla="*/ 211596 w 761386"/>
                <a:gd name="connsiteY5-76" fmla="*/ 1709080 h 1709080"/>
                <a:gd name="connsiteX6-77" fmla="*/ 211596 w 761386"/>
                <a:gd name="connsiteY6-78" fmla="*/ 435957 h 1709080"/>
                <a:gd name="connsiteX7-79" fmla="*/ 0 w 761386"/>
                <a:gd name="connsiteY7-80" fmla="*/ 435957 h 1709080"/>
                <a:gd name="connsiteX0-81" fmla="*/ 0 w 761386"/>
                <a:gd name="connsiteY0-82" fmla="*/ 435957 h 1709080"/>
                <a:gd name="connsiteX1-83" fmla="*/ 415201 w 761386"/>
                <a:gd name="connsiteY1-84" fmla="*/ 0 h 1709080"/>
                <a:gd name="connsiteX2-85" fmla="*/ 761386 w 761386"/>
                <a:gd name="connsiteY2-86" fmla="*/ 449188 h 1709080"/>
                <a:gd name="connsiteX3-87" fmla="*/ 618514 w 761386"/>
                <a:gd name="connsiteY3-88" fmla="*/ 449698 h 1709080"/>
                <a:gd name="connsiteX4-89" fmla="*/ 634788 w 761386"/>
                <a:gd name="connsiteY4-90" fmla="*/ 1709080 h 1709080"/>
                <a:gd name="connsiteX5-91" fmla="*/ 211596 w 761386"/>
                <a:gd name="connsiteY5-92" fmla="*/ 1709080 h 1709080"/>
                <a:gd name="connsiteX6-93" fmla="*/ 211596 w 761386"/>
                <a:gd name="connsiteY6-94" fmla="*/ 435957 h 1709080"/>
                <a:gd name="connsiteX7-95" fmla="*/ 0 w 761386"/>
                <a:gd name="connsiteY7-96" fmla="*/ 435957 h 1709080"/>
                <a:gd name="connsiteX0-97" fmla="*/ 0 w 740557"/>
                <a:gd name="connsiteY0-98" fmla="*/ 430912 h 1709080"/>
                <a:gd name="connsiteX1-99" fmla="*/ 394372 w 740557"/>
                <a:gd name="connsiteY1-100" fmla="*/ 0 h 1709080"/>
                <a:gd name="connsiteX2-101" fmla="*/ 740557 w 740557"/>
                <a:gd name="connsiteY2-102" fmla="*/ 449188 h 1709080"/>
                <a:gd name="connsiteX3-103" fmla="*/ 597685 w 740557"/>
                <a:gd name="connsiteY3-104" fmla="*/ 449698 h 1709080"/>
                <a:gd name="connsiteX4-105" fmla="*/ 613959 w 740557"/>
                <a:gd name="connsiteY4-106" fmla="*/ 1709080 h 1709080"/>
                <a:gd name="connsiteX5-107" fmla="*/ 190767 w 740557"/>
                <a:gd name="connsiteY5-108" fmla="*/ 1709080 h 1709080"/>
                <a:gd name="connsiteX6-109" fmla="*/ 190767 w 740557"/>
                <a:gd name="connsiteY6-110" fmla="*/ 435957 h 1709080"/>
                <a:gd name="connsiteX7-111" fmla="*/ 0 w 740557"/>
                <a:gd name="connsiteY7-112" fmla="*/ 430912 h 1709080"/>
                <a:gd name="connsiteX0-113" fmla="*/ 0 w 698899"/>
                <a:gd name="connsiteY0-114" fmla="*/ 420825 h 1709080"/>
                <a:gd name="connsiteX1-115" fmla="*/ 352714 w 698899"/>
                <a:gd name="connsiteY1-116" fmla="*/ 0 h 1709080"/>
                <a:gd name="connsiteX2-117" fmla="*/ 698899 w 698899"/>
                <a:gd name="connsiteY2-118" fmla="*/ 449188 h 1709080"/>
                <a:gd name="connsiteX3-119" fmla="*/ 556027 w 698899"/>
                <a:gd name="connsiteY3-120" fmla="*/ 449698 h 1709080"/>
                <a:gd name="connsiteX4-121" fmla="*/ 572301 w 698899"/>
                <a:gd name="connsiteY4-122" fmla="*/ 1709080 h 1709080"/>
                <a:gd name="connsiteX5-123" fmla="*/ 149109 w 698899"/>
                <a:gd name="connsiteY5-124" fmla="*/ 1709080 h 1709080"/>
                <a:gd name="connsiteX6-125" fmla="*/ 149109 w 698899"/>
                <a:gd name="connsiteY6-126" fmla="*/ 435957 h 1709080"/>
                <a:gd name="connsiteX7-127" fmla="*/ 0 w 698899"/>
                <a:gd name="connsiteY7-128" fmla="*/ 420825 h 1709080"/>
                <a:gd name="connsiteX0-129" fmla="*/ 0 w 742872"/>
                <a:gd name="connsiteY0-130" fmla="*/ 431473 h 1709080"/>
                <a:gd name="connsiteX1-131" fmla="*/ 396687 w 742872"/>
                <a:gd name="connsiteY1-132" fmla="*/ 0 h 1709080"/>
                <a:gd name="connsiteX2-133" fmla="*/ 742872 w 742872"/>
                <a:gd name="connsiteY2-134" fmla="*/ 449188 h 1709080"/>
                <a:gd name="connsiteX3-135" fmla="*/ 600000 w 742872"/>
                <a:gd name="connsiteY3-136" fmla="*/ 449698 h 1709080"/>
                <a:gd name="connsiteX4-137" fmla="*/ 616274 w 742872"/>
                <a:gd name="connsiteY4-138" fmla="*/ 1709080 h 1709080"/>
                <a:gd name="connsiteX5-139" fmla="*/ 193082 w 742872"/>
                <a:gd name="connsiteY5-140" fmla="*/ 1709080 h 1709080"/>
                <a:gd name="connsiteX6-141" fmla="*/ 193082 w 742872"/>
                <a:gd name="connsiteY6-142" fmla="*/ 435957 h 1709080"/>
                <a:gd name="connsiteX7-143" fmla="*/ 0 w 742872"/>
                <a:gd name="connsiteY7-144" fmla="*/ 431473 h 1709080"/>
                <a:gd name="connsiteX0-145" fmla="*/ 0 w 742872"/>
                <a:gd name="connsiteY0-146" fmla="*/ 431473 h 1709080"/>
                <a:gd name="connsiteX1-147" fmla="*/ 396687 w 742872"/>
                <a:gd name="connsiteY1-148" fmla="*/ 0 h 1709080"/>
                <a:gd name="connsiteX2-149" fmla="*/ 742872 w 742872"/>
                <a:gd name="connsiteY2-150" fmla="*/ 449188 h 1709080"/>
                <a:gd name="connsiteX3-151" fmla="*/ 600000 w 742872"/>
                <a:gd name="connsiteY3-152" fmla="*/ 449698 h 1709080"/>
                <a:gd name="connsiteX4-153" fmla="*/ 616274 w 742872"/>
                <a:gd name="connsiteY4-154" fmla="*/ 1709080 h 1709080"/>
                <a:gd name="connsiteX5-155" fmla="*/ 193082 w 742872"/>
                <a:gd name="connsiteY5-156" fmla="*/ 1709080 h 1709080"/>
                <a:gd name="connsiteX6-157" fmla="*/ 154371 w 742872"/>
                <a:gd name="connsiteY6-158" fmla="*/ 437980 h 1709080"/>
                <a:gd name="connsiteX7-159" fmla="*/ 0 w 742872"/>
                <a:gd name="connsiteY7-160" fmla="*/ 431473 h 1709080"/>
                <a:gd name="connsiteX0-161" fmla="*/ 0 w 1101086"/>
                <a:gd name="connsiteY0-162" fmla="*/ 431473 h 1709080"/>
                <a:gd name="connsiteX1-163" fmla="*/ 396687 w 1101086"/>
                <a:gd name="connsiteY1-164" fmla="*/ 0 h 1709080"/>
                <a:gd name="connsiteX2-165" fmla="*/ 742872 w 1101086"/>
                <a:gd name="connsiteY2-166" fmla="*/ 449188 h 1709080"/>
                <a:gd name="connsiteX3-167" fmla="*/ 600000 w 1101086"/>
                <a:gd name="connsiteY3-168" fmla="*/ 449698 h 1709080"/>
                <a:gd name="connsiteX4-169" fmla="*/ 1101086 w 1101086"/>
                <a:gd name="connsiteY4-170" fmla="*/ 1363824 h 1709080"/>
                <a:gd name="connsiteX5-171" fmla="*/ 193082 w 1101086"/>
                <a:gd name="connsiteY5-172" fmla="*/ 1709080 h 1709080"/>
                <a:gd name="connsiteX6-173" fmla="*/ 154371 w 1101086"/>
                <a:gd name="connsiteY6-174" fmla="*/ 437980 h 1709080"/>
                <a:gd name="connsiteX7-175" fmla="*/ 0 w 1101086"/>
                <a:gd name="connsiteY7-176" fmla="*/ 431473 h 1709080"/>
                <a:gd name="connsiteX0-177" fmla="*/ 0 w 1101086"/>
                <a:gd name="connsiteY0-178" fmla="*/ 431473 h 1630579"/>
                <a:gd name="connsiteX1-179" fmla="*/ 396687 w 1101086"/>
                <a:gd name="connsiteY1-180" fmla="*/ 0 h 1630579"/>
                <a:gd name="connsiteX2-181" fmla="*/ 742872 w 1101086"/>
                <a:gd name="connsiteY2-182" fmla="*/ 449188 h 1630579"/>
                <a:gd name="connsiteX3-183" fmla="*/ 600000 w 1101086"/>
                <a:gd name="connsiteY3-184" fmla="*/ 449698 h 1630579"/>
                <a:gd name="connsiteX4-185" fmla="*/ 1101086 w 1101086"/>
                <a:gd name="connsiteY4-186" fmla="*/ 1363824 h 1630579"/>
                <a:gd name="connsiteX5-187" fmla="*/ 355380 w 1101086"/>
                <a:gd name="connsiteY5-188" fmla="*/ 1630579 h 1630579"/>
                <a:gd name="connsiteX6-189" fmla="*/ 154371 w 1101086"/>
                <a:gd name="connsiteY6-190" fmla="*/ 437980 h 1630579"/>
                <a:gd name="connsiteX7-191" fmla="*/ 0 w 1101086"/>
                <a:gd name="connsiteY7-192" fmla="*/ 431473 h 1630579"/>
                <a:gd name="connsiteX0-193" fmla="*/ 0 w 1101086"/>
                <a:gd name="connsiteY0-194" fmla="*/ 431473 h 1682647"/>
                <a:gd name="connsiteX1-195" fmla="*/ 396687 w 1101086"/>
                <a:gd name="connsiteY1-196" fmla="*/ 0 h 1682647"/>
                <a:gd name="connsiteX2-197" fmla="*/ 742872 w 1101086"/>
                <a:gd name="connsiteY2-198" fmla="*/ 449188 h 1682647"/>
                <a:gd name="connsiteX3-199" fmla="*/ 600000 w 1101086"/>
                <a:gd name="connsiteY3-200" fmla="*/ 449698 h 1682647"/>
                <a:gd name="connsiteX4-201" fmla="*/ 1101086 w 1101086"/>
                <a:gd name="connsiteY4-202" fmla="*/ 1363824 h 1682647"/>
                <a:gd name="connsiteX5-203" fmla="*/ 211183 w 1101086"/>
                <a:gd name="connsiteY5-204" fmla="*/ 1682647 h 1682647"/>
                <a:gd name="connsiteX6-205" fmla="*/ 154371 w 1101086"/>
                <a:gd name="connsiteY6-206" fmla="*/ 437980 h 1682647"/>
                <a:gd name="connsiteX7-207" fmla="*/ 0 w 1101086"/>
                <a:gd name="connsiteY7-208" fmla="*/ 431473 h 1682647"/>
                <a:gd name="connsiteX0-209" fmla="*/ 0 w 1101086"/>
                <a:gd name="connsiteY0-210" fmla="*/ 431473 h 1682647"/>
                <a:gd name="connsiteX1-211" fmla="*/ 396687 w 1101086"/>
                <a:gd name="connsiteY1-212" fmla="*/ 0 h 1682647"/>
                <a:gd name="connsiteX2-213" fmla="*/ 742872 w 1101086"/>
                <a:gd name="connsiteY2-214" fmla="*/ 449188 h 1682647"/>
                <a:gd name="connsiteX3-215" fmla="*/ 600000 w 1101086"/>
                <a:gd name="connsiteY3-216" fmla="*/ 449698 h 1682647"/>
                <a:gd name="connsiteX4-217" fmla="*/ 1101086 w 1101086"/>
                <a:gd name="connsiteY4-218" fmla="*/ 1363824 h 1682647"/>
                <a:gd name="connsiteX5-219" fmla="*/ 211183 w 1101086"/>
                <a:gd name="connsiteY5-220" fmla="*/ 1682647 h 1682647"/>
                <a:gd name="connsiteX6-221" fmla="*/ 154371 w 1101086"/>
                <a:gd name="connsiteY6-222" fmla="*/ 437980 h 1682647"/>
                <a:gd name="connsiteX7-223" fmla="*/ 0 w 1101086"/>
                <a:gd name="connsiteY7-224" fmla="*/ 431473 h 1682647"/>
                <a:gd name="connsiteX0-225" fmla="*/ 0 w 1101086"/>
                <a:gd name="connsiteY0-226" fmla="*/ 431473 h 1682647"/>
                <a:gd name="connsiteX1-227" fmla="*/ 396687 w 1101086"/>
                <a:gd name="connsiteY1-228" fmla="*/ 0 h 1682647"/>
                <a:gd name="connsiteX2-229" fmla="*/ 742872 w 1101086"/>
                <a:gd name="connsiteY2-230" fmla="*/ 449188 h 1682647"/>
                <a:gd name="connsiteX3-231" fmla="*/ 600000 w 1101086"/>
                <a:gd name="connsiteY3-232" fmla="*/ 449698 h 1682647"/>
                <a:gd name="connsiteX4-233" fmla="*/ 1101086 w 1101086"/>
                <a:gd name="connsiteY4-234" fmla="*/ 1363824 h 1682647"/>
                <a:gd name="connsiteX5-235" fmla="*/ 211183 w 1101086"/>
                <a:gd name="connsiteY5-236" fmla="*/ 1682647 h 1682647"/>
                <a:gd name="connsiteX6-237" fmla="*/ 154371 w 1101086"/>
                <a:gd name="connsiteY6-238" fmla="*/ 437980 h 1682647"/>
                <a:gd name="connsiteX7-239" fmla="*/ 0 w 1101086"/>
                <a:gd name="connsiteY7-240" fmla="*/ 431473 h 1682647"/>
                <a:gd name="connsiteX0-241" fmla="*/ 0 w 1101086"/>
                <a:gd name="connsiteY0-242" fmla="*/ 431473 h 1682647"/>
                <a:gd name="connsiteX1-243" fmla="*/ 396687 w 1101086"/>
                <a:gd name="connsiteY1-244" fmla="*/ 0 h 1682647"/>
                <a:gd name="connsiteX2-245" fmla="*/ 742872 w 1101086"/>
                <a:gd name="connsiteY2-246" fmla="*/ 449188 h 1682647"/>
                <a:gd name="connsiteX3-247" fmla="*/ 600000 w 1101086"/>
                <a:gd name="connsiteY3-248" fmla="*/ 449698 h 1682647"/>
                <a:gd name="connsiteX4-249" fmla="*/ 1101086 w 1101086"/>
                <a:gd name="connsiteY4-250" fmla="*/ 1363824 h 1682647"/>
                <a:gd name="connsiteX5-251" fmla="*/ 211183 w 1101086"/>
                <a:gd name="connsiteY5-252" fmla="*/ 1682647 h 1682647"/>
                <a:gd name="connsiteX6-253" fmla="*/ 154371 w 1101086"/>
                <a:gd name="connsiteY6-254" fmla="*/ 437980 h 1682647"/>
                <a:gd name="connsiteX7-255" fmla="*/ 0 w 1101086"/>
                <a:gd name="connsiteY7-256" fmla="*/ 431473 h 1682647"/>
                <a:gd name="connsiteX0-257" fmla="*/ 0 w 1101086"/>
                <a:gd name="connsiteY0-258" fmla="*/ 431473 h 1682647"/>
                <a:gd name="connsiteX1-259" fmla="*/ 396687 w 1101086"/>
                <a:gd name="connsiteY1-260" fmla="*/ 0 h 1682647"/>
                <a:gd name="connsiteX2-261" fmla="*/ 742872 w 1101086"/>
                <a:gd name="connsiteY2-262" fmla="*/ 449188 h 1682647"/>
                <a:gd name="connsiteX3-263" fmla="*/ 600000 w 1101086"/>
                <a:gd name="connsiteY3-264" fmla="*/ 449698 h 1682647"/>
                <a:gd name="connsiteX4-265" fmla="*/ 1101086 w 1101086"/>
                <a:gd name="connsiteY4-266" fmla="*/ 1363824 h 1682647"/>
                <a:gd name="connsiteX5-267" fmla="*/ 211183 w 1101086"/>
                <a:gd name="connsiteY5-268" fmla="*/ 1682647 h 1682647"/>
                <a:gd name="connsiteX6-269" fmla="*/ 154371 w 1101086"/>
                <a:gd name="connsiteY6-270" fmla="*/ 437980 h 1682647"/>
                <a:gd name="connsiteX7-271" fmla="*/ 0 w 1101086"/>
                <a:gd name="connsiteY7-272" fmla="*/ 431473 h 1682647"/>
                <a:gd name="connsiteX0-273" fmla="*/ 0 w 1101086"/>
                <a:gd name="connsiteY0-274" fmla="*/ 431473 h 1682647"/>
                <a:gd name="connsiteX1-275" fmla="*/ 396687 w 1101086"/>
                <a:gd name="connsiteY1-276" fmla="*/ 0 h 1682647"/>
                <a:gd name="connsiteX2-277" fmla="*/ 742872 w 1101086"/>
                <a:gd name="connsiteY2-278" fmla="*/ 449188 h 1682647"/>
                <a:gd name="connsiteX3-279" fmla="*/ 600000 w 1101086"/>
                <a:gd name="connsiteY3-280" fmla="*/ 449698 h 1682647"/>
                <a:gd name="connsiteX4-281" fmla="*/ 1101086 w 1101086"/>
                <a:gd name="connsiteY4-282" fmla="*/ 1363824 h 1682647"/>
                <a:gd name="connsiteX5-283" fmla="*/ 211183 w 1101086"/>
                <a:gd name="connsiteY5-284" fmla="*/ 1682647 h 1682647"/>
                <a:gd name="connsiteX6-285" fmla="*/ 154371 w 1101086"/>
                <a:gd name="connsiteY6-286" fmla="*/ 437980 h 1682647"/>
                <a:gd name="connsiteX7-287" fmla="*/ 0 w 1101086"/>
                <a:gd name="connsiteY7-288" fmla="*/ 431473 h 1682647"/>
                <a:gd name="connsiteX0-289" fmla="*/ 0 w 1101086"/>
                <a:gd name="connsiteY0-290" fmla="*/ 431473 h 1682647"/>
                <a:gd name="connsiteX1-291" fmla="*/ 396687 w 1101086"/>
                <a:gd name="connsiteY1-292" fmla="*/ 0 h 1682647"/>
                <a:gd name="connsiteX2-293" fmla="*/ 742872 w 1101086"/>
                <a:gd name="connsiteY2-294" fmla="*/ 449188 h 1682647"/>
                <a:gd name="connsiteX3-295" fmla="*/ 600000 w 1101086"/>
                <a:gd name="connsiteY3-296" fmla="*/ 449698 h 1682647"/>
                <a:gd name="connsiteX4-297" fmla="*/ 1101086 w 1101086"/>
                <a:gd name="connsiteY4-298" fmla="*/ 1363824 h 1682647"/>
                <a:gd name="connsiteX5-299" fmla="*/ 211183 w 1101086"/>
                <a:gd name="connsiteY5-300" fmla="*/ 1682647 h 1682647"/>
                <a:gd name="connsiteX6-301" fmla="*/ 154371 w 1101086"/>
                <a:gd name="connsiteY6-302" fmla="*/ 437980 h 1682647"/>
                <a:gd name="connsiteX7-303" fmla="*/ 0 w 1101086"/>
                <a:gd name="connsiteY7-304" fmla="*/ 431473 h 1682647"/>
                <a:gd name="connsiteX0-305" fmla="*/ 0 w 877005"/>
                <a:gd name="connsiteY0-306" fmla="*/ 431473 h 1682647"/>
                <a:gd name="connsiteX1-307" fmla="*/ 396687 w 877005"/>
                <a:gd name="connsiteY1-308" fmla="*/ 0 h 1682647"/>
                <a:gd name="connsiteX2-309" fmla="*/ 742872 w 877005"/>
                <a:gd name="connsiteY2-310" fmla="*/ 449188 h 1682647"/>
                <a:gd name="connsiteX3-311" fmla="*/ 600000 w 877005"/>
                <a:gd name="connsiteY3-312" fmla="*/ 449698 h 1682647"/>
                <a:gd name="connsiteX4-313" fmla="*/ 877005 w 877005"/>
                <a:gd name="connsiteY4-314" fmla="*/ 1445049 h 1682647"/>
                <a:gd name="connsiteX5-315" fmla="*/ 211183 w 877005"/>
                <a:gd name="connsiteY5-316" fmla="*/ 1682647 h 1682647"/>
                <a:gd name="connsiteX6-317" fmla="*/ 154371 w 877005"/>
                <a:gd name="connsiteY6-318" fmla="*/ 437980 h 1682647"/>
                <a:gd name="connsiteX7-319" fmla="*/ 0 w 877005"/>
                <a:gd name="connsiteY7-320" fmla="*/ 431473 h 1682647"/>
                <a:gd name="connsiteX0-321" fmla="*/ 0 w 917020"/>
                <a:gd name="connsiteY0-322" fmla="*/ 431473 h 1682647"/>
                <a:gd name="connsiteX1-323" fmla="*/ 396687 w 917020"/>
                <a:gd name="connsiteY1-324" fmla="*/ 0 h 1682647"/>
                <a:gd name="connsiteX2-325" fmla="*/ 742872 w 917020"/>
                <a:gd name="connsiteY2-326" fmla="*/ 449188 h 1682647"/>
                <a:gd name="connsiteX3-327" fmla="*/ 600000 w 917020"/>
                <a:gd name="connsiteY3-328" fmla="*/ 449698 h 1682647"/>
                <a:gd name="connsiteX4-329" fmla="*/ 917020 w 917020"/>
                <a:gd name="connsiteY4-330" fmla="*/ 1430545 h 1682647"/>
                <a:gd name="connsiteX5-331" fmla="*/ 211183 w 917020"/>
                <a:gd name="connsiteY5-332" fmla="*/ 1682647 h 1682647"/>
                <a:gd name="connsiteX6-333" fmla="*/ 154371 w 917020"/>
                <a:gd name="connsiteY6-334" fmla="*/ 437980 h 1682647"/>
                <a:gd name="connsiteX7-335" fmla="*/ 0 w 917020"/>
                <a:gd name="connsiteY7-336" fmla="*/ 431473 h 1682647"/>
                <a:gd name="connsiteX0-337" fmla="*/ 0 w 917020"/>
                <a:gd name="connsiteY0-338" fmla="*/ 431473 h 1682647"/>
                <a:gd name="connsiteX1-339" fmla="*/ 396687 w 917020"/>
                <a:gd name="connsiteY1-340" fmla="*/ 0 h 1682647"/>
                <a:gd name="connsiteX2-341" fmla="*/ 742872 w 917020"/>
                <a:gd name="connsiteY2-342" fmla="*/ 449188 h 1682647"/>
                <a:gd name="connsiteX3-343" fmla="*/ 600000 w 917020"/>
                <a:gd name="connsiteY3-344" fmla="*/ 449698 h 1682647"/>
                <a:gd name="connsiteX4-345" fmla="*/ 917020 w 917020"/>
                <a:gd name="connsiteY4-346" fmla="*/ 1430545 h 1682647"/>
                <a:gd name="connsiteX5-347" fmla="*/ 211183 w 917020"/>
                <a:gd name="connsiteY5-348" fmla="*/ 1682647 h 1682647"/>
                <a:gd name="connsiteX6-349" fmla="*/ 154371 w 917020"/>
                <a:gd name="connsiteY6-350" fmla="*/ 437980 h 1682647"/>
                <a:gd name="connsiteX7-351" fmla="*/ 0 w 917020"/>
                <a:gd name="connsiteY7-352" fmla="*/ 431473 h 1682647"/>
                <a:gd name="connsiteX0-353" fmla="*/ 0 w 1001946"/>
                <a:gd name="connsiteY0-354" fmla="*/ 431473 h 1682647"/>
                <a:gd name="connsiteX1-355" fmla="*/ 396687 w 1001946"/>
                <a:gd name="connsiteY1-356" fmla="*/ 0 h 1682647"/>
                <a:gd name="connsiteX2-357" fmla="*/ 742872 w 1001946"/>
                <a:gd name="connsiteY2-358" fmla="*/ 449188 h 1682647"/>
                <a:gd name="connsiteX3-359" fmla="*/ 600000 w 1001946"/>
                <a:gd name="connsiteY3-360" fmla="*/ 449698 h 1682647"/>
                <a:gd name="connsiteX4-361" fmla="*/ 1001946 w 1001946"/>
                <a:gd name="connsiteY4-362" fmla="*/ 1554234 h 1682647"/>
                <a:gd name="connsiteX5-363" fmla="*/ 211183 w 1001946"/>
                <a:gd name="connsiteY5-364" fmla="*/ 1682647 h 1682647"/>
                <a:gd name="connsiteX6-365" fmla="*/ 154371 w 1001946"/>
                <a:gd name="connsiteY6-366" fmla="*/ 437980 h 1682647"/>
                <a:gd name="connsiteX7-367" fmla="*/ 0 w 1001946"/>
                <a:gd name="connsiteY7-368" fmla="*/ 431473 h 1682647"/>
                <a:gd name="connsiteX0-369" fmla="*/ 0 w 1001946"/>
                <a:gd name="connsiteY0-370" fmla="*/ 431473 h 1854320"/>
                <a:gd name="connsiteX1-371" fmla="*/ 396687 w 1001946"/>
                <a:gd name="connsiteY1-372" fmla="*/ 0 h 1854320"/>
                <a:gd name="connsiteX2-373" fmla="*/ 742872 w 1001946"/>
                <a:gd name="connsiteY2-374" fmla="*/ 449188 h 1854320"/>
                <a:gd name="connsiteX3-375" fmla="*/ 600000 w 1001946"/>
                <a:gd name="connsiteY3-376" fmla="*/ 449698 h 1854320"/>
                <a:gd name="connsiteX4-377" fmla="*/ 1001946 w 1001946"/>
                <a:gd name="connsiteY4-378" fmla="*/ 1554234 h 1854320"/>
                <a:gd name="connsiteX5-379" fmla="*/ 300410 w 1001946"/>
                <a:gd name="connsiteY5-380" fmla="*/ 1854320 h 1854320"/>
                <a:gd name="connsiteX6-381" fmla="*/ 154371 w 1001946"/>
                <a:gd name="connsiteY6-382" fmla="*/ 437980 h 1854320"/>
                <a:gd name="connsiteX7-383" fmla="*/ 0 w 1001946"/>
                <a:gd name="connsiteY7-384" fmla="*/ 431473 h 1854320"/>
                <a:gd name="connsiteX0-385" fmla="*/ 0 w 1001946"/>
                <a:gd name="connsiteY0-386" fmla="*/ 431473 h 1891590"/>
                <a:gd name="connsiteX1-387" fmla="*/ 396687 w 1001946"/>
                <a:gd name="connsiteY1-388" fmla="*/ 0 h 1891590"/>
                <a:gd name="connsiteX2-389" fmla="*/ 742872 w 1001946"/>
                <a:gd name="connsiteY2-390" fmla="*/ 449188 h 1891590"/>
                <a:gd name="connsiteX3-391" fmla="*/ 600000 w 1001946"/>
                <a:gd name="connsiteY3-392" fmla="*/ 449698 h 1891590"/>
                <a:gd name="connsiteX4-393" fmla="*/ 1001946 w 1001946"/>
                <a:gd name="connsiteY4-394" fmla="*/ 1554234 h 1891590"/>
                <a:gd name="connsiteX5-395" fmla="*/ 317815 w 1001946"/>
                <a:gd name="connsiteY5-396" fmla="*/ 1891590 h 1891590"/>
                <a:gd name="connsiteX6-397" fmla="*/ 154371 w 1001946"/>
                <a:gd name="connsiteY6-398" fmla="*/ 437980 h 1891590"/>
                <a:gd name="connsiteX7-399" fmla="*/ 0 w 1001946"/>
                <a:gd name="connsiteY7-400" fmla="*/ 431473 h 1891590"/>
                <a:gd name="connsiteX0-401" fmla="*/ 0 w 1001946"/>
                <a:gd name="connsiteY0-402" fmla="*/ 431473 h 1928860"/>
                <a:gd name="connsiteX1-403" fmla="*/ 396687 w 1001946"/>
                <a:gd name="connsiteY1-404" fmla="*/ 0 h 1928860"/>
                <a:gd name="connsiteX2-405" fmla="*/ 742872 w 1001946"/>
                <a:gd name="connsiteY2-406" fmla="*/ 449188 h 1928860"/>
                <a:gd name="connsiteX3-407" fmla="*/ 600000 w 1001946"/>
                <a:gd name="connsiteY3-408" fmla="*/ 449698 h 1928860"/>
                <a:gd name="connsiteX4-409" fmla="*/ 1001946 w 1001946"/>
                <a:gd name="connsiteY4-410" fmla="*/ 1554234 h 1928860"/>
                <a:gd name="connsiteX5-411" fmla="*/ 335220 w 1001946"/>
                <a:gd name="connsiteY5-412" fmla="*/ 1928860 h 1928860"/>
                <a:gd name="connsiteX6-413" fmla="*/ 154371 w 1001946"/>
                <a:gd name="connsiteY6-414" fmla="*/ 437980 h 1928860"/>
                <a:gd name="connsiteX7-415" fmla="*/ 0 w 1001946"/>
                <a:gd name="connsiteY7-416" fmla="*/ 431473 h 1928860"/>
                <a:gd name="connsiteX0-1-1" fmla="*/ 0 w 1001946"/>
                <a:gd name="connsiteY0-2-2" fmla="*/ 431473 h 1851886"/>
                <a:gd name="connsiteX1-3-3" fmla="*/ 396687 w 1001946"/>
                <a:gd name="connsiteY1-4-4" fmla="*/ 0 h 1851886"/>
                <a:gd name="connsiteX2-5-5" fmla="*/ 742872 w 1001946"/>
                <a:gd name="connsiteY2-6-6" fmla="*/ 449188 h 1851886"/>
                <a:gd name="connsiteX3-7-7" fmla="*/ 600000 w 1001946"/>
                <a:gd name="connsiteY3-8-8" fmla="*/ 449698 h 1851886"/>
                <a:gd name="connsiteX4-9-9" fmla="*/ 1001946 w 1001946"/>
                <a:gd name="connsiteY4-10-10" fmla="*/ 1554234 h 1851886"/>
                <a:gd name="connsiteX5-11-11" fmla="*/ 306129 w 1001946"/>
                <a:gd name="connsiteY5-12-12" fmla="*/ 1851886 h 1851886"/>
                <a:gd name="connsiteX6-13-13" fmla="*/ 154371 w 1001946"/>
                <a:gd name="connsiteY6-14-14" fmla="*/ 437980 h 1851886"/>
                <a:gd name="connsiteX7-15-15" fmla="*/ 0 w 1001946"/>
                <a:gd name="connsiteY7-16-16" fmla="*/ 431473 h 1851886"/>
                <a:gd name="connsiteX0-17-17" fmla="*/ 0 w 1001946"/>
                <a:gd name="connsiteY0-18-18" fmla="*/ 431473 h 1851886"/>
                <a:gd name="connsiteX1-19-19" fmla="*/ 396687 w 1001946"/>
                <a:gd name="connsiteY1-20-20" fmla="*/ 0 h 1851886"/>
                <a:gd name="connsiteX2-21-21" fmla="*/ 742872 w 1001946"/>
                <a:gd name="connsiteY2-22-22" fmla="*/ 449188 h 1851886"/>
                <a:gd name="connsiteX3-23-23" fmla="*/ 600000 w 1001946"/>
                <a:gd name="connsiteY3-24-24" fmla="*/ 449698 h 1851886"/>
                <a:gd name="connsiteX4-25-25" fmla="*/ 1001946 w 1001946"/>
                <a:gd name="connsiteY4-26-26" fmla="*/ 1554234 h 1851886"/>
                <a:gd name="connsiteX5-27-27" fmla="*/ 306129 w 1001946"/>
                <a:gd name="connsiteY5-28-28" fmla="*/ 1851886 h 1851886"/>
                <a:gd name="connsiteX6-29-29" fmla="*/ 154371 w 1001946"/>
                <a:gd name="connsiteY6-30-30" fmla="*/ 437980 h 1851886"/>
                <a:gd name="connsiteX7-31-31" fmla="*/ 0 w 1001946"/>
                <a:gd name="connsiteY7-32-32" fmla="*/ 431473 h 1851886"/>
                <a:gd name="connsiteX0-33-33" fmla="*/ 0 w 1001946"/>
                <a:gd name="connsiteY0-34-34" fmla="*/ 431473 h 1851886"/>
                <a:gd name="connsiteX1-35-35" fmla="*/ 396687 w 1001946"/>
                <a:gd name="connsiteY1-36-36" fmla="*/ 0 h 1851886"/>
                <a:gd name="connsiteX2-37-37" fmla="*/ 742872 w 1001946"/>
                <a:gd name="connsiteY2-38-38" fmla="*/ 449188 h 1851886"/>
                <a:gd name="connsiteX3-39-39" fmla="*/ 600000 w 1001946"/>
                <a:gd name="connsiteY3-40-40" fmla="*/ 449698 h 1851886"/>
                <a:gd name="connsiteX4-41-41" fmla="*/ 1001946 w 1001946"/>
                <a:gd name="connsiteY4-42-42" fmla="*/ 1554234 h 1851886"/>
                <a:gd name="connsiteX5-43-43" fmla="*/ 306129 w 1001946"/>
                <a:gd name="connsiteY5-44-44" fmla="*/ 1851886 h 1851886"/>
                <a:gd name="connsiteX6-45-45" fmla="*/ 154371 w 1001946"/>
                <a:gd name="connsiteY6-46-46" fmla="*/ 437980 h 1851886"/>
                <a:gd name="connsiteX7-47-47" fmla="*/ 0 w 1001946"/>
                <a:gd name="connsiteY7-48-48" fmla="*/ 431473 h 1851886"/>
                <a:gd name="connsiteX0-49-49" fmla="*/ 0 w 1001946"/>
                <a:gd name="connsiteY0-50-50" fmla="*/ 431473 h 1851886"/>
                <a:gd name="connsiteX1-51-51" fmla="*/ 396687 w 1001946"/>
                <a:gd name="connsiteY1-52-52" fmla="*/ 0 h 1851886"/>
                <a:gd name="connsiteX2-53-53" fmla="*/ 742872 w 1001946"/>
                <a:gd name="connsiteY2-54-54" fmla="*/ 449188 h 1851886"/>
                <a:gd name="connsiteX3-55-55" fmla="*/ 600000 w 1001946"/>
                <a:gd name="connsiteY3-56-56" fmla="*/ 449698 h 1851886"/>
                <a:gd name="connsiteX4-57-57" fmla="*/ 1001946 w 1001946"/>
                <a:gd name="connsiteY4-58-58" fmla="*/ 1554234 h 1851886"/>
                <a:gd name="connsiteX5-59-59" fmla="*/ 306129 w 1001946"/>
                <a:gd name="connsiteY5-60-60" fmla="*/ 1851886 h 1851886"/>
                <a:gd name="connsiteX6-61-61" fmla="*/ 154371 w 1001946"/>
                <a:gd name="connsiteY6-62-62" fmla="*/ 437980 h 1851886"/>
                <a:gd name="connsiteX7-63-63" fmla="*/ 0 w 1001946"/>
                <a:gd name="connsiteY7-64-64" fmla="*/ 431473 h 1851886"/>
                <a:gd name="connsiteX0-65-65" fmla="*/ 0 w 1022856"/>
                <a:gd name="connsiteY0-66-66" fmla="*/ 431473 h 1851886"/>
                <a:gd name="connsiteX1-67-67" fmla="*/ 396687 w 1022856"/>
                <a:gd name="connsiteY1-68-68" fmla="*/ 0 h 1851886"/>
                <a:gd name="connsiteX2-69-69" fmla="*/ 742872 w 1022856"/>
                <a:gd name="connsiteY2-70-70" fmla="*/ 449188 h 1851886"/>
                <a:gd name="connsiteX3-71-71" fmla="*/ 600000 w 1022856"/>
                <a:gd name="connsiteY3-72-72" fmla="*/ 449698 h 1851886"/>
                <a:gd name="connsiteX4-73-73" fmla="*/ 1022856 w 1022856"/>
                <a:gd name="connsiteY4-74-74" fmla="*/ 1569641 h 1851886"/>
                <a:gd name="connsiteX5-75-75" fmla="*/ 306129 w 1022856"/>
                <a:gd name="connsiteY5-76-76" fmla="*/ 1851886 h 1851886"/>
                <a:gd name="connsiteX6-77-77" fmla="*/ 154371 w 1022856"/>
                <a:gd name="connsiteY6-78-78" fmla="*/ 437980 h 1851886"/>
                <a:gd name="connsiteX7-79-79" fmla="*/ 0 w 1022856"/>
                <a:gd name="connsiteY7-80-80" fmla="*/ 431473 h 1851886"/>
                <a:gd name="connsiteX0-81-81" fmla="*/ 0 w 1022856"/>
                <a:gd name="connsiteY0-82-82" fmla="*/ 431473 h 1851886"/>
                <a:gd name="connsiteX1-83-83" fmla="*/ 396687 w 1022856"/>
                <a:gd name="connsiteY1-84-84" fmla="*/ 0 h 1851886"/>
                <a:gd name="connsiteX2-85-85" fmla="*/ 742872 w 1022856"/>
                <a:gd name="connsiteY2-86-86" fmla="*/ 449188 h 1851886"/>
                <a:gd name="connsiteX3-87-87" fmla="*/ 600000 w 1022856"/>
                <a:gd name="connsiteY3-88-88" fmla="*/ 449698 h 1851886"/>
                <a:gd name="connsiteX4-89-89" fmla="*/ 1022856 w 1022856"/>
                <a:gd name="connsiteY4-90-90" fmla="*/ 1569641 h 1851886"/>
                <a:gd name="connsiteX5-91-91" fmla="*/ 306129 w 1022856"/>
                <a:gd name="connsiteY5-92-92" fmla="*/ 1851886 h 1851886"/>
                <a:gd name="connsiteX6-93-93" fmla="*/ 154371 w 1022856"/>
                <a:gd name="connsiteY6-94-94" fmla="*/ 437980 h 1851886"/>
                <a:gd name="connsiteX7-95-95" fmla="*/ 0 w 1022856"/>
                <a:gd name="connsiteY7-96-96" fmla="*/ 431473 h 1851886"/>
              </a:gdLst>
              <a:ahLst/>
              <a:cxnLst>
                <a:cxn ang="0">
                  <a:pos x="connsiteX0-1-1" y="connsiteY0-2-2"/>
                </a:cxn>
                <a:cxn ang="0">
                  <a:pos x="connsiteX1-3-3" y="connsiteY1-4-4"/>
                </a:cxn>
                <a:cxn ang="0">
                  <a:pos x="connsiteX2-5-5" y="connsiteY2-6-6"/>
                </a:cxn>
                <a:cxn ang="0">
                  <a:pos x="connsiteX3-7-7" y="connsiteY3-8-8"/>
                </a:cxn>
                <a:cxn ang="0">
                  <a:pos x="connsiteX4-9-9" y="connsiteY4-10-10"/>
                </a:cxn>
                <a:cxn ang="0">
                  <a:pos x="connsiteX5-11-11" y="connsiteY5-12-12"/>
                </a:cxn>
                <a:cxn ang="0">
                  <a:pos x="connsiteX6-13-13" y="connsiteY6-14-14"/>
                </a:cxn>
                <a:cxn ang="0">
                  <a:pos x="connsiteX7-15-15" y="connsiteY7-16-16"/>
                </a:cxn>
              </a:cxnLst>
              <a:rect l="l" t="t" r="r" b="b"/>
              <a:pathLst>
                <a:path w="1022856" h="1851886">
                  <a:moveTo>
                    <a:pt x="0" y="431473"/>
                  </a:moveTo>
                  <a:lnTo>
                    <a:pt x="396687" y="0"/>
                  </a:lnTo>
                  <a:lnTo>
                    <a:pt x="742872" y="449188"/>
                  </a:lnTo>
                  <a:lnTo>
                    <a:pt x="600000" y="449698"/>
                  </a:lnTo>
                  <a:cubicBezTo>
                    <a:pt x="574978" y="639207"/>
                    <a:pt x="846848" y="1352043"/>
                    <a:pt x="1022856" y="1569641"/>
                  </a:cubicBezTo>
                  <a:cubicBezTo>
                    <a:pt x="708639" y="1688458"/>
                    <a:pt x="583980" y="1743300"/>
                    <a:pt x="306129" y="1851886"/>
                  </a:cubicBezTo>
                  <a:cubicBezTo>
                    <a:pt x="236432" y="1662445"/>
                    <a:pt x="-1847" y="1030036"/>
                    <a:pt x="154371" y="437980"/>
                  </a:cubicBezTo>
                  <a:lnTo>
                    <a:pt x="0" y="431473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  <a:tileRect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zh-CN" altLang="en-US" sz="2000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微软雅黑" panose="020B0502040204020203" pitchFamily="34" charset="-122"/>
              </a:endParaRPr>
            </a:p>
          </p:txBody>
        </p:sp>
        <p:sp>
          <p:nvSpPr>
            <p:cNvPr id="182" name="箭头: 上 26"/>
            <p:cNvSpPr/>
            <p:nvPr/>
          </p:nvSpPr>
          <p:spPr>
            <a:xfrm rot="20404535" flipH="1">
              <a:off x="10797476" y="5086559"/>
              <a:ext cx="464625" cy="1074889"/>
            </a:xfrm>
            <a:custGeom>
              <a:avLst/>
              <a:gdLst>
                <a:gd name="connsiteX0" fmla="*/ 0 w 846384"/>
                <a:gd name="connsiteY0" fmla="*/ 423192 h 1696315"/>
                <a:gd name="connsiteX1" fmla="*/ 423192 w 846384"/>
                <a:gd name="connsiteY1" fmla="*/ 0 h 1696315"/>
                <a:gd name="connsiteX2" fmla="*/ 846384 w 846384"/>
                <a:gd name="connsiteY2" fmla="*/ 423192 h 1696315"/>
                <a:gd name="connsiteX3" fmla="*/ 634788 w 846384"/>
                <a:gd name="connsiteY3" fmla="*/ 423192 h 1696315"/>
                <a:gd name="connsiteX4" fmla="*/ 634788 w 846384"/>
                <a:gd name="connsiteY4" fmla="*/ 1696315 h 1696315"/>
                <a:gd name="connsiteX5" fmla="*/ 211596 w 846384"/>
                <a:gd name="connsiteY5" fmla="*/ 1696315 h 1696315"/>
                <a:gd name="connsiteX6" fmla="*/ 211596 w 846384"/>
                <a:gd name="connsiteY6" fmla="*/ 423192 h 1696315"/>
                <a:gd name="connsiteX7" fmla="*/ 0 w 846384"/>
                <a:gd name="connsiteY7" fmla="*/ 423192 h 1696315"/>
                <a:gd name="connsiteX0-1" fmla="*/ 0 w 846384"/>
                <a:gd name="connsiteY0-2" fmla="*/ 435957 h 1709080"/>
                <a:gd name="connsiteX1-3" fmla="*/ 415201 w 846384"/>
                <a:gd name="connsiteY1-4" fmla="*/ 0 h 1709080"/>
                <a:gd name="connsiteX2-5" fmla="*/ 846384 w 846384"/>
                <a:gd name="connsiteY2-6" fmla="*/ 435957 h 1709080"/>
                <a:gd name="connsiteX3-7" fmla="*/ 634788 w 846384"/>
                <a:gd name="connsiteY3-8" fmla="*/ 435957 h 1709080"/>
                <a:gd name="connsiteX4-9" fmla="*/ 634788 w 846384"/>
                <a:gd name="connsiteY4-10" fmla="*/ 1709080 h 1709080"/>
                <a:gd name="connsiteX5-11" fmla="*/ 211596 w 846384"/>
                <a:gd name="connsiteY5-12" fmla="*/ 1709080 h 1709080"/>
                <a:gd name="connsiteX6-13" fmla="*/ 211596 w 846384"/>
                <a:gd name="connsiteY6-14" fmla="*/ 435957 h 1709080"/>
                <a:gd name="connsiteX7-15" fmla="*/ 0 w 846384"/>
                <a:gd name="connsiteY7-16" fmla="*/ 435957 h 1709080"/>
                <a:gd name="connsiteX0-17" fmla="*/ 0 w 765454"/>
                <a:gd name="connsiteY0-18" fmla="*/ 435957 h 1709080"/>
                <a:gd name="connsiteX1-19" fmla="*/ 415201 w 765454"/>
                <a:gd name="connsiteY1-20" fmla="*/ 0 h 1709080"/>
                <a:gd name="connsiteX2-21" fmla="*/ 765454 w 765454"/>
                <a:gd name="connsiteY2-22" fmla="*/ 445754 h 1709080"/>
                <a:gd name="connsiteX3-23" fmla="*/ 634788 w 765454"/>
                <a:gd name="connsiteY3-24" fmla="*/ 435957 h 1709080"/>
                <a:gd name="connsiteX4-25" fmla="*/ 634788 w 765454"/>
                <a:gd name="connsiteY4-26" fmla="*/ 1709080 h 1709080"/>
                <a:gd name="connsiteX5-27" fmla="*/ 211596 w 765454"/>
                <a:gd name="connsiteY5-28" fmla="*/ 1709080 h 1709080"/>
                <a:gd name="connsiteX6-29" fmla="*/ 211596 w 765454"/>
                <a:gd name="connsiteY6-30" fmla="*/ 435957 h 1709080"/>
                <a:gd name="connsiteX7-31" fmla="*/ 0 w 765454"/>
                <a:gd name="connsiteY7-32" fmla="*/ 435957 h 1709080"/>
                <a:gd name="connsiteX0-33" fmla="*/ 0 w 765454"/>
                <a:gd name="connsiteY0-34" fmla="*/ 435957 h 1709080"/>
                <a:gd name="connsiteX1-35" fmla="*/ 415201 w 765454"/>
                <a:gd name="connsiteY1-36" fmla="*/ 0 h 1709080"/>
                <a:gd name="connsiteX2-37" fmla="*/ 765454 w 765454"/>
                <a:gd name="connsiteY2-38" fmla="*/ 445754 h 1709080"/>
                <a:gd name="connsiteX3-39" fmla="*/ 619148 w 765454"/>
                <a:gd name="connsiteY3-40" fmla="*/ 442194 h 1709080"/>
                <a:gd name="connsiteX4-41" fmla="*/ 634788 w 765454"/>
                <a:gd name="connsiteY4-42" fmla="*/ 1709080 h 1709080"/>
                <a:gd name="connsiteX5-43" fmla="*/ 211596 w 765454"/>
                <a:gd name="connsiteY5-44" fmla="*/ 1709080 h 1709080"/>
                <a:gd name="connsiteX6-45" fmla="*/ 211596 w 765454"/>
                <a:gd name="connsiteY6-46" fmla="*/ 435957 h 1709080"/>
                <a:gd name="connsiteX7-47" fmla="*/ 0 w 765454"/>
                <a:gd name="connsiteY7-48" fmla="*/ 435957 h 1709080"/>
                <a:gd name="connsiteX0-49" fmla="*/ 0 w 763067"/>
                <a:gd name="connsiteY0-50" fmla="*/ 435957 h 1709080"/>
                <a:gd name="connsiteX1-51" fmla="*/ 415201 w 763067"/>
                <a:gd name="connsiteY1-52" fmla="*/ 0 h 1709080"/>
                <a:gd name="connsiteX2-53" fmla="*/ 763067 w 763067"/>
                <a:gd name="connsiteY2-54" fmla="*/ 456132 h 1709080"/>
                <a:gd name="connsiteX3-55" fmla="*/ 619148 w 763067"/>
                <a:gd name="connsiteY3-56" fmla="*/ 442194 h 1709080"/>
                <a:gd name="connsiteX4-57" fmla="*/ 634788 w 763067"/>
                <a:gd name="connsiteY4-58" fmla="*/ 1709080 h 1709080"/>
                <a:gd name="connsiteX5-59" fmla="*/ 211596 w 763067"/>
                <a:gd name="connsiteY5-60" fmla="*/ 1709080 h 1709080"/>
                <a:gd name="connsiteX6-61" fmla="*/ 211596 w 763067"/>
                <a:gd name="connsiteY6-62" fmla="*/ 435957 h 1709080"/>
                <a:gd name="connsiteX7-63" fmla="*/ 0 w 763067"/>
                <a:gd name="connsiteY7-64" fmla="*/ 435957 h 1709080"/>
                <a:gd name="connsiteX0-65" fmla="*/ 0 w 761386"/>
                <a:gd name="connsiteY0-66" fmla="*/ 435957 h 1709080"/>
                <a:gd name="connsiteX1-67" fmla="*/ 415201 w 761386"/>
                <a:gd name="connsiteY1-68" fmla="*/ 0 h 1709080"/>
                <a:gd name="connsiteX2-69" fmla="*/ 761386 w 761386"/>
                <a:gd name="connsiteY2-70" fmla="*/ 449188 h 1709080"/>
                <a:gd name="connsiteX3-71" fmla="*/ 619148 w 761386"/>
                <a:gd name="connsiteY3-72" fmla="*/ 442194 h 1709080"/>
                <a:gd name="connsiteX4-73" fmla="*/ 634788 w 761386"/>
                <a:gd name="connsiteY4-74" fmla="*/ 1709080 h 1709080"/>
                <a:gd name="connsiteX5-75" fmla="*/ 211596 w 761386"/>
                <a:gd name="connsiteY5-76" fmla="*/ 1709080 h 1709080"/>
                <a:gd name="connsiteX6-77" fmla="*/ 211596 w 761386"/>
                <a:gd name="connsiteY6-78" fmla="*/ 435957 h 1709080"/>
                <a:gd name="connsiteX7-79" fmla="*/ 0 w 761386"/>
                <a:gd name="connsiteY7-80" fmla="*/ 435957 h 1709080"/>
                <a:gd name="connsiteX0-81" fmla="*/ 0 w 761386"/>
                <a:gd name="connsiteY0-82" fmla="*/ 435957 h 1709080"/>
                <a:gd name="connsiteX1-83" fmla="*/ 415201 w 761386"/>
                <a:gd name="connsiteY1-84" fmla="*/ 0 h 1709080"/>
                <a:gd name="connsiteX2-85" fmla="*/ 761386 w 761386"/>
                <a:gd name="connsiteY2-86" fmla="*/ 449188 h 1709080"/>
                <a:gd name="connsiteX3-87" fmla="*/ 618514 w 761386"/>
                <a:gd name="connsiteY3-88" fmla="*/ 449698 h 1709080"/>
                <a:gd name="connsiteX4-89" fmla="*/ 634788 w 761386"/>
                <a:gd name="connsiteY4-90" fmla="*/ 1709080 h 1709080"/>
                <a:gd name="connsiteX5-91" fmla="*/ 211596 w 761386"/>
                <a:gd name="connsiteY5-92" fmla="*/ 1709080 h 1709080"/>
                <a:gd name="connsiteX6-93" fmla="*/ 211596 w 761386"/>
                <a:gd name="connsiteY6-94" fmla="*/ 435957 h 1709080"/>
                <a:gd name="connsiteX7-95" fmla="*/ 0 w 761386"/>
                <a:gd name="connsiteY7-96" fmla="*/ 435957 h 1709080"/>
                <a:gd name="connsiteX0-97" fmla="*/ 0 w 740557"/>
                <a:gd name="connsiteY0-98" fmla="*/ 430912 h 1709080"/>
                <a:gd name="connsiteX1-99" fmla="*/ 394372 w 740557"/>
                <a:gd name="connsiteY1-100" fmla="*/ 0 h 1709080"/>
                <a:gd name="connsiteX2-101" fmla="*/ 740557 w 740557"/>
                <a:gd name="connsiteY2-102" fmla="*/ 449188 h 1709080"/>
                <a:gd name="connsiteX3-103" fmla="*/ 597685 w 740557"/>
                <a:gd name="connsiteY3-104" fmla="*/ 449698 h 1709080"/>
                <a:gd name="connsiteX4-105" fmla="*/ 613959 w 740557"/>
                <a:gd name="connsiteY4-106" fmla="*/ 1709080 h 1709080"/>
                <a:gd name="connsiteX5-107" fmla="*/ 190767 w 740557"/>
                <a:gd name="connsiteY5-108" fmla="*/ 1709080 h 1709080"/>
                <a:gd name="connsiteX6-109" fmla="*/ 190767 w 740557"/>
                <a:gd name="connsiteY6-110" fmla="*/ 435957 h 1709080"/>
                <a:gd name="connsiteX7-111" fmla="*/ 0 w 740557"/>
                <a:gd name="connsiteY7-112" fmla="*/ 430912 h 1709080"/>
                <a:gd name="connsiteX0-113" fmla="*/ 0 w 698899"/>
                <a:gd name="connsiteY0-114" fmla="*/ 420825 h 1709080"/>
                <a:gd name="connsiteX1-115" fmla="*/ 352714 w 698899"/>
                <a:gd name="connsiteY1-116" fmla="*/ 0 h 1709080"/>
                <a:gd name="connsiteX2-117" fmla="*/ 698899 w 698899"/>
                <a:gd name="connsiteY2-118" fmla="*/ 449188 h 1709080"/>
                <a:gd name="connsiteX3-119" fmla="*/ 556027 w 698899"/>
                <a:gd name="connsiteY3-120" fmla="*/ 449698 h 1709080"/>
                <a:gd name="connsiteX4-121" fmla="*/ 572301 w 698899"/>
                <a:gd name="connsiteY4-122" fmla="*/ 1709080 h 1709080"/>
                <a:gd name="connsiteX5-123" fmla="*/ 149109 w 698899"/>
                <a:gd name="connsiteY5-124" fmla="*/ 1709080 h 1709080"/>
                <a:gd name="connsiteX6-125" fmla="*/ 149109 w 698899"/>
                <a:gd name="connsiteY6-126" fmla="*/ 435957 h 1709080"/>
                <a:gd name="connsiteX7-127" fmla="*/ 0 w 698899"/>
                <a:gd name="connsiteY7-128" fmla="*/ 420825 h 1709080"/>
                <a:gd name="connsiteX0-129" fmla="*/ 0 w 742872"/>
                <a:gd name="connsiteY0-130" fmla="*/ 431473 h 1709080"/>
                <a:gd name="connsiteX1-131" fmla="*/ 396687 w 742872"/>
                <a:gd name="connsiteY1-132" fmla="*/ 0 h 1709080"/>
                <a:gd name="connsiteX2-133" fmla="*/ 742872 w 742872"/>
                <a:gd name="connsiteY2-134" fmla="*/ 449188 h 1709080"/>
                <a:gd name="connsiteX3-135" fmla="*/ 600000 w 742872"/>
                <a:gd name="connsiteY3-136" fmla="*/ 449698 h 1709080"/>
                <a:gd name="connsiteX4-137" fmla="*/ 616274 w 742872"/>
                <a:gd name="connsiteY4-138" fmla="*/ 1709080 h 1709080"/>
                <a:gd name="connsiteX5-139" fmla="*/ 193082 w 742872"/>
                <a:gd name="connsiteY5-140" fmla="*/ 1709080 h 1709080"/>
                <a:gd name="connsiteX6-141" fmla="*/ 193082 w 742872"/>
                <a:gd name="connsiteY6-142" fmla="*/ 435957 h 1709080"/>
                <a:gd name="connsiteX7-143" fmla="*/ 0 w 742872"/>
                <a:gd name="connsiteY7-144" fmla="*/ 431473 h 1709080"/>
                <a:gd name="connsiteX0-145" fmla="*/ 0 w 742872"/>
                <a:gd name="connsiteY0-146" fmla="*/ 431473 h 1709080"/>
                <a:gd name="connsiteX1-147" fmla="*/ 396687 w 742872"/>
                <a:gd name="connsiteY1-148" fmla="*/ 0 h 1709080"/>
                <a:gd name="connsiteX2-149" fmla="*/ 742872 w 742872"/>
                <a:gd name="connsiteY2-150" fmla="*/ 449188 h 1709080"/>
                <a:gd name="connsiteX3-151" fmla="*/ 600000 w 742872"/>
                <a:gd name="connsiteY3-152" fmla="*/ 449698 h 1709080"/>
                <a:gd name="connsiteX4-153" fmla="*/ 616274 w 742872"/>
                <a:gd name="connsiteY4-154" fmla="*/ 1709080 h 1709080"/>
                <a:gd name="connsiteX5-155" fmla="*/ 193082 w 742872"/>
                <a:gd name="connsiteY5-156" fmla="*/ 1709080 h 1709080"/>
                <a:gd name="connsiteX6-157" fmla="*/ 154371 w 742872"/>
                <a:gd name="connsiteY6-158" fmla="*/ 437980 h 1709080"/>
                <a:gd name="connsiteX7-159" fmla="*/ 0 w 742872"/>
                <a:gd name="connsiteY7-160" fmla="*/ 431473 h 1709080"/>
                <a:gd name="connsiteX0-161" fmla="*/ 0 w 1101086"/>
                <a:gd name="connsiteY0-162" fmla="*/ 431473 h 1709080"/>
                <a:gd name="connsiteX1-163" fmla="*/ 396687 w 1101086"/>
                <a:gd name="connsiteY1-164" fmla="*/ 0 h 1709080"/>
                <a:gd name="connsiteX2-165" fmla="*/ 742872 w 1101086"/>
                <a:gd name="connsiteY2-166" fmla="*/ 449188 h 1709080"/>
                <a:gd name="connsiteX3-167" fmla="*/ 600000 w 1101086"/>
                <a:gd name="connsiteY3-168" fmla="*/ 449698 h 1709080"/>
                <a:gd name="connsiteX4-169" fmla="*/ 1101086 w 1101086"/>
                <a:gd name="connsiteY4-170" fmla="*/ 1363824 h 1709080"/>
                <a:gd name="connsiteX5-171" fmla="*/ 193082 w 1101086"/>
                <a:gd name="connsiteY5-172" fmla="*/ 1709080 h 1709080"/>
                <a:gd name="connsiteX6-173" fmla="*/ 154371 w 1101086"/>
                <a:gd name="connsiteY6-174" fmla="*/ 437980 h 1709080"/>
                <a:gd name="connsiteX7-175" fmla="*/ 0 w 1101086"/>
                <a:gd name="connsiteY7-176" fmla="*/ 431473 h 1709080"/>
                <a:gd name="connsiteX0-177" fmla="*/ 0 w 1101086"/>
                <a:gd name="connsiteY0-178" fmla="*/ 431473 h 1630579"/>
                <a:gd name="connsiteX1-179" fmla="*/ 396687 w 1101086"/>
                <a:gd name="connsiteY1-180" fmla="*/ 0 h 1630579"/>
                <a:gd name="connsiteX2-181" fmla="*/ 742872 w 1101086"/>
                <a:gd name="connsiteY2-182" fmla="*/ 449188 h 1630579"/>
                <a:gd name="connsiteX3-183" fmla="*/ 600000 w 1101086"/>
                <a:gd name="connsiteY3-184" fmla="*/ 449698 h 1630579"/>
                <a:gd name="connsiteX4-185" fmla="*/ 1101086 w 1101086"/>
                <a:gd name="connsiteY4-186" fmla="*/ 1363824 h 1630579"/>
                <a:gd name="connsiteX5-187" fmla="*/ 355380 w 1101086"/>
                <a:gd name="connsiteY5-188" fmla="*/ 1630579 h 1630579"/>
                <a:gd name="connsiteX6-189" fmla="*/ 154371 w 1101086"/>
                <a:gd name="connsiteY6-190" fmla="*/ 437980 h 1630579"/>
                <a:gd name="connsiteX7-191" fmla="*/ 0 w 1101086"/>
                <a:gd name="connsiteY7-192" fmla="*/ 431473 h 1630579"/>
                <a:gd name="connsiteX0-193" fmla="*/ 0 w 1101086"/>
                <a:gd name="connsiteY0-194" fmla="*/ 431473 h 1682647"/>
                <a:gd name="connsiteX1-195" fmla="*/ 396687 w 1101086"/>
                <a:gd name="connsiteY1-196" fmla="*/ 0 h 1682647"/>
                <a:gd name="connsiteX2-197" fmla="*/ 742872 w 1101086"/>
                <a:gd name="connsiteY2-198" fmla="*/ 449188 h 1682647"/>
                <a:gd name="connsiteX3-199" fmla="*/ 600000 w 1101086"/>
                <a:gd name="connsiteY3-200" fmla="*/ 449698 h 1682647"/>
                <a:gd name="connsiteX4-201" fmla="*/ 1101086 w 1101086"/>
                <a:gd name="connsiteY4-202" fmla="*/ 1363824 h 1682647"/>
                <a:gd name="connsiteX5-203" fmla="*/ 211183 w 1101086"/>
                <a:gd name="connsiteY5-204" fmla="*/ 1682647 h 1682647"/>
                <a:gd name="connsiteX6-205" fmla="*/ 154371 w 1101086"/>
                <a:gd name="connsiteY6-206" fmla="*/ 437980 h 1682647"/>
                <a:gd name="connsiteX7-207" fmla="*/ 0 w 1101086"/>
                <a:gd name="connsiteY7-208" fmla="*/ 431473 h 1682647"/>
                <a:gd name="connsiteX0-209" fmla="*/ 0 w 1101086"/>
                <a:gd name="connsiteY0-210" fmla="*/ 431473 h 1682647"/>
                <a:gd name="connsiteX1-211" fmla="*/ 396687 w 1101086"/>
                <a:gd name="connsiteY1-212" fmla="*/ 0 h 1682647"/>
                <a:gd name="connsiteX2-213" fmla="*/ 742872 w 1101086"/>
                <a:gd name="connsiteY2-214" fmla="*/ 449188 h 1682647"/>
                <a:gd name="connsiteX3-215" fmla="*/ 600000 w 1101086"/>
                <a:gd name="connsiteY3-216" fmla="*/ 449698 h 1682647"/>
                <a:gd name="connsiteX4-217" fmla="*/ 1101086 w 1101086"/>
                <a:gd name="connsiteY4-218" fmla="*/ 1363824 h 1682647"/>
                <a:gd name="connsiteX5-219" fmla="*/ 211183 w 1101086"/>
                <a:gd name="connsiteY5-220" fmla="*/ 1682647 h 1682647"/>
                <a:gd name="connsiteX6-221" fmla="*/ 154371 w 1101086"/>
                <a:gd name="connsiteY6-222" fmla="*/ 437980 h 1682647"/>
                <a:gd name="connsiteX7-223" fmla="*/ 0 w 1101086"/>
                <a:gd name="connsiteY7-224" fmla="*/ 431473 h 1682647"/>
                <a:gd name="connsiteX0-225" fmla="*/ 0 w 1101086"/>
                <a:gd name="connsiteY0-226" fmla="*/ 431473 h 1682647"/>
                <a:gd name="connsiteX1-227" fmla="*/ 396687 w 1101086"/>
                <a:gd name="connsiteY1-228" fmla="*/ 0 h 1682647"/>
                <a:gd name="connsiteX2-229" fmla="*/ 742872 w 1101086"/>
                <a:gd name="connsiteY2-230" fmla="*/ 449188 h 1682647"/>
                <a:gd name="connsiteX3-231" fmla="*/ 600000 w 1101086"/>
                <a:gd name="connsiteY3-232" fmla="*/ 449698 h 1682647"/>
                <a:gd name="connsiteX4-233" fmla="*/ 1101086 w 1101086"/>
                <a:gd name="connsiteY4-234" fmla="*/ 1363824 h 1682647"/>
                <a:gd name="connsiteX5-235" fmla="*/ 211183 w 1101086"/>
                <a:gd name="connsiteY5-236" fmla="*/ 1682647 h 1682647"/>
                <a:gd name="connsiteX6-237" fmla="*/ 154371 w 1101086"/>
                <a:gd name="connsiteY6-238" fmla="*/ 437980 h 1682647"/>
                <a:gd name="connsiteX7-239" fmla="*/ 0 w 1101086"/>
                <a:gd name="connsiteY7-240" fmla="*/ 431473 h 1682647"/>
                <a:gd name="connsiteX0-241" fmla="*/ 0 w 1101086"/>
                <a:gd name="connsiteY0-242" fmla="*/ 431473 h 1682647"/>
                <a:gd name="connsiteX1-243" fmla="*/ 396687 w 1101086"/>
                <a:gd name="connsiteY1-244" fmla="*/ 0 h 1682647"/>
                <a:gd name="connsiteX2-245" fmla="*/ 742872 w 1101086"/>
                <a:gd name="connsiteY2-246" fmla="*/ 449188 h 1682647"/>
                <a:gd name="connsiteX3-247" fmla="*/ 600000 w 1101086"/>
                <a:gd name="connsiteY3-248" fmla="*/ 449698 h 1682647"/>
                <a:gd name="connsiteX4-249" fmla="*/ 1101086 w 1101086"/>
                <a:gd name="connsiteY4-250" fmla="*/ 1363824 h 1682647"/>
                <a:gd name="connsiteX5-251" fmla="*/ 211183 w 1101086"/>
                <a:gd name="connsiteY5-252" fmla="*/ 1682647 h 1682647"/>
                <a:gd name="connsiteX6-253" fmla="*/ 154371 w 1101086"/>
                <a:gd name="connsiteY6-254" fmla="*/ 437980 h 1682647"/>
                <a:gd name="connsiteX7-255" fmla="*/ 0 w 1101086"/>
                <a:gd name="connsiteY7-256" fmla="*/ 431473 h 1682647"/>
                <a:gd name="connsiteX0-257" fmla="*/ 0 w 1101086"/>
                <a:gd name="connsiteY0-258" fmla="*/ 431473 h 1682647"/>
                <a:gd name="connsiteX1-259" fmla="*/ 396687 w 1101086"/>
                <a:gd name="connsiteY1-260" fmla="*/ 0 h 1682647"/>
                <a:gd name="connsiteX2-261" fmla="*/ 742872 w 1101086"/>
                <a:gd name="connsiteY2-262" fmla="*/ 449188 h 1682647"/>
                <a:gd name="connsiteX3-263" fmla="*/ 600000 w 1101086"/>
                <a:gd name="connsiteY3-264" fmla="*/ 449698 h 1682647"/>
                <a:gd name="connsiteX4-265" fmla="*/ 1101086 w 1101086"/>
                <a:gd name="connsiteY4-266" fmla="*/ 1363824 h 1682647"/>
                <a:gd name="connsiteX5-267" fmla="*/ 211183 w 1101086"/>
                <a:gd name="connsiteY5-268" fmla="*/ 1682647 h 1682647"/>
                <a:gd name="connsiteX6-269" fmla="*/ 154371 w 1101086"/>
                <a:gd name="connsiteY6-270" fmla="*/ 437980 h 1682647"/>
                <a:gd name="connsiteX7-271" fmla="*/ 0 w 1101086"/>
                <a:gd name="connsiteY7-272" fmla="*/ 431473 h 1682647"/>
                <a:gd name="connsiteX0-273" fmla="*/ 0 w 1101086"/>
                <a:gd name="connsiteY0-274" fmla="*/ 431473 h 1682647"/>
                <a:gd name="connsiteX1-275" fmla="*/ 396687 w 1101086"/>
                <a:gd name="connsiteY1-276" fmla="*/ 0 h 1682647"/>
                <a:gd name="connsiteX2-277" fmla="*/ 742872 w 1101086"/>
                <a:gd name="connsiteY2-278" fmla="*/ 449188 h 1682647"/>
                <a:gd name="connsiteX3-279" fmla="*/ 600000 w 1101086"/>
                <a:gd name="connsiteY3-280" fmla="*/ 449698 h 1682647"/>
                <a:gd name="connsiteX4-281" fmla="*/ 1101086 w 1101086"/>
                <a:gd name="connsiteY4-282" fmla="*/ 1363824 h 1682647"/>
                <a:gd name="connsiteX5-283" fmla="*/ 211183 w 1101086"/>
                <a:gd name="connsiteY5-284" fmla="*/ 1682647 h 1682647"/>
                <a:gd name="connsiteX6-285" fmla="*/ 154371 w 1101086"/>
                <a:gd name="connsiteY6-286" fmla="*/ 437980 h 1682647"/>
                <a:gd name="connsiteX7-287" fmla="*/ 0 w 1101086"/>
                <a:gd name="connsiteY7-288" fmla="*/ 431473 h 1682647"/>
                <a:gd name="connsiteX0-289" fmla="*/ 0 w 1101086"/>
                <a:gd name="connsiteY0-290" fmla="*/ 431473 h 1682647"/>
                <a:gd name="connsiteX1-291" fmla="*/ 396687 w 1101086"/>
                <a:gd name="connsiteY1-292" fmla="*/ 0 h 1682647"/>
                <a:gd name="connsiteX2-293" fmla="*/ 742872 w 1101086"/>
                <a:gd name="connsiteY2-294" fmla="*/ 449188 h 1682647"/>
                <a:gd name="connsiteX3-295" fmla="*/ 600000 w 1101086"/>
                <a:gd name="connsiteY3-296" fmla="*/ 449698 h 1682647"/>
                <a:gd name="connsiteX4-297" fmla="*/ 1101086 w 1101086"/>
                <a:gd name="connsiteY4-298" fmla="*/ 1363824 h 1682647"/>
                <a:gd name="connsiteX5-299" fmla="*/ 211183 w 1101086"/>
                <a:gd name="connsiteY5-300" fmla="*/ 1682647 h 1682647"/>
                <a:gd name="connsiteX6-301" fmla="*/ 154371 w 1101086"/>
                <a:gd name="connsiteY6-302" fmla="*/ 437980 h 1682647"/>
                <a:gd name="connsiteX7-303" fmla="*/ 0 w 1101086"/>
                <a:gd name="connsiteY7-304" fmla="*/ 431473 h 1682647"/>
                <a:gd name="connsiteX0-305" fmla="*/ 0 w 877005"/>
                <a:gd name="connsiteY0-306" fmla="*/ 431473 h 1682647"/>
                <a:gd name="connsiteX1-307" fmla="*/ 396687 w 877005"/>
                <a:gd name="connsiteY1-308" fmla="*/ 0 h 1682647"/>
                <a:gd name="connsiteX2-309" fmla="*/ 742872 w 877005"/>
                <a:gd name="connsiteY2-310" fmla="*/ 449188 h 1682647"/>
                <a:gd name="connsiteX3-311" fmla="*/ 600000 w 877005"/>
                <a:gd name="connsiteY3-312" fmla="*/ 449698 h 1682647"/>
                <a:gd name="connsiteX4-313" fmla="*/ 877005 w 877005"/>
                <a:gd name="connsiteY4-314" fmla="*/ 1445049 h 1682647"/>
                <a:gd name="connsiteX5-315" fmla="*/ 211183 w 877005"/>
                <a:gd name="connsiteY5-316" fmla="*/ 1682647 h 1682647"/>
                <a:gd name="connsiteX6-317" fmla="*/ 154371 w 877005"/>
                <a:gd name="connsiteY6-318" fmla="*/ 437980 h 1682647"/>
                <a:gd name="connsiteX7-319" fmla="*/ 0 w 877005"/>
                <a:gd name="connsiteY7-320" fmla="*/ 431473 h 1682647"/>
                <a:gd name="connsiteX0-321" fmla="*/ 0 w 917020"/>
                <a:gd name="connsiteY0-322" fmla="*/ 431473 h 1682647"/>
                <a:gd name="connsiteX1-323" fmla="*/ 396687 w 917020"/>
                <a:gd name="connsiteY1-324" fmla="*/ 0 h 1682647"/>
                <a:gd name="connsiteX2-325" fmla="*/ 742872 w 917020"/>
                <a:gd name="connsiteY2-326" fmla="*/ 449188 h 1682647"/>
                <a:gd name="connsiteX3-327" fmla="*/ 600000 w 917020"/>
                <a:gd name="connsiteY3-328" fmla="*/ 449698 h 1682647"/>
                <a:gd name="connsiteX4-329" fmla="*/ 917020 w 917020"/>
                <a:gd name="connsiteY4-330" fmla="*/ 1430545 h 1682647"/>
                <a:gd name="connsiteX5-331" fmla="*/ 211183 w 917020"/>
                <a:gd name="connsiteY5-332" fmla="*/ 1682647 h 1682647"/>
                <a:gd name="connsiteX6-333" fmla="*/ 154371 w 917020"/>
                <a:gd name="connsiteY6-334" fmla="*/ 437980 h 1682647"/>
                <a:gd name="connsiteX7-335" fmla="*/ 0 w 917020"/>
                <a:gd name="connsiteY7-336" fmla="*/ 431473 h 1682647"/>
                <a:gd name="connsiteX0-337" fmla="*/ 0 w 917020"/>
                <a:gd name="connsiteY0-338" fmla="*/ 431473 h 1682647"/>
                <a:gd name="connsiteX1-339" fmla="*/ 396687 w 917020"/>
                <a:gd name="connsiteY1-340" fmla="*/ 0 h 1682647"/>
                <a:gd name="connsiteX2-341" fmla="*/ 742872 w 917020"/>
                <a:gd name="connsiteY2-342" fmla="*/ 449188 h 1682647"/>
                <a:gd name="connsiteX3-343" fmla="*/ 600000 w 917020"/>
                <a:gd name="connsiteY3-344" fmla="*/ 449698 h 1682647"/>
                <a:gd name="connsiteX4-345" fmla="*/ 917020 w 917020"/>
                <a:gd name="connsiteY4-346" fmla="*/ 1430545 h 1682647"/>
                <a:gd name="connsiteX5-347" fmla="*/ 211183 w 917020"/>
                <a:gd name="connsiteY5-348" fmla="*/ 1682647 h 1682647"/>
                <a:gd name="connsiteX6-349" fmla="*/ 154371 w 917020"/>
                <a:gd name="connsiteY6-350" fmla="*/ 437980 h 1682647"/>
                <a:gd name="connsiteX7-351" fmla="*/ 0 w 917020"/>
                <a:gd name="connsiteY7-352" fmla="*/ 431473 h 1682647"/>
                <a:gd name="connsiteX0-353" fmla="*/ 0 w 1001946"/>
                <a:gd name="connsiteY0-354" fmla="*/ 431473 h 1682647"/>
                <a:gd name="connsiteX1-355" fmla="*/ 396687 w 1001946"/>
                <a:gd name="connsiteY1-356" fmla="*/ 0 h 1682647"/>
                <a:gd name="connsiteX2-357" fmla="*/ 742872 w 1001946"/>
                <a:gd name="connsiteY2-358" fmla="*/ 449188 h 1682647"/>
                <a:gd name="connsiteX3-359" fmla="*/ 600000 w 1001946"/>
                <a:gd name="connsiteY3-360" fmla="*/ 449698 h 1682647"/>
                <a:gd name="connsiteX4-361" fmla="*/ 1001946 w 1001946"/>
                <a:gd name="connsiteY4-362" fmla="*/ 1554234 h 1682647"/>
                <a:gd name="connsiteX5-363" fmla="*/ 211183 w 1001946"/>
                <a:gd name="connsiteY5-364" fmla="*/ 1682647 h 1682647"/>
                <a:gd name="connsiteX6-365" fmla="*/ 154371 w 1001946"/>
                <a:gd name="connsiteY6-366" fmla="*/ 437980 h 1682647"/>
                <a:gd name="connsiteX7-367" fmla="*/ 0 w 1001946"/>
                <a:gd name="connsiteY7-368" fmla="*/ 431473 h 1682647"/>
                <a:gd name="connsiteX0-369" fmla="*/ 0 w 1001946"/>
                <a:gd name="connsiteY0-370" fmla="*/ 431473 h 1854320"/>
                <a:gd name="connsiteX1-371" fmla="*/ 396687 w 1001946"/>
                <a:gd name="connsiteY1-372" fmla="*/ 0 h 1854320"/>
                <a:gd name="connsiteX2-373" fmla="*/ 742872 w 1001946"/>
                <a:gd name="connsiteY2-374" fmla="*/ 449188 h 1854320"/>
                <a:gd name="connsiteX3-375" fmla="*/ 600000 w 1001946"/>
                <a:gd name="connsiteY3-376" fmla="*/ 449698 h 1854320"/>
                <a:gd name="connsiteX4-377" fmla="*/ 1001946 w 1001946"/>
                <a:gd name="connsiteY4-378" fmla="*/ 1554234 h 1854320"/>
                <a:gd name="connsiteX5-379" fmla="*/ 300410 w 1001946"/>
                <a:gd name="connsiteY5-380" fmla="*/ 1854320 h 1854320"/>
                <a:gd name="connsiteX6-381" fmla="*/ 154371 w 1001946"/>
                <a:gd name="connsiteY6-382" fmla="*/ 437980 h 1854320"/>
                <a:gd name="connsiteX7-383" fmla="*/ 0 w 1001946"/>
                <a:gd name="connsiteY7-384" fmla="*/ 431473 h 1854320"/>
                <a:gd name="connsiteX0-385" fmla="*/ 0 w 1001946"/>
                <a:gd name="connsiteY0-386" fmla="*/ 431473 h 1891590"/>
                <a:gd name="connsiteX1-387" fmla="*/ 396687 w 1001946"/>
                <a:gd name="connsiteY1-388" fmla="*/ 0 h 1891590"/>
                <a:gd name="connsiteX2-389" fmla="*/ 742872 w 1001946"/>
                <a:gd name="connsiteY2-390" fmla="*/ 449188 h 1891590"/>
                <a:gd name="connsiteX3-391" fmla="*/ 600000 w 1001946"/>
                <a:gd name="connsiteY3-392" fmla="*/ 449698 h 1891590"/>
                <a:gd name="connsiteX4-393" fmla="*/ 1001946 w 1001946"/>
                <a:gd name="connsiteY4-394" fmla="*/ 1554234 h 1891590"/>
                <a:gd name="connsiteX5-395" fmla="*/ 317815 w 1001946"/>
                <a:gd name="connsiteY5-396" fmla="*/ 1891590 h 1891590"/>
                <a:gd name="connsiteX6-397" fmla="*/ 154371 w 1001946"/>
                <a:gd name="connsiteY6-398" fmla="*/ 437980 h 1891590"/>
                <a:gd name="connsiteX7-399" fmla="*/ 0 w 1001946"/>
                <a:gd name="connsiteY7-400" fmla="*/ 431473 h 1891590"/>
                <a:gd name="connsiteX0-401" fmla="*/ 0 w 1001946"/>
                <a:gd name="connsiteY0-402" fmla="*/ 431473 h 1928860"/>
                <a:gd name="connsiteX1-403" fmla="*/ 396687 w 1001946"/>
                <a:gd name="connsiteY1-404" fmla="*/ 0 h 1928860"/>
                <a:gd name="connsiteX2-405" fmla="*/ 742872 w 1001946"/>
                <a:gd name="connsiteY2-406" fmla="*/ 449188 h 1928860"/>
                <a:gd name="connsiteX3-407" fmla="*/ 600000 w 1001946"/>
                <a:gd name="connsiteY3-408" fmla="*/ 449698 h 1928860"/>
                <a:gd name="connsiteX4-409" fmla="*/ 1001946 w 1001946"/>
                <a:gd name="connsiteY4-410" fmla="*/ 1554234 h 1928860"/>
                <a:gd name="connsiteX5-411" fmla="*/ 335220 w 1001946"/>
                <a:gd name="connsiteY5-412" fmla="*/ 1928860 h 1928860"/>
                <a:gd name="connsiteX6-413" fmla="*/ 154371 w 1001946"/>
                <a:gd name="connsiteY6-414" fmla="*/ 437980 h 1928860"/>
                <a:gd name="connsiteX7-415" fmla="*/ 0 w 1001946"/>
                <a:gd name="connsiteY7-416" fmla="*/ 431473 h 1928860"/>
                <a:gd name="connsiteX0-1-1" fmla="*/ 0 w 1001946"/>
                <a:gd name="connsiteY0-2-2" fmla="*/ 431473 h 1851886"/>
                <a:gd name="connsiteX1-3-3" fmla="*/ 396687 w 1001946"/>
                <a:gd name="connsiteY1-4-4" fmla="*/ 0 h 1851886"/>
                <a:gd name="connsiteX2-5-5" fmla="*/ 742872 w 1001946"/>
                <a:gd name="connsiteY2-6-6" fmla="*/ 449188 h 1851886"/>
                <a:gd name="connsiteX3-7-7" fmla="*/ 600000 w 1001946"/>
                <a:gd name="connsiteY3-8-8" fmla="*/ 449698 h 1851886"/>
                <a:gd name="connsiteX4-9-9" fmla="*/ 1001946 w 1001946"/>
                <a:gd name="connsiteY4-10-10" fmla="*/ 1554234 h 1851886"/>
                <a:gd name="connsiteX5-11-11" fmla="*/ 306129 w 1001946"/>
                <a:gd name="connsiteY5-12-12" fmla="*/ 1851886 h 1851886"/>
                <a:gd name="connsiteX6-13-13" fmla="*/ 154371 w 1001946"/>
                <a:gd name="connsiteY6-14-14" fmla="*/ 437980 h 1851886"/>
                <a:gd name="connsiteX7-15-15" fmla="*/ 0 w 1001946"/>
                <a:gd name="connsiteY7-16-16" fmla="*/ 431473 h 1851886"/>
                <a:gd name="connsiteX0-17-17" fmla="*/ 0 w 1001946"/>
                <a:gd name="connsiteY0-18-18" fmla="*/ 431473 h 1851886"/>
                <a:gd name="connsiteX1-19-19" fmla="*/ 396687 w 1001946"/>
                <a:gd name="connsiteY1-20-20" fmla="*/ 0 h 1851886"/>
                <a:gd name="connsiteX2-21-21" fmla="*/ 742872 w 1001946"/>
                <a:gd name="connsiteY2-22-22" fmla="*/ 449188 h 1851886"/>
                <a:gd name="connsiteX3-23-23" fmla="*/ 600000 w 1001946"/>
                <a:gd name="connsiteY3-24-24" fmla="*/ 449698 h 1851886"/>
                <a:gd name="connsiteX4-25-25" fmla="*/ 1001946 w 1001946"/>
                <a:gd name="connsiteY4-26-26" fmla="*/ 1554234 h 1851886"/>
                <a:gd name="connsiteX5-27-27" fmla="*/ 306129 w 1001946"/>
                <a:gd name="connsiteY5-28-28" fmla="*/ 1851886 h 1851886"/>
                <a:gd name="connsiteX6-29-29" fmla="*/ 154371 w 1001946"/>
                <a:gd name="connsiteY6-30-30" fmla="*/ 437980 h 1851886"/>
                <a:gd name="connsiteX7-31-31" fmla="*/ 0 w 1001946"/>
                <a:gd name="connsiteY7-32-32" fmla="*/ 431473 h 1851886"/>
                <a:gd name="connsiteX0-33-33" fmla="*/ 0 w 1001946"/>
                <a:gd name="connsiteY0-34-34" fmla="*/ 431473 h 1851886"/>
                <a:gd name="connsiteX1-35-35" fmla="*/ 396687 w 1001946"/>
                <a:gd name="connsiteY1-36-36" fmla="*/ 0 h 1851886"/>
                <a:gd name="connsiteX2-37-37" fmla="*/ 742872 w 1001946"/>
                <a:gd name="connsiteY2-38-38" fmla="*/ 449188 h 1851886"/>
                <a:gd name="connsiteX3-39-39" fmla="*/ 600000 w 1001946"/>
                <a:gd name="connsiteY3-40-40" fmla="*/ 449698 h 1851886"/>
                <a:gd name="connsiteX4-41-41" fmla="*/ 1001946 w 1001946"/>
                <a:gd name="connsiteY4-42-42" fmla="*/ 1554234 h 1851886"/>
                <a:gd name="connsiteX5-43-43" fmla="*/ 306129 w 1001946"/>
                <a:gd name="connsiteY5-44-44" fmla="*/ 1851886 h 1851886"/>
                <a:gd name="connsiteX6-45-45" fmla="*/ 154371 w 1001946"/>
                <a:gd name="connsiteY6-46-46" fmla="*/ 437980 h 1851886"/>
                <a:gd name="connsiteX7-47-47" fmla="*/ 0 w 1001946"/>
                <a:gd name="connsiteY7-48-48" fmla="*/ 431473 h 1851886"/>
                <a:gd name="connsiteX0-49-49" fmla="*/ 0 w 1001946"/>
                <a:gd name="connsiteY0-50-50" fmla="*/ 431473 h 1851886"/>
                <a:gd name="connsiteX1-51-51" fmla="*/ 396687 w 1001946"/>
                <a:gd name="connsiteY1-52-52" fmla="*/ 0 h 1851886"/>
                <a:gd name="connsiteX2-53-53" fmla="*/ 742872 w 1001946"/>
                <a:gd name="connsiteY2-54-54" fmla="*/ 449188 h 1851886"/>
                <a:gd name="connsiteX3-55-55" fmla="*/ 600000 w 1001946"/>
                <a:gd name="connsiteY3-56-56" fmla="*/ 449698 h 1851886"/>
                <a:gd name="connsiteX4-57-57" fmla="*/ 1001946 w 1001946"/>
                <a:gd name="connsiteY4-58-58" fmla="*/ 1554234 h 1851886"/>
                <a:gd name="connsiteX5-59-59" fmla="*/ 306129 w 1001946"/>
                <a:gd name="connsiteY5-60-60" fmla="*/ 1851886 h 1851886"/>
                <a:gd name="connsiteX6-61-61" fmla="*/ 154371 w 1001946"/>
                <a:gd name="connsiteY6-62-62" fmla="*/ 437980 h 1851886"/>
                <a:gd name="connsiteX7-63-63" fmla="*/ 0 w 1001946"/>
                <a:gd name="connsiteY7-64-64" fmla="*/ 431473 h 1851886"/>
                <a:gd name="connsiteX0-65-65" fmla="*/ 0 w 1022856"/>
                <a:gd name="connsiteY0-66-66" fmla="*/ 431473 h 1851886"/>
                <a:gd name="connsiteX1-67-67" fmla="*/ 396687 w 1022856"/>
                <a:gd name="connsiteY1-68-68" fmla="*/ 0 h 1851886"/>
                <a:gd name="connsiteX2-69-69" fmla="*/ 742872 w 1022856"/>
                <a:gd name="connsiteY2-70-70" fmla="*/ 449188 h 1851886"/>
                <a:gd name="connsiteX3-71-71" fmla="*/ 600000 w 1022856"/>
                <a:gd name="connsiteY3-72-72" fmla="*/ 449698 h 1851886"/>
                <a:gd name="connsiteX4-73-73" fmla="*/ 1022856 w 1022856"/>
                <a:gd name="connsiteY4-74-74" fmla="*/ 1569641 h 1851886"/>
                <a:gd name="connsiteX5-75-75" fmla="*/ 306129 w 1022856"/>
                <a:gd name="connsiteY5-76-76" fmla="*/ 1851886 h 1851886"/>
                <a:gd name="connsiteX6-77-77" fmla="*/ 154371 w 1022856"/>
                <a:gd name="connsiteY6-78-78" fmla="*/ 437980 h 1851886"/>
                <a:gd name="connsiteX7-79-79" fmla="*/ 0 w 1022856"/>
                <a:gd name="connsiteY7-80-80" fmla="*/ 431473 h 1851886"/>
                <a:gd name="connsiteX0-81-81" fmla="*/ 0 w 1022856"/>
                <a:gd name="connsiteY0-82-82" fmla="*/ 431473 h 1851886"/>
                <a:gd name="connsiteX1-83-83" fmla="*/ 396687 w 1022856"/>
                <a:gd name="connsiteY1-84-84" fmla="*/ 0 h 1851886"/>
                <a:gd name="connsiteX2-85-85" fmla="*/ 742872 w 1022856"/>
                <a:gd name="connsiteY2-86-86" fmla="*/ 449188 h 1851886"/>
                <a:gd name="connsiteX3-87-87" fmla="*/ 600000 w 1022856"/>
                <a:gd name="connsiteY3-88-88" fmla="*/ 449698 h 1851886"/>
                <a:gd name="connsiteX4-89-89" fmla="*/ 1022856 w 1022856"/>
                <a:gd name="connsiteY4-90-90" fmla="*/ 1569641 h 1851886"/>
                <a:gd name="connsiteX5-91-91" fmla="*/ 306129 w 1022856"/>
                <a:gd name="connsiteY5-92-92" fmla="*/ 1851886 h 1851886"/>
                <a:gd name="connsiteX6-93-93" fmla="*/ 154371 w 1022856"/>
                <a:gd name="connsiteY6-94-94" fmla="*/ 437980 h 1851886"/>
                <a:gd name="connsiteX7-95-95" fmla="*/ 0 w 1022856"/>
                <a:gd name="connsiteY7-96-96" fmla="*/ 431473 h 1851886"/>
              </a:gdLst>
              <a:ahLst/>
              <a:cxnLst>
                <a:cxn ang="0">
                  <a:pos x="connsiteX0-1-1" y="connsiteY0-2-2"/>
                </a:cxn>
                <a:cxn ang="0">
                  <a:pos x="connsiteX1-3-3" y="connsiteY1-4-4"/>
                </a:cxn>
                <a:cxn ang="0">
                  <a:pos x="connsiteX2-5-5" y="connsiteY2-6-6"/>
                </a:cxn>
                <a:cxn ang="0">
                  <a:pos x="connsiteX3-7-7" y="connsiteY3-8-8"/>
                </a:cxn>
                <a:cxn ang="0">
                  <a:pos x="connsiteX4-9-9" y="connsiteY4-10-10"/>
                </a:cxn>
                <a:cxn ang="0">
                  <a:pos x="connsiteX5-11-11" y="connsiteY5-12-12"/>
                </a:cxn>
                <a:cxn ang="0">
                  <a:pos x="connsiteX6-13-13" y="connsiteY6-14-14"/>
                </a:cxn>
                <a:cxn ang="0">
                  <a:pos x="connsiteX7-15-15" y="connsiteY7-16-16"/>
                </a:cxn>
              </a:cxnLst>
              <a:rect l="l" t="t" r="r" b="b"/>
              <a:pathLst>
                <a:path w="1022856" h="1851886">
                  <a:moveTo>
                    <a:pt x="0" y="431473"/>
                  </a:moveTo>
                  <a:lnTo>
                    <a:pt x="396687" y="0"/>
                  </a:lnTo>
                  <a:lnTo>
                    <a:pt x="742872" y="449188"/>
                  </a:lnTo>
                  <a:lnTo>
                    <a:pt x="600000" y="449698"/>
                  </a:lnTo>
                  <a:cubicBezTo>
                    <a:pt x="574978" y="639207"/>
                    <a:pt x="846848" y="1352043"/>
                    <a:pt x="1022856" y="1569641"/>
                  </a:cubicBezTo>
                  <a:cubicBezTo>
                    <a:pt x="708639" y="1688458"/>
                    <a:pt x="583980" y="1743300"/>
                    <a:pt x="306129" y="1851886"/>
                  </a:cubicBezTo>
                  <a:cubicBezTo>
                    <a:pt x="236432" y="1662445"/>
                    <a:pt x="-1847" y="1030036"/>
                    <a:pt x="154371" y="437980"/>
                  </a:cubicBezTo>
                  <a:lnTo>
                    <a:pt x="0" y="431473"/>
                  </a:lnTo>
                  <a:close/>
                </a:path>
              </a:pathLst>
            </a:custGeom>
            <a:gradFill flip="none" rotWithShape="1">
              <a:gsLst>
                <a:gs pos="9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0"/>
              <a:tileRect/>
            </a:gra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8755" tIns="49378" rIns="98755" bIns="49378" rtlCol="0" anchor="ctr">
              <a:noAutofit/>
            </a:bodyPr>
            <a:lstStyle/>
            <a:p>
              <a:pPr algn="ctr"/>
              <a:endParaRPr lang="zh-CN" altLang="en-US" sz="2000" dirty="0">
                <a:solidFill>
                  <a:schemeClr val="bg1"/>
                </a:solidFill>
                <a:effectLst>
                  <a:outerShdw blurRad="137160" dist="41148" dir="2699997" algn="tl">
                    <a:srgbClr val="000000">
                      <a:alpha val="40000"/>
                    </a:srgbClr>
                  </a:outerShdw>
                </a:effectLst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微软雅黑" panose="020B0502040204020203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7987" y="1062894"/>
            <a:ext cx="11375371" cy="842352"/>
            <a:chOff x="988127" y="5171877"/>
            <a:chExt cx="10215746" cy="842352"/>
          </a:xfrm>
        </p:grpSpPr>
        <p:sp>
          <p:nvSpPr>
            <p:cNvPr id="46" name="梯形 45"/>
            <p:cNvSpPr/>
            <p:nvPr/>
          </p:nvSpPr>
          <p:spPr>
            <a:xfrm>
              <a:off x="988127" y="5171877"/>
              <a:ext cx="10215746" cy="770351"/>
            </a:xfrm>
            <a:prstGeom prst="trapezoid">
              <a:avLst>
                <a:gd name="adj" fmla="val 61701"/>
              </a:avLst>
            </a:prstGeom>
            <a:noFill/>
            <a:ln w="12700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988421" y="5942229"/>
              <a:ext cx="10215160" cy="720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微软雅黑" panose="020B0502040204020203" pitchFamily="34" charset="-122"/>
                <a:ea typeface="微软雅黑" panose="020B0502040204020203" pitchFamily="34" charset="-122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156" y="295799"/>
            <a:ext cx="9967929" cy="461665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产品定位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D9C60B98-F192-C3F9-BFAE-D59A50C481E0}"/>
              </a:ext>
            </a:extLst>
          </p:cNvPr>
          <p:cNvSpPr>
            <a:spLocks noGrp="1"/>
          </p:cNvSpPr>
          <p:nvPr/>
        </p:nvSpPr>
        <p:spPr>
          <a:xfrm>
            <a:off x="1124813" y="670404"/>
            <a:ext cx="10080000" cy="52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0" lang="zh-CN" altLang="en-US" sz="2400" b="1" i="0" u="none" strike="noStrike" kern="1200" cap="none" spc="0" normalizeH="0" baseline="0">
                <a:ln>
                  <a:noFill/>
                </a:ln>
                <a:solidFill>
                  <a:srgbClr val="0058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 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ym typeface="+mn-lt"/>
              </a:rPr>
              <a:t>一平台：中国电子云穿透式监管智能应用平台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F8C16A-3DE7-12E9-B581-933C5334F3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857562" y="5643015"/>
            <a:ext cx="1033780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1400" b="1" dirty="0">
                <a:solidFill>
                  <a:srgbClr val="717071">
                    <a:lumMod val="7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数据底座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8A22FC9-F3D2-112B-BD67-765277A4105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64870" y="3759288"/>
            <a:ext cx="10337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zh-CN" sz="1400" b="1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四个穿透</a:t>
            </a:r>
          </a:p>
          <a:p>
            <a:pPr marL="0" indent="0" algn="ctr"/>
            <a:r>
              <a:rPr lang="zh-CN" sz="1400" b="1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发力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7DD704B-CB61-AA9D-993E-DC47A188C5E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64870" y="2800438"/>
            <a:ext cx="10337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zh-CN" sz="1400" b="1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监管模型</a:t>
            </a:r>
          </a:p>
          <a:p>
            <a:pPr marL="0" indent="0" algn="ctr"/>
            <a:r>
              <a:rPr lang="zh-CN" sz="1400" b="1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技防</a:t>
            </a:r>
          </a:p>
        </p:txBody>
      </p:sp>
      <p:sp>
        <p:nvSpPr>
          <p:cNvPr id="44" name="等腰三角形 15">
            <a:extLst>
              <a:ext uri="{FF2B5EF4-FFF2-40B4-BE49-F238E27FC236}">
                <a16:creationId xmlns:a16="http://schemas.microsoft.com/office/drawing/2014/main" id="{0EE7BA5B-B432-DAE9-B085-6F2934688AC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016760" y="1234528"/>
            <a:ext cx="9493250" cy="419100"/>
          </a:xfrm>
          <a:prstGeom prst="triangle">
            <a:avLst>
              <a:gd name="adj" fmla="val 50000"/>
            </a:avLst>
          </a:prstGeom>
          <a:gradFill>
            <a:gsLst>
              <a:gs pos="100000">
                <a:schemeClr val="accent2">
                  <a:alpha val="30000"/>
                </a:schemeClr>
              </a:gs>
              <a:gs pos="0">
                <a:srgbClr val="0058FF">
                  <a:alpha val="9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BFAFA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259B17A-8786-9CCC-877A-0B27CBCAC7C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637530" y="1299298"/>
            <a:ext cx="2190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+mn-ea"/>
                <a:sym typeface="+mn-lt"/>
              </a:rPr>
              <a:t>穿透式监管平台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0824B59-521C-6CDA-83AA-70852A8D81C5}"/>
              </a:ext>
            </a:extLst>
          </p:cNvPr>
          <p:cNvGrpSpPr/>
          <p:nvPr/>
        </p:nvGrpSpPr>
        <p:grpSpPr>
          <a:xfrm>
            <a:off x="1930046" y="1664492"/>
            <a:ext cx="9580245" cy="314325"/>
            <a:chOff x="1512272" y="2598928"/>
            <a:chExt cx="9175493" cy="314325"/>
          </a:xfrm>
        </p:grpSpPr>
        <p:sp>
          <p:nvSpPr>
            <p:cNvPr id="47" name="圆角矩形 28">
              <a:extLst>
                <a:ext uri="{FF2B5EF4-FFF2-40B4-BE49-F238E27FC236}">
                  <a16:creationId xmlns:a16="http://schemas.microsoft.com/office/drawing/2014/main" id="{1195727E-9B98-F006-8FCA-DDFDD7EE85E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512272" y="2598928"/>
              <a:ext cx="9175493" cy="314325"/>
            </a:xfrm>
            <a:prstGeom prst="roundRect">
              <a:avLst>
                <a:gd name="adj" fmla="val 3252"/>
              </a:avLst>
            </a:prstGeom>
            <a:solidFill>
              <a:srgbClr val="005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BFAFA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圆角矩形 45">
              <a:extLst>
                <a:ext uri="{FF2B5EF4-FFF2-40B4-BE49-F238E27FC236}">
                  <a16:creationId xmlns:a16="http://schemas.microsoft.com/office/drawing/2014/main" id="{6F87D534-BE97-F941-3DEE-B7AF77EDDDC0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2461629" y="2630043"/>
              <a:ext cx="3437997" cy="245745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BFAFA"/>
                  </a:solidFill>
                  <a:effectLst/>
                  <a:uLnTx/>
                  <a:uFillTx/>
                  <a:cs typeface="+mn-ea"/>
                  <a:sym typeface="+mn-lt"/>
                </a:rPr>
                <a:t>着力解决制约高质量发展的突出问题</a:t>
              </a:r>
            </a:p>
          </p:txBody>
        </p:sp>
        <p:sp>
          <p:nvSpPr>
            <p:cNvPr id="49" name="圆角矩形 45">
              <a:extLst>
                <a:ext uri="{FF2B5EF4-FFF2-40B4-BE49-F238E27FC236}">
                  <a16:creationId xmlns:a16="http://schemas.microsoft.com/office/drawing/2014/main" id="{C4D0AA58-DD53-12CB-85C3-594AC43D7080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6525435" y="2630043"/>
              <a:ext cx="3353461" cy="24511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BFAFA"/>
                  </a:solidFill>
                  <a:effectLst/>
                  <a:uLnTx/>
                  <a:uFillTx/>
                  <a:cs typeface="+mn-ea"/>
                  <a:sym typeface="+mn-lt"/>
                </a:rPr>
                <a:t>有效防范化解风险隐患</a:t>
              </a: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CD0DF46-4B46-31E9-C72B-BC9486AFCE9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0151772" y="1459646"/>
            <a:ext cx="1152455" cy="2527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>
              <a:defRPr/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BD6597C-DC96-2C44-2794-3E51E062A6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64870" y="2018118"/>
            <a:ext cx="103378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zh-CN" sz="1400" b="1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风险监督</a:t>
            </a:r>
          </a:p>
          <a:p>
            <a:pPr marL="0" indent="0" algn="ctr"/>
            <a:r>
              <a:rPr lang="zh-CN" sz="1400" b="1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rPr>
              <a:t>闭环</a:t>
            </a:r>
          </a:p>
        </p:txBody>
      </p:sp>
      <p:sp>
        <p:nvSpPr>
          <p:cNvPr id="53" name="上箭头 285">
            <a:extLst>
              <a:ext uri="{FF2B5EF4-FFF2-40B4-BE49-F238E27FC236}">
                <a16:creationId xmlns:a16="http://schemas.microsoft.com/office/drawing/2014/main" id="{526927C0-E9F6-1A37-87DC-C15DEE96F4E4}"/>
              </a:ext>
            </a:extLst>
          </p:cNvPr>
          <p:cNvSpPr/>
          <p:nvPr/>
        </p:nvSpPr>
        <p:spPr>
          <a:xfrm>
            <a:off x="348075" y="1667959"/>
            <a:ext cx="485088" cy="4901184"/>
          </a:xfrm>
          <a:prstGeom prst="upArrow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44000">
                <a:srgbClr val="0058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lt1"/>
                </a:solidFill>
                <a:cs typeface="+mn-ea"/>
                <a:sym typeface="+mn-lt"/>
              </a:rPr>
              <a:t>以“四全”贯通构建智能化穿透监管闭环</a:t>
            </a:r>
          </a:p>
        </p:txBody>
      </p:sp>
      <p:sp>
        <p:nvSpPr>
          <p:cNvPr id="54" name="圆角矩形 44">
            <a:extLst>
              <a:ext uri="{FF2B5EF4-FFF2-40B4-BE49-F238E27FC236}">
                <a16:creationId xmlns:a16="http://schemas.microsoft.com/office/drawing/2014/main" id="{EDC7E82A-AA16-D3DE-4F68-565F4FE6371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039562" y="5689023"/>
            <a:ext cx="9262808" cy="6902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5" name="圆角矩形 44">
            <a:extLst>
              <a:ext uri="{FF2B5EF4-FFF2-40B4-BE49-F238E27FC236}">
                <a16:creationId xmlns:a16="http://schemas.microsoft.com/office/drawing/2014/main" id="{144AF99D-A5BB-9766-9618-F63596A106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016760" y="2111287"/>
            <a:ext cx="9262808" cy="462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6" name="圆角矩形 44">
            <a:extLst>
              <a:ext uri="{FF2B5EF4-FFF2-40B4-BE49-F238E27FC236}">
                <a16:creationId xmlns:a16="http://schemas.microsoft.com/office/drawing/2014/main" id="{F861A8AA-3B8F-B617-B84A-E6E0A0940106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055727" y="3788198"/>
            <a:ext cx="9262808" cy="1070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1B0BDD7-536B-CD55-E9E7-3AEAD6881980}"/>
              </a:ext>
            </a:extLst>
          </p:cNvPr>
          <p:cNvSpPr txBox="1"/>
          <p:nvPr/>
        </p:nvSpPr>
        <p:spPr>
          <a:xfrm>
            <a:off x="2214129" y="3817408"/>
            <a:ext cx="1992913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全级次（组织边界）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8AD145F-2C06-D94C-246C-7B865FEEFA35}"/>
              </a:ext>
            </a:extLst>
          </p:cNvPr>
          <p:cNvSpPr txBox="1"/>
          <p:nvPr/>
        </p:nvSpPr>
        <p:spPr>
          <a:xfrm>
            <a:off x="4510337" y="3817408"/>
            <a:ext cx="1992913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全链条（业务边界）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EC88198-9CE7-BCD5-6A33-070B7FEA872C}"/>
              </a:ext>
            </a:extLst>
          </p:cNvPr>
          <p:cNvSpPr txBox="1"/>
          <p:nvPr/>
        </p:nvSpPr>
        <p:spPr>
          <a:xfrm>
            <a:off x="6803476" y="3817408"/>
            <a:ext cx="1992913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全过程（时间边界）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33CD037-FB22-22B9-3AC4-6F54CE2C31BC}"/>
              </a:ext>
            </a:extLst>
          </p:cNvPr>
          <p:cNvSpPr txBox="1"/>
          <p:nvPr/>
        </p:nvSpPr>
        <p:spPr>
          <a:xfrm>
            <a:off x="9151257" y="3817408"/>
            <a:ext cx="1992913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全要素（对象边界）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ED9A740-6B7A-789B-42AB-120BA547EF27}"/>
              </a:ext>
            </a:extLst>
          </p:cNvPr>
          <p:cNvSpPr/>
          <p:nvPr/>
        </p:nvSpPr>
        <p:spPr>
          <a:xfrm>
            <a:off x="2214129" y="4128558"/>
            <a:ext cx="1992913" cy="6883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  <p:txBody>
          <a:bodyPr vert="horz" rtlCol="0" anchor="t"/>
          <a:lstStyle/>
          <a:p>
            <a:pPr marL="285750" lvl="0" indent="-285750">
              <a:buFont typeface="Wingdings" panose="05000000000000000000" charset="0"/>
              <a:buChar char=""/>
              <a:defRPr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纵向覆盖集团总部、二级单位、基层企业和项目/账户/人员等末梢对象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lvl="0" indent="-285750">
              <a:buFont typeface="Wingdings" panose="05000000000000000000" charset="0"/>
              <a:buChar char=""/>
              <a:defRPr/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lvl="0" indent="-285750">
              <a:buFont typeface="Wingdings" panose="05000000000000000000" charset="0"/>
              <a:buChar char=""/>
              <a:defRPr/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lvl="0" indent="-285750">
              <a:buFont typeface="Wingdings" panose="05000000000000000000" charset="0"/>
              <a:buChar char=""/>
              <a:defRPr/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4E92574-47F8-E6AC-2F8E-4B201656B4AF}"/>
              </a:ext>
            </a:extLst>
          </p:cNvPr>
          <p:cNvSpPr/>
          <p:nvPr/>
        </p:nvSpPr>
        <p:spPr>
          <a:xfrm>
            <a:off x="4505426" y="4128558"/>
            <a:ext cx="1992913" cy="6883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  <p:txBody>
          <a:bodyPr vert="horz" rtlCol="0" anchor="t">
            <a:noAutofit/>
          </a:bodyPr>
          <a:lstStyle/>
          <a:p>
            <a:pPr marL="285750" lvl="0" indent="-285750">
              <a:buFont typeface="Wingdings" panose="05000000000000000000" charset="0"/>
              <a:buChar char=""/>
              <a:defRPr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横向打通投资、采购、合同、财务、司库、人事、资产等业务链路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lvl="0" indent="-285750">
              <a:buFont typeface="Wingdings" panose="05000000000000000000" charset="0"/>
              <a:buChar char=""/>
              <a:defRPr/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278F78C-05F5-DA33-290B-29BFD10D3F4E}"/>
              </a:ext>
            </a:extLst>
          </p:cNvPr>
          <p:cNvSpPr/>
          <p:nvPr/>
        </p:nvSpPr>
        <p:spPr>
          <a:xfrm>
            <a:off x="6809002" y="4128558"/>
            <a:ext cx="1992913" cy="6883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  <p:txBody>
          <a:bodyPr vert="horz" rtlCol="0" anchor="t" anchorCtr="0">
            <a:noAutofit/>
          </a:bodyPr>
          <a:lstStyle/>
          <a:p>
            <a:pPr marL="285750" lvl="0" indent="-285750">
              <a:buFont typeface="Wingdings" panose="05000000000000000000" charset="0"/>
              <a:buChar char=""/>
              <a:defRPr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覆盖事前规则校验、事中异常监测、事后整改复核与运营复盘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FBB801-5EA3-BD27-AB69-25201632AA61}"/>
              </a:ext>
            </a:extLst>
          </p:cNvPr>
          <p:cNvSpPr/>
          <p:nvPr/>
        </p:nvSpPr>
        <p:spPr>
          <a:xfrm>
            <a:off x="9151257" y="4128558"/>
            <a:ext cx="1992913" cy="6883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75000"/>
              </a:schemeClr>
            </a:solidFill>
            <a:prstDash val="sysDash"/>
            <a:miter lim="800000"/>
          </a:ln>
          <a:effectLst/>
        </p:spPr>
        <p:txBody>
          <a:bodyPr vert="horz" rtlCol="0" anchor="t" anchorCtr="0">
            <a:noAutofit/>
          </a:bodyPr>
          <a:lstStyle/>
          <a:p>
            <a:pPr marL="285750" lvl="0" indent="-285750">
              <a:buFont typeface="Wingdings" panose="05000000000000000000" charset="0"/>
              <a:buChar char=""/>
              <a:defRPr/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穿透主体、资金、合同、资产、人员、规则、证据和责任等监管要素</a:t>
            </a:r>
          </a:p>
        </p:txBody>
      </p:sp>
      <p:sp>
        <p:nvSpPr>
          <p:cNvPr id="66" name="圆角矩形 44">
            <a:extLst>
              <a:ext uri="{FF2B5EF4-FFF2-40B4-BE49-F238E27FC236}">
                <a16:creationId xmlns:a16="http://schemas.microsoft.com/office/drawing/2014/main" id="{AFB029A8-B30B-826B-52BA-8D1C0C55EC9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016760" y="2799195"/>
            <a:ext cx="9262808" cy="6883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0971B58-FD15-D951-419B-DCC6752E6B23}"/>
              </a:ext>
            </a:extLst>
          </p:cNvPr>
          <p:cNvSpPr txBox="1"/>
          <p:nvPr/>
        </p:nvSpPr>
        <p:spPr>
          <a:xfrm>
            <a:off x="2175162" y="2811895"/>
            <a:ext cx="1992913" cy="2355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全量、全级次、实时采集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6EDE2B0-942F-0C50-DAB5-6AEF7694BEA0}"/>
              </a:ext>
            </a:extLst>
          </p:cNvPr>
          <p:cNvSpPr txBox="1"/>
          <p:nvPr/>
        </p:nvSpPr>
        <p:spPr>
          <a:xfrm>
            <a:off x="6733811" y="2797290"/>
            <a:ext cx="4379987" cy="245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由业务到财务、由合同到资金、由问题到责任的全链路在线监管</a:t>
            </a:r>
          </a:p>
        </p:txBody>
      </p:sp>
      <p:cxnSp>
        <p:nvCxnSpPr>
          <p:cNvPr id="69" name="直线箭头连接符 7">
            <a:extLst>
              <a:ext uri="{FF2B5EF4-FFF2-40B4-BE49-F238E27FC236}">
                <a16:creationId xmlns:a16="http://schemas.microsoft.com/office/drawing/2014/main" id="{5D715504-FA5D-4621-999D-36533FE46E12}"/>
              </a:ext>
            </a:extLst>
          </p:cNvPr>
          <p:cNvCxnSpPr>
            <a:stCxn id="75" idx="3"/>
            <a:endCxn id="72" idx="1"/>
          </p:cNvCxnSpPr>
          <p:nvPr>
            <p:custDataLst>
              <p:tags r:id="rId12"/>
            </p:custDataLst>
          </p:nvPr>
        </p:nvCxnSpPr>
        <p:spPr>
          <a:xfrm>
            <a:off x="4023794" y="2325282"/>
            <a:ext cx="791394" cy="0"/>
          </a:xfrm>
          <a:prstGeom prst="straightConnector1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0" name="直线箭头连接符 39">
            <a:extLst>
              <a:ext uri="{FF2B5EF4-FFF2-40B4-BE49-F238E27FC236}">
                <a16:creationId xmlns:a16="http://schemas.microsoft.com/office/drawing/2014/main" id="{48C730CD-B45A-AFF1-EE2D-0413E57A7035}"/>
              </a:ext>
            </a:extLst>
          </p:cNvPr>
          <p:cNvCxnSpPr>
            <a:stCxn id="72" idx="3"/>
            <a:endCxn id="73" idx="1"/>
          </p:cNvCxnSpPr>
          <p:nvPr>
            <p:custDataLst>
              <p:tags r:id="rId13"/>
            </p:custDataLst>
          </p:nvPr>
        </p:nvCxnSpPr>
        <p:spPr>
          <a:xfrm>
            <a:off x="6095908" y="2325282"/>
            <a:ext cx="822092" cy="0"/>
          </a:xfrm>
          <a:prstGeom prst="straightConnector1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1" name="直线箭头连接符 40">
            <a:extLst>
              <a:ext uri="{FF2B5EF4-FFF2-40B4-BE49-F238E27FC236}">
                <a16:creationId xmlns:a16="http://schemas.microsoft.com/office/drawing/2014/main" id="{A7224DA1-0F39-8042-AFED-94CFA2BD0D33}"/>
              </a:ext>
            </a:extLst>
          </p:cNvPr>
          <p:cNvCxnSpPr>
            <a:stCxn id="73" idx="3"/>
            <a:endCxn id="74" idx="1"/>
          </p:cNvCxnSpPr>
          <p:nvPr>
            <p:custDataLst>
              <p:tags r:id="rId14"/>
            </p:custDataLst>
          </p:nvPr>
        </p:nvCxnSpPr>
        <p:spPr>
          <a:xfrm>
            <a:off x="8198719" y="2325282"/>
            <a:ext cx="806743" cy="0"/>
          </a:xfrm>
          <a:prstGeom prst="straightConnector1">
            <a:avLst/>
          </a:prstGeom>
          <a:noFill/>
          <a:ln w="63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72" name="圆角矩形 165">
            <a:extLst>
              <a:ext uri="{FF2B5EF4-FFF2-40B4-BE49-F238E27FC236}">
                <a16:creationId xmlns:a16="http://schemas.microsoft.com/office/drawing/2014/main" id="{112FE6F8-3668-0040-EB19-A4E0C4A11F2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815188" y="2187487"/>
            <a:ext cx="1280720" cy="275590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风险预警</a:t>
            </a:r>
          </a:p>
        </p:txBody>
      </p:sp>
      <p:sp>
        <p:nvSpPr>
          <p:cNvPr id="73" name="圆角矩形 166">
            <a:extLst>
              <a:ext uri="{FF2B5EF4-FFF2-40B4-BE49-F238E27FC236}">
                <a16:creationId xmlns:a16="http://schemas.microsoft.com/office/drawing/2014/main" id="{A5BE05E5-4D66-97EA-F198-409B33CC5AF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917999" y="2187487"/>
            <a:ext cx="1280720" cy="275590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风险穿透</a:t>
            </a:r>
          </a:p>
        </p:txBody>
      </p:sp>
      <p:sp>
        <p:nvSpPr>
          <p:cNvPr id="74" name="圆角矩形 167">
            <a:extLst>
              <a:ext uri="{FF2B5EF4-FFF2-40B4-BE49-F238E27FC236}">
                <a16:creationId xmlns:a16="http://schemas.microsoft.com/office/drawing/2014/main" id="{B1BA21E3-9869-9B90-352F-E8FEA4CF748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005462" y="2187487"/>
            <a:ext cx="1280720" cy="275590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>
            <a:no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闭环处置</a:t>
            </a:r>
          </a:p>
        </p:txBody>
      </p:sp>
      <p:sp>
        <p:nvSpPr>
          <p:cNvPr id="75" name="圆角矩形 165">
            <a:extLst>
              <a:ext uri="{FF2B5EF4-FFF2-40B4-BE49-F238E27FC236}">
                <a16:creationId xmlns:a16="http://schemas.microsoft.com/office/drawing/2014/main" id="{DFE3AB53-1760-F33E-D29F-D87DBE136A2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743075" y="2187487"/>
            <a:ext cx="1280720" cy="275590"/>
          </a:xfrm>
          <a:prstGeom prst="roundRect">
            <a:avLst/>
          </a:prstGeom>
          <a:solidFill>
            <a:schemeClr val="bg1"/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风险识别</a:t>
            </a:r>
          </a:p>
        </p:txBody>
      </p:sp>
      <p:sp>
        <p:nvSpPr>
          <p:cNvPr id="76" name="等腰三角形 75">
            <a:extLst>
              <a:ext uri="{FF2B5EF4-FFF2-40B4-BE49-F238E27FC236}">
                <a16:creationId xmlns:a16="http://schemas.microsoft.com/office/drawing/2014/main" id="{927E8AE1-B5D8-FD60-3A03-2C1159F2200D}"/>
              </a:ext>
            </a:extLst>
          </p:cNvPr>
          <p:cNvSpPr/>
          <p:nvPr/>
        </p:nvSpPr>
        <p:spPr>
          <a:xfrm>
            <a:off x="7414079" y="2580552"/>
            <a:ext cx="308208" cy="1276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A3E3AF7E-B262-197A-8146-810CA42A9B7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 rot="10800000">
            <a:off x="5302058" y="2580552"/>
            <a:ext cx="308208" cy="127635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B0A4448-05EF-9944-32BC-463D8F0471B4}"/>
              </a:ext>
            </a:extLst>
          </p:cNvPr>
          <p:cNvSpPr txBox="1"/>
          <p:nvPr/>
        </p:nvSpPr>
        <p:spPr>
          <a:xfrm>
            <a:off x="7649390" y="2531349"/>
            <a:ext cx="1506043" cy="207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整改方案与任务跟踪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13D40CD-E286-F37C-A467-2FAF0C07D710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3933707" y="2543414"/>
            <a:ext cx="1367902" cy="220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指标定义与分类监督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B5C345D-3276-2202-A136-C19297DAD323}"/>
              </a:ext>
            </a:extLst>
          </p:cNvPr>
          <p:cNvSpPr txBox="1"/>
          <p:nvPr/>
        </p:nvSpPr>
        <p:spPr>
          <a:xfrm>
            <a:off x="6769420" y="3003665"/>
            <a:ext cx="4460067" cy="419735"/>
          </a:xfrm>
          <a:prstGeom prst="rect">
            <a:avLst/>
          </a:prstGeom>
          <a:solidFill>
            <a:schemeClr val="bg1"/>
          </a:solidFill>
        </p:spPr>
        <p:txBody>
          <a:bodyPr anchor="ctr" anchorCtr="0">
            <a:noAutofit/>
          </a:bodyPr>
          <a:lstStyle/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11类问题：过度负债、无关多元、多层架构、薪酬乱象、财务金融风险、 控股不控权、虚假贸易、 “捞偏门” 、靠企吃企、资产闲置及境外风险等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31E0209-6D05-91A4-E992-5C4B9D95E5AB}"/>
              </a:ext>
            </a:extLst>
          </p:cNvPr>
          <p:cNvSpPr txBox="1"/>
          <p:nvPr/>
        </p:nvSpPr>
        <p:spPr>
          <a:xfrm>
            <a:off x="4471370" y="3079865"/>
            <a:ext cx="1992913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 defTabSz="914400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穿透 人、事、表、账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AC81A1A-F1A9-CC5A-006B-712F21C96D22}"/>
              </a:ext>
            </a:extLst>
          </p:cNvPr>
          <p:cNvSpPr txBox="1"/>
          <p:nvPr/>
        </p:nvSpPr>
        <p:spPr>
          <a:xfrm>
            <a:off x="2175162" y="3079865"/>
            <a:ext cx="1992913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pPr algn="ctr" defTabSz="914400"/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大数据、大模型</a:t>
            </a:r>
          </a:p>
        </p:txBody>
      </p:sp>
      <p:sp>
        <p:nvSpPr>
          <p:cNvPr id="83" name="等腰三角形 82">
            <a:extLst>
              <a:ext uri="{FF2B5EF4-FFF2-40B4-BE49-F238E27FC236}">
                <a16:creationId xmlns:a16="http://schemas.microsoft.com/office/drawing/2014/main" id="{3D1BB692-27B0-C8B6-FAD2-4394EB921802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 rot="5400000">
            <a:off x="4187965" y="3163895"/>
            <a:ext cx="318770" cy="12340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5" name="等腰三角形 84">
            <a:extLst>
              <a:ext uri="{FF2B5EF4-FFF2-40B4-BE49-F238E27FC236}">
                <a16:creationId xmlns:a16="http://schemas.microsoft.com/office/drawing/2014/main" id="{7E94A669-8366-BD77-2702-0E0161EEFA9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 rot="5400000">
            <a:off x="6475579" y="3163895"/>
            <a:ext cx="318770" cy="12340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27FD897-696F-D78E-E673-4F45391CF09F}"/>
              </a:ext>
            </a:extLst>
          </p:cNvPr>
          <p:cNvSpPr txBox="1"/>
          <p:nvPr/>
        </p:nvSpPr>
        <p:spPr>
          <a:xfrm>
            <a:off x="4451110" y="2811895"/>
            <a:ext cx="2012559" cy="2305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90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完整性、准确性、及时性</a:t>
            </a:r>
          </a:p>
        </p:txBody>
      </p:sp>
      <p:sp>
        <p:nvSpPr>
          <p:cNvPr id="87" name="圆角矩形 169">
            <a:extLst>
              <a:ext uri="{FF2B5EF4-FFF2-40B4-BE49-F238E27FC236}">
                <a16:creationId xmlns:a16="http://schemas.microsoft.com/office/drawing/2014/main" id="{261CA477-CDE3-0F85-F111-F19DBD93BEE5}"/>
              </a:ext>
            </a:extLst>
          </p:cNvPr>
          <p:cNvSpPr/>
          <p:nvPr/>
        </p:nvSpPr>
        <p:spPr>
          <a:xfrm>
            <a:off x="7468066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合同管理系统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圆角矩形 169">
            <a:extLst>
              <a:ext uri="{FF2B5EF4-FFF2-40B4-BE49-F238E27FC236}">
                <a16:creationId xmlns:a16="http://schemas.microsoft.com/office/drawing/2014/main" id="{053E1D24-EDFE-D9DC-C6F2-7E8CCF5BE473}"/>
              </a:ext>
            </a:extLst>
          </p:cNvPr>
          <p:cNvSpPr/>
          <p:nvPr/>
        </p:nvSpPr>
        <p:spPr>
          <a:xfrm>
            <a:off x="8553197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供应链系统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9" name="圆角矩形 169">
            <a:extLst>
              <a:ext uri="{FF2B5EF4-FFF2-40B4-BE49-F238E27FC236}">
                <a16:creationId xmlns:a16="http://schemas.microsoft.com/office/drawing/2014/main" id="{DC1F7A86-D596-1F45-B862-A3F8F499E62A}"/>
              </a:ext>
            </a:extLst>
          </p:cNvPr>
          <p:cNvSpPr/>
          <p:nvPr/>
        </p:nvSpPr>
        <p:spPr>
          <a:xfrm>
            <a:off x="2027835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国资监管系统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0" name="圆角矩形 169">
            <a:extLst>
              <a:ext uri="{FF2B5EF4-FFF2-40B4-BE49-F238E27FC236}">
                <a16:creationId xmlns:a16="http://schemas.microsoft.com/office/drawing/2014/main" id="{0FCCED9B-9FC3-8296-F310-75ACE684CC1D}"/>
              </a:ext>
            </a:extLst>
          </p:cNvPr>
          <p:cNvSpPr/>
          <p:nvPr/>
        </p:nvSpPr>
        <p:spPr>
          <a:xfrm>
            <a:off x="3120536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财务管理系统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圆角矩形 169">
            <a:extLst>
              <a:ext uri="{FF2B5EF4-FFF2-40B4-BE49-F238E27FC236}">
                <a16:creationId xmlns:a16="http://schemas.microsoft.com/office/drawing/2014/main" id="{82984CE4-A958-4765-F710-801C27E02F4F}"/>
              </a:ext>
            </a:extLst>
          </p:cNvPr>
          <p:cNvSpPr/>
          <p:nvPr/>
        </p:nvSpPr>
        <p:spPr>
          <a:xfrm>
            <a:off x="4201600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投资管理系统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圆角矩形 169">
            <a:extLst>
              <a:ext uri="{FF2B5EF4-FFF2-40B4-BE49-F238E27FC236}">
                <a16:creationId xmlns:a16="http://schemas.microsoft.com/office/drawing/2014/main" id="{B4823794-4C93-73F4-99BE-E5822874C9A3}"/>
              </a:ext>
            </a:extLst>
          </p:cNvPr>
          <p:cNvSpPr/>
          <p:nvPr/>
        </p:nvSpPr>
        <p:spPr>
          <a:xfrm>
            <a:off x="5294301" y="5742082"/>
            <a:ext cx="1162060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产权资产管理系统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圆角矩形 169">
            <a:extLst>
              <a:ext uri="{FF2B5EF4-FFF2-40B4-BE49-F238E27FC236}">
                <a16:creationId xmlns:a16="http://schemas.microsoft.com/office/drawing/2014/main" id="{BA65492F-F0FC-5263-E70D-1E0A37416BC1}"/>
              </a:ext>
            </a:extLst>
          </p:cNvPr>
          <p:cNvSpPr/>
          <p:nvPr/>
        </p:nvSpPr>
        <p:spPr>
          <a:xfrm>
            <a:off x="6391104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人力资源系统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圆角矩形 169">
            <a:extLst>
              <a:ext uri="{FF2B5EF4-FFF2-40B4-BE49-F238E27FC236}">
                <a16:creationId xmlns:a16="http://schemas.microsoft.com/office/drawing/2014/main" id="{5A2768CC-EA3C-281D-6F6F-8F4D9A82FB8F}"/>
              </a:ext>
            </a:extLst>
          </p:cNvPr>
          <p:cNvSpPr/>
          <p:nvPr/>
        </p:nvSpPr>
        <p:spPr>
          <a:xfrm>
            <a:off x="9630159" y="5742082"/>
            <a:ext cx="969979" cy="232696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合规管理</a:t>
            </a:r>
            <a:endParaRPr lang="en-US" altLang="en-US" sz="900" kern="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5" name="圆角矩形 169">
            <a:extLst>
              <a:ext uri="{FF2B5EF4-FFF2-40B4-BE49-F238E27FC236}">
                <a16:creationId xmlns:a16="http://schemas.microsoft.com/office/drawing/2014/main" id="{994EDE4C-C65E-59C7-97FD-D43B67FBC98C}"/>
              </a:ext>
            </a:extLst>
          </p:cNvPr>
          <p:cNvSpPr/>
          <p:nvPr/>
        </p:nvSpPr>
        <p:spPr>
          <a:xfrm>
            <a:off x="10671684" y="5737402"/>
            <a:ext cx="634689" cy="255652"/>
          </a:xfrm>
          <a:prstGeom prst="roundRect">
            <a:avLst>
              <a:gd name="adj" fmla="val 5824"/>
            </a:avLst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>
              <a:defRPr/>
            </a:pPr>
            <a:r>
              <a:rPr lang="en-US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……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6DA1ADEF-9A03-F9ED-8CDC-334EC46D520C}"/>
              </a:ext>
            </a:extLst>
          </p:cNvPr>
          <p:cNvSpPr/>
          <p:nvPr/>
        </p:nvSpPr>
        <p:spPr>
          <a:xfrm flipH="1">
            <a:off x="2027835" y="6052561"/>
            <a:ext cx="9291986" cy="265667"/>
          </a:xfrm>
          <a:prstGeom prst="rect">
            <a:avLst/>
          </a:prstGeom>
          <a:noFill/>
          <a:ln w="63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algn="ctr" defTabSz="412750" hangingPunct="0"/>
            <a:r>
              <a:rPr lang="zh-CN" altLang="en-US" sz="9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行业智能大模型、应用平台、数据平台、智能平台、开发平台、连接集成平台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2D514E8-0E8D-3AFC-A965-F4109E516CB9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93772" y="5028250"/>
            <a:ext cx="770697" cy="491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717071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宋体" panose="02010600030101010101" pitchFamily="2" charset="-122"/>
                <a:sym typeface="Arial" panose="020B0604020202020204" pitchFamily="34" charset="0"/>
              </a:rPr>
              <a:t>数据治理</a:t>
            </a: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37C01150-CFA3-F903-9910-20F373DF1882}"/>
              </a:ext>
            </a:extLst>
          </p:cNvPr>
          <p:cNvGrpSpPr/>
          <p:nvPr/>
        </p:nvGrpSpPr>
        <p:grpSpPr>
          <a:xfrm>
            <a:off x="2029167" y="5071031"/>
            <a:ext cx="9290654" cy="405768"/>
            <a:chOff x="1836334" y="5217246"/>
            <a:chExt cx="9756286" cy="405768"/>
          </a:xfrm>
        </p:grpSpPr>
        <p:sp>
          <p:nvSpPr>
            <p:cNvPr id="99" name="圆角矩形 44">
              <a:extLst>
                <a:ext uri="{FF2B5EF4-FFF2-40B4-BE49-F238E27FC236}">
                  <a16:creationId xmlns:a16="http://schemas.microsoft.com/office/drawing/2014/main" id="{5BF12DDB-B283-547A-C5FA-73500CED3E07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836334" y="5217246"/>
              <a:ext cx="9756286" cy="405768"/>
            </a:xfrm>
            <a:prstGeom prst="rect">
              <a:avLst/>
            </a:prstGeom>
            <a:solidFill>
              <a:schemeClr val="bg2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dash"/>
              <a:miter lim="800000"/>
            </a:ln>
            <a:effectLst/>
          </p:spPr>
          <p:txBody>
            <a:bodyPr rtlCol="0" anchor="b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charset="0"/>
                <a:sym typeface="Arial" panose="020B0604020202020204" pitchFamily="34" charset="0"/>
              </a:endParaRPr>
            </a:p>
          </p:txBody>
        </p:sp>
        <p:sp>
          <p:nvSpPr>
            <p:cNvPr id="100" name="矩形: 圆角 460">
              <a:extLst>
                <a:ext uri="{FF2B5EF4-FFF2-40B4-BE49-F238E27FC236}">
                  <a16:creationId xmlns:a16="http://schemas.microsoft.com/office/drawing/2014/main" id="{DE33828A-3166-9180-1FCB-63447E32F8FA}"/>
                </a:ext>
              </a:extLst>
            </p:cNvPr>
            <p:cNvSpPr/>
            <p:nvPr/>
          </p:nvSpPr>
          <p:spPr>
            <a:xfrm>
              <a:off x="2045919" y="5301105"/>
              <a:ext cx="2769099" cy="238051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17071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数据接入</a:t>
              </a:r>
            </a:p>
          </p:txBody>
        </p:sp>
        <p:sp>
          <p:nvSpPr>
            <p:cNvPr id="101" name="矩形: 圆角 460">
              <a:extLst>
                <a:ext uri="{FF2B5EF4-FFF2-40B4-BE49-F238E27FC236}">
                  <a16:creationId xmlns:a16="http://schemas.microsoft.com/office/drawing/2014/main" id="{1CAE9B95-2074-08C3-8996-E4263EE79A86}"/>
                </a:ext>
              </a:extLst>
            </p:cNvPr>
            <p:cNvSpPr/>
            <p:nvPr/>
          </p:nvSpPr>
          <p:spPr>
            <a:xfrm>
              <a:off x="5338124" y="5301105"/>
              <a:ext cx="2769099" cy="238051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717071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数据治理</a:t>
              </a:r>
            </a:p>
          </p:txBody>
        </p:sp>
        <p:sp>
          <p:nvSpPr>
            <p:cNvPr id="102" name="矩形: 圆角 460">
              <a:extLst>
                <a:ext uri="{FF2B5EF4-FFF2-40B4-BE49-F238E27FC236}">
                  <a16:creationId xmlns:a16="http://schemas.microsoft.com/office/drawing/2014/main" id="{056033AC-9A9C-C131-687A-ED05547EE1B3}"/>
                </a:ext>
              </a:extLst>
            </p:cNvPr>
            <p:cNvSpPr/>
            <p:nvPr/>
          </p:nvSpPr>
          <p:spPr>
            <a:xfrm>
              <a:off x="8630329" y="5301105"/>
              <a:ext cx="2769099" cy="238051"/>
            </a:xfrm>
            <a:prstGeom prst="round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vl="0" algn="ctr">
                <a:defRPr/>
              </a:pPr>
              <a:r>
                <a:rPr lang="zh-CN" altLang="en-US" sz="1000" kern="0" dirty="0">
                  <a:solidFill>
                    <a:srgbClr val="717071">
                      <a:lumMod val="75000"/>
                    </a:srgb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数据映射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统一底座支撑多领域监管</a:t>
            </a:r>
          </a:p>
        </p:txBody>
      </p:sp>
      <p:grpSp>
        <p:nvGrpSpPr>
          <p:cNvPr id="8" name="组合 7"/>
          <p:cNvGrpSpPr/>
          <p:nvPr/>
        </p:nvGrpSpPr>
        <p:grpSpPr>
          <a:xfrm rot="5400000">
            <a:off x="756820" y="3443106"/>
            <a:ext cx="4468510" cy="702088"/>
            <a:chOff x="1447425" y="3626602"/>
            <a:chExt cx="7200000" cy="702088"/>
          </a:xfrm>
        </p:grpSpPr>
        <p:sp>
          <p:nvSpPr>
            <p:cNvPr id="9" name="梯形 8"/>
            <p:cNvSpPr/>
            <p:nvPr/>
          </p:nvSpPr>
          <p:spPr>
            <a:xfrm>
              <a:off x="1447425" y="3626602"/>
              <a:ext cx="7200000" cy="630087"/>
            </a:xfrm>
            <a:prstGeom prst="trapezoid">
              <a:avLst>
                <a:gd name="adj" fmla="val 61701"/>
              </a:avLst>
            </a:prstGeom>
            <a:noFill/>
            <a:ln w="12700">
              <a:gradFill>
                <a:gsLst>
                  <a:gs pos="17000">
                    <a:schemeClr val="accent2">
                      <a:alpha val="0"/>
                    </a:schemeClr>
                  </a:gs>
                  <a:gs pos="99000">
                    <a:schemeClr val="accent2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447631" y="4256690"/>
              <a:ext cx="7199588" cy="7200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1" name="圆角矩形 20"/>
          <p:cNvSpPr/>
          <p:nvPr/>
        </p:nvSpPr>
        <p:spPr>
          <a:xfrm>
            <a:off x="3552824" y="3845676"/>
            <a:ext cx="4340018" cy="2002632"/>
          </a:xfrm>
          <a:prstGeom prst="roundRect">
            <a:avLst>
              <a:gd name="adj" fmla="val 3983"/>
            </a:avLst>
          </a:prstGeom>
          <a:solidFill>
            <a:schemeClr val="bg2"/>
          </a:soli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kumimoji="1" lang="zh-CN" altLang="en-US" sz="14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6" name="圆柱体 15"/>
          <p:cNvSpPr/>
          <p:nvPr/>
        </p:nvSpPr>
        <p:spPr>
          <a:xfrm rot="5400000">
            <a:off x="2340803" y="4531954"/>
            <a:ext cx="2002634" cy="630087"/>
          </a:xfrm>
          <a:prstGeom prst="can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path path="circle">
              <a:fillToRect l="50000" t="130000" r="50000" b="-30000"/>
            </a:path>
            <a:tileRect/>
          </a:gradFill>
          <a:ln w="9525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事实底座</a:t>
            </a:r>
          </a:p>
        </p:txBody>
      </p:sp>
      <p:sp>
        <p:nvSpPr>
          <p:cNvPr id="22" name="椭圆 21"/>
          <p:cNvSpPr/>
          <p:nvPr/>
        </p:nvSpPr>
        <p:spPr>
          <a:xfrm rot="5400000">
            <a:off x="3048202" y="4738992"/>
            <a:ext cx="1800000" cy="216000"/>
          </a:xfrm>
          <a:prstGeom prst="ellipse">
            <a:avLst/>
          </a:prstGeom>
          <a:gradFill>
            <a:gsLst>
              <a:gs pos="10000">
                <a:schemeClr val="bg1">
                  <a:alpha val="80000"/>
                </a:schemeClr>
              </a:gs>
              <a:gs pos="90000">
                <a:schemeClr val="accent1">
                  <a:lumMod val="0"/>
                  <a:lumOff val="100000"/>
                  <a:alpha val="0"/>
                </a:schemeClr>
              </a:gs>
            </a:gsLst>
            <a:lin ang="16200000" scaled="1"/>
          </a:gradFill>
          <a:ln w="12700">
            <a:gradFill flip="none" rotWithShape="1">
              <a:gsLst>
                <a:gs pos="0">
                  <a:schemeClr val="accent1"/>
                </a:gs>
                <a:gs pos="95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72000" tIns="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图谱</a:t>
            </a:r>
          </a:p>
        </p:txBody>
      </p:sp>
      <p:sp>
        <p:nvSpPr>
          <p:cNvPr id="28" name="左大括号 27"/>
          <p:cNvSpPr/>
          <p:nvPr/>
        </p:nvSpPr>
        <p:spPr>
          <a:xfrm>
            <a:off x="4062395" y="4122656"/>
            <a:ext cx="194141" cy="1460341"/>
          </a:xfrm>
          <a:prstGeom prst="leftBrace">
            <a:avLst>
              <a:gd name="adj1" fmla="val 95794"/>
              <a:gd name="adj2" fmla="val 50000"/>
            </a:avLst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689780" y="3946987"/>
            <a:ext cx="2246407" cy="828264"/>
            <a:chOff x="5550467" y="3945757"/>
            <a:chExt cx="2246407" cy="828264"/>
          </a:xfrm>
        </p:grpSpPr>
        <p:sp>
          <p:nvSpPr>
            <p:cNvPr id="29" name="圆角矩形 28"/>
            <p:cNvSpPr/>
            <p:nvPr/>
          </p:nvSpPr>
          <p:spPr>
            <a:xfrm>
              <a:off x="5595053" y="3945757"/>
              <a:ext cx="1943644" cy="828262"/>
            </a:xfrm>
            <a:prstGeom prst="roundRect">
              <a:avLst>
                <a:gd name="adj" fmla="val 3983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path path="circle">
                <a:fillToRect l="50000" t="130000" r="50000" b="-30000"/>
              </a:path>
              <a:tileRect/>
            </a:gradFill>
            <a:ln w="9525">
              <a:noFill/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zh-CN" altLang="en-US" sz="14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 rot="5400000">
              <a:off x="5205311" y="4290913"/>
              <a:ext cx="828264" cy="137952"/>
            </a:xfrm>
            <a:prstGeom prst="ellipse">
              <a:avLst/>
            </a:prstGeom>
            <a:gradFill>
              <a:gsLst>
                <a:gs pos="10000">
                  <a:schemeClr val="bg1">
                    <a:alpha val="80000"/>
                  </a:schemeClr>
                </a:gs>
                <a:gs pos="9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</a:gradFill>
            <a:ln w="12700">
              <a:gradFill flip="none" rotWithShape="1">
                <a:gsLst>
                  <a:gs pos="0">
                    <a:schemeClr val="accent1"/>
                  </a:gs>
                  <a:gs pos="95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72000" tIns="0" rIns="72000" bIns="7200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监管主题域</a:t>
              </a:r>
              <a:br>
                <a:rPr kumimoji="0" lang="en-US" altLang="zh-CN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6177515" y="3996585"/>
              <a:ext cx="1080000" cy="19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场景主题域</a:t>
              </a:r>
            </a:p>
          </p:txBody>
        </p:sp>
        <p:sp>
          <p:nvSpPr>
            <p:cNvPr id="32" name="圆角矩形 31"/>
            <p:cNvSpPr/>
            <p:nvPr/>
          </p:nvSpPr>
          <p:spPr>
            <a:xfrm>
              <a:off x="6177515" y="4256693"/>
              <a:ext cx="1080000" cy="19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风险主题域</a:t>
              </a: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6177515" y="4516801"/>
              <a:ext cx="1080000" cy="19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证据主题域</a:t>
              </a:r>
            </a:p>
          </p:txBody>
        </p:sp>
        <p:sp>
          <p:nvSpPr>
            <p:cNvPr id="35" name="任意多边形: 形状 22"/>
            <p:cNvSpPr/>
            <p:nvPr/>
          </p:nvSpPr>
          <p:spPr>
            <a:xfrm rot="5400000">
              <a:off x="7326493" y="4098152"/>
              <a:ext cx="424407" cy="516354"/>
            </a:xfrm>
            <a:custGeom>
              <a:avLst/>
              <a:gdLst>
                <a:gd name="connsiteX0" fmla="*/ 202633 w 416172"/>
                <a:gd name="connsiteY0" fmla="*/ 0 h 485927"/>
                <a:gd name="connsiteX1" fmla="*/ 374083 w 416172"/>
                <a:gd name="connsiteY1" fmla="*/ 157551 h 485927"/>
                <a:gd name="connsiteX2" fmla="*/ 294275 w 416172"/>
                <a:gd name="connsiteY2" fmla="*/ 157551 h 485927"/>
                <a:gd name="connsiteX3" fmla="*/ 306015 w 416172"/>
                <a:gd name="connsiteY3" fmla="*/ 222549 h 485927"/>
                <a:gd name="connsiteX4" fmla="*/ 416172 w 416172"/>
                <a:gd name="connsiteY4" fmla="*/ 485927 h 485927"/>
                <a:gd name="connsiteX5" fmla="*/ 0 w 416172"/>
                <a:gd name="connsiteY5" fmla="*/ 485927 h 485927"/>
                <a:gd name="connsiteX6" fmla="*/ 112166 w 416172"/>
                <a:gd name="connsiteY6" fmla="*/ 219870 h 485927"/>
                <a:gd name="connsiteX7" fmla="*/ 122329 w 416172"/>
                <a:gd name="connsiteY7" fmla="*/ 157551 h 485927"/>
                <a:gd name="connsiteX8" fmla="*/ 31183 w 416172"/>
                <a:gd name="connsiteY8" fmla="*/ 157551 h 485927"/>
                <a:gd name="connsiteX9" fmla="*/ 202633 w 416172"/>
                <a:gd name="connsiteY9" fmla="*/ 0 h 48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172" h="485927">
                  <a:moveTo>
                    <a:pt x="202633" y="0"/>
                  </a:moveTo>
                  <a:cubicBezTo>
                    <a:pt x="238352" y="59661"/>
                    <a:pt x="269308" y="105034"/>
                    <a:pt x="374083" y="157551"/>
                  </a:cubicBezTo>
                  <a:lnTo>
                    <a:pt x="294275" y="157551"/>
                  </a:lnTo>
                  <a:lnTo>
                    <a:pt x="306015" y="222549"/>
                  </a:lnTo>
                  <a:cubicBezTo>
                    <a:pt x="326661" y="313020"/>
                    <a:pt x="361370" y="404832"/>
                    <a:pt x="416172" y="485927"/>
                  </a:cubicBezTo>
                  <a:lnTo>
                    <a:pt x="0" y="485927"/>
                  </a:lnTo>
                  <a:cubicBezTo>
                    <a:pt x="54801" y="401260"/>
                    <a:pt x="92191" y="308555"/>
                    <a:pt x="112166" y="219870"/>
                  </a:cubicBezTo>
                  <a:lnTo>
                    <a:pt x="122329" y="157551"/>
                  </a:lnTo>
                  <a:lnTo>
                    <a:pt x="31183" y="157551"/>
                  </a:lnTo>
                  <a:cubicBezTo>
                    <a:pt x="131195" y="107415"/>
                    <a:pt x="181202" y="45373"/>
                    <a:pt x="2026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6000">
                  <a:schemeClr val="accent1">
                    <a:alpha val="13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 rot="5400000">
              <a:off x="7098096" y="4290913"/>
              <a:ext cx="828264" cy="137952"/>
            </a:xfrm>
            <a:prstGeom prst="ellipse">
              <a:avLst/>
            </a:prstGeom>
            <a:gradFill>
              <a:gsLst>
                <a:gs pos="10000">
                  <a:schemeClr val="bg1">
                    <a:alpha val="80000"/>
                  </a:schemeClr>
                </a:gs>
                <a:gs pos="9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</a:gradFill>
            <a:ln w="12700">
              <a:gradFill flip="none" rotWithShape="1">
                <a:gsLst>
                  <a:gs pos="0">
                    <a:schemeClr val="accent1"/>
                  </a:gs>
                  <a:gs pos="95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72000" tIns="0" rIns="72000" bIns="7200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287162" y="3981087"/>
            <a:ext cx="1041977" cy="288000"/>
            <a:chOff x="3949852" y="3979857"/>
            <a:chExt cx="1041977" cy="288000"/>
          </a:xfrm>
        </p:grpSpPr>
        <p:sp>
          <p:nvSpPr>
            <p:cNvPr id="23" name="圆角矩形 22"/>
            <p:cNvSpPr/>
            <p:nvPr/>
          </p:nvSpPr>
          <p:spPr>
            <a:xfrm>
              <a:off x="3983829" y="3979857"/>
              <a:ext cx="1008000" cy="288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组织与人员</a:t>
              </a:r>
            </a:p>
          </p:txBody>
        </p:sp>
        <p:sp>
          <p:nvSpPr>
            <p:cNvPr id="65" name="椭圆 64"/>
            <p:cNvSpPr>
              <a:spLocks noChangeAspect="1"/>
            </p:cNvSpPr>
            <p:nvPr/>
          </p:nvSpPr>
          <p:spPr>
            <a:xfrm flipH="1">
              <a:off x="3949852" y="4080657"/>
              <a:ext cx="86400" cy="864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chemeClr val="accent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4287162" y="4340629"/>
            <a:ext cx="1041977" cy="288000"/>
            <a:chOff x="3949852" y="4339399"/>
            <a:chExt cx="1041977" cy="288000"/>
          </a:xfrm>
        </p:grpSpPr>
        <p:sp>
          <p:nvSpPr>
            <p:cNvPr id="24" name="圆角矩形 23"/>
            <p:cNvSpPr/>
            <p:nvPr/>
          </p:nvSpPr>
          <p:spPr>
            <a:xfrm>
              <a:off x="3983829" y="4339399"/>
              <a:ext cx="1008000" cy="288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合同项目</a:t>
              </a:r>
            </a:p>
          </p:txBody>
        </p:sp>
        <p:sp>
          <p:nvSpPr>
            <p:cNvPr id="66" name="椭圆 65"/>
            <p:cNvSpPr>
              <a:spLocks noChangeAspect="1"/>
            </p:cNvSpPr>
            <p:nvPr/>
          </p:nvSpPr>
          <p:spPr>
            <a:xfrm flipH="1">
              <a:off x="3949852" y="4440199"/>
              <a:ext cx="86400" cy="864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chemeClr val="accent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287162" y="4700171"/>
            <a:ext cx="1041977" cy="288000"/>
            <a:chOff x="3949852" y="4698941"/>
            <a:chExt cx="1041977" cy="288000"/>
          </a:xfrm>
        </p:grpSpPr>
        <p:sp>
          <p:nvSpPr>
            <p:cNvPr id="25" name="圆角矩形 24"/>
            <p:cNvSpPr/>
            <p:nvPr/>
          </p:nvSpPr>
          <p:spPr>
            <a:xfrm>
              <a:off x="3983829" y="4698941"/>
              <a:ext cx="1008000" cy="288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资金账户</a:t>
              </a:r>
            </a:p>
          </p:txBody>
        </p:sp>
        <p:sp>
          <p:nvSpPr>
            <p:cNvPr id="67" name="椭圆 66"/>
            <p:cNvSpPr>
              <a:spLocks noChangeAspect="1"/>
            </p:cNvSpPr>
            <p:nvPr/>
          </p:nvSpPr>
          <p:spPr>
            <a:xfrm flipH="1">
              <a:off x="3949852" y="4799741"/>
              <a:ext cx="86400" cy="864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chemeClr val="accent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4287162" y="5059713"/>
            <a:ext cx="1041977" cy="288000"/>
            <a:chOff x="3949852" y="5058483"/>
            <a:chExt cx="1041977" cy="288000"/>
          </a:xfrm>
        </p:grpSpPr>
        <p:sp>
          <p:nvSpPr>
            <p:cNvPr id="26" name="圆角矩形 25"/>
            <p:cNvSpPr/>
            <p:nvPr/>
          </p:nvSpPr>
          <p:spPr>
            <a:xfrm>
              <a:off x="3983829" y="5058483"/>
              <a:ext cx="1008000" cy="288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主体关系</a:t>
              </a:r>
            </a:p>
          </p:txBody>
        </p:sp>
        <p:sp>
          <p:nvSpPr>
            <p:cNvPr id="68" name="椭圆 67"/>
            <p:cNvSpPr>
              <a:spLocks noChangeAspect="1"/>
            </p:cNvSpPr>
            <p:nvPr/>
          </p:nvSpPr>
          <p:spPr>
            <a:xfrm flipH="1">
              <a:off x="3949852" y="5159283"/>
              <a:ext cx="86400" cy="864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chemeClr val="accent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4287162" y="5419254"/>
            <a:ext cx="1041977" cy="288000"/>
            <a:chOff x="3949852" y="5418024"/>
            <a:chExt cx="1041977" cy="288000"/>
          </a:xfrm>
        </p:grpSpPr>
        <p:sp>
          <p:nvSpPr>
            <p:cNvPr id="27" name="圆角矩形 26"/>
            <p:cNvSpPr/>
            <p:nvPr/>
          </p:nvSpPr>
          <p:spPr>
            <a:xfrm>
              <a:off x="3983829" y="5418024"/>
              <a:ext cx="1008000" cy="288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10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事件证据</a:t>
              </a:r>
            </a:p>
          </p:txBody>
        </p:sp>
        <p:sp>
          <p:nvSpPr>
            <p:cNvPr id="69" name="椭圆 68"/>
            <p:cNvSpPr>
              <a:spLocks noChangeAspect="1"/>
            </p:cNvSpPr>
            <p:nvPr/>
          </p:nvSpPr>
          <p:spPr>
            <a:xfrm flipH="1">
              <a:off x="3949852" y="5518824"/>
              <a:ext cx="86400" cy="86400"/>
            </a:xfrm>
            <a:prstGeom prst="ellipse">
              <a:avLst/>
            </a:prstGeom>
            <a:solidFill>
              <a:schemeClr val="accent1"/>
            </a:solidFill>
            <a:ln w="222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8755" tIns="49378" rIns="98755" bIns="49378" rtlCol="0" anchor="ctr"/>
            <a:lstStyle/>
            <a:p>
              <a:pPr algn="ctr"/>
              <a:endParaRPr lang="zh-CN" altLang="en-US" sz="1945" b="1">
                <a:solidFill>
                  <a:schemeClr val="accent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5689780" y="4918506"/>
            <a:ext cx="2246407" cy="828264"/>
            <a:chOff x="5550467" y="3945757"/>
            <a:chExt cx="2246407" cy="828264"/>
          </a:xfrm>
        </p:grpSpPr>
        <p:sp>
          <p:nvSpPr>
            <p:cNvPr id="78" name="圆角矩形 77"/>
            <p:cNvSpPr/>
            <p:nvPr/>
          </p:nvSpPr>
          <p:spPr>
            <a:xfrm>
              <a:off x="5595053" y="3945757"/>
              <a:ext cx="1943644" cy="828262"/>
            </a:xfrm>
            <a:prstGeom prst="roundRect">
              <a:avLst>
                <a:gd name="adj" fmla="val 3983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path path="circle">
                <a:fillToRect l="50000" t="130000" r="50000" b="-30000"/>
              </a:path>
              <a:tileRect/>
            </a:gradFill>
            <a:ln w="9525">
              <a:noFill/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zh-CN" altLang="en-US" sz="14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 rot="5400000">
              <a:off x="5205311" y="4290913"/>
              <a:ext cx="828264" cy="137952"/>
            </a:xfrm>
            <a:prstGeom prst="ellipse">
              <a:avLst/>
            </a:prstGeom>
            <a:gradFill>
              <a:gsLst>
                <a:gs pos="10000">
                  <a:schemeClr val="bg1">
                    <a:alpha val="80000"/>
                  </a:schemeClr>
                </a:gs>
                <a:gs pos="9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</a:gradFill>
            <a:ln w="12700">
              <a:gradFill flip="none" rotWithShape="1">
                <a:gsLst>
                  <a:gs pos="0">
                    <a:schemeClr val="accent1"/>
                  </a:gs>
                  <a:gs pos="95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72000" tIns="0" rIns="72000" bIns="7200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治理工具</a:t>
              </a:r>
              <a:br>
                <a:rPr lang="en-US" altLang="zh-CN" sz="11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80" name="圆角矩形 79"/>
            <p:cNvSpPr/>
            <p:nvPr/>
          </p:nvSpPr>
          <p:spPr>
            <a:xfrm>
              <a:off x="6177515" y="3996585"/>
              <a:ext cx="1080000" cy="19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版本管理</a:t>
              </a:r>
            </a:p>
          </p:txBody>
        </p:sp>
        <p:sp>
          <p:nvSpPr>
            <p:cNvPr id="81" name="圆角矩形 80"/>
            <p:cNvSpPr/>
            <p:nvPr/>
          </p:nvSpPr>
          <p:spPr>
            <a:xfrm>
              <a:off x="6177515" y="4256693"/>
              <a:ext cx="1080000" cy="19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映射管理</a:t>
              </a: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6177515" y="4516801"/>
              <a:ext cx="1080000" cy="198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 w="952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kumimoji="1" lang="zh-CN" altLang="en-US" sz="90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质量管理</a:t>
              </a:r>
            </a:p>
          </p:txBody>
        </p:sp>
        <p:sp>
          <p:nvSpPr>
            <p:cNvPr id="83" name="任意多边形: 形状 22"/>
            <p:cNvSpPr/>
            <p:nvPr/>
          </p:nvSpPr>
          <p:spPr>
            <a:xfrm rot="5400000">
              <a:off x="7326493" y="4098152"/>
              <a:ext cx="424407" cy="516354"/>
            </a:xfrm>
            <a:custGeom>
              <a:avLst/>
              <a:gdLst>
                <a:gd name="connsiteX0" fmla="*/ 202633 w 416172"/>
                <a:gd name="connsiteY0" fmla="*/ 0 h 485927"/>
                <a:gd name="connsiteX1" fmla="*/ 374083 w 416172"/>
                <a:gd name="connsiteY1" fmla="*/ 157551 h 485927"/>
                <a:gd name="connsiteX2" fmla="*/ 294275 w 416172"/>
                <a:gd name="connsiteY2" fmla="*/ 157551 h 485927"/>
                <a:gd name="connsiteX3" fmla="*/ 306015 w 416172"/>
                <a:gd name="connsiteY3" fmla="*/ 222549 h 485927"/>
                <a:gd name="connsiteX4" fmla="*/ 416172 w 416172"/>
                <a:gd name="connsiteY4" fmla="*/ 485927 h 485927"/>
                <a:gd name="connsiteX5" fmla="*/ 0 w 416172"/>
                <a:gd name="connsiteY5" fmla="*/ 485927 h 485927"/>
                <a:gd name="connsiteX6" fmla="*/ 112166 w 416172"/>
                <a:gd name="connsiteY6" fmla="*/ 219870 h 485927"/>
                <a:gd name="connsiteX7" fmla="*/ 122329 w 416172"/>
                <a:gd name="connsiteY7" fmla="*/ 157551 h 485927"/>
                <a:gd name="connsiteX8" fmla="*/ 31183 w 416172"/>
                <a:gd name="connsiteY8" fmla="*/ 157551 h 485927"/>
                <a:gd name="connsiteX9" fmla="*/ 202633 w 416172"/>
                <a:gd name="connsiteY9" fmla="*/ 0 h 48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172" h="485927">
                  <a:moveTo>
                    <a:pt x="202633" y="0"/>
                  </a:moveTo>
                  <a:cubicBezTo>
                    <a:pt x="238352" y="59661"/>
                    <a:pt x="269308" y="105034"/>
                    <a:pt x="374083" y="157551"/>
                  </a:cubicBezTo>
                  <a:lnTo>
                    <a:pt x="294275" y="157551"/>
                  </a:lnTo>
                  <a:lnTo>
                    <a:pt x="306015" y="222549"/>
                  </a:lnTo>
                  <a:cubicBezTo>
                    <a:pt x="326661" y="313020"/>
                    <a:pt x="361370" y="404832"/>
                    <a:pt x="416172" y="485927"/>
                  </a:cubicBezTo>
                  <a:lnTo>
                    <a:pt x="0" y="485927"/>
                  </a:lnTo>
                  <a:cubicBezTo>
                    <a:pt x="54801" y="401260"/>
                    <a:pt x="92191" y="308555"/>
                    <a:pt x="112166" y="219870"/>
                  </a:cubicBezTo>
                  <a:lnTo>
                    <a:pt x="122329" y="157551"/>
                  </a:lnTo>
                  <a:lnTo>
                    <a:pt x="31183" y="157551"/>
                  </a:lnTo>
                  <a:cubicBezTo>
                    <a:pt x="131195" y="107415"/>
                    <a:pt x="181202" y="45373"/>
                    <a:pt x="202633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46000">
                  <a:schemeClr val="accent1">
                    <a:alpha val="1300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 rot="5400000">
              <a:off x="7098096" y="4290913"/>
              <a:ext cx="828264" cy="137952"/>
            </a:xfrm>
            <a:prstGeom prst="ellipse">
              <a:avLst/>
            </a:prstGeom>
            <a:gradFill>
              <a:gsLst>
                <a:gs pos="10000">
                  <a:schemeClr val="bg1">
                    <a:alpha val="80000"/>
                  </a:schemeClr>
                </a:gs>
                <a:gs pos="90000">
                  <a:schemeClr val="accent1">
                    <a:lumMod val="0"/>
                    <a:lumOff val="100000"/>
                    <a:alpha val="0"/>
                  </a:schemeClr>
                </a:gs>
              </a:gsLst>
              <a:lin ang="16200000" scaled="1"/>
            </a:gradFill>
            <a:ln w="12700">
              <a:gradFill flip="none" rotWithShape="1">
                <a:gsLst>
                  <a:gs pos="0">
                    <a:schemeClr val="accent1"/>
                  </a:gs>
                  <a:gs pos="95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72000" tIns="0" rIns="72000" bIns="72000" rtlCol="0" anchor="ctr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027076" y="1666985"/>
            <a:ext cx="4865766" cy="2002635"/>
            <a:chOff x="2796573" y="1182528"/>
            <a:chExt cx="4865766" cy="2002635"/>
          </a:xfrm>
        </p:grpSpPr>
        <p:sp>
          <p:nvSpPr>
            <p:cNvPr id="17" name="圆角矩形 16"/>
            <p:cNvSpPr/>
            <p:nvPr/>
          </p:nvSpPr>
          <p:spPr>
            <a:xfrm>
              <a:off x="3322321" y="1182528"/>
              <a:ext cx="4340018" cy="2002632"/>
            </a:xfrm>
            <a:prstGeom prst="roundRect">
              <a:avLst>
                <a:gd name="adj" fmla="val 3983"/>
              </a:avLst>
            </a:prstGeom>
            <a:solidFill>
              <a:schemeClr val="bg2"/>
            </a:solidFill>
            <a:ln w="9525">
              <a:noFill/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kumimoji="1" lang="zh-CN" altLang="en-US" sz="14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5" name="圆柱体 14"/>
            <p:cNvSpPr/>
            <p:nvPr/>
          </p:nvSpPr>
          <p:spPr>
            <a:xfrm rot="5400000">
              <a:off x="2110301" y="1868803"/>
              <a:ext cx="2002632" cy="630087"/>
            </a:xfrm>
            <a:prstGeom prst="can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path path="circle">
                <a:fillToRect l="50000" t="130000" r="50000" b="-30000"/>
              </a:path>
              <a:tileRect/>
            </a:gradFill>
            <a:ln w="9525">
              <a:noFill/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风险能力</a:t>
              </a:r>
              <a:endParaRPr kumimoji="1" lang="zh-CN" altLang="en-US" sz="12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grpSp>
          <p:nvGrpSpPr>
            <p:cNvPr id="108" name="组合 107"/>
            <p:cNvGrpSpPr/>
            <p:nvPr/>
          </p:nvGrpSpPr>
          <p:grpSpPr>
            <a:xfrm>
              <a:off x="3554471" y="1340616"/>
              <a:ext cx="3984056" cy="1686456"/>
              <a:chOff x="3554471" y="1315532"/>
              <a:chExt cx="3984056" cy="1686456"/>
            </a:xfrm>
          </p:grpSpPr>
          <p:grpSp>
            <p:nvGrpSpPr>
              <p:cNvPr id="94" name="组合 93"/>
              <p:cNvGrpSpPr/>
              <p:nvPr/>
            </p:nvGrpSpPr>
            <p:grpSpPr>
              <a:xfrm>
                <a:off x="3554471" y="1315532"/>
                <a:ext cx="3984056" cy="324000"/>
                <a:chOff x="3554471" y="1315532"/>
                <a:chExt cx="3984056" cy="324000"/>
              </a:xfrm>
            </p:grpSpPr>
            <p:sp>
              <p:nvSpPr>
                <p:cNvPr id="18" name="圆角矩形 17"/>
                <p:cNvSpPr/>
                <p:nvPr/>
              </p:nvSpPr>
              <p:spPr>
                <a:xfrm>
                  <a:off x="3554471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监管态势</a:t>
                  </a:r>
                </a:p>
              </p:txBody>
            </p:sp>
            <p:sp>
              <p:nvSpPr>
                <p:cNvPr id="19" name="圆角矩形 18"/>
                <p:cNvSpPr/>
                <p:nvPr/>
              </p:nvSpPr>
              <p:spPr>
                <a:xfrm>
                  <a:off x="4916499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整改复核</a:t>
                  </a:r>
                </a:p>
              </p:txBody>
            </p:sp>
            <p:sp>
              <p:nvSpPr>
                <p:cNvPr id="20" name="圆角矩形 19"/>
                <p:cNvSpPr/>
                <p:nvPr/>
              </p:nvSpPr>
              <p:spPr>
                <a:xfrm>
                  <a:off x="6278527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证据快照</a:t>
                  </a:r>
                </a:p>
              </p:txBody>
            </p:sp>
          </p:grpSp>
          <p:grpSp>
            <p:nvGrpSpPr>
              <p:cNvPr id="95" name="组合 94"/>
              <p:cNvGrpSpPr/>
              <p:nvPr/>
            </p:nvGrpSpPr>
            <p:grpSpPr>
              <a:xfrm>
                <a:off x="3554471" y="1769684"/>
                <a:ext cx="3984056" cy="324000"/>
                <a:chOff x="3554471" y="1315532"/>
                <a:chExt cx="3984056" cy="324000"/>
              </a:xfrm>
            </p:grpSpPr>
            <p:sp>
              <p:nvSpPr>
                <p:cNvPr id="96" name="圆角矩形 95"/>
                <p:cNvSpPr/>
                <p:nvPr/>
              </p:nvSpPr>
              <p:spPr>
                <a:xfrm>
                  <a:off x="3554471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工作台</a:t>
                  </a:r>
                </a:p>
              </p:txBody>
            </p:sp>
            <p:sp>
              <p:nvSpPr>
                <p:cNvPr id="97" name="圆角矩形 96"/>
                <p:cNvSpPr/>
                <p:nvPr/>
              </p:nvSpPr>
              <p:spPr>
                <a:xfrm>
                  <a:off x="4916499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风险事件</a:t>
                  </a:r>
                </a:p>
              </p:txBody>
            </p:sp>
            <p:sp>
              <p:nvSpPr>
                <p:cNvPr id="98" name="圆角矩形 97"/>
                <p:cNvSpPr/>
                <p:nvPr/>
              </p:nvSpPr>
              <p:spPr>
                <a:xfrm>
                  <a:off x="6278527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监管本体</a:t>
                  </a:r>
                </a:p>
              </p:txBody>
            </p:sp>
          </p:grpSp>
          <p:grpSp>
            <p:nvGrpSpPr>
              <p:cNvPr id="100" name="组合 99"/>
              <p:cNvGrpSpPr/>
              <p:nvPr/>
            </p:nvGrpSpPr>
            <p:grpSpPr>
              <a:xfrm>
                <a:off x="3554471" y="2223836"/>
                <a:ext cx="3984056" cy="324000"/>
                <a:chOff x="3554471" y="1315532"/>
                <a:chExt cx="3984056" cy="324000"/>
              </a:xfrm>
            </p:grpSpPr>
            <p:sp>
              <p:nvSpPr>
                <p:cNvPr id="101" name="圆角矩形 100"/>
                <p:cNvSpPr/>
                <p:nvPr/>
              </p:nvSpPr>
              <p:spPr>
                <a:xfrm>
                  <a:off x="3554471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场景编排</a:t>
                  </a:r>
                </a:p>
              </p:txBody>
            </p:sp>
            <p:sp>
              <p:nvSpPr>
                <p:cNvPr id="102" name="圆角矩形 101"/>
                <p:cNvSpPr/>
                <p:nvPr/>
              </p:nvSpPr>
              <p:spPr>
                <a:xfrm>
                  <a:off x="4916499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规则资产</a:t>
                  </a:r>
                </a:p>
              </p:txBody>
            </p:sp>
            <p:sp>
              <p:nvSpPr>
                <p:cNvPr id="103" name="圆角矩形 102"/>
                <p:cNvSpPr/>
                <p:nvPr/>
              </p:nvSpPr>
              <p:spPr>
                <a:xfrm>
                  <a:off x="6278527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语义映射</a:t>
                  </a:r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3554471" y="2677988"/>
                <a:ext cx="3984056" cy="324000"/>
                <a:chOff x="3554471" y="1315532"/>
                <a:chExt cx="3984056" cy="324000"/>
              </a:xfrm>
            </p:grpSpPr>
            <p:sp>
              <p:nvSpPr>
                <p:cNvPr id="105" name="圆角矩形 104"/>
                <p:cNvSpPr/>
                <p:nvPr/>
              </p:nvSpPr>
              <p:spPr>
                <a:xfrm>
                  <a:off x="3554471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风险监管</a:t>
                  </a:r>
                </a:p>
              </p:txBody>
            </p:sp>
            <p:sp>
              <p:nvSpPr>
                <p:cNvPr id="106" name="圆角矩形 105"/>
                <p:cNvSpPr/>
                <p:nvPr/>
              </p:nvSpPr>
              <p:spPr>
                <a:xfrm>
                  <a:off x="4916499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预警研判</a:t>
                  </a:r>
                </a:p>
              </p:txBody>
            </p:sp>
            <p:sp>
              <p:nvSpPr>
                <p:cNvPr id="107" name="圆角矩形 106"/>
                <p:cNvSpPr/>
                <p:nvPr/>
              </p:nvSpPr>
              <p:spPr>
                <a:xfrm>
                  <a:off x="6278527" y="1315532"/>
                  <a:ext cx="1260000" cy="324000"/>
                </a:xfrm>
                <a:prstGeom prst="roundRect">
                  <a:avLst/>
                </a:prstGeom>
                <a:solidFill>
                  <a:schemeClr val="bg1"/>
                </a:solidFill>
                <a:ln w="9525" cmpd="sng">
                  <a:noFill/>
                  <a:prstDash val="solid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zh-CN" altLang="en-US" sz="1200" dirty="0">
                      <a:solidFill>
                        <a:schemeClr val="tx2"/>
                      </a:solidFill>
                      <a:latin typeface="Arial" panose="020B0604020202090204" pitchFamily="34" charset="0"/>
                      <a:ea typeface="微软雅黑" panose="020B0502040204020203" pitchFamily="34" charset="-122"/>
                      <a:cs typeface="Arial" panose="020B0604020202090204" pitchFamily="34" charset="0"/>
                    </a:rPr>
                    <a:t>图谱版本</a:t>
                  </a:r>
                </a:p>
              </p:txBody>
            </p:sp>
          </p:grpSp>
        </p:grpSp>
      </p:grpSp>
      <p:sp>
        <p:nvSpPr>
          <p:cNvPr id="111" name="圆柱体 110"/>
          <p:cNvSpPr/>
          <p:nvPr/>
        </p:nvSpPr>
        <p:spPr>
          <a:xfrm rot="5400000">
            <a:off x="6392618" y="3379715"/>
            <a:ext cx="4184875" cy="752313"/>
          </a:xfrm>
          <a:prstGeom prst="can">
            <a:avLst>
              <a:gd name="adj" fmla="val 32293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alpha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9525">
            <a:solidFill>
              <a:schemeClr val="accent1">
                <a:lumMod val="60000"/>
                <a:lumOff val="40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tIns="108000" bIns="36000" rtlCol="0" anchor="ctr"/>
          <a:lstStyle/>
          <a:p>
            <a:pPr algn="ctr"/>
            <a:r>
              <a:rPr kumimoji="1" lang="zh-CN" altLang="en-US" sz="14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服务能力</a:t>
            </a:r>
            <a:br>
              <a:rPr kumimoji="1" lang="en-US" altLang="zh-CN" sz="14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</a:br>
            <a:endParaRPr kumimoji="1" lang="zh-CN" altLang="en-US" sz="1200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202827" y="2584935"/>
            <a:ext cx="29011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应用服务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8202827" y="4130271"/>
            <a:ext cx="29011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数据服务</a:t>
            </a:r>
          </a:p>
        </p:txBody>
      </p:sp>
      <p:grpSp>
        <p:nvGrpSpPr>
          <p:cNvPr id="134" name="组合 133"/>
          <p:cNvGrpSpPr/>
          <p:nvPr/>
        </p:nvGrpSpPr>
        <p:grpSpPr>
          <a:xfrm>
            <a:off x="8650378" y="1663434"/>
            <a:ext cx="852518" cy="540000"/>
            <a:chOff x="8430245" y="1426367"/>
            <a:chExt cx="852518" cy="540000"/>
          </a:xfrm>
        </p:grpSpPr>
        <p:sp>
          <p:nvSpPr>
            <p:cNvPr id="115" name="六边形 114"/>
            <p:cNvSpPr/>
            <p:nvPr/>
          </p:nvSpPr>
          <p:spPr>
            <a:xfrm rot="5400000">
              <a:off x="8778763" y="1462367"/>
              <a:ext cx="540000" cy="468000"/>
            </a:xfrm>
            <a:prstGeom prst="hexagon">
              <a:avLst>
                <a:gd name="adj" fmla="val 31819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75000"/>
                    <a:lumOff val="25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 w="76200">
              <a:solidFill>
                <a:schemeClr val="accent1">
                  <a:alpha val="1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集团领导</a:t>
              </a:r>
              <a:br>
                <a:rPr lang="en-US" altLang="zh-CN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lang="zh-CN" altLang="en-US" sz="9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22" name="直线连接符 121"/>
            <p:cNvCxnSpPr/>
            <p:nvPr/>
          </p:nvCxnSpPr>
          <p:spPr>
            <a:xfrm>
              <a:off x="8430245" y="1696367"/>
              <a:ext cx="360000" cy="0"/>
            </a:xfrm>
            <a:prstGeom prst="line">
              <a:avLst/>
            </a:prstGeom>
            <a:ln w="9525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/>
          <p:cNvGrpSpPr/>
          <p:nvPr/>
        </p:nvGrpSpPr>
        <p:grpSpPr>
          <a:xfrm>
            <a:off x="8650378" y="2392409"/>
            <a:ext cx="852518" cy="540000"/>
            <a:chOff x="8430245" y="2155342"/>
            <a:chExt cx="852518" cy="540000"/>
          </a:xfrm>
        </p:grpSpPr>
        <p:sp>
          <p:nvSpPr>
            <p:cNvPr id="116" name="六边形 115"/>
            <p:cNvSpPr/>
            <p:nvPr/>
          </p:nvSpPr>
          <p:spPr>
            <a:xfrm rot="5400000">
              <a:off x="8778763" y="2191342"/>
              <a:ext cx="540000" cy="468000"/>
            </a:xfrm>
            <a:prstGeom prst="hexagon">
              <a:avLst>
                <a:gd name="adj" fmla="val 31819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75000"/>
                    <a:lumOff val="25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 w="76200">
              <a:solidFill>
                <a:schemeClr val="accent1">
                  <a:alpha val="1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监管人员</a:t>
              </a:r>
              <a:br>
                <a:rPr lang="en-US" altLang="zh-CN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lang="zh-CN" altLang="en-US" sz="9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24" name="直线连接符 123"/>
            <p:cNvCxnSpPr/>
            <p:nvPr/>
          </p:nvCxnSpPr>
          <p:spPr>
            <a:xfrm>
              <a:off x="8430245" y="2425342"/>
              <a:ext cx="360000" cy="0"/>
            </a:xfrm>
            <a:prstGeom prst="line">
              <a:avLst/>
            </a:prstGeom>
            <a:ln w="9525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/>
          <p:cNvGrpSpPr/>
          <p:nvPr/>
        </p:nvGrpSpPr>
        <p:grpSpPr>
          <a:xfrm>
            <a:off x="8650378" y="3121384"/>
            <a:ext cx="852518" cy="540000"/>
            <a:chOff x="8430245" y="2884317"/>
            <a:chExt cx="852518" cy="540000"/>
          </a:xfrm>
        </p:grpSpPr>
        <p:sp>
          <p:nvSpPr>
            <p:cNvPr id="117" name="六边形 116"/>
            <p:cNvSpPr/>
            <p:nvPr/>
          </p:nvSpPr>
          <p:spPr>
            <a:xfrm rot="5400000">
              <a:off x="8778763" y="2920317"/>
              <a:ext cx="540000" cy="468000"/>
            </a:xfrm>
            <a:prstGeom prst="hexagon">
              <a:avLst>
                <a:gd name="adj" fmla="val 31819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75000"/>
                    <a:lumOff val="25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 w="76200">
              <a:solidFill>
                <a:schemeClr val="accent1">
                  <a:alpha val="1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业务责任</a:t>
              </a:r>
              <a:br>
                <a:rPr lang="en-US" altLang="zh-CN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lang="zh-CN" altLang="en-US" sz="9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25" name="直线连接符 124"/>
            <p:cNvCxnSpPr/>
            <p:nvPr/>
          </p:nvCxnSpPr>
          <p:spPr>
            <a:xfrm>
              <a:off x="8430245" y="3154317"/>
              <a:ext cx="360000" cy="0"/>
            </a:xfrm>
            <a:prstGeom prst="line">
              <a:avLst/>
            </a:prstGeom>
            <a:ln w="9525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组合 130"/>
          <p:cNvGrpSpPr/>
          <p:nvPr/>
        </p:nvGrpSpPr>
        <p:grpSpPr>
          <a:xfrm>
            <a:off x="8650378" y="3850359"/>
            <a:ext cx="852518" cy="540000"/>
            <a:chOff x="8430245" y="3613292"/>
            <a:chExt cx="852518" cy="540000"/>
          </a:xfrm>
        </p:grpSpPr>
        <p:sp>
          <p:nvSpPr>
            <p:cNvPr id="118" name="六边形 117"/>
            <p:cNvSpPr/>
            <p:nvPr/>
          </p:nvSpPr>
          <p:spPr>
            <a:xfrm rot="5400000">
              <a:off x="8778763" y="3649292"/>
              <a:ext cx="540000" cy="468000"/>
            </a:xfrm>
            <a:prstGeom prst="hexagon">
              <a:avLst>
                <a:gd name="adj" fmla="val 31819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75000"/>
                    <a:lumOff val="25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 w="76200">
              <a:solidFill>
                <a:schemeClr val="accent1">
                  <a:alpha val="1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配置管理</a:t>
              </a:r>
              <a:br>
                <a:rPr lang="en-US" altLang="zh-CN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lang="zh-CN" altLang="en-US" sz="9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26" name="直线连接符 125"/>
            <p:cNvCxnSpPr/>
            <p:nvPr/>
          </p:nvCxnSpPr>
          <p:spPr>
            <a:xfrm>
              <a:off x="8430245" y="3883292"/>
              <a:ext cx="360000" cy="0"/>
            </a:xfrm>
            <a:prstGeom prst="line">
              <a:avLst/>
            </a:prstGeom>
            <a:ln w="9525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组合 129"/>
          <p:cNvGrpSpPr/>
          <p:nvPr/>
        </p:nvGrpSpPr>
        <p:grpSpPr>
          <a:xfrm>
            <a:off x="8650378" y="4579334"/>
            <a:ext cx="852518" cy="540000"/>
            <a:chOff x="8430245" y="4342267"/>
            <a:chExt cx="852518" cy="540000"/>
          </a:xfrm>
        </p:grpSpPr>
        <p:sp>
          <p:nvSpPr>
            <p:cNvPr id="119" name="六边形 118"/>
            <p:cNvSpPr/>
            <p:nvPr/>
          </p:nvSpPr>
          <p:spPr>
            <a:xfrm rot="5400000">
              <a:off x="8778763" y="4378267"/>
              <a:ext cx="540000" cy="468000"/>
            </a:xfrm>
            <a:prstGeom prst="hexagon">
              <a:avLst>
                <a:gd name="adj" fmla="val 31819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75000"/>
                    <a:lumOff val="25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 w="76200">
              <a:solidFill>
                <a:schemeClr val="accent1">
                  <a:alpha val="1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安全管理</a:t>
              </a:r>
              <a:br>
                <a:rPr lang="en-US" altLang="zh-CN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lang="zh-CN" altLang="en-US" sz="9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27" name="直线连接符 126"/>
            <p:cNvCxnSpPr/>
            <p:nvPr/>
          </p:nvCxnSpPr>
          <p:spPr>
            <a:xfrm>
              <a:off x="8430245" y="4612267"/>
              <a:ext cx="360000" cy="0"/>
            </a:xfrm>
            <a:prstGeom prst="line">
              <a:avLst/>
            </a:prstGeom>
            <a:ln w="9525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组合 128"/>
          <p:cNvGrpSpPr/>
          <p:nvPr/>
        </p:nvGrpSpPr>
        <p:grpSpPr>
          <a:xfrm>
            <a:off x="8650378" y="5308309"/>
            <a:ext cx="852518" cy="540000"/>
            <a:chOff x="8430245" y="5071242"/>
            <a:chExt cx="852518" cy="540000"/>
          </a:xfrm>
        </p:grpSpPr>
        <p:sp>
          <p:nvSpPr>
            <p:cNvPr id="120" name="六边形 119"/>
            <p:cNvSpPr/>
            <p:nvPr/>
          </p:nvSpPr>
          <p:spPr>
            <a:xfrm rot="5400000">
              <a:off x="8778763" y="5107242"/>
              <a:ext cx="540000" cy="468000"/>
            </a:xfrm>
            <a:prstGeom prst="hexagon">
              <a:avLst>
                <a:gd name="adj" fmla="val 31819"/>
                <a:gd name="vf" fmla="val 115470"/>
              </a:avLst>
            </a:prstGeom>
            <a:gradFill flip="none" rotWithShape="1">
              <a:gsLst>
                <a:gs pos="0">
                  <a:schemeClr val="accent1">
                    <a:lumMod val="75000"/>
                    <a:lumOff val="25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 w="76200">
              <a:solidFill>
                <a:schemeClr val="accent1">
                  <a:alpha val="1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系统管理</a:t>
              </a:r>
              <a:br>
                <a:rPr lang="en-US" altLang="zh-CN" sz="900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</a:br>
              <a:endParaRPr lang="zh-CN" altLang="en-US" sz="900" dirty="0">
                <a:solidFill>
                  <a:srgbClr val="FFFFFF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28" name="直线连接符 127"/>
            <p:cNvCxnSpPr/>
            <p:nvPr/>
          </p:nvCxnSpPr>
          <p:spPr>
            <a:xfrm>
              <a:off x="8430245" y="5341242"/>
              <a:ext cx="360000" cy="0"/>
            </a:xfrm>
            <a:prstGeom prst="line">
              <a:avLst/>
            </a:prstGeom>
            <a:ln w="9525"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组合 142"/>
          <p:cNvGrpSpPr/>
          <p:nvPr/>
        </p:nvGrpSpPr>
        <p:grpSpPr>
          <a:xfrm>
            <a:off x="626289" y="1801226"/>
            <a:ext cx="1990336" cy="3985848"/>
            <a:chOff x="406156" y="1564159"/>
            <a:chExt cx="1990336" cy="3985848"/>
          </a:xfrm>
        </p:grpSpPr>
        <p:sp>
          <p:nvSpPr>
            <p:cNvPr id="7" name="圆柱体 6"/>
            <p:cNvSpPr/>
            <p:nvPr/>
          </p:nvSpPr>
          <p:spPr>
            <a:xfrm>
              <a:off x="406156" y="1564159"/>
              <a:ext cx="1512000" cy="648000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ERP财务</a:t>
              </a:r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1" name="圆柱体 10"/>
            <p:cNvSpPr/>
            <p:nvPr/>
          </p:nvSpPr>
          <p:spPr>
            <a:xfrm>
              <a:off x="406156" y="2398621"/>
              <a:ext cx="1512000" cy="648000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采购合同</a:t>
              </a:r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2" name="圆柱体 11"/>
            <p:cNvSpPr/>
            <p:nvPr/>
          </p:nvSpPr>
          <p:spPr>
            <a:xfrm>
              <a:off x="406156" y="3233083"/>
              <a:ext cx="1512000" cy="648000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司库 / OA</a:t>
              </a:r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3" name="圆柱体 12"/>
            <p:cNvSpPr/>
            <p:nvPr/>
          </p:nvSpPr>
          <p:spPr>
            <a:xfrm>
              <a:off x="406156" y="4067545"/>
              <a:ext cx="1512000" cy="648000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主数据</a:t>
              </a:r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4" name="圆柱体 13"/>
            <p:cNvSpPr/>
            <p:nvPr/>
          </p:nvSpPr>
          <p:spPr>
            <a:xfrm>
              <a:off x="406156" y="4902007"/>
              <a:ext cx="1512000" cy="648000"/>
            </a:xfrm>
            <a:prstGeom prst="can">
              <a:avLst/>
            </a:prstGeom>
            <a:solidFill>
              <a:schemeClr val="bg2"/>
            </a:solidFill>
            <a:ln w="9525">
              <a:solidFill>
                <a:schemeClr val="bg2">
                  <a:lumMod val="9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4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文档</a:t>
              </a:r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cxnSp>
          <p:nvCxnSpPr>
            <p:cNvPr id="136" name="直线连接符 135"/>
            <p:cNvCxnSpPr/>
            <p:nvPr/>
          </p:nvCxnSpPr>
          <p:spPr>
            <a:xfrm>
              <a:off x="2019080" y="1912006"/>
              <a:ext cx="259076" cy="0"/>
            </a:xfrm>
            <a:prstGeom prst="line">
              <a:avLst/>
            </a:prstGeom>
            <a:ln w="22225">
              <a:solidFill>
                <a:schemeClr val="bg2">
                  <a:lumMod val="50000"/>
                </a:schemeClr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线连接符 137"/>
            <p:cNvCxnSpPr/>
            <p:nvPr/>
          </p:nvCxnSpPr>
          <p:spPr>
            <a:xfrm>
              <a:off x="2019080" y="2720695"/>
              <a:ext cx="259076" cy="0"/>
            </a:xfrm>
            <a:prstGeom prst="line">
              <a:avLst/>
            </a:prstGeom>
            <a:ln w="22225">
              <a:solidFill>
                <a:schemeClr val="bg2">
                  <a:lumMod val="50000"/>
                </a:schemeClr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线连接符 138"/>
            <p:cNvCxnSpPr/>
            <p:nvPr/>
          </p:nvCxnSpPr>
          <p:spPr>
            <a:xfrm>
              <a:off x="2019080" y="3529384"/>
              <a:ext cx="259076" cy="0"/>
            </a:xfrm>
            <a:prstGeom prst="line">
              <a:avLst/>
            </a:prstGeom>
            <a:ln w="22225">
              <a:solidFill>
                <a:schemeClr val="bg2">
                  <a:lumMod val="50000"/>
                </a:schemeClr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线连接符 139"/>
            <p:cNvCxnSpPr/>
            <p:nvPr/>
          </p:nvCxnSpPr>
          <p:spPr>
            <a:xfrm>
              <a:off x="2019080" y="4385643"/>
              <a:ext cx="259076" cy="0"/>
            </a:xfrm>
            <a:prstGeom prst="line">
              <a:avLst/>
            </a:prstGeom>
            <a:ln w="22225">
              <a:solidFill>
                <a:schemeClr val="bg2">
                  <a:lumMod val="50000"/>
                </a:schemeClr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线连接符 140"/>
            <p:cNvCxnSpPr/>
            <p:nvPr/>
          </p:nvCxnSpPr>
          <p:spPr>
            <a:xfrm>
              <a:off x="2019080" y="5252473"/>
              <a:ext cx="259076" cy="0"/>
            </a:xfrm>
            <a:prstGeom prst="line">
              <a:avLst/>
            </a:prstGeom>
            <a:ln w="22225">
              <a:solidFill>
                <a:schemeClr val="bg2">
                  <a:lumMod val="50000"/>
                </a:schemeClr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/>
            <p:cNvSpPr txBox="1"/>
            <p:nvPr/>
          </p:nvSpPr>
          <p:spPr>
            <a:xfrm>
              <a:off x="1929698" y="3256957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05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接入</a:t>
              </a: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10008360" y="2149073"/>
            <a:ext cx="453970" cy="3340467"/>
            <a:chOff x="1929698" y="1912006"/>
            <a:chExt cx="453970" cy="3340467"/>
          </a:xfrm>
        </p:grpSpPr>
        <p:cxnSp>
          <p:nvCxnSpPr>
            <p:cNvPr id="150" name="直线连接符 149"/>
            <p:cNvCxnSpPr/>
            <p:nvPr/>
          </p:nvCxnSpPr>
          <p:spPr>
            <a:xfrm>
              <a:off x="2019080" y="1912006"/>
              <a:ext cx="259076" cy="0"/>
            </a:xfrm>
            <a:prstGeom prst="line">
              <a:avLst/>
            </a:prstGeom>
            <a:ln w="22225">
              <a:solidFill>
                <a:schemeClr val="accent2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线连接符 150"/>
            <p:cNvCxnSpPr/>
            <p:nvPr/>
          </p:nvCxnSpPr>
          <p:spPr>
            <a:xfrm>
              <a:off x="2019080" y="2720695"/>
              <a:ext cx="259076" cy="0"/>
            </a:xfrm>
            <a:prstGeom prst="line">
              <a:avLst/>
            </a:prstGeom>
            <a:ln w="22225">
              <a:solidFill>
                <a:schemeClr val="accent2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线连接符 151"/>
            <p:cNvCxnSpPr/>
            <p:nvPr/>
          </p:nvCxnSpPr>
          <p:spPr>
            <a:xfrm>
              <a:off x="2019080" y="3529384"/>
              <a:ext cx="259076" cy="0"/>
            </a:xfrm>
            <a:prstGeom prst="line">
              <a:avLst/>
            </a:prstGeom>
            <a:ln w="22225">
              <a:solidFill>
                <a:schemeClr val="accent2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线连接符 152"/>
            <p:cNvCxnSpPr/>
            <p:nvPr/>
          </p:nvCxnSpPr>
          <p:spPr>
            <a:xfrm>
              <a:off x="2019080" y="4385643"/>
              <a:ext cx="259076" cy="0"/>
            </a:xfrm>
            <a:prstGeom prst="line">
              <a:avLst/>
            </a:prstGeom>
            <a:ln w="22225">
              <a:solidFill>
                <a:schemeClr val="accent2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线连接符 153"/>
            <p:cNvCxnSpPr/>
            <p:nvPr/>
          </p:nvCxnSpPr>
          <p:spPr>
            <a:xfrm>
              <a:off x="2019080" y="5252473"/>
              <a:ext cx="259076" cy="0"/>
            </a:xfrm>
            <a:prstGeom prst="line">
              <a:avLst/>
            </a:prstGeom>
            <a:ln w="22225">
              <a:solidFill>
                <a:schemeClr val="accent2"/>
              </a:solidFill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文本框 154"/>
            <p:cNvSpPr txBox="1"/>
            <p:nvPr/>
          </p:nvSpPr>
          <p:spPr>
            <a:xfrm>
              <a:off x="1929698" y="3266101"/>
              <a:ext cx="45397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050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支撑</a:t>
              </a: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0594218" y="1795628"/>
            <a:ext cx="728233" cy="3996901"/>
            <a:chOff x="10374085" y="1597336"/>
            <a:chExt cx="728233" cy="3996901"/>
          </a:xfrm>
        </p:grpSpPr>
        <p:grpSp>
          <p:nvGrpSpPr>
            <p:cNvPr id="160" name="组合 159"/>
            <p:cNvGrpSpPr/>
            <p:nvPr/>
          </p:nvGrpSpPr>
          <p:grpSpPr>
            <a:xfrm>
              <a:off x="10374085" y="1597336"/>
              <a:ext cx="728233" cy="738061"/>
              <a:chOff x="10718530" y="2082248"/>
              <a:chExt cx="728233" cy="738061"/>
            </a:xfrm>
          </p:grpSpPr>
          <p:sp>
            <p:nvSpPr>
              <p:cNvPr id="156" name="椭圆 155"/>
              <p:cNvSpPr/>
              <p:nvPr/>
            </p:nvSpPr>
            <p:spPr>
              <a:xfrm>
                <a:off x="10718530" y="26778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r>
                  <a:rPr lang="zh-CN" altLang="en-US" sz="105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整改端</a:t>
                </a:r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10718530" y="26494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endParaRPr lang="zh-CN" altLang="en-US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58" name="椭圆 157"/>
              <p:cNvSpPr/>
              <p:nvPr/>
            </p:nvSpPr>
            <p:spPr>
              <a:xfrm>
                <a:off x="10784830" y="2082248"/>
                <a:ext cx="595633" cy="5956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innerShdw blurRad="76200">
                  <a:schemeClr val="accent1">
                    <a:lumMod val="20000"/>
                    <a:lumOff val="8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59" name="图形 2"/>
              <p:cNvSpPr>
                <a:spLocks noChangeAspect="1"/>
              </p:cNvSpPr>
              <p:nvPr/>
            </p:nvSpPr>
            <p:spPr>
              <a:xfrm>
                <a:off x="10974364" y="2272064"/>
                <a:ext cx="216564" cy="216000"/>
              </a:xfrm>
              <a:custGeom>
                <a:avLst/>
                <a:gdLst>
                  <a:gd name="connsiteX0" fmla="*/ 311006 w 784141"/>
                  <a:gd name="connsiteY0" fmla="*/ 236078 h 782102"/>
                  <a:gd name="connsiteX1" fmla="*/ 340413 w 784141"/>
                  <a:gd name="connsiteY1" fmla="*/ 206671 h 782102"/>
                  <a:gd name="connsiteX2" fmla="*/ 572334 w 784141"/>
                  <a:gd name="connsiteY2" fmla="*/ 206671 h 782102"/>
                  <a:gd name="connsiteX3" fmla="*/ 601741 w 784141"/>
                  <a:gd name="connsiteY3" fmla="*/ 236078 h 782102"/>
                  <a:gd name="connsiteX4" fmla="*/ 572334 w 784141"/>
                  <a:gd name="connsiteY4" fmla="*/ 265484 h 782102"/>
                  <a:gd name="connsiteX5" fmla="*/ 340413 w 784141"/>
                  <a:gd name="connsiteY5" fmla="*/ 265484 h 782102"/>
                  <a:gd name="connsiteX6" fmla="*/ 311006 w 784141"/>
                  <a:gd name="connsiteY6" fmla="*/ 236078 h 782102"/>
                  <a:gd name="connsiteX7" fmla="*/ 340413 w 784141"/>
                  <a:gd name="connsiteY7" fmla="*/ 360370 h 782102"/>
                  <a:gd name="connsiteX8" fmla="*/ 572334 w 784141"/>
                  <a:gd name="connsiteY8" fmla="*/ 360370 h 782102"/>
                  <a:gd name="connsiteX9" fmla="*/ 601741 w 784141"/>
                  <a:gd name="connsiteY9" fmla="*/ 330964 h 782102"/>
                  <a:gd name="connsiteX10" fmla="*/ 572334 w 784141"/>
                  <a:gd name="connsiteY10" fmla="*/ 301557 h 782102"/>
                  <a:gd name="connsiteX11" fmla="*/ 340413 w 784141"/>
                  <a:gd name="connsiteY11" fmla="*/ 301557 h 782102"/>
                  <a:gd name="connsiteX12" fmla="*/ 311006 w 784141"/>
                  <a:gd name="connsiteY12" fmla="*/ 330964 h 782102"/>
                  <a:gd name="connsiteX13" fmla="*/ 340413 w 784141"/>
                  <a:gd name="connsiteY13" fmla="*/ 360370 h 782102"/>
                  <a:gd name="connsiteX14" fmla="*/ 784142 w 784141"/>
                  <a:gd name="connsiteY14" fmla="*/ 550299 h 782102"/>
                  <a:gd name="connsiteX15" fmla="*/ 784142 w 784141"/>
                  <a:gd name="connsiteY15" fmla="*/ 718976 h 782102"/>
                  <a:gd name="connsiteX16" fmla="*/ 721015 w 784141"/>
                  <a:gd name="connsiteY16" fmla="*/ 782103 h 782102"/>
                  <a:gd name="connsiteX17" fmla="*/ 63127 w 784141"/>
                  <a:gd name="connsiteY17" fmla="*/ 782103 h 782102"/>
                  <a:gd name="connsiteX18" fmla="*/ 0 w 784141"/>
                  <a:gd name="connsiteY18" fmla="*/ 718976 h 782102"/>
                  <a:gd name="connsiteX19" fmla="*/ 0 w 784141"/>
                  <a:gd name="connsiteY19" fmla="*/ 550299 h 782102"/>
                  <a:gd name="connsiteX20" fmla="*/ 27407 w 784141"/>
                  <a:gd name="connsiteY20" fmla="*/ 498308 h 782102"/>
                  <a:gd name="connsiteX21" fmla="*/ 27407 w 784141"/>
                  <a:gd name="connsiteY21" fmla="*/ 162247 h 782102"/>
                  <a:gd name="connsiteX22" fmla="*/ 124293 w 784141"/>
                  <a:gd name="connsiteY22" fmla="*/ 65361 h 782102"/>
                  <a:gd name="connsiteX23" fmla="*/ 161777 w 784141"/>
                  <a:gd name="connsiteY23" fmla="*/ 65361 h 782102"/>
                  <a:gd name="connsiteX24" fmla="*/ 252977 w 784141"/>
                  <a:gd name="connsiteY24" fmla="*/ 0 h 782102"/>
                  <a:gd name="connsiteX25" fmla="*/ 659927 w 784141"/>
                  <a:gd name="connsiteY25" fmla="*/ 0 h 782102"/>
                  <a:gd name="connsiteX26" fmla="*/ 756813 w 784141"/>
                  <a:gd name="connsiteY26" fmla="*/ 96925 h 782102"/>
                  <a:gd name="connsiteX27" fmla="*/ 756813 w 784141"/>
                  <a:gd name="connsiteY27" fmla="*/ 498269 h 782102"/>
                  <a:gd name="connsiteX28" fmla="*/ 784142 w 784141"/>
                  <a:gd name="connsiteY28" fmla="*/ 550299 h 782102"/>
                  <a:gd name="connsiteX29" fmla="*/ 214826 w 784141"/>
                  <a:gd name="connsiteY29" fmla="*/ 96925 h 782102"/>
                  <a:gd name="connsiteX30" fmla="*/ 214826 w 784141"/>
                  <a:gd name="connsiteY30" fmla="*/ 487094 h 782102"/>
                  <a:gd name="connsiteX31" fmla="*/ 283089 w 784141"/>
                  <a:gd name="connsiteY31" fmla="*/ 487094 h 782102"/>
                  <a:gd name="connsiteX32" fmla="*/ 312339 w 784141"/>
                  <a:gd name="connsiteY32" fmla="*/ 513521 h 782102"/>
                  <a:gd name="connsiteX33" fmla="*/ 392051 w 784141"/>
                  <a:gd name="connsiteY33" fmla="*/ 550338 h 782102"/>
                  <a:gd name="connsiteX34" fmla="*/ 471763 w 784141"/>
                  <a:gd name="connsiteY34" fmla="*/ 513521 h 782102"/>
                  <a:gd name="connsiteX35" fmla="*/ 501013 w 784141"/>
                  <a:gd name="connsiteY35" fmla="*/ 487094 h 782102"/>
                  <a:gd name="connsiteX36" fmla="*/ 697882 w 784141"/>
                  <a:gd name="connsiteY36" fmla="*/ 487094 h 782102"/>
                  <a:gd name="connsiteX37" fmla="*/ 697882 w 784141"/>
                  <a:gd name="connsiteY37" fmla="*/ 96925 h 782102"/>
                  <a:gd name="connsiteX38" fmla="*/ 659810 w 784141"/>
                  <a:gd name="connsiteY38" fmla="*/ 58814 h 782102"/>
                  <a:gd name="connsiteX39" fmla="*/ 252898 w 784141"/>
                  <a:gd name="connsiteY39" fmla="*/ 58814 h 782102"/>
                  <a:gd name="connsiteX40" fmla="*/ 214826 w 784141"/>
                  <a:gd name="connsiteY40" fmla="*/ 96925 h 782102"/>
                  <a:gd name="connsiteX41" fmla="*/ 86181 w 784141"/>
                  <a:gd name="connsiteY41" fmla="*/ 162247 h 782102"/>
                  <a:gd name="connsiteX42" fmla="*/ 86181 w 784141"/>
                  <a:gd name="connsiteY42" fmla="*/ 487094 h 782102"/>
                  <a:gd name="connsiteX43" fmla="*/ 155974 w 784141"/>
                  <a:gd name="connsiteY43" fmla="*/ 487094 h 782102"/>
                  <a:gd name="connsiteX44" fmla="*/ 155974 w 784141"/>
                  <a:gd name="connsiteY44" fmla="*/ 124214 h 782102"/>
                  <a:gd name="connsiteX45" fmla="*/ 124214 w 784141"/>
                  <a:gd name="connsiteY45" fmla="*/ 124214 h 782102"/>
                  <a:gd name="connsiteX46" fmla="*/ 86181 w 784141"/>
                  <a:gd name="connsiteY46" fmla="*/ 162247 h 782102"/>
                  <a:gd name="connsiteX47" fmla="*/ 725328 w 784141"/>
                  <a:gd name="connsiteY47" fmla="*/ 550299 h 782102"/>
                  <a:gd name="connsiteX48" fmla="*/ 721055 w 784141"/>
                  <a:gd name="connsiteY48" fmla="*/ 545947 h 782102"/>
                  <a:gd name="connsiteX49" fmla="*/ 721015 w 784141"/>
                  <a:gd name="connsiteY49" fmla="*/ 545947 h 782102"/>
                  <a:gd name="connsiteX50" fmla="*/ 522343 w 784141"/>
                  <a:gd name="connsiteY50" fmla="*/ 545947 h 782102"/>
                  <a:gd name="connsiteX51" fmla="*/ 392090 w 784141"/>
                  <a:gd name="connsiteY51" fmla="*/ 609191 h 782102"/>
                  <a:gd name="connsiteX52" fmla="*/ 261760 w 784141"/>
                  <a:gd name="connsiteY52" fmla="*/ 545947 h 782102"/>
                  <a:gd name="connsiteX53" fmla="*/ 63127 w 784141"/>
                  <a:gd name="connsiteY53" fmla="*/ 545947 h 782102"/>
                  <a:gd name="connsiteX54" fmla="*/ 58813 w 784141"/>
                  <a:gd name="connsiteY54" fmla="*/ 550260 h 782102"/>
                  <a:gd name="connsiteX55" fmla="*/ 58814 w 784141"/>
                  <a:gd name="connsiteY55" fmla="*/ 550299 h 782102"/>
                  <a:gd name="connsiteX56" fmla="*/ 58814 w 784141"/>
                  <a:gd name="connsiteY56" fmla="*/ 718976 h 782102"/>
                  <a:gd name="connsiteX57" fmla="*/ 63127 w 784141"/>
                  <a:gd name="connsiteY57" fmla="*/ 723289 h 782102"/>
                  <a:gd name="connsiteX58" fmla="*/ 721015 w 784141"/>
                  <a:gd name="connsiteY58" fmla="*/ 723289 h 782102"/>
                  <a:gd name="connsiteX59" fmla="*/ 725328 w 784141"/>
                  <a:gd name="connsiteY59" fmla="*/ 718976 h 782102"/>
                  <a:gd name="connsiteX60" fmla="*/ 725328 w 784141"/>
                  <a:gd name="connsiteY60" fmla="*/ 550299 h 78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84141" h="782102">
                    <a:moveTo>
                      <a:pt x="311006" y="236078"/>
                    </a:moveTo>
                    <a:cubicBezTo>
                      <a:pt x="311006" y="219837"/>
                      <a:pt x="324172" y="206671"/>
                      <a:pt x="340413" y="206671"/>
                    </a:cubicBezTo>
                    <a:lnTo>
                      <a:pt x="572334" y="206671"/>
                    </a:lnTo>
                    <a:cubicBezTo>
                      <a:pt x="588575" y="206671"/>
                      <a:pt x="601741" y="219837"/>
                      <a:pt x="601741" y="236078"/>
                    </a:cubicBezTo>
                    <a:cubicBezTo>
                      <a:pt x="601741" y="252319"/>
                      <a:pt x="588575" y="265484"/>
                      <a:pt x="572334" y="265484"/>
                    </a:cubicBezTo>
                    <a:lnTo>
                      <a:pt x="340413" y="265484"/>
                    </a:lnTo>
                    <a:cubicBezTo>
                      <a:pt x="324172" y="265484"/>
                      <a:pt x="311006" y="252319"/>
                      <a:pt x="311006" y="236078"/>
                    </a:cubicBezTo>
                    <a:close/>
                    <a:moveTo>
                      <a:pt x="340413" y="360370"/>
                    </a:moveTo>
                    <a:lnTo>
                      <a:pt x="572334" y="360370"/>
                    </a:lnTo>
                    <a:cubicBezTo>
                      <a:pt x="588575" y="360370"/>
                      <a:pt x="601741" y="347204"/>
                      <a:pt x="601741" y="330964"/>
                    </a:cubicBezTo>
                    <a:cubicBezTo>
                      <a:pt x="601741" y="314723"/>
                      <a:pt x="588575" y="301557"/>
                      <a:pt x="572334" y="301557"/>
                    </a:cubicBezTo>
                    <a:lnTo>
                      <a:pt x="340413" y="301557"/>
                    </a:lnTo>
                    <a:cubicBezTo>
                      <a:pt x="324172" y="301557"/>
                      <a:pt x="311006" y="314723"/>
                      <a:pt x="311006" y="330964"/>
                    </a:cubicBezTo>
                    <a:cubicBezTo>
                      <a:pt x="311006" y="347204"/>
                      <a:pt x="324172" y="360370"/>
                      <a:pt x="340413" y="360370"/>
                    </a:cubicBezTo>
                    <a:close/>
                    <a:moveTo>
                      <a:pt x="784142" y="550299"/>
                    </a:moveTo>
                    <a:lnTo>
                      <a:pt x="784142" y="718976"/>
                    </a:lnTo>
                    <a:cubicBezTo>
                      <a:pt x="784142" y="753794"/>
                      <a:pt x="755794" y="782103"/>
                      <a:pt x="721015" y="782103"/>
                    </a:cubicBezTo>
                    <a:lnTo>
                      <a:pt x="63127" y="782103"/>
                    </a:lnTo>
                    <a:cubicBezTo>
                      <a:pt x="28309" y="782103"/>
                      <a:pt x="0" y="753755"/>
                      <a:pt x="0" y="718976"/>
                    </a:cubicBezTo>
                    <a:lnTo>
                      <a:pt x="0" y="550299"/>
                    </a:lnTo>
                    <a:cubicBezTo>
                      <a:pt x="0" y="528734"/>
                      <a:pt x="10900" y="509678"/>
                      <a:pt x="27407" y="498308"/>
                    </a:cubicBezTo>
                    <a:lnTo>
                      <a:pt x="27407" y="162247"/>
                    </a:lnTo>
                    <a:cubicBezTo>
                      <a:pt x="27472" y="108765"/>
                      <a:pt x="70811" y="65426"/>
                      <a:pt x="124293" y="65361"/>
                    </a:cubicBezTo>
                    <a:lnTo>
                      <a:pt x="161777" y="65361"/>
                    </a:lnTo>
                    <a:cubicBezTo>
                      <a:pt x="175134" y="26360"/>
                      <a:pt x="211751" y="117"/>
                      <a:pt x="252977" y="0"/>
                    </a:cubicBezTo>
                    <a:lnTo>
                      <a:pt x="659927" y="0"/>
                    </a:lnTo>
                    <a:cubicBezTo>
                      <a:pt x="713415" y="86"/>
                      <a:pt x="756748" y="43437"/>
                      <a:pt x="756813" y="96925"/>
                    </a:cubicBezTo>
                    <a:lnTo>
                      <a:pt x="756813" y="498269"/>
                    </a:lnTo>
                    <a:cubicBezTo>
                      <a:pt x="773281" y="509718"/>
                      <a:pt x="784142" y="528734"/>
                      <a:pt x="784142" y="550299"/>
                    </a:cubicBezTo>
                    <a:close/>
                    <a:moveTo>
                      <a:pt x="214826" y="96925"/>
                    </a:moveTo>
                    <a:lnTo>
                      <a:pt x="214826" y="487094"/>
                    </a:lnTo>
                    <a:lnTo>
                      <a:pt x="283089" y="487094"/>
                    </a:lnTo>
                    <a:cubicBezTo>
                      <a:pt x="298174" y="487097"/>
                      <a:pt x="310811" y="498514"/>
                      <a:pt x="312339" y="513521"/>
                    </a:cubicBezTo>
                    <a:cubicBezTo>
                      <a:pt x="313908" y="528930"/>
                      <a:pt x="345000" y="550338"/>
                      <a:pt x="392051" y="550338"/>
                    </a:cubicBezTo>
                    <a:cubicBezTo>
                      <a:pt x="439102" y="550338"/>
                      <a:pt x="470195" y="528891"/>
                      <a:pt x="471763" y="513521"/>
                    </a:cubicBezTo>
                    <a:cubicBezTo>
                      <a:pt x="473292" y="498514"/>
                      <a:pt x="485928" y="487097"/>
                      <a:pt x="501013" y="487094"/>
                    </a:cubicBezTo>
                    <a:lnTo>
                      <a:pt x="697882" y="487094"/>
                    </a:lnTo>
                    <a:lnTo>
                      <a:pt x="697882" y="96925"/>
                    </a:lnTo>
                    <a:cubicBezTo>
                      <a:pt x="697860" y="75901"/>
                      <a:pt x="680834" y="58857"/>
                      <a:pt x="659810" y="58814"/>
                    </a:cubicBezTo>
                    <a:lnTo>
                      <a:pt x="252898" y="58814"/>
                    </a:lnTo>
                    <a:cubicBezTo>
                      <a:pt x="231883" y="58878"/>
                      <a:pt x="214869" y="75910"/>
                      <a:pt x="214826" y="96925"/>
                    </a:cubicBezTo>
                    <a:close/>
                    <a:moveTo>
                      <a:pt x="86181" y="162247"/>
                    </a:moveTo>
                    <a:lnTo>
                      <a:pt x="86181" y="487094"/>
                    </a:lnTo>
                    <a:lnTo>
                      <a:pt x="155974" y="487094"/>
                    </a:lnTo>
                    <a:lnTo>
                      <a:pt x="155974" y="124214"/>
                    </a:lnTo>
                    <a:lnTo>
                      <a:pt x="124214" y="124214"/>
                    </a:lnTo>
                    <a:cubicBezTo>
                      <a:pt x="103227" y="124257"/>
                      <a:pt x="86225" y="141260"/>
                      <a:pt x="86181" y="162247"/>
                    </a:cubicBezTo>
                    <a:close/>
                    <a:moveTo>
                      <a:pt x="725328" y="550299"/>
                    </a:moveTo>
                    <a:cubicBezTo>
                      <a:pt x="725350" y="547917"/>
                      <a:pt x="723436" y="545969"/>
                      <a:pt x="721055" y="545947"/>
                    </a:cubicBezTo>
                    <a:cubicBezTo>
                      <a:pt x="721041" y="545947"/>
                      <a:pt x="721028" y="545947"/>
                      <a:pt x="721015" y="545947"/>
                    </a:cubicBezTo>
                    <a:lnTo>
                      <a:pt x="522343" y="545947"/>
                    </a:lnTo>
                    <a:cubicBezTo>
                      <a:pt x="503091" y="583352"/>
                      <a:pt x="452316" y="609191"/>
                      <a:pt x="392090" y="609191"/>
                    </a:cubicBezTo>
                    <a:cubicBezTo>
                      <a:pt x="331865" y="609191"/>
                      <a:pt x="281090" y="583352"/>
                      <a:pt x="261760" y="545947"/>
                    </a:cubicBezTo>
                    <a:lnTo>
                      <a:pt x="63127" y="545947"/>
                    </a:lnTo>
                    <a:cubicBezTo>
                      <a:pt x="60745" y="545947"/>
                      <a:pt x="58813" y="547878"/>
                      <a:pt x="58813" y="550260"/>
                    </a:cubicBezTo>
                    <a:cubicBezTo>
                      <a:pt x="58813" y="550273"/>
                      <a:pt x="58813" y="550286"/>
                      <a:pt x="58814" y="550299"/>
                    </a:cubicBezTo>
                    <a:lnTo>
                      <a:pt x="58814" y="718976"/>
                    </a:lnTo>
                    <a:cubicBezTo>
                      <a:pt x="58814" y="721407"/>
                      <a:pt x="60696" y="723289"/>
                      <a:pt x="63127" y="723289"/>
                    </a:cubicBezTo>
                    <a:lnTo>
                      <a:pt x="721015" y="723289"/>
                    </a:lnTo>
                    <a:cubicBezTo>
                      <a:pt x="723397" y="723289"/>
                      <a:pt x="725328" y="721358"/>
                      <a:pt x="725328" y="718976"/>
                    </a:cubicBezTo>
                    <a:lnTo>
                      <a:pt x="725328" y="550299"/>
                    </a:lnTo>
                    <a:close/>
                  </a:path>
                </a:pathLst>
              </a:custGeom>
              <a:solidFill>
                <a:schemeClr val="accent2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61" name="组合 160"/>
            <p:cNvGrpSpPr/>
            <p:nvPr/>
          </p:nvGrpSpPr>
          <p:grpSpPr>
            <a:xfrm>
              <a:off x="10374085" y="2683616"/>
              <a:ext cx="728233" cy="738061"/>
              <a:chOff x="10718530" y="2082248"/>
              <a:chExt cx="728233" cy="738061"/>
            </a:xfrm>
          </p:grpSpPr>
          <p:sp>
            <p:nvSpPr>
              <p:cNvPr id="162" name="椭圆 161"/>
              <p:cNvSpPr/>
              <p:nvPr/>
            </p:nvSpPr>
            <p:spPr>
              <a:xfrm>
                <a:off x="10718530" y="26778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r>
                  <a:rPr lang="en-US" altLang="zh-CN" sz="105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工作台</a:t>
                </a:r>
                <a:endParaRPr lang="zh-CN" altLang="en-US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63" name="椭圆 162"/>
              <p:cNvSpPr/>
              <p:nvPr/>
            </p:nvSpPr>
            <p:spPr>
              <a:xfrm>
                <a:off x="10718530" y="26494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endParaRPr lang="zh-CN" altLang="en-US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64" name="椭圆 163"/>
              <p:cNvSpPr/>
              <p:nvPr/>
            </p:nvSpPr>
            <p:spPr>
              <a:xfrm>
                <a:off x="10784830" y="2082248"/>
                <a:ext cx="595633" cy="5956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innerShdw blurRad="76200">
                  <a:schemeClr val="accent1">
                    <a:lumMod val="20000"/>
                    <a:lumOff val="8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65" name="图形 2"/>
              <p:cNvSpPr>
                <a:spLocks noChangeAspect="1"/>
              </p:cNvSpPr>
              <p:nvPr/>
            </p:nvSpPr>
            <p:spPr>
              <a:xfrm>
                <a:off x="10974364" y="2272064"/>
                <a:ext cx="216564" cy="216000"/>
              </a:xfrm>
              <a:custGeom>
                <a:avLst/>
                <a:gdLst>
                  <a:gd name="connsiteX0" fmla="*/ 311006 w 784141"/>
                  <a:gd name="connsiteY0" fmla="*/ 236078 h 782102"/>
                  <a:gd name="connsiteX1" fmla="*/ 340413 w 784141"/>
                  <a:gd name="connsiteY1" fmla="*/ 206671 h 782102"/>
                  <a:gd name="connsiteX2" fmla="*/ 572334 w 784141"/>
                  <a:gd name="connsiteY2" fmla="*/ 206671 h 782102"/>
                  <a:gd name="connsiteX3" fmla="*/ 601741 w 784141"/>
                  <a:gd name="connsiteY3" fmla="*/ 236078 h 782102"/>
                  <a:gd name="connsiteX4" fmla="*/ 572334 w 784141"/>
                  <a:gd name="connsiteY4" fmla="*/ 265484 h 782102"/>
                  <a:gd name="connsiteX5" fmla="*/ 340413 w 784141"/>
                  <a:gd name="connsiteY5" fmla="*/ 265484 h 782102"/>
                  <a:gd name="connsiteX6" fmla="*/ 311006 w 784141"/>
                  <a:gd name="connsiteY6" fmla="*/ 236078 h 782102"/>
                  <a:gd name="connsiteX7" fmla="*/ 340413 w 784141"/>
                  <a:gd name="connsiteY7" fmla="*/ 360370 h 782102"/>
                  <a:gd name="connsiteX8" fmla="*/ 572334 w 784141"/>
                  <a:gd name="connsiteY8" fmla="*/ 360370 h 782102"/>
                  <a:gd name="connsiteX9" fmla="*/ 601741 w 784141"/>
                  <a:gd name="connsiteY9" fmla="*/ 330964 h 782102"/>
                  <a:gd name="connsiteX10" fmla="*/ 572334 w 784141"/>
                  <a:gd name="connsiteY10" fmla="*/ 301557 h 782102"/>
                  <a:gd name="connsiteX11" fmla="*/ 340413 w 784141"/>
                  <a:gd name="connsiteY11" fmla="*/ 301557 h 782102"/>
                  <a:gd name="connsiteX12" fmla="*/ 311006 w 784141"/>
                  <a:gd name="connsiteY12" fmla="*/ 330964 h 782102"/>
                  <a:gd name="connsiteX13" fmla="*/ 340413 w 784141"/>
                  <a:gd name="connsiteY13" fmla="*/ 360370 h 782102"/>
                  <a:gd name="connsiteX14" fmla="*/ 784142 w 784141"/>
                  <a:gd name="connsiteY14" fmla="*/ 550299 h 782102"/>
                  <a:gd name="connsiteX15" fmla="*/ 784142 w 784141"/>
                  <a:gd name="connsiteY15" fmla="*/ 718976 h 782102"/>
                  <a:gd name="connsiteX16" fmla="*/ 721015 w 784141"/>
                  <a:gd name="connsiteY16" fmla="*/ 782103 h 782102"/>
                  <a:gd name="connsiteX17" fmla="*/ 63127 w 784141"/>
                  <a:gd name="connsiteY17" fmla="*/ 782103 h 782102"/>
                  <a:gd name="connsiteX18" fmla="*/ 0 w 784141"/>
                  <a:gd name="connsiteY18" fmla="*/ 718976 h 782102"/>
                  <a:gd name="connsiteX19" fmla="*/ 0 w 784141"/>
                  <a:gd name="connsiteY19" fmla="*/ 550299 h 782102"/>
                  <a:gd name="connsiteX20" fmla="*/ 27407 w 784141"/>
                  <a:gd name="connsiteY20" fmla="*/ 498308 h 782102"/>
                  <a:gd name="connsiteX21" fmla="*/ 27407 w 784141"/>
                  <a:gd name="connsiteY21" fmla="*/ 162247 h 782102"/>
                  <a:gd name="connsiteX22" fmla="*/ 124293 w 784141"/>
                  <a:gd name="connsiteY22" fmla="*/ 65361 h 782102"/>
                  <a:gd name="connsiteX23" fmla="*/ 161777 w 784141"/>
                  <a:gd name="connsiteY23" fmla="*/ 65361 h 782102"/>
                  <a:gd name="connsiteX24" fmla="*/ 252977 w 784141"/>
                  <a:gd name="connsiteY24" fmla="*/ 0 h 782102"/>
                  <a:gd name="connsiteX25" fmla="*/ 659927 w 784141"/>
                  <a:gd name="connsiteY25" fmla="*/ 0 h 782102"/>
                  <a:gd name="connsiteX26" fmla="*/ 756813 w 784141"/>
                  <a:gd name="connsiteY26" fmla="*/ 96925 h 782102"/>
                  <a:gd name="connsiteX27" fmla="*/ 756813 w 784141"/>
                  <a:gd name="connsiteY27" fmla="*/ 498269 h 782102"/>
                  <a:gd name="connsiteX28" fmla="*/ 784142 w 784141"/>
                  <a:gd name="connsiteY28" fmla="*/ 550299 h 782102"/>
                  <a:gd name="connsiteX29" fmla="*/ 214826 w 784141"/>
                  <a:gd name="connsiteY29" fmla="*/ 96925 h 782102"/>
                  <a:gd name="connsiteX30" fmla="*/ 214826 w 784141"/>
                  <a:gd name="connsiteY30" fmla="*/ 487094 h 782102"/>
                  <a:gd name="connsiteX31" fmla="*/ 283089 w 784141"/>
                  <a:gd name="connsiteY31" fmla="*/ 487094 h 782102"/>
                  <a:gd name="connsiteX32" fmla="*/ 312339 w 784141"/>
                  <a:gd name="connsiteY32" fmla="*/ 513521 h 782102"/>
                  <a:gd name="connsiteX33" fmla="*/ 392051 w 784141"/>
                  <a:gd name="connsiteY33" fmla="*/ 550338 h 782102"/>
                  <a:gd name="connsiteX34" fmla="*/ 471763 w 784141"/>
                  <a:gd name="connsiteY34" fmla="*/ 513521 h 782102"/>
                  <a:gd name="connsiteX35" fmla="*/ 501013 w 784141"/>
                  <a:gd name="connsiteY35" fmla="*/ 487094 h 782102"/>
                  <a:gd name="connsiteX36" fmla="*/ 697882 w 784141"/>
                  <a:gd name="connsiteY36" fmla="*/ 487094 h 782102"/>
                  <a:gd name="connsiteX37" fmla="*/ 697882 w 784141"/>
                  <a:gd name="connsiteY37" fmla="*/ 96925 h 782102"/>
                  <a:gd name="connsiteX38" fmla="*/ 659810 w 784141"/>
                  <a:gd name="connsiteY38" fmla="*/ 58814 h 782102"/>
                  <a:gd name="connsiteX39" fmla="*/ 252898 w 784141"/>
                  <a:gd name="connsiteY39" fmla="*/ 58814 h 782102"/>
                  <a:gd name="connsiteX40" fmla="*/ 214826 w 784141"/>
                  <a:gd name="connsiteY40" fmla="*/ 96925 h 782102"/>
                  <a:gd name="connsiteX41" fmla="*/ 86181 w 784141"/>
                  <a:gd name="connsiteY41" fmla="*/ 162247 h 782102"/>
                  <a:gd name="connsiteX42" fmla="*/ 86181 w 784141"/>
                  <a:gd name="connsiteY42" fmla="*/ 487094 h 782102"/>
                  <a:gd name="connsiteX43" fmla="*/ 155974 w 784141"/>
                  <a:gd name="connsiteY43" fmla="*/ 487094 h 782102"/>
                  <a:gd name="connsiteX44" fmla="*/ 155974 w 784141"/>
                  <a:gd name="connsiteY44" fmla="*/ 124214 h 782102"/>
                  <a:gd name="connsiteX45" fmla="*/ 124214 w 784141"/>
                  <a:gd name="connsiteY45" fmla="*/ 124214 h 782102"/>
                  <a:gd name="connsiteX46" fmla="*/ 86181 w 784141"/>
                  <a:gd name="connsiteY46" fmla="*/ 162247 h 782102"/>
                  <a:gd name="connsiteX47" fmla="*/ 725328 w 784141"/>
                  <a:gd name="connsiteY47" fmla="*/ 550299 h 782102"/>
                  <a:gd name="connsiteX48" fmla="*/ 721055 w 784141"/>
                  <a:gd name="connsiteY48" fmla="*/ 545947 h 782102"/>
                  <a:gd name="connsiteX49" fmla="*/ 721015 w 784141"/>
                  <a:gd name="connsiteY49" fmla="*/ 545947 h 782102"/>
                  <a:gd name="connsiteX50" fmla="*/ 522343 w 784141"/>
                  <a:gd name="connsiteY50" fmla="*/ 545947 h 782102"/>
                  <a:gd name="connsiteX51" fmla="*/ 392090 w 784141"/>
                  <a:gd name="connsiteY51" fmla="*/ 609191 h 782102"/>
                  <a:gd name="connsiteX52" fmla="*/ 261760 w 784141"/>
                  <a:gd name="connsiteY52" fmla="*/ 545947 h 782102"/>
                  <a:gd name="connsiteX53" fmla="*/ 63127 w 784141"/>
                  <a:gd name="connsiteY53" fmla="*/ 545947 h 782102"/>
                  <a:gd name="connsiteX54" fmla="*/ 58813 w 784141"/>
                  <a:gd name="connsiteY54" fmla="*/ 550260 h 782102"/>
                  <a:gd name="connsiteX55" fmla="*/ 58814 w 784141"/>
                  <a:gd name="connsiteY55" fmla="*/ 550299 h 782102"/>
                  <a:gd name="connsiteX56" fmla="*/ 58814 w 784141"/>
                  <a:gd name="connsiteY56" fmla="*/ 718976 h 782102"/>
                  <a:gd name="connsiteX57" fmla="*/ 63127 w 784141"/>
                  <a:gd name="connsiteY57" fmla="*/ 723289 h 782102"/>
                  <a:gd name="connsiteX58" fmla="*/ 721015 w 784141"/>
                  <a:gd name="connsiteY58" fmla="*/ 723289 h 782102"/>
                  <a:gd name="connsiteX59" fmla="*/ 725328 w 784141"/>
                  <a:gd name="connsiteY59" fmla="*/ 718976 h 782102"/>
                  <a:gd name="connsiteX60" fmla="*/ 725328 w 784141"/>
                  <a:gd name="connsiteY60" fmla="*/ 550299 h 78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84141" h="782102">
                    <a:moveTo>
                      <a:pt x="311006" y="236078"/>
                    </a:moveTo>
                    <a:cubicBezTo>
                      <a:pt x="311006" y="219837"/>
                      <a:pt x="324172" y="206671"/>
                      <a:pt x="340413" y="206671"/>
                    </a:cubicBezTo>
                    <a:lnTo>
                      <a:pt x="572334" y="206671"/>
                    </a:lnTo>
                    <a:cubicBezTo>
                      <a:pt x="588575" y="206671"/>
                      <a:pt x="601741" y="219837"/>
                      <a:pt x="601741" y="236078"/>
                    </a:cubicBezTo>
                    <a:cubicBezTo>
                      <a:pt x="601741" y="252319"/>
                      <a:pt x="588575" y="265484"/>
                      <a:pt x="572334" y="265484"/>
                    </a:cubicBezTo>
                    <a:lnTo>
                      <a:pt x="340413" y="265484"/>
                    </a:lnTo>
                    <a:cubicBezTo>
                      <a:pt x="324172" y="265484"/>
                      <a:pt x="311006" y="252319"/>
                      <a:pt x="311006" y="236078"/>
                    </a:cubicBezTo>
                    <a:close/>
                    <a:moveTo>
                      <a:pt x="340413" y="360370"/>
                    </a:moveTo>
                    <a:lnTo>
                      <a:pt x="572334" y="360370"/>
                    </a:lnTo>
                    <a:cubicBezTo>
                      <a:pt x="588575" y="360370"/>
                      <a:pt x="601741" y="347204"/>
                      <a:pt x="601741" y="330964"/>
                    </a:cubicBezTo>
                    <a:cubicBezTo>
                      <a:pt x="601741" y="314723"/>
                      <a:pt x="588575" y="301557"/>
                      <a:pt x="572334" y="301557"/>
                    </a:cubicBezTo>
                    <a:lnTo>
                      <a:pt x="340413" y="301557"/>
                    </a:lnTo>
                    <a:cubicBezTo>
                      <a:pt x="324172" y="301557"/>
                      <a:pt x="311006" y="314723"/>
                      <a:pt x="311006" y="330964"/>
                    </a:cubicBezTo>
                    <a:cubicBezTo>
                      <a:pt x="311006" y="347204"/>
                      <a:pt x="324172" y="360370"/>
                      <a:pt x="340413" y="360370"/>
                    </a:cubicBezTo>
                    <a:close/>
                    <a:moveTo>
                      <a:pt x="784142" y="550299"/>
                    </a:moveTo>
                    <a:lnTo>
                      <a:pt x="784142" y="718976"/>
                    </a:lnTo>
                    <a:cubicBezTo>
                      <a:pt x="784142" y="753794"/>
                      <a:pt x="755794" y="782103"/>
                      <a:pt x="721015" y="782103"/>
                    </a:cubicBezTo>
                    <a:lnTo>
                      <a:pt x="63127" y="782103"/>
                    </a:lnTo>
                    <a:cubicBezTo>
                      <a:pt x="28309" y="782103"/>
                      <a:pt x="0" y="753755"/>
                      <a:pt x="0" y="718976"/>
                    </a:cubicBezTo>
                    <a:lnTo>
                      <a:pt x="0" y="550299"/>
                    </a:lnTo>
                    <a:cubicBezTo>
                      <a:pt x="0" y="528734"/>
                      <a:pt x="10900" y="509678"/>
                      <a:pt x="27407" y="498308"/>
                    </a:cubicBezTo>
                    <a:lnTo>
                      <a:pt x="27407" y="162247"/>
                    </a:lnTo>
                    <a:cubicBezTo>
                      <a:pt x="27472" y="108765"/>
                      <a:pt x="70811" y="65426"/>
                      <a:pt x="124293" y="65361"/>
                    </a:cubicBezTo>
                    <a:lnTo>
                      <a:pt x="161777" y="65361"/>
                    </a:lnTo>
                    <a:cubicBezTo>
                      <a:pt x="175134" y="26360"/>
                      <a:pt x="211751" y="117"/>
                      <a:pt x="252977" y="0"/>
                    </a:cubicBezTo>
                    <a:lnTo>
                      <a:pt x="659927" y="0"/>
                    </a:lnTo>
                    <a:cubicBezTo>
                      <a:pt x="713415" y="86"/>
                      <a:pt x="756748" y="43437"/>
                      <a:pt x="756813" y="96925"/>
                    </a:cubicBezTo>
                    <a:lnTo>
                      <a:pt x="756813" y="498269"/>
                    </a:lnTo>
                    <a:cubicBezTo>
                      <a:pt x="773281" y="509718"/>
                      <a:pt x="784142" y="528734"/>
                      <a:pt x="784142" y="550299"/>
                    </a:cubicBezTo>
                    <a:close/>
                    <a:moveTo>
                      <a:pt x="214826" y="96925"/>
                    </a:moveTo>
                    <a:lnTo>
                      <a:pt x="214826" y="487094"/>
                    </a:lnTo>
                    <a:lnTo>
                      <a:pt x="283089" y="487094"/>
                    </a:lnTo>
                    <a:cubicBezTo>
                      <a:pt x="298174" y="487097"/>
                      <a:pt x="310811" y="498514"/>
                      <a:pt x="312339" y="513521"/>
                    </a:cubicBezTo>
                    <a:cubicBezTo>
                      <a:pt x="313908" y="528930"/>
                      <a:pt x="345000" y="550338"/>
                      <a:pt x="392051" y="550338"/>
                    </a:cubicBezTo>
                    <a:cubicBezTo>
                      <a:pt x="439102" y="550338"/>
                      <a:pt x="470195" y="528891"/>
                      <a:pt x="471763" y="513521"/>
                    </a:cubicBezTo>
                    <a:cubicBezTo>
                      <a:pt x="473292" y="498514"/>
                      <a:pt x="485928" y="487097"/>
                      <a:pt x="501013" y="487094"/>
                    </a:cubicBezTo>
                    <a:lnTo>
                      <a:pt x="697882" y="487094"/>
                    </a:lnTo>
                    <a:lnTo>
                      <a:pt x="697882" y="96925"/>
                    </a:lnTo>
                    <a:cubicBezTo>
                      <a:pt x="697860" y="75901"/>
                      <a:pt x="680834" y="58857"/>
                      <a:pt x="659810" y="58814"/>
                    </a:cubicBezTo>
                    <a:lnTo>
                      <a:pt x="252898" y="58814"/>
                    </a:lnTo>
                    <a:cubicBezTo>
                      <a:pt x="231883" y="58878"/>
                      <a:pt x="214869" y="75910"/>
                      <a:pt x="214826" y="96925"/>
                    </a:cubicBezTo>
                    <a:close/>
                    <a:moveTo>
                      <a:pt x="86181" y="162247"/>
                    </a:moveTo>
                    <a:lnTo>
                      <a:pt x="86181" y="487094"/>
                    </a:lnTo>
                    <a:lnTo>
                      <a:pt x="155974" y="487094"/>
                    </a:lnTo>
                    <a:lnTo>
                      <a:pt x="155974" y="124214"/>
                    </a:lnTo>
                    <a:lnTo>
                      <a:pt x="124214" y="124214"/>
                    </a:lnTo>
                    <a:cubicBezTo>
                      <a:pt x="103227" y="124257"/>
                      <a:pt x="86225" y="141260"/>
                      <a:pt x="86181" y="162247"/>
                    </a:cubicBezTo>
                    <a:close/>
                    <a:moveTo>
                      <a:pt x="725328" y="550299"/>
                    </a:moveTo>
                    <a:cubicBezTo>
                      <a:pt x="725350" y="547917"/>
                      <a:pt x="723436" y="545969"/>
                      <a:pt x="721055" y="545947"/>
                    </a:cubicBezTo>
                    <a:cubicBezTo>
                      <a:pt x="721041" y="545947"/>
                      <a:pt x="721028" y="545947"/>
                      <a:pt x="721015" y="545947"/>
                    </a:cubicBezTo>
                    <a:lnTo>
                      <a:pt x="522343" y="545947"/>
                    </a:lnTo>
                    <a:cubicBezTo>
                      <a:pt x="503091" y="583352"/>
                      <a:pt x="452316" y="609191"/>
                      <a:pt x="392090" y="609191"/>
                    </a:cubicBezTo>
                    <a:cubicBezTo>
                      <a:pt x="331865" y="609191"/>
                      <a:pt x="281090" y="583352"/>
                      <a:pt x="261760" y="545947"/>
                    </a:cubicBezTo>
                    <a:lnTo>
                      <a:pt x="63127" y="545947"/>
                    </a:lnTo>
                    <a:cubicBezTo>
                      <a:pt x="60745" y="545947"/>
                      <a:pt x="58813" y="547878"/>
                      <a:pt x="58813" y="550260"/>
                    </a:cubicBezTo>
                    <a:cubicBezTo>
                      <a:pt x="58813" y="550273"/>
                      <a:pt x="58813" y="550286"/>
                      <a:pt x="58814" y="550299"/>
                    </a:cubicBezTo>
                    <a:lnTo>
                      <a:pt x="58814" y="718976"/>
                    </a:lnTo>
                    <a:cubicBezTo>
                      <a:pt x="58814" y="721407"/>
                      <a:pt x="60696" y="723289"/>
                      <a:pt x="63127" y="723289"/>
                    </a:cubicBezTo>
                    <a:lnTo>
                      <a:pt x="721015" y="723289"/>
                    </a:lnTo>
                    <a:cubicBezTo>
                      <a:pt x="723397" y="723289"/>
                      <a:pt x="725328" y="721358"/>
                      <a:pt x="725328" y="718976"/>
                    </a:cubicBezTo>
                    <a:lnTo>
                      <a:pt x="725328" y="550299"/>
                    </a:lnTo>
                    <a:close/>
                  </a:path>
                </a:pathLst>
              </a:custGeom>
              <a:solidFill>
                <a:schemeClr val="accent2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10374085" y="3769896"/>
              <a:ext cx="728233" cy="738061"/>
              <a:chOff x="10718530" y="2082248"/>
              <a:chExt cx="728233" cy="738061"/>
            </a:xfrm>
          </p:grpSpPr>
          <p:sp>
            <p:nvSpPr>
              <p:cNvPr id="167" name="椭圆 166"/>
              <p:cNvSpPr/>
              <p:nvPr/>
            </p:nvSpPr>
            <p:spPr>
              <a:xfrm>
                <a:off x="10718530" y="26778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r>
                  <a:rPr lang="zh-CN" altLang="en-US" sz="105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配置管理端</a:t>
                </a:r>
              </a:p>
            </p:txBody>
          </p:sp>
          <p:sp>
            <p:nvSpPr>
              <p:cNvPr id="168" name="椭圆 167"/>
              <p:cNvSpPr/>
              <p:nvPr/>
            </p:nvSpPr>
            <p:spPr>
              <a:xfrm>
                <a:off x="10718530" y="26494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endParaRPr lang="zh-CN" altLang="en-US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69" name="椭圆 168"/>
              <p:cNvSpPr/>
              <p:nvPr/>
            </p:nvSpPr>
            <p:spPr>
              <a:xfrm>
                <a:off x="10784830" y="2082248"/>
                <a:ext cx="595633" cy="5956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innerShdw blurRad="76200">
                  <a:schemeClr val="accent1">
                    <a:lumMod val="20000"/>
                    <a:lumOff val="8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70" name="图形 2"/>
              <p:cNvSpPr>
                <a:spLocks noChangeAspect="1"/>
              </p:cNvSpPr>
              <p:nvPr/>
            </p:nvSpPr>
            <p:spPr>
              <a:xfrm>
                <a:off x="10974364" y="2272064"/>
                <a:ext cx="216564" cy="216000"/>
              </a:xfrm>
              <a:custGeom>
                <a:avLst/>
                <a:gdLst>
                  <a:gd name="connsiteX0" fmla="*/ 311006 w 784141"/>
                  <a:gd name="connsiteY0" fmla="*/ 236078 h 782102"/>
                  <a:gd name="connsiteX1" fmla="*/ 340413 w 784141"/>
                  <a:gd name="connsiteY1" fmla="*/ 206671 h 782102"/>
                  <a:gd name="connsiteX2" fmla="*/ 572334 w 784141"/>
                  <a:gd name="connsiteY2" fmla="*/ 206671 h 782102"/>
                  <a:gd name="connsiteX3" fmla="*/ 601741 w 784141"/>
                  <a:gd name="connsiteY3" fmla="*/ 236078 h 782102"/>
                  <a:gd name="connsiteX4" fmla="*/ 572334 w 784141"/>
                  <a:gd name="connsiteY4" fmla="*/ 265484 h 782102"/>
                  <a:gd name="connsiteX5" fmla="*/ 340413 w 784141"/>
                  <a:gd name="connsiteY5" fmla="*/ 265484 h 782102"/>
                  <a:gd name="connsiteX6" fmla="*/ 311006 w 784141"/>
                  <a:gd name="connsiteY6" fmla="*/ 236078 h 782102"/>
                  <a:gd name="connsiteX7" fmla="*/ 340413 w 784141"/>
                  <a:gd name="connsiteY7" fmla="*/ 360370 h 782102"/>
                  <a:gd name="connsiteX8" fmla="*/ 572334 w 784141"/>
                  <a:gd name="connsiteY8" fmla="*/ 360370 h 782102"/>
                  <a:gd name="connsiteX9" fmla="*/ 601741 w 784141"/>
                  <a:gd name="connsiteY9" fmla="*/ 330964 h 782102"/>
                  <a:gd name="connsiteX10" fmla="*/ 572334 w 784141"/>
                  <a:gd name="connsiteY10" fmla="*/ 301557 h 782102"/>
                  <a:gd name="connsiteX11" fmla="*/ 340413 w 784141"/>
                  <a:gd name="connsiteY11" fmla="*/ 301557 h 782102"/>
                  <a:gd name="connsiteX12" fmla="*/ 311006 w 784141"/>
                  <a:gd name="connsiteY12" fmla="*/ 330964 h 782102"/>
                  <a:gd name="connsiteX13" fmla="*/ 340413 w 784141"/>
                  <a:gd name="connsiteY13" fmla="*/ 360370 h 782102"/>
                  <a:gd name="connsiteX14" fmla="*/ 784142 w 784141"/>
                  <a:gd name="connsiteY14" fmla="*/ 550299 h 782102"/>
                  <a:gd name="connsiteX15" fmla="*/ 784142 w 784141"/>
                  <a:gd name="connsiteY15" fmla="*/ 718976 h 782102"/>
                  <a:gd name="connsiteX16" fmla="*/ 721015 w 784141"/>
                  <a:gd name="connsiteY16" fmla="*/ 782103 h 782102"/>
                  <a:gd name="connsiteX17" fmla="*/ 63127 w 784141"/>
                  <a:gd name="connsiteY17" fmla="*/ 782103 h 782102"/>
                  <a:gd name="connsiteX18" fmla="*/ 0 w 784141"/>
                  <a:gd name="connsiteY18" fmla="*/ 718976 h 782102"/>
                  <a:gd name="connsiteX19" fmla="*/ 0 w 784141"/>
                  <a:gd name="connsiteY19" fmla="*/ 550299 h 782102"/>
                  <a:gd name="connsiteX20" fmla="*/ 27407 w 784141"/>
                  <a:gd name="connsiteY20" fmla="*/ 498308 h 782102"/>
                  <a:gd name="connsiteX21" fmla="*/ 27407 w 784141"/>
                  <a:gd name="connsiteY21" fmla="*/ 162247 h 782102"/>
                  <a:gd name="connsiteX22" fmla="*/ 124293 w 784141"/>
                  <a:gd name="connsiteY22" fmla="*/ 65361 h 782102"/>
                  <a:gd name="connsiteX23" fmla="*/ 161777 w 784141"/>
                  <a:gd name="connsiteY23" fmla="*/ 65361 h 782102"/>
                  <a:gd name="connsiteX24" fmla="*/ 252977 w 784141"/>
                  <a:gd name="connsiteY24" fmla="*/ 0 h 782102"/>
                  <a:gd name="connsiteX25" fmla="*/ 659927 w 784141"/>
                  <a:gd name="connsiteY25" fmla="*/ 0 h 782102"/>
                  <a:gd name="connsiteX26" fmla="*/ 756813 w 784141"/>
                  <a:gd name="connsiteY26" fmla="*/ 96925 h 782102"/>
                  <a:gd name="connsiteX27" fmla="*/ 756813 w 784141"/>
                  <a:gd name="connsiteY27" fmla="*/ 498269 h 782102"/>
                  <a:gd name="connsiteX28" fmla="*/ 784142 w 784141"/>
                  <a:gd name="connsiteY28" fmla="*/ 550299 h 782102"/>
                  <a:gd name="connsiteX29" fmla="*/ 214826 w 784141"/>
                  <a:gd name="connsiteY29" fmla="*/ 96925 h 782102"/>
                  <a:gd name="connsiteX30" fmla="*/ 214826 w 784141"/>
                  <a:gd name="connsiteY30" fmla="*/ 487094 h 782102"/>
                  <a:gd name="connsiteX31" fmla="*/ 283089 w 784141"/>
                  <a:gd name="connsiteY31" fmla="*/ 487094 h 782102"/>
                  <a:gd name="connsiteX32" fmla="*/ 312339 w 784141"/>
                  <a:gd name="connsiteY32" fmla="*/ 513521 h 782102"/>
                  <a:gd name="connsiteX33" fmla="*/ 392051 w 784141"/>
                  <a:gd name="connsiteY33" fmla="*/ 550338 h 782102"/>
                  <a:gd name="connsiteX34" fmla="*/ 471763 w 784141"/>
                  <a:gd name="connsiteY34" fmla="*/ 513521 h 782102"/>
                  <a:gd name="connsiteX35" fmla="*/ 501013 w 784141"/>
                  <a:gd name="connsiteY35" fmla="*/ 487094 h 782102"/>
                  <a:gd name="connsiteX36" fmla="*/ 697882 w 784141"/>
                  <a:gd name="connsiteY36" fmla="*/ 487094 h 782102"/>
                  <a:gd name="connsiteX37" fmla="*/ 697882 w 784141"/>
                  <a:gd name="connsiteY37" fmla="*/ 96925 h 782102"/>
                  <a:gd name="connsiteX38" fmla="*/ 659810 w 784141"/>
                  <a:gd name="connsiteY38" fmla="*/ 58814 h 782102"/>
                  <a:gd name="connsiteX39" fmla="*/ 252898 w 784141"/>
                  <a:gd name="connsiteY39" fmla="*/ 58814 h 782102"/>
                  <a:gd name="connsiteX40" fmla="*/ 214826 w 784141"/>
                  <a:gd name="connsiteY40" fmla="*/ 96925 h 782102"/>
                  <a:gd name="connsiteX41" fmla="*/ 86181 w 784141"/>
                  <a:gd name="connsiteY41" fmla="*/ 162247 h 782102"/>
                  <a:gd name="connsiteX42" fmla="*/ 86181 w 784141"/>
                  <a:gd name="connsiteY42" fmla="*/ 487094 h 782102"/>
                  <a:gd name="connsiteX43" fmla="*/ 155974 w 784141"/>
                  <a:gd name="connsiteY43" fmla="*/ 487094 h 782102"/>
                  <a:gd name="connsiteX44" fmla="*/ 155974 w 784141"/>
                  <a:gd name="connsiteY44" fmla="*/ 124214 h 782102"/>
                  <a:gd name="connsiteX45" fmla="*/ 124214 w 784141"/>
                  <a:gd name="connsiteY45" fmla="*/ 124214 h 782102"/>
                  <a:gd name="connsiteX46" fmla="*/ 86181 w 784141"/>
                  <a:gd name="connsiteY46" fmla="*/ 162247 h 782102"/>
                  <a:gd name="connsiteX47" fmla="*/ 725328 w 784141"/>
                  <a:gd name="connsiteY47" fmla="*/ 550299 h 782102"/>
                  <a:gd name="connsiteX48" fmla="*/ 721055 w 784141"/>
                  <a:gd name="connsiteY48" fmla="*/ 545947 h 782102"/>
                  <a:gd name="connsiteX49" fmla="*/ 721015 w 784141"/>
                  <a:gd name="connsiteY49" fmla="*/ 545947 h 782102"/>
                  <a:gd name="connsiteX50" fmla="*/ 522343 w 784141"/>
                  <a:gd name="connsiteY50" fmla="*/ 545947 h 782102"/>
                  <a:gd name="connsiteX51" fmla="*/ 392090 w 784141"/>
                  <a:gd name="connsiteY51" fmla="*/ 609191 h 782102"/>
                  <a:gd name="connsiteX52" fmla="*/ 261760 w 784141"/>
                  <a:gd name="connsiteY52" fmla="*/ 545947 h 782102"/>
                  <a:gd name="connsiteX53" fmla="*/ 63127 w 784141"/>
                  <a:gd name="connsiteY53" fmla="*/ 545947 h 782102"/>
                  <a:gd name="connsiteX54" fmla="*/ 58813 w 784141"/>
                  <a:gd name="connsiteY54" fmla="*/ 550260 h 782102"/>
                  <a:gd name="connsiteX55" fmla="*/ 58814 w 784141"/>
                  <a:gd name="connsiteY55" fmla="*/ 550299 h 782102"/>
                  <a:gd name="connsiteX56" fmla="*/ 58814 w 784141"/>
                  <a:gd name="connsiteY56" fmla="*/ 718976 h 782102"/>
                  <a:gd name="connsiteX57" fmla="*/ 63127 w 784141"/>
                  <a:gd name="connsiteY57" fmla="*/ 723289 h 782102"/>
                  <a:gd name="connsiteX58" fmla="*/ 721015 w 784141"/>
                  <a:gd name="connsiteY58" fmla="*/ 723289 h 782102"/>
                  <a:gd name="connsiteX59" fmla="*/ 725328 w 784141"/>
                  <a:gd name="connsiteY59" fmla="*/ 718976 h 782102"/>
                  <a:gd name="connsiteX60" fmla="*/ 725328 w 784141"/>
                  <a:gd name="connsiteY60" fmla="*/ 550299 h 78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84141" h="782102">
                    <a:moveTo>
                      <a:pt x="311006" y="236078"/>
                    </a:moveTo>
                    <a:cubicBezTo>
                      <a:pt x="311006" y="219837"/>
                      <a:pt x="324172" y="206671"/>
                      <a:pt x="340413" y="206671"/>
                    </a:cubicBezTo>
                    <a:lnTo>
                      <a:pt x="572334" y="206671"/>
                    </a:lnTo>
                    <a:cubicBezTo>
                      <a:pt x="588575" y="206671"/>
                      <a:pt x="601741" y="219837"/>
                      <a:pt x="601741" y="236078"/>
                    </a:cubicBezTo>
                    <a:cubicBezTo>
                      <a:pt x="601741" y="252319"/>
                      <a:pt x="588575" y="265484"/>
                      <a:pt x="572334" y="265484"/>
                    </a:cubicBezTo>
                    <a:lnTo>
                      <a:pt x="340413" y="265484"/>
                    </a:lnTo>
                    <a:cubicBezTo>
                      <a:pt x="324172" y="265484"/>
                      <a:pt x="311006" y="252319"/>
                      <a:pt x="311006" y="236078"/>
                    </a:cubicBezTo>
                    <a:close/>
                    <a:moveTo>
                      <a:pt x="340413" y="360370"/>
                    </a:moveTo>
                    <a:lnTo>
                      <a:pt x="572334" y="360370"/>
                    </a:lnTo>
                    <a:cubicBezTo>
                      <a:pt x="588575" y="360370"/>
                      <a:pt x="601741" y="347204"/>
                      <a:pt x="601741" y="330964"/>
                    </a:cubicBezTo>
                    <a:cubicBezTo>
                      <a:pt x="601741" y="314723"/>
                      <a:pt x="588575" y="301557"/>
                      <a:pt x="572334" y="301557"/>
                    </a:cubicBezTo>
                    <a:lnTo>
                      <a:pt x="340413" y="301557"/>
                    </a:lnTo>
                    <a:cubicBezTo>
                      <a:pt x="324172" y="301557"/>
                      <a:pt x="311006" y="314723"/>
                      <a:pt x="311006" y="330964"/>
                    </a:cubicBezTo>
                    <a:cubicBezTo>
                      <a:pt x="311006" y="347204"/>
                      <a:pt x="324172" y="360370"/>
                      <a:pt x="340413" y="360370"/>
                    </a:cubicBezTo>
                    <a:close/>
                    <a:moveTo>
                      <a:pt x="784142" y="550299"/>
                    </a:moveTo>
                    <a:lnTo>
                      <a:pt x="784142" y="718976"/>
                    </a:lnTo>
                    <a:cubicBezTo>
                      <a:pt x="784142" y="753794"/>
                      <a:pt x="755794" y="782103"/>
                      <a:pt x="721015" y="782103"/>
                    </a:cubicBezTo>
                    <a:lnTo>
                      <a:pt x="63127" y="782103"/>
                    </a:lnTo>
                    <a:cubicBezTo>
                      <a:pt x="28309" y="782103"/>
                      <a:pt x="0" y="753755"/>
                      <a:pt x="0" y="718976"/>
                    </a:cubicBezTo>
                    <a:lnTo>
                      <a:pt x="0" y="550299"/>
                    </a:lnTo>
                    <a:cubicBezTo>
                      <a:pt x="0" y="528734"/>
                      <a:pt x="10900" y="509678"/>
                      <a:pt x="27407" y="498308"/>
                    </a:cubicBezTo>
                    <a:lnTo>
                      <a:pt x="27407" y="162247"/>
                    </a:lnTo>
                    <a:cubicBezTo>
                      <a:pt x="27472" y="108765"/>
                      <a:pt x="70811" y="65426"/>
                      <a:pt x="124293" y="65361"/>
                    </a:cubicBezTo>
                    <a:lnTo>
                      <a:pt x="161777" y="65361"/>
                    </a:lnTo>
                    <a:cubicBezTo>
                      <a:pt x="175134" y="26360"/>
                      <a:pt x="211751" y="117"/>
                      <a:pt x="252977" y="0"/>
                    </a:cubicBezTo>
                    <a:lnTo>
                      <a:pt x="659927" y="0"/>
                    </a:lnTo>
                    <a:cubicBezTo>
                      <a:pt x="713415" y="86"/>
                      <a:pt x="756748" y="43437"/>
                      <a:pt x="756813" y="96925"/>
                    </a:cubicBezTo>
                    <a:lnTo>
                      <a:pt x="756813" y="498269"/>
                    </a:lnTo>
                    <a:cubicBezTo>
                      <a:pt x="773281" y="509718"/>
                      <a:pt x="784142" y="528734"/>
                      <a:pt x="784142" y="550299"/>
                    </a:cubicBezTo>
                    <a:close/>
                    <a:moveTo>
                      <a:pt x="214826" y="96925"/>
                    </a:moveTo>
                    <a:lnTo>
                      <a:pt x="214826" y="487094"/>
                    </a:lnTo>
                    <a:lnTo>
                      <a:pt x="283089" y="487094"/>
                    </a:lnTo>
                    <a:cubicBezTo>
                      <a:pt x="298174" y="487097"/>
                      <a:pt x="310811" y="498514"/>
                      <a:pt x="312339" y="513521"/>
                    </a:cubicBezTo>
                    <a:cubicBezTo>
                      <a:pt x="313908" y="528930"/>
                      <a:pt x="345000" y="550338"/>
                      <a:pt x="392051" y="550338"/>
                    </a:cubicBezTo>
                    <a:cubicBezTo>
                      <a:pt x="439102" y="550338"/>
                      <a:pt x="470195" y="528891"/>
                      <a:pt x="471763" y="513521"/>
                    </a:cubicBezTo>
                    <a:cubicBezTo>
                      <a:pt x="473292" y="498514"/>
                      <a:pt x="485928" y="487097"/>
                      <a:pt x="501013" y="487094"/>
                    </a:cubicBezTo>
                    <a:lnTo>
                      <a:pt x="697882" y="487094"/>
                    </a:lnTo>
                    <a:lnTo>
                      <a:pt x="697882" y="96925"/>
                    </a:lnTo>
                    <a:cubicBezTo>
                      <a:pt x="697860" y="75901"/>
                      <a:pt x="680834" y="58857"/>
                      <a:pt x="659810" y="58814"/>
                    </a:cubicBezTo>
                    <a:lnTo>
                      <a:pt x="252898" y="58814"/>
                    </a:lnTo>
                    <a:cubicBezTo>
                      <a:pt x="231883" y="58878"/>
                      <a:pt x="214869" y="75910"/>
                      <a:pt x="214826" y="96925"/>
                    </a:cubicBezTo>
                    <a:close/>
                    <a:moveTo>
                      <a:pt x="86181" y="162247"/>
                    </a:moveTo>
                    <a:lnTo>
                      <a:pt x="86181" y="487094"/>
                    </a:lnTo>
                    <a:lnTo>
                      <a:pt x="155974" y="487094"/>
                    </a:lnTo>
                    <a:lnTo>
                      <a:pt x="155974" y="124214"/>
                    </a:lnTo>
                    <a:lnTo>
                      <a:pt x="124214" y="124214"/>
                    </a:lnTo>
                    <a:cubicBezTo>
                      <a:pt x="103227" y="124257"/>
                      <a:pt x="86225" y="141260"/>
                      <a:pt x="86181" y="162247"/>
                    </a:cubicBezTo>
                    <a:close/>
                    <a:moveTo>
                      <a:pt x="725328" y="550299"/>
                    </a:moveTo>
                    <a:cubicBezTo>
                      <a:pt x="725350" y="547917"/>
                      <a:pt x="723436" y="545969"/>
                      <a:pt x="721055" y="545947"/>
                    </a:cubicBezTo>
                    <a:cubicBezTo>
                      <a:pt x="721041" y="545947"/>
                      <a:pt x="721028" y="545947"/>
                      <a:pt x="721015" y="545947"/>
                    </a:cubicBezTo>
                    <a:lnTo>
                      <a:pt x="522343" y="545947"/>
                    </a:lnTo>
                    <a:cubicBezTo>
                      <a:pt x="503091" y="583352"/>
                      <a:pt x="452316" y="609191"/>
                      <a:pt x="392090" y="609191"/>
                    </a:cubicBezTo>
                    <a:cubicBezTo>
                      <a:pt x="331865" y="609191"/>
                      <a:pt x="281090" y="583352"/>
                      <a:pt x="261760" y="545947"/>
                    </a:cubicBezTo>
                    <a:lnTo>
                      <a:pt x="63127" y="545947"/>
                    </a:lnTo>
                    <a:cubicBezTo>
                      <a:pt x="60745" y="545947"/>
                      <a:pt x="58813" y="547878"/>
                      <a:pt x="58813" y="550260"/>
                    </a:cubicBezTo>
                    <a:cubicBezTo>
                      <a:pt x="58813" y="550273"/>
                      <a:pt x="58813" y="550286"/>
                      <a:pt x="58814" y="550299"/>
                    </a:cubicBezTo>
                    <a:lnTo>
                      <a:pt x="58814" y="718976"/>
                    </a:lnTo>
                    <a:cubicBezTo>
                      <a:pt x="58814" y="721407"/>
                      <a:pt x="60696" y="723289"/>
                      <a:pt x="63127" y="723289"/>
                    </a:cubicBezTo>
                    <a:lnTo>
                      <a:pt x="721015" y="723289"/>
                    </a:lnTo>
                    <a:cubicBezTo>
                      <a:pt x="723397" y="723289"/>
                      <a:pt x="725328" y="721358"/>
                      <a:pt x="725328" y="718976"/>
                    </a:cubicBezTo>
                    <a:lnTo>
                      <a:pt x="725328" y="550299"/>
                    </a:lnTo>
                    <a:close/>
                  </a:path>
                </a:pathLst>
              </a:custGeom>
              <a:solidFill>
                <a:schemeClr val="accent2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171" name="组合 170"/>
            <p:cNvGrpSpPr/>
            <p:nvPr/>
          </p:nvGrpSpPr>
          <p:grpSpPr>
            <a:xfrm>
              <a:off x="10374085" y="4856176"/>
              <a:ext cx="728233" cy="738061"/>
              <a:chOff x="10718530" y="2082248"/>
              <a:chExt cx="728233" cy="738061"/>
            </a:xfrm>
          </p:grpSpPr>
          <p:sp>
            <p:nvSpPr>
              <p:cNvPr id="172" name="椭圆 171"/>
              <p:cNvSpPr/>
              <p:nvPr/>
            </p:nvSpPr>
            <p:spPr>
              <a:xfrm>
                <a:off x="10718530" y="26778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r>
                  <a:rPr lang="zh-CN" altLang="en-US" sz="1050" dirty="0">
                    <a:solidFill>
                      <a:schemeClr val="tx2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rPr>
                  <a:t>驾驶舱</a:t>
                </a:r>
              </a:p>
            </p:txBody>
          </p:sp>
          <p:sp>
            <p:nvSpPr>
              <p:cNvPr id="173" name="椭圆 172"/>
              <p:cNvSpPr/>
              <p:nvPr/>
            </p:nvSpPr>
            <p:spPr>
              <a:xfrm>
                <a:off x="10718530" y="2649481"/>
                <a:ext cx="728233" cy="142428"/>
              </a:xfrm>
              <a:prstGeom prst="ellipse">
                <a:avLst/>
              </a:prstGeom>
              <a:gradFill>
                <a:gsLst>
                  <a:gs pos="10000">
                    <a:schemeClr val="bg1">
                      <a:alpha val="80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16200000" scaled="1"/>
              </a:gradFill>
              <a:ln w="12700"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88000">
                      <a:schemeClr val="accent1">
                        <a:lumMod val="60000"/>
                        <a:lumOff val="40000"/>
                        <a:alpha val="0"/>
                      </a:schemeClr>
                    </a:gs>
                  </a:gsLst>
                  <a:lin ang="16200000" scaled="1"/>
                  <a:tileRect/>
                </a:gradFill>
                <a:prstDash val="solid"/>
              </a:ln>
              <a:effectLst>
                <a:outerShdw blurRad="381000" dir="5400000" algn="ctr" rotWithShape="0">
                  <a:schemeClr val="accent1">
                    <a:lumMod val="60000"/>
                    <a:lumOff val="4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72000" tIns="216000" rIns="72000" bIns="0" rtlCol="0" anchor="t"/>
              <a:lstStyle/>
              <a:p>
                <a:pPr algn="ctr"/>
                <a:endParaRPr lang="zh-CN" altLang="en-US" sz="105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74" name="椭圆 173"/>
              <p:cNvSpPr/>
              <p:nvPr/>
            </p:nvSpPr>
            <p:spPr>
              <a:xfrm>
                <a:off x="10784830" y="2082248"/>
                <a:ext cx="595633" cy="59563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innerShdw blurRad="76200">
                  <a:schemeClr val="accent1">
                    <a:lumMod val="20000"/>
                    <a:lumOff val="8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175" name="图形 2"/>
              <p:cNvSpPr>
                <a:spLocks noChangeAspect="1"/>
              </p:cNvSpPr>
              <p:nvPr/>
            </p:nvSpPr>
            <p:spPr>
              <a:xfrm>
                <a:off x="10974364" y="2272064"/>
                <a:ext cx="216564" cy="216000"/>
              </a:xfrm>
              <a:custGeom>
                <a:avLst/>
                <a:gdLst>
                  <a:gd name="connsiteX0" fmla="*/ 311006 w 784141"/>
                  <a:gd name="connsiteY0" fmla="*/ 236078 h 782102"/>
                  <a:gd name="connsiteX1" fmla="*/ 340413 w 784141"/>
                  <a:gd name="connsiteY1" fmla="*/ 206671 h 782102"/>
                  <a:gd name="connsiteX2" fmla="*/ 572334 w 784141"/>
                  <a:gd name="connsiteY2" fmla="*/ 206671 h 782102"/>
                  <a:gd name="connsiteX3" fmla="*/ 601741 w 784141"/>
                  <a:gd name="connsiteY3" fmla="*/ 236078 h 782102"/>
                  <a:gd name="connsiteX4" fmla="*/ 572334 w 784141"/>
                  <a:gd name="connsiteY4" fmla="*/ 265484 h 782102"/>
                  <a:gd name="connsiteX5" fmla="*/ 340413 w 784141"/>
                  <a:gd name="connsiteY5" fmla="*/ 265484 h 782102"/>
                  <a:gd name="connsiteX6" fmla="*/ 311006 w 784141"/>
                  <a:gd name="connsiteY6" fmla="*/ 236078 h 782102"/>
                  <a:gd name="connsiteX7" fmla="*/ 340413 w 784141"/>
                  <a:gd name="connsiteY7" fmla="*/ 360370 h 782102"/>
                  <a:gd name="connsiteX8" fmla="*/ 572334 w 784141"/>
                  <a:gd name="connsiteY8" fmla="*/ 360370 h 782102"/>
                  <a:gd name="connsiteX9" fmla="*/ 601741 w 784141"/>
                  <a:gd name="connsiteY9" fmla="*/ 330964 h 782102"/>
                  <a:gd name="connsiteX10" fmla="*/ 572334 w 784141"/>
                  <a:gd name="connsiteY10" fmla="*/ 301557 h 782102"/>
                  <a:gd name="connsiteX11" fmla="*/ 340413 w 784141"/>
                  <a:gd name="connsiteY11" fmla="*/ 301557 h 782102"/>
                  <a:gd name="connsiteX12" fmla="*/ 311006 w 784141"/>
                  <a:gd name="connsiteY12" fmla="*/ 330964 h 782102"/>
                  <a:gd name="connsiteX13" fmla="*/ 340413 w 784141"/>
                  <a:gd name="connsiteY13" fmla="*/ 360370 h 782102"/>
                  <a:gd name="connsiteX14" fmla="*/ 784142 w 784141"/>
                  <a:gd name="connsiteY14" fmla="*/ 550299 h 782102"/>
                  <a:gd name="connsiteX15" fmla="*/ 784142 w 784141"/>
                  <a:gd name="connsiteY15" fmla="*/ 718976 h 782102"/>
                  <a:gd name="connsiteX16" fmla="*/ 721015 w 784141"/>
                  <a:gd name="connsiteY16" fmla="*/ 782103 h 782102"/>
                  <a:gd name="connsiteX17" fmla="*/ 63127 w 784141"/>
                  <a:gd name="connsiteY17" fmla="*/ 782103 h 782102"/>
                  <a:gd name="connsiteX18" fmla="*/ 0 w 784141"/>
                  <a:gd name="connsiteY18" fmla="*/ 718976 h 782102"/>
                  <a:gd name="connsiteX19" fmla="*/ 0 w 784141"/>
                  <a:gd name="connsiteY19" fmla="*/ 550299 h 782102"/>
                  <a:gd name="connsiteX20" fmla="*/ 27407 w 784141"/>
                  <a:gd name="connsiteY20" fmla="*/ 498308 h 782102"/>
                  <a:gd name="connsiteX21" fmla="*/ 27407 w 784141"/>
                  <a:gd name="connsiteY21" fmla="*/ 162247 h 782102"/>
                  <a:gd name="connsiteX22" fmla="*/ 124293 w 784141"/>
                  <a:gd name="connsiteY22" fmla="*/ 65361 h 782102"/>
                  <a:gd name="connsiteX23" fmla="*/ 161777 w 784141"/>
                  <a:gd name="connsiteY23" fmla="*/ 65361 h 782102"/>
                  <a:gd name="connsiteX24" fmla="*/ 252977 w 784141"/>
                  <a:gd name="connsiteY24" fmla="*/ 0 h 782102"/>
                  <a:gd name="connsiteX25" fmla="*/ 659927 w 784141"/>
                  <a:gd name="connsiteY25" fmla="*/ 0 h 782102"/>
                  <a:gd name="connsiteX26" fmla="*/ 756813 w 784141"/>
                  <a:gd name="connsiteY26" fmla="*/ 96925 h 782102"/>
                  <a:gd name="connsiteX27" fmla="*/ 756813 w 784141"/>
                  <a:gd name="connsiteY27" fmla="*/ 498269 h 782102"/>
                  <a:gd name="connsiteX28" fmla="*/ 784142 w 784141"/>
                  <a:gd name="connsiteY28" fmla="*/ 550299 h 782102"/>
                  <a:gd name="connsiteX29" fmla="*/ 214826 w 784141"/>
                  <a:gd name="connsiteY29" fmla="*/ 96925 h 782102"/>
                  <a:gd name="connsiteX30" fmla="*/ 214826 w 784141"/>
                  <a:gd name="connsiteY30" fmla="*/ 487094 h 782102"/>
                  <a:gd name="connsiteX31" fmla="*/ 283089 w 784141"/>
                  <a:gd name="connsiteY31" fmla="*/ 487094 h 782102"/>
                  <a:gd name="connsiteX32" fmla="*/ 312339 w 784141"/>
                  <a:gd name="connsiteY32" fmla="*/ 513521 h 782102"/>
                  <a:gd name="connsiteX33" fmla="*/ 392051 w 784141"/>
                  <a:gd name="connsiteY33" fmla="*/ 550338 h 782102"/>
                  <a:gd name="connsiteX34" fmla="*/ 471763 w 784141"/>
                  <a:gd name="connsiteY34" fmla="*/ 513521 h 782102"/>
                  <a:gd name="connsiteX35" fmla="*/ 501013 w 784141"/>
                  <a:gd name="connsiteY35" fmla="*/ 487094 h 782102"/>
                  <a:gd name="connsiteX36" fmla="*/ 697882 w 784141"/>
                  <a:gd name="connsiteY36" fmla="*/ 487094 h 782102"/>
                  <a:gd name="connsiteX37" fmla="*/ 697882 w 784141"/>
                  <a:gd name="connsiteY37" fmla="*/ 96925 h 782102"/>
                  <a:gd name="connsiteX38" fmla="*/ 659810 w 784141"/>
                  <a:gd name="connsiteY38" fmla="*/ 58814 h 782102"/>
                  <a:gd name="connsiteX39" fmla="*/ 252898 w 784141"/>
                  <a:gd name="connsiteY39" fmla="*/ 58814 h 782102"/>
                  <a:gd name="connsiteX40" fmla="*/ 214826 w 784141"/>
                  <a:gd name="connsiteY40" fmla="*/ 96925 h 782102"/>
                  <a:gd name="connsiteX41" fmla="*/ 86181 w 784141"/>
                  <a:gd name="connsiteY41" fmla="*/ 162247 h 782102"/>
                  <a:gd name="connsiteX42" fmla="*/ 86181 w 784141"/>
                  <a:gd name="connsiteY42" fmla="*/ 487094 h 782102"/>
                  <a:gd name="connsiteX43" fmla="*/ 155974 w 784141"/>
                  <a:gd name="connsiteY43" fmla="*/ 487094 h 782102"/>
                  <a:gd name="connsiteX44" fmla="*/ 155974 w 784141"/>
                  <a:gd name="connsiteY44" fmla="*/ 124214 h 782102"/>
                  <a:gd name="connsiteX45" fmla="*/ 124214 w 784141"/>
                  <a:gd name="connsiteY45" fmla="*/ 124214 h 782102"/>
                  <a:gd name="connsiteX46" fmla="*/ 86181 w 784141"/>
                  <a:gd name="connsiteY46" fmla="*/ 162247 h 782102"/>
                  <a:gd name="connsiteX47" fmla="*/ 725328 w 784141"/>
                  <a:gd name="connsiteY47" fmla="*/ 550299 h 782102"/>
                  <a:gd name="connsiteX48" fmla="*/ 721055 w 784141"/>
                  <a:gd name="connsiteY48" fmla="*/ 545947 h 782102"/>
                  <a:gd name="connsiteX49" fmla="*/ 721015 w 784141"/>
                  <a:gd name="connsiteY49" fmla="*/ 545947 h 782102"/>
                  <a:gd name="connsiteX50" fmla="*/ 522343 w 784141"/>
                  <a:gd name="connsiteY50" fmla="*/ 545947 h 782102"/>
                  <a:gd name="connsiteX51" fmla="*/ 392090 w 784141"/>
                  <a:gd name="connsiteY51" fmla="*/ 609191 h 782102"/>
                  <a:gd name="connsiteX52" fmla="*/ 261760 w 784141"/>
                  <a:gd name="connsiteY52" fmla="*/ 545947 h 782102"/>
                  <a:gd name="connsiteX53" fmla="*/ 63127 w 784141"/>
                  <a:gd name="connsiteY53" fmla="*/ 545947 h 782102"/>
                  <a:gd name="connsiteX54" fmla="*/ 58813 w 784141"/>
                  <a:gd name="connsiteY54" fmla="*/ 550260 h 782102"/>
                  <a:gd name="connsiteX55" fmla="*/ 58814 w 784141"/>
                  <a:gd name="connsiteY55" fmla="*/ 550299 h 782102"/>
                  <a:gd name="connsiteX56" fmla="*/ 58814 w 784141"/>
                  <a:gd name="connsiteY56" fmla="*/ 718976 h 782102"/>
                  <a:gd name="connsiteX57" fmla="*/ 63127 w 784141"/>
                  <a:gd name="connsiteY57" fmla="*/ 723289 h 782102"/>
                  <a:gd name="connsiteX58" fmla="*/ 721015 w 784141"/>
                  <a:gd name="connsiteY58" fmla="*/ 723289 h 782102"/>
                  <a:gd name="connsiteX59" fmla="*/ 725328 w 784141"/>
                  <a:gd name="connsiteY59" fmla="*/ 718976 h 782102"/>
                  <a:gd name="connsiteX60" fmla="*/ 725328 w 784141"/>
                  <a:gd name="connsiteY60" fmla="*/ 550299 h 78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784141" h="782102">
                    <a:moveTo>
                      <a:pt x="311006" y="236078"/>
                    </a:moveTo>
                    <a:cubicBezTo>
                      <a:pt x="311006" y="219837"/>
                      <a:pt x="324172" y="206671"/>
                      <a:pt x="340413" y="206671"/>
                    </a:cubicBezTo>
                    <a:lnTo>
                      <a:pt x="572334" y="206671"/>
                    </a:lnTo>
                    <a:cubicBezTo>
                      <a:pt x="588575" y="206671"/>
                      <a:pt x="601741" y="219837"/>
                      <a:pt x="601741" y="236078"/>
                    </a:cubicBezTo>
                    <a:cubicBezTo>
                      <a:pt x="601741" y="252319"/>
                      <a:pt x="588575" y="265484"/>
                      <a:pt x="572334" y="265484"/>
                    </a:cubicBezTo>
                    <a:lnTo>
                      <a:pt x="340413" y="265484"/>
                    </a:lnTo>
                    <a:cubicBezTo>
                      <a:pt x="324172" y="265484"/>
                      <a:pt x="311006" y="252319"/>
                      <a:pt x="311006" y="236078"/>
                    </a:cubicBezTo>
                    <a:close/>
                    <a:moveTo>
                      <a:pt x="340413" y="360370"/>
                    </a:moveTo>
                    <a:lnTo>
                      <a:pt x="572334" y="360370"/>
                    </a:lnTo>
                    <a:cubicBezTo>
                      <a:pt x="588575" y="360370"/>
                      <a:pt x="601741" y="347204"/>
                      <a:pt x="601741" y="330964"/>
                    </a:cubicBezTo>
                    <a:cubicBezTo>
                      <a:pt x="601741" y="314723"/>
                      <a:pt x="588575" y="301557"/>
                      <a:pt x="572334" y="301557"/>
                    </a:cubicBezTo>
                    <a:lnTo>
                      <a:pt x="340413" y="301557"/>
                    </a:lnTo>
                    <a:cubicBezTo>
                      <a:pt x="324172" y="301557"/>
                      <a:pt x="311006" y="314723"/>
                      <a:pt x="311006" y="330964"/>
                    </a:cubicBezTo>
                    <a:cubicBezTo>
                      <a:pt x="311006" y="347204"/>
                      <a:pt x="324172" y="360370"/>
                      <a:pt x="340413" y="360370"/>
                    </a:cubicBezTo>
                    <a:close/>
                    <a:moveTo>
                      <a:pt x="784142" y="550299"/>
                    </a:moveTo>
                    <a:lnTo>
                      <a:pt x="784142" y="718976"/>
                    </a:lnTo>
                    <a:cubicBezTo>
                      <a:pt x="784142" y="753794"/>
                      <a:pt x="755794" y="782103"/>
                      <a:pt x="721015" y="782103"/>
                    </a:cubicBezTo>
                    <a:lnTo>
                      <a:pt x="63127" y="782103"/>
                    </a:lnTo>
                    <a:cubicBezTo>
                      <a:pt x="28309" y="782103"/>
                      <a:pt x="0" y="753755"/>
                      <a:pt x="0" y="718976"/>
                    </a:cubicBezTo>
                    <a:lnTo>
                      <a:pt x="0" y="550299"/>
                    </a:lnTo>
                    <a:cubicBezTo>
                      <a:pt x="0" y="528734"/>
                      <a:pt x="10900" y="509678"/>
                      <a:pt x="27407" y="498308"/>
                    </a:cubicBezTo>
                    <a:lnTo>
                      <a:pt x="27407" y="162247"/>
                    </a:lnTo>
                    <a:cubicBezTo>
                      <a:pt x="27472" y="108765"/>
                      <a:pt x="70811" y="65426"/>
                      <a:pt x="124293" y="65361"/>
                    </a:cubicBezTo>
                    <a:lnTo>
                      <a:pt x="161777" y="65361"/>
                    </a:lnTo>
                    <a:cubicBezTo>
                      <a:pt x="175134" y="26360"/>
                      <a:pt x="211751" y="117"/>
                      <a:pt x="252977" y="0"/>
                    </a:cubicBezTo>
                    <a:lnTo>
                      <a:pt x="659927" y="0"/>
                    </a:lnTo>
                    <a:cubicBezTo>
                      <a:pt x="713415" y="86"/>
                      <a:pt x="756748" y="43437"/>
                      <a:pt x="756813" y="96925"/>
                    </a:cubicBezTo>
                    <a:lnTo>
                      <a:pt x="756813" y="498269"/>
                    </a:lnTo>
                    <a:cubicBezTo>
                      <a:pt x="773281" y="509718"/>
                      <a:pt x="784142" y="528734"/>
                      <a:pt x="784142" y="550299"/>
                    </a:cubicBezTo>
                    <a:close/>
                    <a:moveTo>
                      <a:pt x="214826" y="96925"/>
                    </a:moveTo>
                    <a:lnTo>
                      <a:pt x="214826" y="487094"/>
                    </a:lnTo>
                    <a:lnTo>
                      <a:pt x="283089" y="487094"/>
                    </a:lnTo>
                    <a:cubicBezTo>
                      <a:pt x="298174" y="487097"/>
                      <a:pt x="310811" y="498514"/>
                      <a:pt x="312339" y="513521"/>
                    </a:cubicBezTo>
                    <a:cubicBezTo>
                      <a:pt x="313908" y="528930"/>
                      <a:pt x="345000" y="550338"/>
                      <a:pt x="392051" y="550338"/>
                    </a:cubicBezTo>
                    <a:cubicBezTo>
                      <a:pt x="439102" y="550338"/>
                      <a:pt x="470195" y="528891"/>
                      <a:pt x="471763" y="513521"/>
                    </a:cubicBezTo>
                    <a:cubicBezTo>
                      <a:pt x="473292" y="498514"/>
                      <a:pt x="485928" y="487097"/>
                      <a:pt x="501013" y="487094"/>
                    </a:cubicBezTo>
                    <a:lnTo>
                      <a:pt x="697882" y="487094"/>
                    </a:lnTo>
                    <a:lnTo>
                      <a:pt x="697882" y="96925"/>
                    </a:lnTo>
                    <a:cubicBezTo>
                      <a:pt x="697860" y="75901"/>
                      <a:pt x="680834" y="58857"/>
                      <a:pt x="659810" y="58814"/>
                    </a:cubicBezTo>
                    <a:lnTo>
                      <a:pt x="252898" y="58814"/>
                    </a:lnTo>
                    <a:cubicBezTo>
                      <a:pt x="231883" y="58878"/>
                      <a:pt x="214869" y="75910"/>
                      <a:pt x="214826" y="96925"/>
                    </a:cubicBezTo>
                    <a:close/>
                    <a:moveTo>
                      <a:pt x="86181" y="162247"/>
                    </a:moveTo>
                    <a:lnTo>
                      <a:pt x="86181" y="487094"/>
                    </a:lnTo>
                    <a:lnTo>
                      <a:pt x="155974" y="487094"/>
                    </a:lnTo>
                    <a:lnTo>
                      <a:pt x="155974" y="124214"/>
                    </a:lnTo>
                    <a:lnTo>
                      <a:pt x="124214" y="124214"/>
                    </a:lnTo>
                    <a:cubicBezTo>
                      <a:pt x="103227" y="124257"/>
                      <a:pt x="86225" y="141260"/>
                      <a:pt x="86181" y="162247"/>
                    </a:cubicBezTo>
                    <a:close/>
                    <a:moveTo>
                      <a:pt x="725328" y="550299"/>
                    </a:moveTo>
                    <a:cubicBezTo>
                      <a:pt x="725350" y="547917"/>
                      <a:pt x="723436" y="545969"/>
                      <a:pt x="721055" y="545947"/>
                    </a:cubicBezTo>
                    <a:cubicBezTo>
                      <a:pt x="721041" y="545947"/>
                      <a:pt x="721028" y="545947"/>
                      <a:pt x="721015" y="545947"/>
                    </a:cubicBezTo>
                    <a:lnTo>
                      <a:pt x="522343" y="545947"/>
                    </a:lnTo>
                    <a:cubicBezTo>
                      <a:pt x="503091" y="583352"/>
                      <a:pt x="452316" y="609191"/>
                      <a:pt x="392090" y="609191"/>
                    </a:cubicBezTo>
                    <a:cubicBezTo>
                      <a:pt x="331865" y="609191"/>
                      <a:pt x="281090" y="583352"/>
                      <a:pt x="261760" y="545947"/>
                    </a:cubicBezTo>
                    <a:lnTo>
                      <a:pt x="63127" y="545947"/>
                    </a:lnTo>
                    <a:cubicBezTo>
                      <a:pt x="60745" y="545947"/>
                      <a:pt x="58813" y="547878"/>
                      <a:pt x="58813" y="550260"/>
                    </a:cubicBezTo>
                    <a:cubicBezTo>
                      <a:pt x="58813" y="550273"/>
                      <a:pt x="58813" y="550286"/>
                      <a:pt x="58814" y="550299"/>
                    </a:cubicBezTo>
                    <a:lnTo>
                      <a:pt x="58814" y="718976"/>
                    </a:lnTo>
                    <a:cubicBezTo>
                      <a:pt x="58814" y="721407"/>
                      <a:pt x="60696" y="723289"/>
                      <a:pt x="63127" y="723289"/>
                    </a:cubicBezTo>
                    <a:lnTo>
                      <a:pt x="721015" y="723289"/>
                    </a:lnTo>
                    <a:cubicBezTo>
                      <a:pt x="723397" y="723289"/>
                      <a:pt x="725328" y="721358"/>
                      <a:pt x="725328" y="718976"/>
                    </a:cubicBezTo>
                    <a:lnTo>
                      <a:pt x="725328" y="550299"/>
                    </a:lnTo>
                    <a:close/>
                  </a:path>
                </a:pathLst>
              </a:custGeom>
              <a:solidFill>
                <a:schemeClr val="accent2"/>
              </a:solidFill>
              <a:ln w="83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</p:grpSp>
      <p:grpSp>
        <p:nvGrpSpPr>
          <p:cNvPr id="186" name="组合 185"/>
          <p:cNvGrpSpPr/>
          <p:nvPr/>
        </p:nvGrpSpPr>
        <p:grpSpPr>
          <a:xfrm>
            <a:off x="406156" y="978393"/>
            <a:ext cx="11377857" cy="523624"/>
            <a:chOff x="406156" y="1033226"/>
            <a:chExt cx="11377857" cy="523624"/>
          </a:xfrm>
        </p:grpSpPr>
        <p:sp>
          <p:nvSpPr>
            <p:cNvPr id="178" name="文本框 177"/>
            <p:cNvSpPr txBox="1"/>
            <p:nvPr/>
          </p:nvSpPr>
          <p:spPr>
            <a:xfrm>
              <a:off x="406156" y="103322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数据来源</a:t>
              </a: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3077437" y="1033226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监管平台</a:t>
              </a: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9956244" y="1033226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zh-CN" altLang="en-US" sz="14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用户应用</a:t>
              </a:r>
            </a:p>
          </p:txBody>
        </p:sp>
        <p:cxnSp>
          <p:nvCxnSpPr>
            <p:cNvPr id="182" name="直线箭头连接符 181"/>
            <p:cNvCxnSpPr>
              <a:stCxn id="178" idx="3"/>
              <a:endCxn id="179" idx="1"/>
            </p:cNvCxnSpPr>
            <p:nvPr/>
          </p:nvCxnSpPr>
          <p:spPr>
            <a:xfrm>
              <a:off x="1308967" y="1187115"/>
              <a:ext cx="1768470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线箭头连接符 182"/>
            <p:cNvCxnSpPr>
              <a:stCxn id="179" idx="3"/>
            </p:cNvCxnSpPr>
            <p:nvPr/>
          </p:nvCxnSpPr>
          <p:spPr>
            <a:xfrm>
              <a:off x="4159785" y="1187115"/>
              <a:ext cx="5734492" cy="0"/>
            </a:xfrm>
            <a:prstGeom prst="straightConnector1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文本框 187"/>
            <p:cNvSpPr txBox="1"/>
            <p:nvPr/>
          </p:nvSpPr>
          <p:spPr>
            <a:xfrm>
              <a:off x="406157" y="1310629"/>
              <a:ext cx="25070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连接现有系统与授权外部数据</a:t>
              </a: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3056890" y="1310629"/>
              <a:ext cx="25070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统一事实、规则、证据与闭环</a:t>
              </a:r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9957789" y="1310629"/>
              <a:ext cx="18262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服务领导、监管、业务与管理员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5474639" y="4188528"/>
            <a:ext cx="77814" cy="1254594"/>
            <a:chOff x="5432527" y="4188528"/>
            <a:chExt cx="77814" cy="1254594"/>
          </a:xfrm>
        </p:grpSpPr>
        <p:sp>
          <p:nvSpPr>
            <p:cNvPr id="37" name="五边形 36"/>
            <p:cNvSpPr/>
            <p:nvPr>
              <p:custDataLst>
                <p:tags r:id="rId1"/>
              </p:custDataLst>
            </p:nvPr>
          </p:nvSpPr>
          <p:spPr>
            <a:xfrm>
              <a:off x="5432527" y="4188528"/>
              <a:ext cx="77814" cy="201831"/>
            </a:xfrm>
            <a:prstGeom prst="homePlate">
              <a:avLst>
                <a:gd name="adj" fmla="val 10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lin ang="0" scaled="0"/>
            </a:gradFill>
            <a:ln w="9525" cap="flat" cmpd="sng" algn="ctr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>
              <a:outerShdw blurRad="475241" sx="107000" sy="107000" algn="ctr" rotWithShape="0">
                <a:srgbClr val="336FFF">
                  <a:alpha val="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8" name="五边形 37"/>
            <p:cNvSpPr/>
            <p:nvPr>
              <p:custDataLst>
                <p:tags r:id="rId2"/>
              </p:custDataLst>
            </p:nvPr>
          </p:nvSpPr>
          <p:spPr>
            <a:xfrm>
              <a:off x="5432527" y="4714909"/>
              <a:ext cx="77814" cy="201831"/>
            </a:xfrm>
            <a:prstGeom prst="homePlate">
              <a:avLst>
                <a:gd name="adj" fmla="val 10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lin ang="0" scaled="0"/>
            </a:gradFill>
            <a:ln w="9525" cap="flat" cmpd="sng" algn="ctr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>
              <a:outerShdw blurRad="475241" sx="107000" sy="107000" algn="ctr" rotWithShape="0">
                <a:srgbClr val="336FFF">
                  <a:alpha val="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9" name="五边形 38"/>
            <p:cNvSpPr/>
            <p:nvPr>
              <p:custDataLst>
                <p:tags r:id="rId3"/>
              </p:custDataLst>
            </p:nvPr>
          </p:nvSpPr>
          <p:spPr>
            <a:xfrm>
              <a:off x="5432527" y="5241291"/>
              <a:ext cx="77814" cy="201831"/>
            </a:xfrm>
            <a:prstGeom prst="homePlate">
              <a:avLst>
                <a:gd name="adj" fmla="val 10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lin ang="0" scaled="0"/>
            </a:gradFill>
            <a:ln w="9525" cap="flat" cmpd="sng" algn="ctr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>
              <a:outerShdw blurRad="475241" sx="107000" sy="107000" algn="ctr" rotWithShape="0">
                <a:srgbClr val="336FFF">
                  <a:alpha val="6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 rot="16200000">
            <a:off x="7254357" y="3443034"/>
            <a:ext cx="4468378" cy="702088"/>
            <a:chOff x="1447425" y="3626602"/>
            <a:chExt cx="7200000" cy="702088"/>
          </a:xfrm>
        </p:grpSpPr>
        <p:sp>
          <p:nvSpPr>
            <p:cNvPr id="85" name="梯形 84"/>
            <p:cNvSpPr/>
            <p:nvPr/>
          </p:nvSpPr>
          <p:spPr>
            <a:xfrm>
              <a:off x="1447425" y="3626602"/>
              <a:ext cx="7200000" cy="630087"/>
            </a:xfrm>
            <a:prstGeom prst="trapezoid">
              <a:avLst>
                <a:gd name="adj" fmla="val 61701"/>
              </a:avLst>
            </a:prstGeom>
            <a:noFill/>
            <a:ln w="12700">
              <a:gradFill>
                <a:gsLst>
                  <a:gs pos="2000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1447631" y="4256690"/>
              <a:ext cx="7199588" cy="720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/>
        </p:nvSpPr>
        <p:spPr>
          <a:xfrm>
            <a:off x="1376437" y="1714022"/>
            <a:ext cx="9439123" cy="4043027"/>
          </a:xfrm>
          <a:custGeom>
            <a:avLst/>
            <a:gdLst>
              <a:gd name="connsiteX0" fmla="*/ 3993849 w 7987236"/>
              <a:gd name="connsiteY0" fmla="*/ 0 h 4365770"/>
              <a:gd name="connsiteX1" fmla="*/ 4557470 w 7987236"/>
              <a:gd name="connsiteY1" fmla="*/ 850683 h 4365770"/>
              <a:gd name="connsiteX2" fmla="*/ 4271012 w 7987236"/>
              <a:gd name="connsiteY2" fmla="*/ 850683 h 4365770"/>
              <a:gd name="connsiteX3" fmla="*/ 4272869 w 7987236"/>
              <a:gd name="connsiteY3" fmla="*/ 866139 h 4365770"/>
              <a:gd name="connsiteX4" fmla="*/ 4278501 w 7987236"/>
              <a:gd name="connsiteY4" fmla="*/ 866139 h 4365770"/>
              <a:gd name="connsiteX5" fmla="*/ 4278864 w 7987236"/>
              <a:gd name="connsiteY5" fmla="*/ 915572 h 4365770"/>
              <a:gd name="connsiteX6" fmla="*/ 4278948 w 7987236"/>
              <a:gd name="connsiteY6" fmla="*/ 916727 h 4365770"/>
              <a:gd name="connsiteX7" fmla="*/ 4285552 w 7987236"/>
              <a:gd name="connsiteY7" fmla="*/ 971697 h 4365770"/>
              <a:gd name="connsiteX8" fmla="*/ 4358821 w 7987236"/>
              <a:gd name="connsiteY8" fmla="*/ 1404359 h 4365770"/>
              <a:gd name="connsiteX9" fmla="*/ 4419370 w 7987236"/>
              <a:gd name="connsiteY9" fmla="*/ 1678677 h 4365770"/>
              <a:gd name="connsiteX10" fmla="*/ 4561374 w 7987236"/>
              <a:gd name="connsiteY10" fmla="*/ 2039394 h 4365770"/>
              <a:gd name="connsiteX11" fmla="*/ 6017649 w 7987236"/>
              <a:gd name="connsiteY11" fmla="*/ 3683414 h 4365770"/>
              <a:gd name="connsiteX12" fmla="*/ 7878001 w 7987236"/>
              <a:gd name="connsiteY12" fmla="*/ 4359431 h 4365770"/>
              <a:gd name="connsiteX13" fmla="*/ 7987236 w 7987236"/>
              <a:gd name="connsiteY13" fmla="*/ 4365770 h 4365770"/>
              <a:gd name="connsiteX14" fmla="*/ 0 w 7987236"/>
              <a:gd name="connsiteY14" fmla="*/ 4365770 h 4365770"/>
              <a:gd name="connsiteX15" fmla="*/ 109217 w 7987236"/>
              <a:gd name="connsiteY15" fmla="*/ 4359432 h 4365770"/>
              <a:gd name="connsiteX16" fmla="*/ 1969571 w 7987236"/>
              <a:gd name="connsiteY16" fmla="*/ 3683415 h 4365770"/>
              <a:gd name="connsiteX17" fmla="*/ 3425846 w 7987236"/>
              <a:gd name="connsiteY17" fmla="*/ 2039395 h 4365770"/>
              <a:gd name="connsiteX18" fmla="*/ 3566763 w 7987236"/>
              <a:gd name="connsiteY18" fmla="*/ 1681440 h 4365770"/>
              <a:gd name="connsiteX19" fmla="*/ 3627917 w 7987236"/>
              <a:gd name="connsiteY19" fmla="*/ 1404359 h 4365770"/>
              <a:gd name="connsiteX20" fmla="*/ 3701185 w 7987236"/>
              <a:gd name="connsiteY20" fmla="*/ 971697 h 4365770"/>
              <a:gd name="connsiteX21" fmla="*/ 3708382 w 7987236"/>
              <a:gd name="connsiteY21" fmla="*/ 911805 h 4365770"/>
              <a:gd name="connsiteX22" fmla="*/ 3708720 w 7987236"/>
              <a:gd name="connsiteY22" fmla="*/ 866139 h 4365770"/>
              <a:gd name="connsiteX23" fmla="*/ 3713870 w 7987236"/>
              <a:gd name="connsiteY23" fmla="*/ 866139 h 4365770"/>
              <a:gd name="connsiteX24" fmla="*/ 3715727 w 7987236"/>
              <a:gd name="connsiteY24" fmla="*/ 850683 h 4365770"/>
              <a:gd name="connsiteX25" fmla="*/ 3429750 w 7987236"/>
              <a:gd name="connsiteY25" fmla="*/ 850683 h 4365770"/>
              <a:gd name="connsiteX0-1" fmla="*/ 3993849 w 7987236"/>
              <a:gd name="connsiteY0-2" fmla="*/ 0 h 4365770"/>
              <a:gd name="connsiteX1-3" fmla="*/ 4557470 w 7987236"/>
              <a:gd name="connsiteY1-4" fmla="*/ 850683 h 4365770"/>
              <a:gd name="connsiteX2-5" fmla="*/ 4271012 w 7987236"/>
              <a:gd name="connsiteY2-6" fmla="*/ 850683 h 4365770"/>
              <a:gd name="connsiteX3-7" fmla="*/ 4272869 w 7987236"/>
              <a:gd name="connsiteY3-8" fmla="*/ 866139 h 4365770"/>
              <a:gd name="connsiteX4-9" fmla="*/ 4278864 w 7987236"/>
              <a:gd name="connsiteY4-10" fmla="*/ 915572 h 4365770"/>
              <a:gd name="connsiteX5-11" fmla="*/ 4278948 w 7987236"/>
              <a:gd name="connsiteY5-12" fmla="*/ 916727 h 4365770"/>
              <a:gd name="connsiteX6-13" fmla="*/ 4285552 w 7987236"/>
              <a:gd name="connsiteY6-14" fmla="*/ 971697 h 4365770"/>
              <a:gd name="connsiteX7-15" fmla="*/ 4358821 w 7987236"/>
              <a:gd name="connsiteY7-16" fmla="*/ 1404359 h 4365770"/>
              <a:gd name="connsiteX8-17" fmla="*/ 4419370 w 7987236"/>
              <a:gd name="connsiteY8-18" fmla="*/ 1678677 h 4365770"/>
              <a:gd name="connsiteX9-19" fmla="*/ 4561374 w 7987236"/>
              <a:gd name="connsiteY9-20" fmla="*/ 2039394 h 4365770"/>
              <a:gd name="connsiteX10-21" fmla="*/ 6017649 w 7987236"/>
              <a:gd name="connsiteY10-22" fmla="*/ 3683414 h 4365770"/>
              <a:gd name="connsiteX11-23" fmla="*/ 7878001 w 7987236"/>
              <a:gd name="connsiteY11-24" fmla="*/ 4359431 h 4365770"/>
              <a:gd name="connsiteX12-25" fmla="*/ 7987236 w 7987236"/>
              <a:gd name="connsiteY12-26" fmla="*/ 4365770 h 4365770"/>
              <a:gd name="connsiteX13-27" fmla="*/ 0 w 7987236"/>
              <a:gd name="connsiteY13-28" fmla="*/ 4365770 h 4365770"/>
              <a:gd name="connsiteX14-29" fmla="*/ 109217 w 7987236"/>
              <a:gd name="connsiteY14-30" fmla="*/ 4359432 h 4365770"/>
              <a:gd name="connsiteX15-31" fmla="*/ 1969571 w 7987236"/>
              <a:gd name="connsiteY15-32" fmla="*/ 3683415 h 4365770"/>
              <a:gd name="connsiteX16-33" fmla="*/ 3425846 w 7987236"/>
              <a:gd name="connsiteY16-34" fmla="*/ 2039395 h 4365770"/>
              <a:gd name="connsiteX17-35" fmla="*/ 3566763 w 7987236"/>
              <a:gd name="connsiteY17-36" fmla="*/ 1681440 h 4365770"/>
              <a:gd name="connsiteX18-37" fmla="*/ 3627917 w 7987236"/>
              <a:gd name="connsiteY18-38" fmla="*/ 1404359 h 4365770"/>
              <a:gd name="connsiteX19-39" fmla="*/ 3701185 w 7987236"/>
              <a:gd name="connsiteY19-40" fmla="*/ 971697 h 4365770"/>
              <a:gd name="connsiteX20-41" fmla="*/ 3708382 w 7987236"/>
              <a:gd name="connsiteY20-42" fmla="*/ 911805 h 4365770"/>
              <a:gd name="connsiteX21-43" fmla="*/ 3708720 w 7987236"/>
              <a:gd name="connsiteY21-44" fmla="*/ 866139 h 4365770"/>
              <a:gd name="connsiteX22-45" fmla="*/ 3713870 w 7987236"/>
              <a:gd name="connsiteY22-46" fmla="*/ 866139 h 4365770"/>
              <a:gd name="connsiteX23-47" fmla="*/ 3715727 w 7987236"/>
              <a:gd name="connsiteY23-48" fmla="*/ 850683 h 4365770"/>
              <a:gd name="connsiteX24-49" fmla="*/ 3429750 w 7987236"/>
              <a:gd name="connsiteY24-50" fmla="*/ 850683 h 4365770"/>
              <a:gd name="connsiteX25-51" fmla="*/ 3993849 w 7987236"/>
              <a:gd name="connsiteY25-52" fmla="*/ 0 h 4365770"/>
              <a:gd name="connsiteX0-53" fmla="*/ 3993849 w 7987236"/>
              <a:gd name="connsiteY0-54" fmla="*/ 0 h 4365770"/>
              <a:gd name="connsiteX1-55" fmla="*/ 4557470 w 7987236"/>
              <a:gd name="connsiteY1-56" fmla="*/ 850683 h 4365770"/>
              <a:gd name="connsiteX2-57" fmla="*/ 4271012 w 7987236"/>
              <a:gd name="connsiteY2-58" fmla="*/ 850683 h 4365770"/>
              <a:gd name="connsiteX3-59" fmla="*/ 4272869 w 7987236"/>
              <a:gd name="connsiteY3-60" fmla="*/ 866139 h 4365770"/>
              <a:gd name="connsiteX4-61" fmla="*/ 4278864 w 7987236"/>
              <a:gd name="connsiteY4-62" fmla="*/ 915572 h 4365770"/>
              <a:gd name="connsiteX5-63" fmla="*/ 4278948 w 7987236"/>
              <a:gd name="connsiteY5-64" fmla="*/ 916727 h 4365770"/>
              <a:gd name="connsiteX6-65" fmla="*/ 4285552 w 7987236"/>
              <a:gd name="connsiteY6-66" fmla="*/ 971697 h 4365770"/>
              <a:gd name="connsiteX7-67" fmla="*/ 4358821 w 7987236"/>
              <a:gd name="connsiteY7-68" fmla="*/ 1404359 h 4365770"/>
              <a:gd name="connsiteX8-69" fmla="*/ 4419370 w 7987236"/>
              <a:gd name="connsiteY8-70" fmla="*/ 1678677 h 4365770"/>
              <a:gd name="connsiteX9-71" fmla="*/ 4561374 w 7987236"/>
              <a:gd name="connsiteY9-72" fmla="*/ 2039394 h 4365770"/>
              <a:gd name="connsiteX10-73" fmla="*/ 6017649 w 7987236"/>
              <a:gd name="connsiteY10-74" fmla="*/ 3683414 h 4365770"/>
              <a:gd name="connsiteX11-75" fmla="*/ 7878001 w 7987236"/>
              <a:gd name="connsiteY11-76" fmla="*/ 4359431 h 4365770"/>
              <a:gd name="connsiteX12-77" fmla="*/ 7987236 w 7987236"/>
              <a:gd name="connsiteY12-78" fmla="*/ 4365770 h 4365770"/>
              <a:gd name="connsiteX13-79" fmla="*/ 0 w 7987236"/>
              <a:gd name="connsiteY13-80" fmla="*/ 4365770 h 4365770"/>
              <a:gd name="connsiteX14-81" fmla="*/ 109217 w 7987236"/>
              <a:gd name="connsiteY14-82" fmla="*/ 4359432 h 4365770"/>
              <a:gd name="connsiteX15-83" fmla="*/ 1969571 w 7987236"/>
              <a:gd name="connsiteY15-84" fmla="*/ 3683415 h 4365770"/>
              <a:gd name="connsiteX16-85" fmla="*/ 3425846 w 7987236"/>
              <a:gd name="connsiteY16-86" fmla="*/ 2039395 h 4365770"/>
              <a:gd name="connsiteX17-87" fmla="*/ 3566763 w 7987236"/>
              <a:gd name="connsiteY17-88" fmla="*/ 1681440 h 4365770"/>
              <a:gd name="connsiteX18-89" fmla="*/ 3627917 w 7987236"/>
              <a:gd name="connsiteY18-90" fmla="*/ 1404359 h 4365770"/>
              <a:gd name="connsiteX19-91" fmla="*/ 3701185 w 7987236"/>
              <a:gd name="connsiteY19-92" fmla="*/ 971697 h 4365770"/>
              <a:gd name="connsiteX20-93" fmla="*/ 3708382 w 7987236"/>
              <a:gd name="connsiteY20-94" fmla="*/ 911805 h 4365770"/>
              <a:gd name="connsiteX21-95" fmla="*/ 3708720 w 7987236"/>
              <a:gd name="connsiteY21-96" fmla="*/ 866139 h 4365770"/>
              <a:gd name="connsiteX22-97" fmla="*/ 3715727 w 7987236"/>
              <a:gd name="connsiteY22-98" fmla="*/ 850683 h 4365770"/>
              <a:gd name="connsiteX23-99" fmla="*/ 3429750 w 7987236"/>
              <a:gd name="connsiteY23-100" fmla="*/ 850683 h 4365770"/>
              <a:gd name="connsiteX24-101" fmla="*/ 3993849 w 7987236"/>
              <a:gd name="connsiteY24-102" fmla="*/ 0 h 4365770"/>
              <a:gd name="connsiteX0-103" fmla="*/ 3993849 w 7987236"/>
              <a:gd name="connsiteY0-104" fmla="*/ 0 h 4365770"/>
              <a:gd name="connsiteX1-105" fmla="*/ 4557470 w 7987236"/>
              <a:gd name="connsiteY1-106" fmla="*/ 850683 h 4365770"/>
              <a:gd name="connsiteX2-107" fmla="*/ 4271012 w 7987236"/>
              <a:gd name="connsiteY2-108" fmla="*/ 850683 h 4365770"/>
              <a:gd name="connsiteX3-109" fmla="*/ 4272869 w 7987236"/>
              <a:gd name="connsiteY3-110" fmla="*/ 866139 h 4365770"/>
              <a:gd name="connsiteX4-111" fmla="*/ 4278864 w 7987236"/>
              <a:gd name="connsiteY4-112" fmla="*/ 915572 h 4365770"/>
              <a:gd name="connsiteX5-113" fmla="*/ 4278948 w 7987236"/>
              <a:gd name="connsiteY5-114" fmla="*/ 916727 h 4365770"/>
              <a:gd name="connsiteX6-115" fmla="*/ 4285552 w 7987236"/>
              <a:gd name="connsiteY6-116" fmla="*/ 971697 h 4365770"/>
              <a:gd name="connsiteX7-117" fmla="*/ 4358821 w 7987236"/>
              <a:gd name="connsiteY7-118" fmla="*/ 1404359 h 4365770"/>
              <a:gd name="connsiteX8-119" fmla="*/ 4419370 w 7987236"/>
              <a:gd name="connsiteY8-120" fmla="*/ 1678677 h 4365770"/>
              <a:gd name="connsiteX9-121" fmla="*/ 4561374 w 7987236"/>
              <a:gd name="connsiteY9-122" fmla="*/ 2039394 h 4365770"/>
              <a:gd name="connsiteX10-123" fmla="*/ 6017649 w 7987236"/>
              <a:gd name="connsiteY10-124" fmla="*/ 3683414 h 4365770"/>
              <a:gd name="connsiteX11-125" fmla="*/ 7878001 w 7987236"/>
              <a:gd name="connsiteY11-126" fmla="*/ 4359431 h 4365770"/>
              <a:gd name="connsiteX12-127" fmla="*/ 7987236 w 7987236"/>
              <a:gd name="connsiteY12-128" fmla="*/ 4365770 h 4365770"/>
              <a:gd name="connsiteX13-129" fmla="*/ 0 w 7987236"/>
              <a:gd name="connsiteY13-130" fmla="*/ 4365770 h 4365770"/>
              <a:gd name="connsiteX14-131" fmla="*/ 109217 w 7987236"/>
              <a:gd name="connsiteY14-132" fmla="*/ 4359432 h 4365770"/>
              <a:gd name="connsiteX15-133" fmla="*/ 1969571 w 7987236"/>
              <a:gd name="connsiteY15-134" fmla="*/ 3683415 h 4365770"/>
              <a:gd name="connsiteX16-135" fmla="*/ 3425846 w 7987236"/>
              <a:gd name="connsiteY16-136" fmla="*/ 2039395 h 4365770"/>
              <a:gd name="connsiteX17-137" fmla="*/ 3566763 w 7987236"/>
              <a:gd name="connsiteY17-138" fmla="*/ 1681440 h 4365770"/>
              <a:gd name="connsiteX18-139" fmla="*/ 3627917 w 7987236"/>
              <a:gd name="connsiteY18-140" fmla="*/ 1404359 h 4365770"/>
              <a:gd name="connsiteX19-141" fmla="*/ 3701185 w 7987236"/>
              <a:gd name="connsiteY19-142" fmla="*/ 971697 h 4365770"/>
              <a:gd name="connsiteX20-143" fmla="*/ 3708382 w 7987236"/>
              <a:gd name="connsiteY20-144" fmla="*/ 911805 h 4365770"/>
              <a:gd name="connsiteX21-145" fmla="*/ 3715727 w 7987236"/>
              <a:gd name="connsiteY21-146" fmla="*/ 850683 h 4365770"/>
              <a:gd name="connsiteX22-147" fmla="*/ 3429750 w 7987236"/>
              <a:gd name="connsiteY22-148" fmla="*/ 850683 h 4365770"/>
              <a:gd name="connsiteX23-149" fmla="*/ 3993849 w 7987236"/>
              <a:gd name="connsiteY23-150" fmla="*/ 0 h 4365770"/>
              <a:gd name="connsiteX0-151" fmla="*/ 3993849 w 7987236"/>
              <a:gd name="connsiteY0-152" fmla="*/ 0 h 4365770"/>
              <a:gd name="connsiteX1-153" fmla="*/ 4557470 w 7987236"/>
              <a:gd name="connsiteY1-154" fmla="*/ 850683 h 4365770"/>
              <a:gd name="connsiteX2-155" fmla="*/ 4271012 w 7987236"/>
              <a:gd name="connsiteY2-156" fmla="*/ 850683 h 4365770"/>
              <a:gd name="connsiteX3-157" fmla="*/ 4272869 w 7987236"/>
              <a:gd name="connsiteY3-158" fmla="*/ 866139 h 4365770"/>
              <a:gd name="connsiteX4-159" fmla="*/ 4278864 w 7987236"/>
              <a:gd name="connsiteY4-160" fmla="*/ 915572 h 4365770"/>
              <a:gd name="connsiteX5-161" fmla="*/ 4278948 w 7987236"/>
              <a:gd name="connsiteY5-162" fmla="*/ 916727 h 4365770"/>
              <a:gd name="connsiteX6-163" fmla="*/ 4285552 w 7987236"/>
              <a:gd name="connsiteY6-164" fmla="*/ 971697 h 4365770"/>
              <a:gd name="connsiteX7-165" fmla="*/ 4358821 w 7987236"/>
              <a:gd name="connsiteY7-166" fmla="*/ 1404359 h 4365770"/>
              <a:gd name="connsiteX8-167" fmla="*/ 4419370 w 7987236"/>
              <a:gd name="connsiteY8-168" fmla="*/ 1678677 h 4365770"/>
              <a:gd name="connsiteX9-169" fmla="*/ 4561374 w 7987236"/>
              <a:gd name="connsiteY9-170" fmla="*/ 2039394 h 4365770"/>
              <a:gd name="connsiteX10-171" fmla="*/ 6017649 w 7987236"/>
              <a:gd name="connsiteY10-172" fmla="*/ 3683414 h 4365770"/>
              <a:gd name="connsiteX11-173" fmla="*/ 7878001 w 7987236"/>
              <a:gd name="connsiteY11-174" fmla="*/ 4359431 h 4365770"/>
              <a:gd name="connsiteX12-175" fmla="*/ 7987236 w 7987236"/>
              <a:gd name="connsiteY12-176" fmla="*/ 4365770 h 4365770"/>
              <a:gd name="connsiteX13-177" fmla="*/ 0 w 7987236"/>
              <a:gd name="connsiteY13-178" fmla="*/ 4365770 h 4365770"/>
              <a:gd name="connsiteX14-179" fmla="*/ 109217 w 7987236"/>
              <a:gd name="connsiteY14-180" fmla="*/ 4359432 h 4365770"/>
              <a:gd name="connsiteX15-181" fmla="*/ 1969571 w 7987236"/>
              <a:gd name="connsiteY15-182" fmla="*/ 3683415 h 4365770"/>
              <a:gd name="connsiteX16-183" fmla="*/ 3425846 w 7987236"/>
              <a:gd name="connsiteY16-184" fmla="*/ 2039395 h 4365770"/>
              <a:gd name="connsiteX17-185" fmla="*/ 3566763 w 7987236"/>
              <a:gd name="connsiteY17-186" fmla="*/ 1681440 h 4365770"/>
              <a:gd name="connsiteX18-187" fmla="*/ 3627917 w 7987236"/>
              <a:gd name="connsiteY18-188" fmla="*/ 1404359 h 4365770"/>
              <a:gd name="connsiteX19-189" fmla="*/ 3701185 w 7987236"/>
              <a:gd name="connsiteY19-190" fmla="*/ 971697 h 4365770"/>
              <a:gd name="connsiteX20-191" fmla="*/ 3708382 w 7987236"/>
              <a:gd name="connsiteY20-192" fmla="*/ 911805 h 4365770"/>
              <a:gd name="connsiteX21-193" fmla="*/ 3715727 w 7987236"/>
              <a:gd name="connsiteY21-194" fmla="*/ 850683 h 4365770"/>
              <a:gd name="connsiteX22-195" fmla="*/ 3429750 w 7987236"/>
              <a:gd name="connsiteY22-196" fmla="*/ 850683 h 4365770"/>
              <a:gd name="connsiteX23-197" fmla="*/ 3993849 w 7987236"/>
              <a:gd name="connsiteY23-198" fmla="*/ 0 h 4365770"/>
              <a:gd name="connsiteX0-199" fmla="*/ 3993849 w 7987236"/>
              <a:gd name="connsiteY0-200" fmla="*/ 0 h 4365770"/>
              <a:gd name="connsiteX1-201" fmla="*/ 4557470 w 7987236"/>
              <a:gd name="connsiteY1-202" fmla="*/ 850683 h 4365770"/>
              <a:gd name="connsiteX2-203" fmla="*/ 4271012 w 7987236"/>
              <a:gd name="connsiteY2-204" fmla="*/ 850683 h 4365770"/>
              <a:gd name="connsiteX3-205" fmla="*/ 4272869 w 7987236"/>
              <a:gd name="connsiteY3-206" fmla="*/ 866139 h 4365770"/>
              <a:gd name="connsiteX4-207" fmla="*/ 4278864 w 7987236"/>
              <a:gd name="connsiteY4-208" fmla="*/ 915572 h 4365770"/>
              <a:gd name="connsiteX5-209" fmla="*/ 4278948 w 7987236"/>
              <a:gd name="connsiteY5-210" fmla="*/ 916727 h 4365770"/>
              <a:gd name="connsiteX6-211" fmla="*/ 4285552 w 7987236"/>
              <a:gd name="connsiteY6-212" fmla="*/ 971697 h 4365770"/>
              <a:gd name="connsiteX7-213" fmla="*/ 4358821 w 7987236"/>
              <a:gd name="connsiteY7-214" fmla="*/ 1404359 h 4365770"/>
              <a:gd name="connsiteX8-215" fmla="*/ 4419370 w 7987236"/>
              <a:gd name="connsiteY8-216" fmla="*/ 1678677 h 4365770"/>
              <a:gd name="connsiteX9-217" fmla="*/ 4561374 w 7987236"/>
              <a:gd name="connsiteY9-218" fmla="*/ 2039394 h 4365770"/>
              <a:gd name="connsiteX10-219" fmla="*/ 6017649 w 7987236"/>
              <a:gd name="connsiteY10-220" fmla="*/ 3683414 h 4365770"/>
              <a:gd name="connsiteX11-221" fmla="*/ 7878001 w 7987236"/>
              <a:gd name="connsiteY11-222" fmla="*/ 4359431 h 4365770"/>
              <a:gd name="connsiteX12-223" fmla="*/ 7987236 w 7987236"/>
              <a:gd name="connsiteY12-224" fmla="*/ 4365770 h 4365770"/>
              <a:gd name="connsiteX13-225" fmla="*/ 0 w 7987236"/>
              <a:gd name="connsiteY13-226" fmla="*/ 4365770 h 4365770"/>
              <a:gd name="connsiteX14-227" fmla="*/ 109217 w 7987236"/>
              <a:gd name="connsiteY14-228" fmla="*/ 4359432 h 4365770"/>
              <a:gd name="connsiteX15-229" fmla="*/ 1969571 w 7987236"/>
              <a:gd name="connsiteY15-230" fmla="*/ 3683415 h 4365770"/>
              <a:gd name="connsiteX16-231" fmla="*/ 3425846 w 7987236"/>
              <a:gd name="connsiteY16-232" fmla="*/ 2039395 h 4365770"/>
              <a:gd name="connsiteX17-233" fmla="*/ 3566763 w 7987236"/>
              <a:gd name="connsiteY17-234" fmla="*/ 1681440 h 4365770"/>
              <a:gd name="connsiteX18-235" fmla="*/ 3627917 w 7987236"/>
              <a:gd name="connsiteY18-236" fmla="*/ 1404359 h 4365770"/>
              <a:gd name="connsiteX19-237" fmla="*/ 3701185 w 7987236"/>
              <a:gd name="connsiteY19-238" fmla="*/ 971697 h 4365770"/>
              <a:gd name="connsiteX20-239" fmla="*/ 3708382 w 7987236"/>
              <a:gd name="connsiteY20-240" fmla="*/ 911805 h 4365770"/>
              <a:gd name="connsiteX21-241" fmla="*/ 3715727 w 7987236"/>
              <a:gd name="connsiteY21-242" fmla="*/ 850683 h 4365770"/>
              <a:gd name="connsiteX22-243" fmla="*/ 3429750 w 7987236"/>
              <a:gd name="connsiteY22-244" fmla="*/ 850683 h 4365770"/>
              <a:gd name="connsiteX23-245" fmla="*/ 3993849 w 7987236"/>
              <a:gd name="connsiteY23-246" fmla="*/ 0 h 4365770"/>
              <a:gd name="connsiteX0-247" fmla="*/ 3993849 w 7987236"/>
              <a:gd name="connsiteY0-248" fmla="*/ 0 h 4365770"/>
              <a:gd name="connsiteX1-249" fmla="*/ 4557470 w 7987236"/>
              <a:gd name="connsiteY1-250" fmla="*/ 850683 h 4365770"/>
              <a:gd name="connsiteX2-251" fmla="*/ 4271012 w 7987236"/>
              <a:gd name="connsiteY2-252" fmla="*/ 850683 h 4365770"/>
              <a:gd name="connsiteX3-253" fmla="*/ 4272869 w 7987236"/>
              <a:gd name="connsiteY3-254" fmla="*/ 866139 h 4365770"/>
              <a:gd name="connsiteX4-255" fmla="*/ 4278864 w 7987236"/>
              <a:gd name="connsiteY4-256" fmla="*/ 915572 h 4365770"/>
              <a:gd name="connsiteX5-257" fmla="*/ 4278948 w 7987236"/>
              <a:gd name="connsiteY5-258" fmla="*/ 916727 h 4365770"/>
              <a:gd name="connsiteX6-259" fmla="*/ 4285552 w 7987236"/>
              <a:gd name="connsiteY6-260" fmla="*/ 971697 h 4365770"/>
              <a:gd name="connsiteX7-261" fmla="*/ 4358821 w 7987236"/>
              <a:gd name="connsiteY7-262" fmla="*/ 1404359 h 4365770"/>
              <a:gd name="connsiteX8-263" fmla="*/ 4419370 w 7987236"/>
              <a:gd name="connsiteY8-264" fmla="*/ 1678677 h 4365770"/>
              <a:gd name="connsiteX9-265" fmla="*/ 4561374 w 7987236"/>
              <a:gd name="connsiteY9-266" fmla="*/ 2039394 h 4365770"/>
              <a:gd name="connsiteX10-267" fmla="*/ 6017649 w 7987236"/>
              <a:gd name="connsiteY10-268" fmla="*/ 3683414 h 4365770"/>
              <a:gd name="connsiteX11-269" fmla="*/ 7878001 w 7987236"/>
              <a:gd name="connsiteY11-270" fmla="*/ 4359431 h 4365770"/>
              <a:gd name="connsiteX12-271" fmla="*/ 7987236 w 7987236"/>
              <a:gd name="connsiteY12-272" fmla="*/ 4365770 h 4365770"/>
              <a:gd name="connsiteX13-273" fmla="*/ 0 w 7987236"/>
              <a:gd name="connsiteY13-274" fmla="*/ 4365770 h 4365770"/>
              <a:gd name="connsiteX14-275" fmla="*/ 109217 w 7987236"/>
              <a:gd name="connsiteY14-276" fmla="*/ 4359432 h 4365770"/>
              <a:gd name="connsiteX15-277" fmla="*/ 1969571 w 7987236"/>
              <a:gd name="connsiteY15-278" fmla="*/ 3683415 h 4365770"/>
              <a:gd name="connsiteX16-279" fmla="*/ 3425846 w 7987236"/>
              <a:gd name="connsiteY16-280" fmla="*/ 2039395 h 4365770"/>
              <a:gd name="connsiteX17-281" fmla="*/ 3566763 w 7987236"/>
              <a:gd name="connsiteY17-282" fmla="*/ 1681440 h 4365770"/>
              <a:gd name="connsiteX18-283" fmla="*/ 3627917 w 7987236"/>
              <a:gd name="connsiteY18-284" fmla="*/ 1404359 h 4365770"/>
              <a:gd name="connsiteX19-285" fmla="*/ 3701185 w 7987236"/>
              <a:gd name="connsiteY19-286" fmla="*/ 971697 h 4365770"/>
              <a:gd name="connsiteX20-287" fmla="*/ 3708382 w 7987236"/>
              <a:gd name="connsiteY20-288" fmla="*/ 911805 h 4365770"/>
              <a:gd name="connsiteX21-289" fmla="*/ 3715727 w 7987236"/>
              <a:gd name="connsiteY21-290" fmla="*/ 850683 h 4365770"/>
              <a:gd name="connsiteX22-291" fmla="*/ 3429750 w 7987236"/>
              <a:gd name="connsiteY22-292" fmla="*/ 850683 h 4365770"/>
              <a:gd name="connsiteX23-293" fmla="*/ 3993849 w 7987236"/>
              <a:gd name="connsiteY23-294" fmla="*/ 0 h 4365770"/>
              <a:gd name="connsiteX0-295" fmla="*/ 3993849 w 7987236"/>
              <a:gd name="connsiteY0-296" fmla="*/ 0 h 4365770"/>
              <a:gd name="connsiteX1-297" fmla="*/ 4557470 w 7987236"/>
              <a:gd name="connsiteY1-298" fmla="*/ 850683 h 4365770"/>
              <a:gd name="connsiteX2-299" fmla="*/ 4271012 w 7987236"/>
              <a:gd name="connsiteY2-300" fmla="*/ 850683 h 4365770"/>
              <a:gd name="connsiteX3-301" fmla="*/ 4272869 w 7987236"/>
              <a:gd name="connsiteY3-302" fmla="*/ 866139 h 4365770"/>
              <a:gd name="connsiteX4-303" fmla="*/ 4278864 w 7987236"/>
              <a:gd name="connsiteY4-304" fmla="*/ 915572 h 4365770"/>
              <a:gd name="connsiteX5-305" fmla="*/ 4278948 w 7987236"/>
              <a:gd name="connsiteY5-306" fmla="*/ 916727 h 4365770"/>
              <a:gd name="connsiteX6-307" fmla="*/ 4285552 w 7987236"/>
              <a:gd name="connsiteY6-308" fmla="*/ 971697 h 4365770"/>
              <a:gd name="connsiteX7-309" fmla="*/ 4358821 w 7987236"/>
              <a:gd name="connsiteY7-310" fmla="*/ 1404359 h 4365770"/>
              <a:gd name="connsiteX8-311" fmla="*/ 4419370 w 7987236"/>
              <a:gd name="connsiteY8-312" fmla="*/ 1678677 h 4365770"/>
              <a:gd name="connsiteX9-313" fmla="*/ 4561374 w 7987236"/>
              <a:gd name="connsiteY9-314" fmla="*/ 2039394 h 4365770"/>
              <a:gd name="connsiteX10-315" fmla="*/ 6017649 w 7987236"/>
              <a:gd name="connsiteY10-316" fmla="*/ 3683414 h 4365770"/>
              <a:gd name="connsiteX11-317" fmla="*/ 7878001 w 7987236"/>
              <a:gd name="connsiteY11-318" fmla="*/ 4359431 h 4365770"/>
              <a:gd name="connsiteX12-319" fmla="*/ 7987236 w 7987236"/>
              <a:gd name="connsiteY12-320" fmla="*/ 4365770 h 4365770"/>
              <a:gd name="connsiteX13-321" fmla="*/ 0 w 7987236"/>
              <a:gd name="connsiteY13-322" fmla="*/ 4365770 h 4365770"/>
              <a:gd name="connsiteX14-323" fmla="*/ 109217 w 7987236"/>
              <a:gd name="connsiteY14-324" fmla="*/ 4359432 h 4365770"/>
              <a:gd name="connsiteX15-325" fmla="*/ 1969571 w 7987236"/>
              <a:gd name="connsiteY15-326" fmla="*/ 3683415 h 4365770"/>
              <a:gd name="connsiteX16-327" fmla="*/ 3425846 w 7987236"/>
              <a:gd name="connsiteY16-328" fmla="*/ 2039395 h 4365770"/>
              <a:gd name="connsiteX17-329" fmla="*/ 3566763 w 7987236"/>
              <a:gd name="connsiteY17-330" fmla="*/ 1681440 h 4365770"/>
              <a:gd name="connsiteX18-331" fmla="*/ 3627917 w 7987236"/>
              <a:gd name="connsiteY18-332" fmla="*/ 1404359 h 4365770"/>
              <a:gd name="connsiteX19-333" fmla="*/ 3701185 w 7987236"/>
              <a:gd name="connsiteY19-334" fmla="*/ 971697 h 4365770"/>
              <a:gd name="connsiteX20-335" fmla="*/ 3708382 w 7987236"/>
              <a:gd name="connsiteY20-336" fmla="*/ 911805 h 4365770"/>
              <a:gd name="connsiteX21-337" fmla="*/ 3715727 w 7987236"/>
              <a:gd name="connsiteY21-338" fmla="*/ 850683 h 4365770"/>
              <a:gd name="connsiteX22-339" fmla="*/ 3429750 w 7987236"/>
              <a:gd name="connsiteY22-340" fmla="*/ 850683 h 4365770"/>
              <a:gd name="connsiteX23-341" fmla="*/ 3993849 w 7987236"/>
              <a:gd name="connsiteY23-342" fmla="*/ 0 h 4365770"/>
              <a:gd name="connsiteX0-343" fmla="*/ 3993849 w 7987236"/>
              <a:gd name="connsiteY0-344" fmla="*/ 0 h 4365770"/>
              <a:gd name="connsiteX1-345" fmla="*/ 4557470 w 7987236"/>
              <a:gd name="connsiteY1-346" fmla="*/ 850683 h 4365770"/>
              <a:gd name="connsiteX2-347" fmla="*/ 4271012 w 7987236"/>
              <a:gd name="connsiteY2-348" fmla="*/ 850683 h 4365770"/>
              <a:gd name="connsiteX3-349" fmla="*/ 4272869 w 7987236"/>
              <a:gd name="connsiteY3-350" fmla="*/ 866139 h 4365770"/>
              <a:gd name="connsiteX4-351" fmla="*/ 4278864 w 7987236"/>
              <a:gd name="connsiteY4-352" fmla="*/ 915572 h 4365770"/>
              <a:gd name="connsiteX5-353" fmla="*/ 4278948 w 7987236"/>
              <a:gd name="connsiteY5-354" fmla="*/ 916727 h 4365770"/>
              <a:gd name="connsiteX6-355" fmla="*/ 4285552 w 7987236"/>
              <a:gd name="connsiteY6-356" fmla="*/ 971697 h 4365770"/>
              <a:gd name="connsiteX7-357" fmla="*/ 4358821 w 7987236"/>
              <a:gd name="connsiteY7-358" fmla="*/ 1404359 h 4365770"/>
              <a:gd name="connsiteX8-359" fmla="*/ 4419370 w 7987236"/>
              <a:gd name="connsiteY8-360" fmla="*/ 1678677 h 4365770"/>
              <a:gd name="connsiteX9-361" fmla="*/ 4561374 w 7987236"/>
              <a:gd name="connsiteY9-362" fmla="*/ 2039394 h 4365770"/>
              <a:gd name="connsiteX10-363" fmla="*/ 6017649 w 7987236"/>
              <a:gd name="connsiteY10-364" fmla="*/ 3683414 h 4365770"/>
              <a:gd name="connsiteX11-365" fmla="*/ 7878001 w 7987236"/>
              <a:gd name="connsiteY11-366" fmla="*/ 4359431 h 4365770"/>
              <a:gd name="connsiteX12-367" fmla="*/ 7987236 w 7987236"/>
              <a:gd name="connsiteY12-368" fmla="*/ 4365770 h 4365770"/>
              <a:gd name="connsiteX13-369" fmla="*/ 0 w 7987236"/>
              <a:gd name="connsiteY13-370" fmla="*/ 4365770 h 4365770"/>
              <a:gd name="connsiteX14-371" fmla="*/ 109217 w 7987236"/>
              <a:gd name="connsiteY14-372" fmla="*/ 4359432 h 4365770"/>
              <a:gd name="connsiteX15-373" fmla="*/ 1969571 w 7987236"/>
              <a:gd name="connsiteY15-374" fmla="*/ 3683415 h 4365770"/>
              <a:gd name="connsiteX16-375" fmla="*/ 3425846 w 7987236"/>
              <a:gd name="connsiteY16-376" fmla="*/ 2039395 h 4365770"/>
              <a:gd name="connsiteX17-377" fmla="*/ 3566763 w 7987236"/>
              <a:gd name="connsiteY17-378" fmla="*/ 1681440 h 4365770"/>
              <a:gd name="connsiteX18-379" fmla="*/ 3627917 w 7987236"/>
              <a:gd name="connsiteY18-380" fmla="*/ 1404359 h 4365770"/>
              <a:gd name="connsiteX19-381" fmla="*/ 3701185 w 7987236"/>
              <a:gd name="connsiteY19-382" fmla="*/ 971697 h 4365770"/>
              <a:gd name="connsiteX20-383" fmla="*/ 3708382 w 7987236"/>
              <a:gd name="connsiteY20-384" fmla="*/ 911805 h 4365770"/>
              <a:gd name="connsiteX21-385" fmla="*/ 3715727 w 7987236"/>
              <a:gd name="connsiteY21-386" fmla="*/ 850683 h 4365770"/>
              <a:gd name="connsiteX22-387" fmla="*/ 3429750 w 7987236"/>
              <a:gd name="connsiteY22-388" fmla="*/ 850683 h 4365770"/>
              <a:gd name="connsiteX23-389" fmla="*/ 3993849 w 7987236"/>
              <a:gd name="connsiteY23-390" fmla="*/ 0 h 43657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7987236" h="4365770">
                <a:moveTo>
                  <a:pt x="3993849" y="0"/>
                </a:moveTo>
                <a:lnTo>
                  <a:pt x="4557470" y="850683"/>
                </a:lnTo>
                <a:lnTo>
                  <a:pt x="4271012" y="850683"/>
                </a:lnTo>
                <a:lnTo>
                  <a:pt x="4272869" y="866139"/>
                </a:lnTo>
                <a:lnTo>
                  <a:pt x="4278864" y="915572"/>
                </a:lnTo>
                <a:lnTo>
                  <a:pt x="4278948" y="916727"/>
                </a:lnTo>
                <a:lnTo>
                  <a:pt x="4285552" y="971697"/>
                </a:lnTo>
                <a:cubicBezTo>
                  <a:pt x="4305963" y="1117212"/>
                  <a:pt x="4330828" y="1262095"/>
                  <a:pt x="4358821" y="1404359"/>
                </a:cubicBezTo>
                <a:lnTo>
                  <a:pt x="4419370" y="1678677"/>
                </a:lnTo>
                <a:cubicBezTo>
                  <a:pt x="4439553" y="1770116"/>
                  <a:pt x="4444219" y="1771946"/>
                  <a:pt x="4561374" y="2039394"/>
                </a:cubicBezTo>
                <a:cubicBezTo>
                  <a:pt x="4849130" y="2657012"/>
                  <a:pt x="5347268" y="3241518"/>
                  <a:pt x="6017649" y="3683414"/>
                </a:cubicBezTo>
                <a:cubicBezTo>
                  <a:pt x="6614897" y="4077103"/>
                  <a:pt x="7262278" y="4300529"/>
                  <a:pt x="7878001" y="4359431"/>
                </a:cubicBezTo>
                <a:lnTo>
                  <a:pt x="7987236" y="4365770"/>
                </a:lnTo>
                <a:lnTo>
                  <a:pt x="0" y="4365770"/>
                </a:lnTo>
                <a:lnTo>
                  <a:pt x="109217" y="4359432"/>
                </a:lnTo>
                <a:cubicBezTo>
                  <a:pt x="724940" y="4300531"/>
                  <a:pt x="1372323" y="4077104"/>
                  <a:pt x="1969571" y="3683415"/>
                </a:cubicBezTo>
                <a:cubicBezTo>
                  <a:pt x="2639952" y="3241519"/>
                  <a:pt x="3138091" y="2657013"/>
                  <a:pt x="3425846" y="2039395"/>
                </a:cubicBezTo>
                <a:cubicBezTo>
                  <a:pt x="3472818" y="1920077"/>
                  <a:pt x="3527728" y="1800758"/>
                  <a:pt x="3566763" y="1681440"/>
                </a:cubicBezTo>
                <a:cubicBezTo>
                  <a:pt x="3605798" y="1562122"/>
                  <a:pt x="3605513" y="1522649"/>
                  <a:pt x="3627917" y="1404359"/>
                </a:cubicBezTo>
                <a:cubicBezTo>
                  <a:pt x="3655909" y="1262095"/>
                  <a:pt x="3680774" y="1117212"/>
                  <a:pt x="3701185" y="971697"/>
                </a:cubicBezTo>
                <a:lnTo>
                  <a:pt x="3708382" y="911805"/>
                </a:lnTo>
                <a:cubicBezTo>
                  <a:pt x="3710806" y="891636"/>
                  <a:pt x="3720891" y="849758"/>
                  <a:pt x="3715727" y="850683"/>
                </a:cubicBezTo>
                <a:cubicBezTo>
                  <a:pt x="3710563" y="851608"/>
                  <a:pt x="3525076" y="850683"/>
                  <a:pt x="3429750" y="850683"/>
                </a:cubicBezTo>
                <a:lnTo>
                  <a:pt x="3993849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316285" y="4834614"/>
            <a:ext cx="9559429" cy="882042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34000"/>
                </a:schemeClr>
              </a:gs>
              <a:gs pos="50000">
                <a:schemeClr val="accent1">
                  <a:alpha val="0"/>
                </a:schemeClr>
              </a:gs>
            </a:gsLst>
            <a:lin ang="5400000" scaled="0"/>
            <a:tileRect/>
          </a:gradFill>
          <a:ln w="15875">
            <a:gradFill>
              <a:gsLst>
                <a:gs pos="100000">
                  <a:schemeClr val="accent1">
                    <a:alpha val="55000"/>
                  </a:schemeClr>
                </a:gs>
                <a:gs pos="1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8" name="弧形 7"/>
          <p:cNvSpPr/>
          <p:nvPr/>
        </p:nvSpPr>
        <p:spPr>
          <a:xfrm>
            <a:off x="2928384" y="5674938"/>
            <a:ext cx="6335207" cy="560215"/>
          </a:xfrm>
          <a:prstGeom prst="arc">
            <a:avLst>
              <a:gd name="adj1" fmla="val 10163771"/>
              <a:gd name="adj2" fmla="val 690534"/>
            </a:avLst>
          </a:prstGeom>
          <a:noFill/>
          <a:ln w="15875">
            <a:gradFill>
              <a:gsLst>
                <a:gs pos="100000">
                  <a:schemeClr val="accent1"/>
                </a:gs>
                <a:gs pos="1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856051" y="4274398"/>
            <a:ext cx="6479896" cy="560215"/>
          </a:xfrm>
          <a:prstGeom prst="ellipse">
            <a:avLst/>
          </a:prstGeom>
          <a:noFill/>
          <a:ln w="15875">
            <a:gradFill>
              <a:gsLst>
                <a:gs pos="100000">
                  <a:schemeClr val="accent1"/>
                </a:gs>
                <a:gs pos="1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731458" y="3952245"/>
            <a:ext cx="768054" cy="768049"/>
          </a:xfrm>
          <a:prstGeom prst="ellipse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86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穿透广度</a:t>
            </a:r>
          </a:p>
        </p:txBody>
      </p:sp>
      <p:sp>
        <p:nvSpPr>
          <p:cNvPr id="15" name="椭圆 14"/>
          <p:cNvSpPr/>
          <p:nvPr/>
        </p:nvSpPr>
        <p:spPr>
          <a:xfrm>
            <a:off x="7682955" y="3952245"/>
            <a:ext cx="768054" cy="768049"/>
          </a:xfrm>
          <a:prstGeom prst="ellipse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86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穿透精度</a:t>
            </a:r>
          </a:p>
        </p:txBody>
      </p:sp>
      <p:sp>
        <p:nvSpPr>
          <p:cNvPr id="239" name="文本框 238"/>
          <p:cNvSpPr txBox="1"/>
          <p:nvPr/>
        </p:nvSpPr>
        <p:spPr>
          <a:xfrm>
            <a:off x="3590287" y="3610321"/>
            <a:ext cx="1050395" cy="381143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sz="1400" b="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数据治理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570802" y="3845604"/>
            <a:ext cx="1050395" cy="381143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sz="1400" b="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模型运营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541784" y="3610321"/>
            <a:ext cx="1050395" cy="381143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sz="1400" b="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闭环整改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815041" y="6023009"/>
            <a:ext cx="2561916" cy="381143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sz="1800" spc="300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制度与组织保障</a:t>
            </a:r>
          </a:p>
        </p:txBody>
      </p:sp>
      <p:sp>
        <p:nvSpPr>
          <p:cNvPr id="20" name="椭圆 19"/>
          <p:cNvSpPr/>
          <p:nvPr/>
        </p:nvSpPr>
        <p:spPr>
          <a:xfrm>
            <a:off x="2190326" y="2634806"/>
            <a:ext cx="7811348" cy="524457"/>
          </a:xfrm>
          <a:prstGeom prst="ellipse">
            <a:avLst/>
          </a:prstGeom>
          <a:noFill/>
          <a:ln w="15875">
            <a:gradFill>
              <a:gsLst>
                <a:gs pos="100000">
                  <a:schemeClr val="accent1"/>
                </a:gs>
                <a:gs pos="16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688904" y="2376460"/>
            <a:ext cx="2598076" cy="381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多组织透视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042513" y="2376460"/>
            <a:ext cx="2027400" cy="381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端到端贯通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733049" y="2967390"/>
            <a:ext cx="1755533" cy="381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数智融合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5286980" y="3064024"/>
            <a:ext cx="1755533" cy="381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问题溯源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752124" y="2967390"/>
            <a:ext cx="1755533" cy="381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风险协同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4527362" y="4835272"/>
            <a:ext cx="528714" cy="534691"/>
            <a:chOff x="4804548" y="4438371"/>
            <a:chExt cx="440871" cy="445856"/>
          </a:xfrm>
        </p:grpSpPr>
        <p:sp>
          <p:nvSpPr>
            <p:cNvPr id="29" name="Freeform 13"/>
            <p:cNvSpPr/>
            <p:nvPr/>
          </p:nvSpPr>
          <p:spPr bwMode="auto">
            <a:xfrm rot="7293177" flipV="1">
              <a:off x="4831560" y="4470368"/>
              <a:ext cx="413474" cy="414244"/>
            </a:xfrm>
            <a:custGeom>
              <a:avLst/>
              <a:gdLst>
                <a:gd name="T0" fmla="*/ 400 w 400"/>
                <a:gd name="T1" fmla="*/ 33 h 400"/>
                <a:gd name="T2" fmla="*/ 398 w 400"/>
                <a:gd name="T3" fmla="*/ 0 h 400"/>
                <a:gd name="T4" fmla="*/ 116 w 400"/>
                <a:gd name="T5" fmla="*/ 221 h 400"/>
                <a:gd name="T6" fmla="*/ 116 w 400"/>
                <a:gd name="T7" fmla="*/ 159 h 400"/>
                <a:gd name="T8" fmla="*/ 0 w 400"/>
                <a:gd name="T9" fmla="*/ 279 h 400"/>
                <a:gd name="T10" fmla="*/ 116 w 400"/>
                <a:gd name="T11" fmla="*/ 400 h 400"/>
                <a:gd name="T12" fmla="*/ 116 w 400"/>
                <a:gd name="T13" fmla="*/ 338 h 400"/>
                <a:gd name="T14" fmla="*/ 400 w 400"/>
                <a:gd name="T15" fmla="*/ 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0" h="400">
                  <a:moveTo>
                    <a:pt x="400" y="33"/>
                  </a:moveTo>
                  <a:cubicBezTo>
                    <a:pt x="400" y="22"/>
                    <a:pt x="399" y="11"/>
                    <a:pt x="398" y="0"/>
                  </a:cubicBezTo>
                  <a:cubicBezTo>
                    <a:pt x="382" y="113"/>
                    <a:pt x="262" y="221"/>
                    <a:pt x="116" y="221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16" y="400"/>
                    <a:pt x="116" y="400"/>
                    <a:pt x="116" y="400"/>
                  </a:cubicBezTo>
                  <a:cubicBezTo>
                    <a:pt x="116" y="338"/>
                    <a:pt x="116" y="338"/>
                    <a:pt x="116" y="338"/>
                  </a:cubicBezTo>
                  <a:cubicBezTo>
                    <a:pt x="273" y="337"/>
                    <a:pt x="400" y="190"/>
                    <a:pt x="400" y="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3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9800000" scaled="0"/>
            </a:gradFill>
            <a:ln>
              <a:noFill/>
            </a:ln>
          </p:spPr>
          <p:txBody>
            <a:bodyPr vert="horz" wrap="square" lIns="192000" tIns="96000" rIns="192000" bIns="96000" numCol="1" anchor="t" anchorCtr="0" compatLnSpc="1"/>
            <a:lstStyle/>
            <a:p>
              <a:pPr defTabSz="1920240">
                <a:defRPr/>
              </a:pPr>
              <a:endParaRPr lang="zh-CN" altLang="en-US" sz="4000">
                <a:solidFill>
                  <a:prstClr val="black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8" name="Freeform 13"/>
            <p:cNvSpPr/>
            <p:nvPr/>
          </p:nvSpPr>
          <p:spPr bwMode="auto">
            <a:xfrm rot="7293177" flipV="1">
              <a:off x="4804933" y="4437986"/>
              <a:ext cx="413474" cy="414244"/>
            </a:xfrm>
            <a:custGeom>
              <a:avLst/>
              <a:gdLst>
                <a:gd name="T0" fmla="*/ 400 w 400"/>
                <a:gd name="T1" fmla="*/ 33 h 400"/>
                <a:gd name="T2" fmla="*/ 398 w 400"/>
                <a:gd name="T3" fmla="*/ 0 h 400"/>
                <a:gd name="T4" fmla="*/ 116 w 400"/>
                <a:gd name="T5" fmla="*/ 221 h 400"/>
                <a:gd name="T6" fmla="*/ 116 w 400"/>
                <a:gd name="T7" fmla="*/ 159 h 400"/>
                <a:gd name="T8" fmla="*/ 0 w 400"/>
                <a:gd name="T9" fmla="*/ 279 h 400"/>
                <a:gd name="T10" fmla="*/ 116 w 400"/>
                <a:gd name="T11" fmla="*/ 400 h 400"/>
                <a:gd name="T12" fmla="*/ 116 w 400"/>
                <a:gd name="T13" fmla="*/ 338 h 400"/>
                <a:gd name="T14" fmla="*/ 400 w 400"/>
                <a:gd name="T15" fmla="*/ 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0" h="400">
                  <a:moveTo>
                    <a:pt x="400" y="33"/>
                  </a:moveTo>
                  <a:cubicBezTo>
                    <a:pt x="400" y="22"/>
                    <a:pt x="399" y="11"/>
                    <a:pt x="398" y="0"/>
                  </a:cubicBezTo>
                  <a:cubicBezTo>
                    <a:pt x="382" y="113"/>
                    <a:pt x="262" y="221"/>
                    <a:pt x="116" y="221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16" y="400"/>
                    <a:pt x="116" y="400"/>
                    <a:pt x="116" y="400"/>
                  </a:cubicBezTo>
                  <a:cubicBezTo>
                    <a:pt x="116" y="338"/>
                    <a:pt x="116" y="338"/>
                    <a:pt x="116" y="338"/>
                  </a:cubicBezTo>
                  <a:cubicBezTo>
                    <a:pt x="273" y="337"/>
                    <a:pt x="400" y="190"/>
                    <a:pt x="400" y="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8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9800000" scaled="0"/>
            </a:gradFill>
            <a:ln>
              <a:noFill/>
            </a:ln>
          </p:spPr>
          <p:txBody>
            <a:bodyPr vert="horz" wrap="square" lIns="192000" tIns="96000" rIns="192000" bIns="96000" numCol="1" anchor="t" anchorCtr="0" compatLnSpc="1"/>
            <a:lstStyle/>
            <a:p>
              <a:pPr defTabSz="1920240">
                <a:defRPr/>
              </a:pPr>
              <a:endParaRPr lang="zh-CN" altLang="en-US" sz="4000">
                <a:solidFill>
                  <a:prstClr val="black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992290" y="4927283"/>
            <a:ext cx="528718" cy="534694"/>
            <a:chOff x="4804545" y="4438369"/>
            <a:chExt cx="440874" cy="445858"/>
          </a:xfrm>
        </p:grpSpPr>
        <p:sp>
          <p:nvSpPr>
            <p:cNvPr id="32" name="Freeform 13"/>
            <p:cNvSpPr/>
            <p:nvPr/>
          </p:nvSpPr>
          <p:spPr bwMode="auto">
            <a:xfrm rot="7293177" flipV="1">
              <a:off x="4831560" y="4470368"/>
              <a:ext cx="413474" cy="414244"/>
            </a:xfrm>
            <a:custGeom>
              <a:avLst/>
              <a:gdLst>
                <a:gd name="T0" fmla="*/ 400 w 400"/>
                <a:gd name="T1" fmla="*/ 33 h 400"/>
                <a:gd name="T2" fmla="*/ 398 w 400"/>
                <a:gd name="T3" fmla="*/ 0 h 400"/>
                <a:gd name="T4" fmla="*/ 116 w 400"/>
                <a:gd name="T5" fmla="*/ 221 h 400"/>
                <a:gd name="T6" fmla="*/ 116 w 400"/>
                <a:gd name="T7" fmla="*/ 159 h 400"/>
                <a:gd name="T8" fmla="*/ 0 w 400"/>
                <a:gd name="T9" fmla="*/ 279 h 400"/>
                <a:gd name="T10" fmla="*/ 116 w 400"/>
                <a:gd name="T11" fmla="*/ 400 h 400"/>
                <a:gd name="T12" fmla="*/ 116 w 400"/>
                <a:gd name="T13" fmla="*/ 338 h 400"/>
                <a:gd name="T14" fmla="*/ 400 w 400"/>
                <a:gd name="T15" fmla="*/ 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0" h="400">
                  <a:moveTo>
                    <a:pt x="400" y="33"/>
                  </a:moveTo>
                  <a:cubicBezTo>
                    <a:pt x="400" y="22"/>
                    <a:pt x="399" y="11"/>
                    <a:pt x="398" y="0"/>
                  </a:cubicBezTo>
                  <a:cubicBezTo>
                    <a:pt x="382" y="113"/>
                    <a:pt x="262" y="221"/>
                    <a:pt x="116" y="221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16" y="400"/>
                    <a:pt x="116" y="400"/>
                    <a:pt x="116" y="400"/>
                  </a:cubicBezTo>
                  <a:cubicBezTo>
                    <a:pt x="116" y="338"/>
                    <a:pt x="116" y="338"/>
                    <a:pt x="116" y="338"/>
                  </a:cubicBezTo>
                  <a:cubicBezTo>
                    <a:pt x="273" y="337"/>
                    <a:pt x="400" y="190"/>
                    <a:pt x="400" y="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31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9800000" scaled="0"/>
            </a:gradFill>
            <a:ln>
              <a:noFill/>
            </a:ln>
          </p:spPr>
          <p:txBody>
            <a:bodyPr vert="horz" wrap="square" lIns="192000" tIns="96000" rIns="192000" bIns="96000" numCol="1" anchor="t" anchorCtr="0" compatLnSpc="1"/>
            <a:lstStyle/>
            <a:p>
              <a:pPr defTabSz="1920240">
                <a:defRPr/>
              </a:pPr>
              <a:endParaRPr lang="zh-CN" altLang="en-US" sz="4000">
                <a:solidFill>
                  <a:prstClr val="black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3" name="Freeform 13"/>
            <p:cNvSpPr/>
            <p:nvPr/>
          </p:nvSpPr>
          <p:spPr bwMode="auto">
            <a:xfrm rot="7293177" flipV="1">
              <a:off x="4804930" y="4437984"/>
              <a:ext cx="413474" cy="414244"/>
            </a:xfrm>
            <a:custGeom>
              <a:avLst/>
              <a:gdLst>
                <a:gd name="T0" fmla="*/ 400 w 400"/>
                <a:gd name="T1" fmla="*/ 33 h 400"/>
                <a:gd name="T2" fmla="*/ 398 w 400"/>
                <a:gd name="T3" fmla="*/ 0 h 400"/>
                <a:gd name="T4" fmla="*/ 116 w 400"/>
                <a:gd name="T5" fmla="*/ 221 h 400"/>
                <a:gd name="T6" fmla="*/ 116 w 400"/>
                <a:gd name="T7" fmla="*/ 159 h 400"/>
                <a:gd name="T8" fmla="*/ 0 w 400"/>
                <a:gd name="T9" fmla="*/ 279 h 400"/>
                <a:gd name="T10" fmla="*/ 116 w 400"/>
                <a:gd name="T11" fmla="*/ 400 h 400"/>
                <a:gd name="T12" fmla="*/ 116 w 400"/>
                <a:gd name="T13" fmla="*/ 338 h 400"/>
                <a:gd name="T14" fmla="*/ 400 w 400"/>
                <a:gd name="T15" fmla="*/ 3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0" h="400">
                  <a:moveTo>
                    <a:pt x="400" y="33"/>
                  </a:moveTo>
                  <a:cubicBezTo>
                    <a:pt x="400" y="22"/>
                    <a:pt x="399" y="11"/>
                    <a:pt x="398" y="0"/>
                  </a:cubicBezTo>
                  <a:cubicBezTo>
                    <a:pt x="382" y="113"/>
                    <a:pt x="262" y="221"/>
                    <a:pt x="116" y="221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16" y="400"/>
                    <a:pt x="116" y="400"/>
                    <a:pt x="116" y="400"/>
                  </a:cubicBezTo>
                  <a:cubicBezTo>
                    <a:pt x="116" y="338"/>
                    <a:pt x="116" y="338"/>
                    <a:pt x="116" y="338"/>
                  </a:cubicBezTo>
                  <a:cubicBezTo>
                    <a:pt x="273" y="337"/>
                    <a:pt x="400" y="190"/>
                    <a:pt x="400" y="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8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9800000" scaled="0"/>
            </a:gradFill>
            <a:ln>
              <a:noFill/>
            </a:ln>
          </p:spPr>
          <p:txBody>
            <a:bodyPr vert="horz" wrap="square" lIns="192000" tIns="96000" rIns="192000" bIns="96000" numCol="1" anchor="t" anchorCtr="0" compatLnSpc="1"/>
            <a:lstStyle/>
            <a:p>
              <a:pPr defTabSz="1920240">
                <a:defRPr/>
              </a:pPr>
              <a:endParaRPr lang="zh-CN" altLang="en-US" sz="4000">
                <a:solidFill>
                  <a:prstClr val="black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 flipH="1">
            <a:off x="6534064" y="4835272"/>
            <a:ext cx="993639" cy="626701"/>
            <a:chOff x="6249581" y="4438371"/>
            <a:chExt cx="828552" cy="522578"/>
          </a:xfrm>
        </p:grpSpPr>
        <p:grpSp>
          <p:nvGrpSpPr>
            <p:cNvPr id="34" name="组合 33"/>
            <p:cNvGrpSpPr/>
            <p:nvPr/>
          </p:nvGrpSpPr>
          <p:grpSpPr>
            <a:xfrm>
              <a:off x="6249581" y="4438371"/>
              <a:ext cx="440871" cy="445856"/>
              <a:chOff x="4804548" y="4438371"/>
              <a:chExt cx="440871" cy="445856"/>
            </a:xfrm>
          </p:grpSpPr>
          <p:sp>
            <p:nvSpPr>
              <p:cNvPr id="35" name="Freeform 13"/>
              <p:cNvSpPr/>
              <p:nvPr/>
            </p:nvSpPr>
            <p:spPr bwMode="auto">
              <a:xfrm rot="7293177" flipV="1">
                <a:off x="4831560" y="4470368"/>
                <a:ext cx="413474" cy="414244"/>
              </a:xfrm>
              <a:custGeom>
                <a:avLst/>
                <a:gdLst>
                  <a:gd name="T0" fmla="*/ 400 w 400"/>
                  <a:gd name="T1" fmla="*/ 33 h 400"/>
                  <a:gd name="T2" fmla="*/ 398 w 400"/>
                  <a:gd name="T3" fmla="*/ 0 h 400"/>
                  <a:gd name="T4" fmla="*/ 116 w 400"/>
                  <a:gd name="T5" fmla="*/ 221 h 400"/>
                  <a:gd name="T6" fmla="*/ 116 w 400"/>
                  <a:gd name="T7" fmla="*/ 159 h 400"/>
                  <a:gd name="T8" fmla="*/ 0 w 400"/>
                  <a:gd name="T9" fmla="*/ 279 h 400"/>
                  <a:gd name="T10" fmla="*/ 116 w 400"/>
                  <a:gd name="T11" fmla="*/ 400 h 400"/>
                  <a:gd name="T12" fmla="*/ 116 w 400"/>
                  <a:gd name="T13" fmla="*/ 338 h 400"/>
                  <a:gd name="T14" fmla="*/ 400 w 400"/>
                  <a:gd name="T15" fmla="*/ 33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0" h="400">
                    <a:moveTo>
                      <a:pt x="400" y="33"/>
                    </a:moveTo>
                    <a:cubicBezTo>
                      <a:pt x="400" y="22"/>
                      <a:pt x="399" y="11"/>
                      <a:pt x="398" y="0"/>
                    </a:cubicBezTo>
                    <a:cubicBezTo>
                      <a:pt x="382" y="113"/>
                      <a:pt x="262" y="221"/>
                      <a:pt x="116" y="221"/>
                    </a:cubicBezTo>
                    <a:cubicBezTo>
                      <a:pt x="116" y="159"/>
                      <a:pt x="116" y="159"/>
                      <a:pt x="116" y="159"/>
                    </a:cubicBezTo>
                    <a:cubicBezTo>
                      <a:pt x="0" y="279"/>
                      <a:pt x="0" y="279"/>
                      <a:pt x="0" y="279"/>
                    </a:cubicBezTo>
                    <a:cubicBezTo>
                      <a:pt x="116" y="400"/>
                      <a:pt x="116" y="400"/>
                      <a:pt x="116" y="400"/>
                    </a:cubicBezTo>
                    <a:cubicBezTo>
                      <a:pt x="116" y="338"/>
                      <a:pt x="116" y="338"/>
                      <a:pt x="116" y="338"/>
                    </a:cubicBezTo>
                    <a:cubicBezTo>
                      <a:pt x="273" y="337"/>
                      <a:pt x="400" y="190"/>
                      <a:pt x="400" y="3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31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txBody>
              <a:bodyPr vert="horz" wrap="square" lIns="192000" tIns="96000" rIns="192000" bIns="96000" numCol="1" anchor="t" anchorCtr="0" compatLnSpc="1"/>
              <a:lstStyle/>
              <a:p>
                <a:pPr defTabSz="1920240">
                  <a:defRPr/>
                </a:pPr>
                <a:endParaRPr lang="zh-CN" altLang="en-US" sz="4000">
                  <a:solidFill>
                    <a:prstClr val="black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36" name="Freeform 13"/>
              <p:cNvSpPr/>
              <p:nvPr/>
            </p:nvSpPr>
            <p:spPr bwMode="auto">
              <a:xfrm rot="7293177" flipV="1">
                <a:off x="4804933" y="4437986"/>
                <a:ext cx="413474" cy="414244"/>
              </a:xfrm>
              <a:custGeom>
                <a:avLst/>
                <a:gdLst>
                  <a:gd name="T0" fmla="*/ 400 w 400"/>
                  <a:gd name="T1" fmla="*/ 33 h 400"/>
                  <a:gd name="T2" fmla="*/ 398 w 400"/>
                  <a:gd name="T3" fmla="*/ 0 h 400"/>
                  <a:gd name="T4" fmla="*/ 116 w 400"/>
                  <a:gd name="T5" fmla="*/ 221 h 400"/>
                  <a:gd name="T6" fmla="*/ 116 w 400"/>
                  <a:gd name="T7" fmla="*/ 159 h 400"/>
                  <a:gd name="T8" fmla="*/ 0 w 400"/>
                  <a:gd name="T9" fmla="*/ 279 h 400"/>
                  <a:gd name="T10" fmla="*/ 116 w 400"/>
                  <a:gd name="T11" fmla="*/ 400 h 400"/>
                  <a:gd name="T12" fmla="*/ 116 w 400"/>
                  <a:gd name="T13" fmla="*/ 338 h 400"/>
                  <a:gd name="T14" fmla="*/ 400 w 400"/>
                  <a:gd name="T15" fmla="*/ 33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0" h="400">
                    <a:moveTo>
                      <a:pt x="400" y="33"/>
                    </a:moveTo>
                    <a:cubicBezTo>
                      <a:pt x="400" y="22"/>
                      <a:pt x="399" y="11"/>
                      <a:pt x="398" y="0"/>
                    </a:cubicBezTo>
                    <a:cubicBezTo>
                      <a:pt x="382" y="113"/>
                      <a:pt x="262" y="221"/>
                      <a:pt x="116" y="221"/>
                    </a:cubicBezTo>
                    <a:cubicBezTo>
                      <a:pt x="116" y="159"/>
                      <a:pt x="116" y="159"/>
                      <a:pt x="116" y="159"/>
                    </a:cubicBezTo>
                    <a:cubicBezTo>
                      <a:pt x="0" y="279"/>
                      <a:pt x="0" y="279"/>
                      <a:pt x="0" y="279"/>
                    </a:cubicBezTo>
                    <a:cubicBezTo>
                      <a:pt x="116" y="400"/>
                      <a:pt x="116" y="400"/>
                      <a:pt x="116" y="400"/>
                    </a:cubicBezTo>
                    <a:cubicBezTo>
                      <a:pt x="116" y="338"/>
                      <a:pt x="116" y="338"/>
                      <a:pt x="116" y="338"/>
                    </a:cubicBezTo>
                    <a:cubicBezTo>
                      <a:pt x="273" y="337"/>
                      <a:pt x="400" y="190"/>
                      <a:pt x="400" y="3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7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txBody>
              <a:bodyPr vert="horz" wrap="square" lIns="192000" tIns="96000" rIns="192000" bIns="96000" numCol="1" anchor="t" anchorCtr="0" compatLnSpc="1"/>
              <a:lstStyle/>
              <a:p>
                <a:pPr defTabSz="1920240">
                  <a:defRPr/>
                </a:pPr>
                <a:endParaRPr lang="zh-CN" altLang="en-US" sz="4000">
                  <a:solidFill>
                    <a:prstClr val="black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6637262" y="4515093"/>
              <a:ext cx="440871" cy="445856"/>
              <a:chOff x="4804548" y="4438371"/>
              <a:chExt cx="440871" cy="445856"/>
            </a:xfrm>
          </p:grpSpPr>
          <p:sp>
            <p:nvSpPr>
              <p:cNvPr id="38" name="Freeform 13"/>
              <p:cNvSpPr/>
              <p:nvPr/>
            </p:nvSpPr>
            <p:spPr bwMode="auto">
              <a:xfrm rot="7293177" flipV="1">
                <a:off x="4831560" y="4470368"/>
                <a:ext cx="413474" cy="414244"/>
              </a:xfrm>
              <a:custGeom>
                <a:avLst/>
                <a:gdLst>
                  <a:gd name="T0" fmla="*/ 400 w 400"/>
                  <a:gd name="T1" fmla="*/ 33 h 400"/>
                  <a:gd name="T2" fmla="*/ 398 w 400"/>
                  <a:gd name="T3" fmla="*/ 0 h 400"/>
                  <a:gd name="T4" fmla="*/ 116 w 400"/>
                  <a:gd name="T5" fmla="*/ 221 h 400"/>
                  <a:gd name="T6" fmla="*/ 116 w 400"/>
                  <a:gd name="T7" fmla="*/ 159 h 400"/>
                  <a:gd name="T8" fmla="*/ 0 w 400"/>
                  <a:gd name="T9" fmla="*/ 279 h 400"/>
                  <a:gd name="T10" fmla="*/ 116 w 400"/>
                  <a:gd name="T11" fmla="*/ 400 h 400"/>
                  <a:gd name="T12" fmla="*/ 116 w 400"/>
                  <a:gd name="T13" fmla="*/ 338 h 400"/>
                  <a:gd name="T14" fmla="*/ 400 w 400"/>
                  <a:gd name="T15" fmla="*/ 33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0" h="400">
                    <a:moveTo>
                      <a:pt x="400" y="33"/>
                    </a:moveTo>
                    <a:cubicBezTo>
                      <a:pt x="400" y="22"/>
                      <a:pt x="399" y="11"/>
                      <a:pt x="398" y="0"/>
                    </a:cubicBezTo>
                    <a:cubicBezTo>
                      <a:pt x="382" y="113"/>
                      <a:pt x="262" y="221"/>
                      <a:pt x="116" y="221"/>
                    </a:cubicBezTo>
                    <a:cubicBezTo>
                      <a:pt x="116" y="159"/>
                      <a:pt x="116" y="159"/>
                      <a:pt x="116" y="159"/>
                    </a:cubicBezTo>
                    <a:cubicBezTo>
                      <a:pt x="0" y="279"/>
                      <a:pt x="0" y="279"/>
                      <a:pt x="0" y="279"/>
                    </a:cubicBezTo>
                    <a:cubicBezTo>
                      <a:pt x="116" y="400"/>
                      <a:pt x="116" y="400"/>
                      <a:pt x="116" y="400"/>
                    </a:cubicBezTo>
                    <a:cubicBezTo>
                      <a:pt x="116" y="338"/>
                      <a:pt x="116" y="338"/>
                      <a:pt x="116" y="338"/>
                    </a:cubicBezTo>
                    <a:cubicBezTo>
                      <a:pt x="273" y="337"/>
                      <a:pt x="400" y="190"/>
                      <a:pt x="400" y="3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31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txBody>
              <a:bodyPr vert="horz" wrap="square" lIns="192000" tIns="96000" rIns="192000" bIns="96000" numCol="1" anchor="t" anchorCtr="0" compatLnSpc="1"/>
              <a:lstStyle/>
              <a:p>
                <a:pPr defTabSz="1920240">
                  <a:defRPr/>
                </a:pPr>
                <a:endParaRPr lang="zh-CN" altLang="en-US" sz="4000">
                  <a:solidFill>
                    <a:prstClr val="black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39" name="Freeform 13"/>
              <p:cNvSpPr/>
              <p:nvPr/>
            </p:nvSpPr>
            <p:spPr bwMode="auto">
              <a:xfrm rot="7293177" flipV="1">
                <a:off x="4804933" y="4437986"/>
                <a:ext cx="413474" cy="414244"/>
              </a:xfrm>
              <a:custGeom>
                <a:avLst/>
                <a:gdLst>
                  <a:gd name="T0" fmla="*/ 400 w 400"/>
                  <a:gd name="T1" fmla="*/ 33 h 400"/>
                  <a:gd name="T2" fmla="*/ 398 w 400"/>
                  <a:gd name="T3" fmla="*/ 0 h 400"/>
                  <a:gd name="T4" fmla="*/ 116 w 400"/>
                  <a:gd name="T5" fmla="*/ 221 h 400"/>
                  <a:gd name="T6" fmla="*/ 116 w 400"/>
                  <a:gd name="T7" fmla="*/ 159 h 400"/>
                  <a:gd name="T8" fmla="*/ 0 w 400"/>
                  <a:gd name="T9" fmla="*/ 279 h 400"/>
                  <a:gd name="T10" fmla="*/ 116 w 400"/>
                  <a:gd name="T11" fmla="*/ 400 h 400"/>
                  <a:gd name="T12" fmla="*/ 116 w 400"/>
                  <a:gd name="T13" fmla="*/ 338 h 400"/>
                  <a:gd name="T14" fmla="*/ 400 w 400"/>
                  <a:gd name="T15" fmla="*/ 33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0" h="400">
                    <a:moveTo>
                      <a:pt x="400" y="33"/>
                    </a:moveTo>
                    <a:cubicBezTo>
                      <a:pt x="400" y="22"/>
                      <a:pt x="399" y="11"/>
                      <a:pt x="398" y="0"/>
                    </a:cubicBezTo>
                    <a:cubicBezTo>
                      <a:pt x="382" y="113"/>
                      <a:pt x="262" y="221"/>
                      <a:pt x="116" y="221"/>
                    </a:cubicBezTo>
                    <a:cubicBezTo>
                      <a:pt x="116" y="159"/>
                      <a:pt x="116" y="159"/>
                      <a:pt x="116" y="159"/>
                    </a:cubicBezTo>
                    <a:cubicBezTo>
                      <a:pt x="0" y="279"/>
                      <a:pt x="0" y="279"/>
                      <a:pt x="0" y="279"/>
                    </a:cubicBezTo>
                    <a:cubicBezTo>
                      <a:pt x="116" y="400"/>
                      <a:pt x="116" y="400"/>
                      <a:pt x="116" y="400"/>
                    </a:cubicBezTo>
                    <a:cubicBezTo>
                      <a:pt x="116" y="338"/>
                      <a:pt x="116" y="338"/>
                      <a:pt x="116" y="338"/>
                    </a:cubicBezTo>
                    <a:cubicBezTo>
                      <a:pt x="273" y="337"/>
                      <a:pt x="400" y="190"/>
                      <a:pt x="400" y="3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87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txBody>
              <a:bodyPr vert="horz" wrap="square" lIns="192000" tIns="96000" rIns="192000" bIns="96000" numCol="1" anchor="t" anchorCtr="0" compatLnSpc="1"/>
              <a:lstStyle/>
              <a:p>
                <a:pPr defTabSz="1920240">
                  <a:defRPr/>
                </a:pPr>
                <a:endParaRPr lang="zh-CN" altLang="en-US" sz="4000">
                  <a:solidFill>
                    <a:prstClr val="black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</p:grpSp>
      </p:grpSp>
      <p:sp>
        <p:nvSpPr>
          <p:cNvPr id="41" name="文本框 40"/>
          <p:cNvSpPr txBox="1"/>
          <p:nvPr/>
        </p:nvSpPr>
        <p:spPr>
          <a:xfrm>
            <a:off x="2801145" y="5195718"/>
            <a:ext cx="1470552" cy="381143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sz="1400" b="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业务数据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735813" y="5195718"/>
            <a:ext cx="1470552" cy="381143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sz="1400" b="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制度知识</a:t>
            </a:r>
          </a:p>
        </p:txBody>
      </p:sp>
      <p:sp>
        <p:nvSpPr>
          <p:cNvPr id="21" name="椭圆 20"/>
          <p:cNvSpPr/>
          <p:nvPr/>
        </p:nvSpPr>
        <p:spPr>
          <a:xfrm>
            <a:off x="3911366" y="1663598"/>
            <a:ext cx="4369265" cy="328131"/>
          </a:xfrm>
          <a:prstGeom prst="ellipse">
            <a:avLst/>
          </a:prstGeom>
          <a:noFill/>
          <a:ln w="15875">
            <a:gradFill>
              <a:gsLst>
                <a:gs pos="99000">
                  <a:schemeClr val="accent1"/>
                </a:gs>
                <a:gs pos="15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000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4" name="图形 224"/>
          <p:cNvSpPr/>
          <p:nvPr/>
        </p:nvSpPr>
        <p:spPr>
          <a:xfrm>
            <a:off x="3374097" y="4854088"/>
            <a:ext cx="324648" cy="345595"/>
          </a:xfrm>
          <a:custGeom>
            <a:avLst/>
            <a:gdLst>
              <a:gd name="connsiteX0" fmla="*/ 177639 w 439452"/>
              <a:gd name="connsiteY0" fmla="*/ 169582 h 467806"/>
              <a:gd name="connsiteX1" fmla="*/ 323597 w 439452"/>
              <a:gd name="connsiteY1" fmla="*/ 134584 h 467806"/>
              <a:gd name="connsiteX2" fmla="*/ 323597 w 439452"/>
              <a:gd name="connsiteY2" fmla="*/ 176406 h 467806"/>
              <a:gd name="connsiteX3" fmla="*/ 355281 w 439452"/>
              <a:gd name="connsiteY3" fmla="*/ 176406 h 467806"/>
              <a:gd name="connsiteX4" fmla="*/ 355281 w 439452"/>
              <a:gd name="connsiteY4" fmla="*/ 84794 h 467806"/>
              <a:gd name="connsiteX5" fmla="*/ 177639 w 439452"/>
              <a:gd name="connsiteY5" fmla="*/ 0 h 467806"/>
              <a:gd name="connsiteX6" fmla="*/ 0 w 439452"/>
              <a:gd name="connsiteY6" fmla="*/ 84794 h 467806"/>
              <a:gd name="connsiteX7" fmla="*/ 0 w 439452"/>
              <a:gd name="connsiteY7" fmla="*/ 334726 h 467806"/>
              <a:gd name="connsiteX8" fmla="*/ 177640 w 439452"/>
              <a:gd name="connsiteY8" fmla="*/ 419515 h 467806"/>
              <a:gd name="connsiteX9" fmla="*/ 177640 w 439452"/>
              <a:gd name="connsiteY9" fmla="*/ 387834 h 467806"/>
              <a:gd name="connsiteX10" fmla="*/ 31684 w 439452"/>
              <a:gd name="connsiteY10" fmla="*/ 334726 h 467806"/>
              <a:gd name="connsiteX11" fmla="*/ 31684 w 439452"/>
              <a:gd name="connsiteY11" fmla="*/ 259553 h 467806"/>
              <a:gd name="connsiteX12" fmla="*/ 177640 w 439452"/>
              <a:gd name="connsiteY12" fmla="*/ 294552 h 467806"/>
              <a:gd name="connsiteX13" fmla="*/ 177640 w 439452"/>
              <a:gd name="connsiteY13" fmla="*/ 262868 h 467806"/>
              <a:gd name="connsiteX14" fmla="*/ 31684 w 439452"/>
              <a:gd name="connsiteY14" fmla="*/ 209758 h 467806"/>
              <a:gd name="connsiteX15" fmla="*/ 31684 w 439452"/>
              <a:gd name="connsiteY15" fmla="*/ 134587 h 467806"/>
              <a:gd name="connsiteX16" fmla="*/ 177639 w 439452"/>
              <a:gd name="connsiteY16" fmla="*/ 169582 h 467806"/>
              <a:gd name="connsiteX17" fmla="*/ 177639 w 439452"/>
              <a:gd name="connsiteY17" fmla="*/ 169582 h 467806"/>
              <a:gd name="connsiteX18" fmla="*/ 177639 w 439452"/>
              <a:gd name="connsiteY18" fmla="*/ 31684 h 467806"/>
              <a:gd name="connsiteX19" fmla="*/ 323597 w 439452"/>
              <a:gd name="connsiteY19" fmla="*/ 84794 h 467806"/>
              <a:gd name="connsiteX20" fmla="*/ 177639 w 439452"/>
              <a:gd name="connsiteY20" fmla="*/ 137898 h 467806"/>
              <a:gd name="connsiteX21" fmla="*/ 31684 w 439452"/>
              <a:gd name="connsiteY21" fmla="*/ 84794 h 467806"/>
              <a:gd name="connsiteX22" fmla="*/ 177639 w 439452"/>
              <a:gd name="connsiteY22" fmla="*/ 31684 h 467806"/>
              <a:gd name="connsiteX23" fmla="*/ 177639 w 439452"/>
              <a:gd name="connsiteY23" fmla="*/ 31684 h 467806"/>
              <a:gd name="connsiteX24" fmla="*/ 319639 w 439452"/>
              <a:gd name="connsiteY24" fmla="*/ 186899 h 467806"/>
              <a:gd name="connsiteX25" fmla="*/ 199822 w 439452"/>
              <a:gd name="connsiteY25" fmla="*/ 247051 h 467806"/>
              <a:gd name="connsiteX26" fmla="*/ 199822 w 439452"/>
              <a:gd name="connsiteY26" fmla="*/ 407659 h 467806"/>
              <a:gd name="connsiteX27" fmla="*/ 319639 w 439452"/>
              <a:gd name="connsiteY27" fmla="*/ 467806 h 467806"/>
              <a:gd name="connsiteX28" fmla="*/ 439423 w 439452"/>
              <a:gd name="connsiteY28" fmla="*/ 408325 h 467806"/>
              <a:gd name="connsiteX29" fmla="*/ 439453 w 439452"/>
              <a:gd name="connsiteY29" fmla="*/ 408325 h 467806"/>
              <a:gd name="connsiteX30" fmla="*/ 439453 w 439452"/>
              <a:gd name="connsiteY30" fmla="*/ 247047 h 467806"/>
              <a:gd name="connsiteX31" fmla="*/ 319639 w 439452"/>
              <a:gd name="connsiteY31" fmla="*/ 186899 h 467806"/>
              <a:gd name="connsiteX32" fmla="*/ 319639 w 439452"/>
              <a:gd name="connsiteY32" fmla="*/ 186899 h 467806"/>
              <a:gd name="connsiteX33" fmla="*/ 319639 w 439452"/>
              <a:gd name="connsiteY33" fmla="*/ 218583 h 467806"/>
              <a:gd name="connsiteX34" fmla="*/ 407769 w 439452"/>
              <a:gd name="connsiteY34" fmla="*/ 247050 h 467806"/>
              <a:gd name="connsiteX35" fmla="*/ 319639 w 439452"/>
              <a:gd name="connsiteY35" fmla="*/ 275519 h 467806"/>
              <a:gd name="connsiteX36" fmla="*/ 231505 w 439452"/>
              <a:gd name="connsiteY36" fmla="*/ 247050 h 467806"/>
              <a:gd name="connsiteX37" fmla="*/ 319639 w 439452"/>
              <a:gd name="connsiteY37" fmla="*/ 218583 h 467806"/>
              <a:gd name="connsiteX38" fmla="*/ 319639 w 439452"/>
              <a:gd name="connsiteY38" fmla="*/ 218583 h 467806"/>
              <a:gd name="connsiteX39" fmla="*/ 319639 w 439452"/>
              <a:gd name="connsiteY39" fmla="*/ 436116 h 467806"/>
              <a:gd name="connsiteX40" fmla="*/ 231505 w 439452"/>
              <a:gd name="connsiteY40" fmla="*/ 407650 h 467806"/>
              <a:gd name="connsiteX41" fmla="*/ 231505 w 439452"/>
              <a:gd name="connsiteY41" fmla="*/ 369309 h 467806"/>
              <a:gd name="connsiteX42" fmla="*/ 319639 w 439452"/>
              <a:gd name="connsiteY42" fmla="*/ 387496 h 467806"/>
              <a:gd name="connsiteX43" fmla="*/ 407769 w 439452"/>
              <a:gd name="connsiteY43" fmla="*/ 369309 h 467806"/>
              <a:gd name="connsiteX44" fmla="*/ 407769 w 439452"/>
              <a:gd name="connsiteY44" fmla="*/ 407650 h 467806"/>
              <a:gd name="connsiteX45" fmla="*/ 319639 w 439452"/>
              <a:gd name="connsiteY45" fmla="*/ 436116 h 467806"/>
              <a:gd name="connsiteX46" fmla="*/ 319639 w 439452"/>
              <a:gd name="connsiteY46" fmla="*/ 436116 h 467806"/>
              <a:gd name="connsiteX47" fmla="*/ 319639 w 439452"/>
              <a:gd name="connsiteY47" fmla="*/ 355815 h 467806"/>
              <a:gd name="connsiteX48" fmla="*/ 231505 w 439452"/>
              <a:gd name="connsiteY48" fmla="*/ 327349 h 467806"/>
              <a:gd name="connsiteX49" fmla="*/ 231505 w 439452"/>
              <a:gd name="connsiteY49" fmla="*/ 289008 h 467806"/>
              <a:gd name="connsiteX50" fmla="*/ 319639 w 439452"/>
              <a:gd name="connsiteY50" fmla="*/ 307198 h 467806"/>
              <a:gd name="connsiteX51" fmla="*/ 407769 w 439452"/>
              <a:gd name="connsiteY51" fmla="*/ 289013 h 467806"/>
              <a:gd name="connsiteX52" fmla="*/ 407769 w 439452"/>
              <a:gd name="connsiteY52" fmla="*/ 327354 h 467806"/>
              <a:gd name="connsiteX53" fmla="*/ 319639 w 439452"/>
              <a:gd name="connsiteY53" fmla="*/ 355815 h 467806"/>
              <a:gd name="connsiteX54" fmla="*/ 319639 w 439452"/>
              <a:gd name="connsiteY54" fmla="*/ 355815 h 467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39452" h="467806">
                <a:moveTo>
                  <a:pt x="177639" y="169582"/>
                </a:moveTo>
                <a:cubicBezTo>
                  <a:pt x="232441" y="169582"/>
                  <a:pt x="289398" y="157530"/>
                  <a:pt x="323597" y="134584"/>
                </a:cubicBezTo>
                <a:lnTo>
                  <a:pt x="323597" y="176406"/>
                </a:lnTo>
                <a:lnTo>
                  <a:pt x="355281" y="176406"/>
                </a:lnTo>
                <a:lnTo>
                  <a:pt x="355281" y="84794"/>
                </a:lnTo>
                <a:cubicBezTo>
                  <a:pt x="355281" y="29718"/>
                  <a:pt x="263754" y="0"/>
                  <a:pt x="177639" y="0"/>
                </a:cubicBezTo>
                <a:cubicBezTo>
                  <a:pt x="91523" y="0"/>
                  <a:pt x="0" y="29718"/>
                  <a:pt x="0" y="84794"/>
                </a:cubicBezTo>
                <a:lnTo>
                  <a:pt x="0" y="334726"/>
                </a:lnTo>
                <a:cubicBezTo>
                  <a:pt x="0" y="389799"/>
                  <a:pt x="91524" y="419515"/>
                  <a:pt x="177640" y="419515"/>
                </a:cubicBezTo>
                <a:lnTo>
                  <a:pt x="177640" y="387834"/>
                </a:lnTo>
                <a:cubicBezTo>
                  <a:pt x="87209" y="387834"/>
                  <a:pt x="31684" y="356901"/>
                  <a:pt x="31684" y="334726"/>
                </a:cubicBezTo>
                <a:lnTo>
                  <a:pt x="31684" y="259553"/>
                </a:lnTo>
                <a:cubicBezTo>
                  <a:pt x="65887" y="282500"/>
                  <a:pt x="122841" y="294552"/>
                  <a:pt x="177640" y="294552"/>
                </a:cubicBezTo>
                <a:lnTo>
                  <a:pt x="177640" y="262868"/>
                </a:lnTo>
                <a:cubicBezTo>
                  <a:pt x="87209" y="262868"/>
                  <a:pt x="31684" y="231935"/>
                  <a:pt x="31684" y="209758"/>
                </a:cubicBezTo>
                <a:lnTo>
                  <a:pt x="31684" y="134587"/>
                </a:lnTo>
                <a:cubicBezTo>
                  <a:pt x="65880" y="157530"/>
                  <a:pt x="122835" y="169582"/>
                  <a:pt x="177639" y="169582"/>
                </a:cubicBezTo>
                <a:lnTo>
                  <a:pt x="177639" y="169582"/>
                </a:lnTo>
                <a:close/>
                <a:moveTo>
                  <a:pt x="177639" y="31684"/>
                </a:moveTo>
                <a:cubicBezTo>
                  <a:pt x="268073" y="31684"/>
                  <a:pt x="323597" y="62617"/>
                  <a:pt x="323597" y="84794"/>
                </a:cubicBezTo>
                <a:cubicBezTo>
                  <a:pt x="323597" y="106968"/>
                  <a:pt x="268072" y="137898"/>
                  <a:pt x="177639" y="137898"/>
                </a:cubicBezTo>
                <a:cubicBezTo>
                  <a:pt x="87209" y="137898"/>
                  <a:pt x="31684" y="106968"/>
                  <a:pt x="31684" y="84794"/>
                </a:cubicBezTo>
                <a:cubicBezTo>
                  <a:pt x="31684" y="62617"/>
                  <a:pt x="87209" y="31684"/>
                  <a:pt x="177639" y="31684"/>
                </a:cubicBezTo>
                <a:lnTo>
                  <a:pt x="177639" y="31684"/>
                </a:lnTo>
                <a:close/>
                <a:moveTo>
                  <a:pt x="319639" y="186899"/>
                </a:moveTo>
                <a:cubicBezTo>
                  <a:pt x="240980" y="186899"/>
                  <a:pt x="199822" y="217161"/>
                  <a:pt x="199822" y="247051"/>
                </a:cubicBezTo>
                <a:lnTo>
                  <a:pt x="199822" y="407659"/>
                </a:lnTo>
                <a:cubicBezTo>
                  <a:pt x="199822" y="437547"/>
                  <a:pt x="240980" y="467806"/>
                  <a:pt x="319639" y="467806"/>
                </a:cubicBezTo>
                <a:cubicBezTo>
                  <a:pt x="397710" y="467806"/>
                  <a:pt x="438814" y="437996"/>
                  <a:pt x="439423" y="408325"/>
                </a:cubicBezTo>
                <a:lnTo>
                  <a:pt x="439453" y="408325"/>
                </a:lnTo>
                <a:lnTo>
                  <a:pt x="439453" y="247047"/>
                </a:lnTo>
                <a:cubicBezTo>
                  <a:pt x="439452" y="217158"/>
                  <a:pt x="398300" y="186899"/>
                  <a:pt x="319639" y="186899"/>
                </a:cubicBezTo>
                <a:lnTo>
                  <a:pt x="319639" y="186899"/>
                </a:lnTo>
                <a:close/>
                <a:moveTo>
                  <a:pt x="319639" y="218583"/>
                </a:moveTo>
                <a:cubicBezTo>
                  <a:pt x="377785" y="218583"/>
                  <a:pt x="407769" y="238535"/>
                  <a:pt x="407769" y="247050"/>
                </a:cubicBezTo>
                <a:cubicBezTo>
                  <a:pt x="407769" y="255567"/>
                  <a:pt x="377785" y="275519"/>
                  <a:pt x="319639" y="275519"/>
                </a:cubicBezTo>
                <a:cubicBezTo>
                  <a:pt x="261489" y="275519"/>
                  <a:pt x="231505" y="255567"/>
                  <a:pt x="231505" y="247050"/>
                </a:cubicBezTo>
                <a:cubicBezTo>
                  <a:pt x="231505" y="238535"/>
                  <a:pt x="261495" y="218583"/>
                  <a:pt x="319639" y="218583"/>
                </a:cubicBezTo>
                <a:lnTo>
                  <a:pt x="319639" y="218583"/>
                </a:lnTo>
                <a:close/>
                <a:moveTo>
                  <a:pt x="319639" y="436116"/>
                </a:moveTo>
                <a:cubicBezTo>
                  <a:pt x="261489" y="436116"/>
                  <a:pt x="231505" y="416163"/>
                  <a:pt x="231505" y="407650"/>
                </a:cubicBezTo>
                <a:lnTo>
                  <a:pt x="231505" y="369309"/>
                </a:lnTo>
                <a:cubicBezTo>
                  <a:pt x="251610" y="380227"/>
                  <a:pt x="281116" y="387496"/>
                  <a:pt x="319639" y="387496"/>
                </a:cubicBezTo>
                <a:cubicBezTo>
                  <a:pt x="358162" y="387496"/>
                  <a:pt x="387664" y="380227"/>
                  <a:pt x="407769" y="369309"/>
                </a:cubicBezTo>
                <a:lnTo>
                  <a:pt x="407769" y="407650"/>
                </a:lnTo>
                <a:cubicBezTo>
                  <a:pt x="407769" y="416164"/>
                  <a:pt x="377785" y="436116"/>
                  <a:pt x="319639" y="436116"/>
                </a:cubicBezTo>
                <a:lnTo>
                  <a:pt x="319639" y="436116"/>
                </a:lnTo>
                <a:close/>
                <a:moveTo>
                  <a:pt x="319639" y="355815"/>
                </a:moveTo>
                <a:cubicBezTo>
                  <a:pt x="261489" y="355815"/>
                  <a:pt x="231505" y="335863"/>
                  <a:pt x="231505" y="327349"/>
                </a:cubicBezTo>
                <a:lnTo>
                  <a:pt x="231505" y="289008"/>
                </a:lnTo>
                <a:cubicBezTo>
                  <a:pt x="251610" y="299926"/>
                  <a:pt x="281116" y="307198"/>
                  <a:pt x="319639" y="307198"/>
                </a:cubicBezTo>
                <a:cubicBezTo>
                  <a:pt x="358162" y="307198"/>
                  <a:pt x="387664" y="299931"/>
                  <a:pt x="407769" y="289013"/>
                </a:cubicBezTo>
                <a:lnTo>
                  <a:pt x="407769" y="327354"/>
                </a:lnTo>
                <a:cubicBezTo>
                  <a:pt x="407769" y="335863"/>
                  <a:pt x="377785" y="355815"/>
                  <a:pt x="319639" y="355815"/>
                </a:cubicBezTo>
                <a:lnTo>
                  <a:pt x="319639" y="355815"/>
                </a:lnTo>
                <a:close/>
              </a:path>
            </a:pathLst>
          </a:custGeom>
          <a:solidFill>
            <a:schemeClr val="accent1"/>
          </a:solidFill>
          <a:ln w="52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00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5" name="图形 4"/>
          <p:cNvSpPr/>
          <p:nvPr/>
        </p:nvSpPr>
        <p:spPr>
          <a:xfrm>
            <a:off x="8298476" y="4907558"/>
            <a:ext cx="345226" cy="283945"/>
          </a:xfrm>
          <a:custGeom>
            <a:avLst/>
            <a:gdLst>
              <a:gd name="connsiteX0" fmla="*/ 205878 w 260164"/>
              <a:gd name="connsiteY0" fmla="*/ 87480 h 213984"/>
              <a:gd name="connsiteX1" fmla="*/ 215611 w 260164"/>
              <a:gd name="connsiteY1" fmla="*/ 97236 h 213984"/>
              <a:gd name="connsiteX2" fmla="*/ 215611 w 260164"/>
              <a:gd name="connsiteY2" fmla="*/ 136261 h 213984"/>
              <a:gd name="connsiteX3" fmla="*/ 205878 w 260164"/>
              <a:gd name="connsiteY3" fmla="*/ 146017 h 213984"/>
              <a:gd name="connsiteX4" fmla="*/ 188944 w 260164"/>
              <a:gd name="connsiteY4" fmla="*/ 146017 h 213984"/>
              <a:gd name="connsiteX5" fmla="*/ 188944 w 260164"/>
              <a:gd name="connsiteY5" fmla="*/ 155448 h 213984"/>
              <a:gd name="connsiteX6" fmla="*/ 205878 w 260164"/>
              <a:gd name="connsiteY6" fmla="*/ 155448 h 213984"/>
              <a:gd name="connsiteX7" fmla="*/ 215611 w 260164"/>
              <a:gd name="connsiteY7" fmla="*/ 165204 h 213984"/>
              <a:gd name="connsiteX8" fmla="*/ 215611 w 260164"/>
              <a:gd name="connsiteY8" fmla="*/ 204229 h 213984"/>
              <a:gd name="connsiteX9" fmla="*/ 205878 w 260164"/>
              <a:gd name="connsiteY9" fmla="*/ 213985 h 213984"/>
              <a:gd name="connsiteX10" fmla="*/ 89083 w 260164"/>
              <a:gd name="connsiteY10" fmla="*/ 213985 h 213984"/>
              <a:gd name="connsiteX11" fmla="*/ 79350 w 260164"/>
              <a:gd name="connsiteY11" fmla="*/ 204229 h 213984"/>
              <a:gd name="connsiteX12" fmla="*/ 79350 w 260164"/>
              <a:gd name="connsiteY12" fmla="*/ 165204 h 213984"/>
              <a:gd name="connsiteX13" fmla="*/ 89083 w 260164"/>
              <a:gd name="connsiteY13" fmla="*/ 155448 h 213984"/>
              <a:gd name="connsiteX14" fmla="*/ 176912 w 260164"/>
              <a:gd name="connsiteY14" fmla="*/ 155448 h 213984"/>
              <a:gd name="connsiteX15" fmla="*/ 176912 w 260164"/>
              <a:gd name="connsiteY15" fmla="*/ 146017 h 213984"/>
              <a:gd name="connsiteX16" fmla="*/ 89083 w 260164"/>
              <a:gd name="connsiteY16" fmla="*/ 146017 h 213984"/>
              <a:gd name="connsiteX17" fmla="*/ 79350 w 260164"/>
              <a:gd name="connsiteY17" fmla="*/ 136261 h 213984"/>
              <a:gd name="connsiteX18" fmla="*/ 79350 w 260164"/>
              <a:gd name="connsiteY18" fmla="*/ 97236 h 213984"/>
              <a:gd name="connsiteX19" fmla="*/ 89083 w 260164"/>
              <a:gd name="connsiteY19" fmla="*/ 87480 h 213984"/>
              <a:gd name="connsiteX20" fmla="*/ 205878 w 260164"/>
              <a:gd name="connsiteY20" fmla="*/ 87480 h 213984"/>
              <a:gd name="connsiteX21" fmla="*/ 200038 w 260164"/>
              <a:gd name="connsiteY21" fmla="*/ 171058 h 213984"/>
              <a:gd name="connsiteX22" fmla="*/ 94923 w 260164"/>
              <a:gd name="connsiteY22" fmla="*/ 171058 h 213984"/>
              <a:gd name="connsiteX23" fmla="*/ 94923 w 260164"/>
              <a:gd name="connsiteY23" fmla="*/ 198375 h 213984"/>
              <a:gd name="connsiteX24" fmla="*/ 200038 w 260164"/>
              <a:gd name="connsiteY24" fmla="*/ 198375 h 213984"/>
              <a:gd name="connsiteX25" fmla="*/ 200038 w 260164"/>
              <a:gd name="connsiteY25" fmla="*/ 171058 h 213984"/>
              <a:gd name="connsiteX26" fmla="*/ 152521 w 260164"/>
              <a:gd name="connsiteY26" fmla="*/ 179838 h 213984"/>
              <a:gd name="connsiteX27" fmla="*/ 157399 w 260164"/>
              <a:gd name="connsiteY27" fmla="*/ 185855 h 213984"/>
              <a:gd name="connsiteX28" fmla="*/ 152521 w 260164"/>
              <a:gd name="connsiteY28" fmla="*/ 191871 h 213984"/>
              <a:gd name="connsiteX29" fmla="*/ 142765 w 260164"/>
              <a:gd name="connsiteY29" fmla="*/ 191871 h 213984"/>
              <a:gd name="connsiteX30" fmla="*/ 137887 w 260164"/>
              <a:gd name="connsiteY30" fmla="*/ 185855 h 213984"/>
              <a:gd name="connsiteX31" fmla="*/ 142765 w 260164"/>
              <a:gd name="connsiteY31" fmla="*/ 179838 h 213984"/>
              <a:gd name="connsiteX32" fmla="*/ 152521 w 260164"/>
              <a:gd name="connsiteY32" fmla="*/ 179838 h 213984"/>
              <a:gd name="connsiteX33" fmla="*/ 181790 w 260164"/>
              <a:gd name="connsiteY33" fmla="*/ 179838 h 213984"/>
              <a:gd name="connsiteX34" fmla="*/ 186668 w 260164"/>
              <a:gd name="connsiteY34" fmla="*/ 185855 h 213984"/>
              <a:gd name="connsiteX35" fmla="*/ 181790 w 260164"/>
              <a:gd name="connsiteY35" fmla="*/ 191871 h 213984"/>
              <a:gd name="connsiteX36" fmla="*/ 172033 w 260164"/>
              <a:gd name="connsiteY36" fmla="*/ 191871 h 213984"/>
              <a:gd name="connsiteX37" fmla="*/ 167155 w 260164"/>
              <a:gd name="connsiteY37" fmla="*/ 185855 h 213984"/>
              <a:gd name="connsiteX38" fmla="*/ 172033 w 260164"/>
              <a:gd name="connsiteY38" fmla="*/ 179838 h 213984"/>
              <a:gd name="connsiteX39" fmla="*/ 181790 w 260164"/>
              <a:gd name="connsiteY39" fmla="*/ 179838 h 213984"/>
              <a:gd name="connsiteX40" fmla="*/ 100651 w 260164"/>
              <a:gd name="connsiteY40" fmla="*/ 0 h 213984"/>
              <a:gd name="connsiteX41" fmla="*/ 152445 w 260164"/>
              <a:gd name="connsiteY41" fmla="*/ 29932 h 213984"/>
              <a:gd name="connsiteX42" fmla="*/ 176424 w 260164"/>
              <a:gd name="connsiteY42" fmla="*/ 22764 h 213984"/>
              <a:gd name="connsiteX43" fmla="*/ 221318 w 260164"/>
              <a:gd name="connsiteY43" fmla="*/ 63373 h 213984"/>
              <a:gd name="connsiteX44" fmla="*/ 260164 w 260164"/>
              <a:gd name="connsiteY44" fmla="*/ 111220 h 213984"/>
              <a:gd name="connsiteX45" fmla="*/ 226343 w 260164"/>
              <a:gd name="connsiteY45" fmla="*/ 157921 h 213984"/>
              <a:gd name="connsiteX46" fmla="*/ 226343 w 260164"/>
              <a:gd name="connsiteY46" fmla="*/ 138345 h 213984"/>
              <a:gd name="connsiteX47" fmla="*/ 241949 w 260164"/>
              <a:gd name="connsiteY47" fmla="*/ 111726 h 213984"/>
              <a:gd name="connsiteX48" fmla="*/ 241953 w 260164"/>
              <a:gd name="connsiteY48" fmla="*/ 111220 h 213984"/>
              <a:gd name="connsiteX49" fmla="*/ 218312 w 260164"/>
              <a:gd name="connsiteY49" fmla="*/ 81335 h 213984"/>
              <a:gd name="connsiteX50" fmla="*/ 203279 w 260164"/>
              <a:gd name="connsiteY50" fmla="*/ 65872 h 213984"/>
              <a:gd name="connsiteX51" fmla="*/ 176424 w 260164"/>
              <a:gd name="connsiteY51" fmla="*/ 40976 h 213984"/>
              <a:gd name="connsiteX52" fmla="*/ 162403 w 260164"/>
              <a:gd name="connsiteY52" fmla="*/ 45180 h 213984"/>
              <a:gd name="connsiteX53" fmla="*/ 136858 w 260164"/>
              <a:gd name="connsiteY53" fmla="*/ 39350 h 213984"/>
              <a:gd name="connsiteX54" fmla="*/ 100651 w 260164"/>
              <a:gd name="connsiteY54" fmla="*/ 18211 h 213984"/>
              <a:gd name="connsiteX55" fmla="*/ 57618 w 260164"/>
              <a:gd name="connsiteY55" fmla="*/ 62009 h 213984"/>
              <a:gd name="connsiteX56" fmla="*/ 42538 w 260164"/>
              <a:gd name="connsiteY56" fmla="*/ 79095 h 213984"/>
              <a:gd name="connsiteX57" fmla="*/ 18211 w 260164"/>
              <a:gd name="connsiteY57" fmla="*/ 110082 h 213984"/>
              <a:gd name="connsiteX58" fmla="*/ 46490 w 260164"/>
              <a:gd name="connsiteY58" fmla="*/ 141457 h 213984"/>
              <a:gd name="connsiteX59" fmla="*/ 46939 w 260164"/>
              <a:gd name="connsiteY59" fmla="*/ 141464 h 213984"/>
              <a:gd name="connsiteX60" fmla="*/ 52358 w 260164"/>
              <a:gd name="connsiteY60" fmla="*/ 141464 h 213984"/>
              <a:gd name="connsiteX61" fmla="*/ 52358 w 260164"/>
              <a:gd name="connsiteY61" fmla="*/ 159676 h 213984"/>
              <a:gd name="connsiteX62" fmla="*/ 46830 w 260164"/>
              <a:gd name="connsiteY62" fmla="*/ 159676 h 213984"/>
              <a:gd name="connsiteX63" fmla="*/ 0 w 260164"/>
              <a:gd name="connsiteY63" fmla="*/ 110082 h 213984"/>
              <a:gd name="connsiteX64" fmla="*/ 39427 w 260164"/>
              <a:gd name="connsiteY64" fmla="*/ 61151 h 213984"/>
              <a:gd name="connsiteX65" fmla="*/ 100651 w 260164"/>
              <a:gd name="connsiteY65" fmla="*/ 0 h 213984"/>
              <a:gd name="connsiteX66" fmla="*/ 200038 w 260164"/>
              <a:gd name="connsiteY66" fmla="*/ 103090 h 213984"/>
              <a:gd name="connsiteX67" fmla="*/ 94923 w 260164"/>
              <a:gd name="connsiteY67" fmla="*/ 103090 h 213984"/>
              <a:gd name="connsiteX68" fmla="*/ 94923 w 260164"/>
              <a:gd name="connsiteY68" fmla="*/ 130407 h 213984"/>
              <a:gd name="connsiteX69" fmla="*/ 200038 w 260164"/>
              <a:gd name="connsiteY69" fmla="*/ 130407 h 213984"/>
              <a:gd name="connsiteX70" fmla="*/ 200038 w 260164"/>
              <a:gd name="connsiteY70" fmla="*/ 103090 h 213984"/>
              <a:gd name="connsiteX71" fmla="*/ 152521 w 260164"/>
              <a:gd name="connsiteY71" fmla="*/ 111871 h 213984"/>
              <a:gd name="connsiteX72" fmla="*/ 157399 w 260164"/>
              <a:gd name="connsiteY72" fmla="*/ 117887 h 213984"/>
              <a:gd name="connsiteX73" fmla="*/ 152521 w 260164"/>
              <a:gd name="connsiteY73" fmla="*/ 123903 h 213984"/>
              <a:gd name="connsiteX74" fmla="*/ 142765 w 260164"/>
              <a:gd name="connsiteY74" fmla="*/ 123903 h 213984"/>
              <a:gd name="connsiteX75" fmla="*/ 137887 w 260164"/>
              <a:gd name="connsiteY75" fmla="*/ 117887 h 213984"/>
              <a:gd name="connsiteX76" fmla="*/ 142765 w 260164"/>
              <a:gd name="connsiteY76" fmla="*/ 111871 h 213984"/>
              <a:gd name="connsiteX77" fmla="*/ 152521 w 260164"/>
              <a:gd name="connsiteY77" fmla="*/ 111871 h 213984"/>
              <a:gd name="connsiteX78" fmla="*/ 181790 w 260164"/>
              <a:gd name="connsiteY78" fmla="*/ 111871 h 213984"/>
              <a:gd name="connsiteX79" fmla="*/ 186668 w 260164"/>
              <a:gd name="connsiteY79" fmla="*/ 117887 h 213984"/>
              <a:gd name="connsiteX80" fmla="*/ 181790 w 260164"/>
              <a:gd name="connsiteY80" fmla="*/ 123903 h 213984"/>
              <a:gd name="connsiteX81" fmla="*/ 172033 w 260164"/>
              <a:gd name="connsiteY81" fmla="*/ 123903 h 213984"/>
              <a:gd name="connsiteX82" fmla="*/ 167155 w 260164"/>
              <a:gd name="connsiteY82" fmla="*/ 117887 h 213984"/>
              <a:gd name="connsiteX83" fmla="*/ 172033 w 260164"/>
              <a:gd name="connsiteY83" fmla="*/ 111871 h 213984"/>
              <a:gd name="connsiteX84" fmla="*/ 181790 w 260164"/>
              <a:gd name="connsiteY84" fmla="*/ 111871 h 21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60164" h="213984">
                <a:moveTo>
                  <a:pt x="205878" y="87480"/>
                </a:moveTo>
                <a:cubicBezTo>
                  <a:pt x="211254" y="87480"/>
                  <a:pt x="215611" y="91848"/>
                  <a:pt x="215611" y="97236"/>
                </a:cubicBezTo>
                <a:lnTo>
                  <a:pt x="215611" y="136261"/>
                </a:lnTo>
                <a:cubicBezTo>
                  <a:pt x="215611" y="141649"/>
                  <a:pt x="211253" y="146017"/>
                  <a:pt x="205878" y="146017"/>
                </a:cubicBezTo>
                <a:lnTo>
                  <a:pt x="188944" y="146017"/>
                </a:lnTo>
                <a:lnTo>
                  <a:pt x="188944" y="155448"/>
                </a:lnTo>
                <a:lnTo>
                  <a:pt x="205878" y="155448"/>
                </a:lnTo>
                <a:cubicBezTo>
                  <a:pt x="211254" y="155448"/>
                  <a:pt x="215611" y="159816"/>
                  <a:pt x="215611" y="165204"/>
                </a:cubicBezTo>
                <a:lnTo>
                  <a:pt x="215611" y="204229"/>
                </a:lnTo>
                <a:cubicBezTo>
                  <a:pt x="215611" y="209617"/>
                  <a:pt x="211253" y="213985"/>
                  <a:pt x="205878" y="213985"/>
                </a:cubicBezTo>
                <a:lnTo>
                  <a:pt x="89083" y="213985"/>
                </a:lnTo>
                <a:cubicBezTo>
                  <a:pt x="83707" y="213985"/>
                  <a:pt x="79350" y="209617"/>
                  <a:pt x="79350" y="204229"/>
                </a:cubicBezTo>
                <a:lnTo>
                  <a:pt x="79350" y="165204"/>
                </a:lnTo>
                <a:cubicBezTo>
                  <a:pt x="79350" y="159816"/>
                  <a:pt x="83708" y="155448"/>
                  <a:pt x="89083" y="155448"/>
                </a:cubicBezTo>
                <a:lnTo>
                  <a:pt x="176912" y="155448"/>
                </a:lnTo>
                <a:lnTo>
                  <a:pt x="176912" y="146017"/>
                </a:lnTo>
                <a:lnTo>
                  <a:pt x="89083" y="146017"/>
                </a:lnTo>
                <a:cubicBezTo>
                  <a:pt x="83707" y="146017"/>
                  <a:pt x="79350" y="141649"/>
                  <a:pt x="79350" y="136261"/>
                </a:cubicBezTo>
                <a:lnTo>
                  <a:pt x="79350" y="97236"/>
                </a:lnTo>
                <a:cubicBezTo>
                  <a:pt x="79350" y="91848"/>
                  <a:pt x="83708" y="87480"/>
                  <a:pt x="89083" y="87480"/>
                </a:cubicBezTo>
                <a:lnTo>
                  <a:pt x="205878" y="87480"/>
                </a:lnTo>
                <a:close/>
                <a:moveTo>
                  <a:pt x="200038" y="171058"/>
                </a:moveTo>
                <a:lnTo>
                  <a:pt x="94923" y="171058"/>
                </a:lnTo>
                <a:lnTo>
                  <a:pt x="94923" y="198375"/>
                </a:lnTo>
                <a:lnTo>
                  <a:pt x="200038" y="198375"/>
                </a:lnTo>
                <a:lnTo>
                  <a:pt x="200038" y="171058"/>
                </a:lnTo>
                <a:close/>
                <a:moveTo>
                  <a:pt x="152521" y="179838"/>
                </a:moveTo>
                <a:cubicBezTo>
                  <a:pt x="155215" y="179838"/>
                  <a:pt x="157399" y="182532"/>
                  <a:pt x="157399" y="185855"/>
                </a:cubicBezTo>
                <a:cubicBezTo>
                  <a:pt x="157399" y="189177"/>
                  <a:pt x="155215" y="191871"/>
                  <a:pt x="152521" y="191871"/>
                </a:cubicBezTo>
                <a:lnTo>
                  <a:pt x="142765" y="191871"/>
                </a:lnTo>
                <a:cubicBezTo>
                  <a:pt x="140071" y="191871"/>
                  <a:pt x="137887" y="189177"/>
                  <a:pt x="137887" y="185855"/>
                </a:cubicBezTo>
                <a:cubicBezTo>
                  <a:pt x="137887" y="182532"/>
                  <a:pt x="140071" y="179838"/>
                  <a:pt x="142765" y="179838"/>
                </a:cubicBezTo>
                <a:lnTo>
                  <a:pt x="152521" y="179838"/>
                </a:lnTo>
                <a:close/>
                <a:moveTo>
                  <a:pt x="181790" y="179838"/>
                </a:moveTo>
                <a:cubicBezTo>
                  <a:pt x="184484" y="179838"/>
                  <a:pt x="186668" y="182532"/>
                  <a:pt x="186668" y="185855"/>
                </a:cubicBezTo>
                <a:cubicBezTo>
                  <a:pt x="186668" y="189177"/>
                  <a:pt x="184484" y="191871"/>
                  <a:pt x="181790" y="191871"/>
                </a:cubicBezTo>
                <a:lnTo>
                  <a:pt x="172033" y="191871"/>
                </a:lnTo>
                <a:cubicBezTo>
                  <a:pt x="169339" y="191871"/>
                  <a:pt x="167155" y="189177"/>
                  <a:pt x="167155" y="185855"/>
                </a:cubicBezTo>
                <a:cubicBezTo>
                  <a:pt x="167155" y="182532"/>
                  <a:pt x="169339" y="179838"/>
                  <a:pt x="172033" y="179838"/>
                </a:cubicBezTo>
                <a:lnTo>
                  <a:pt x="181790" y="179838"/>
                </a:lnTo>
                <a:close/>
                <a:moveTo>
                  <a:pt x="100651" y="0"/>
                </a:moveTo>
                <a:cubicBezTo>
                  <a:pt x="122440" y="0"/>
                  <a:pt x="141573" y="11941"/>
                  <a:pt x="152445" y="29932"/>
                </a:cubicBezTo>
                <a:cubicBezTo>
                  <a:pt x="159401" y="25389"/>
                  <a:pt x="167619" y="22764"/>
                  <a:pt x="176424" y="22764"/>
                </a:cubicBezTo>
                <a:cubicBezTo>
                  <a:pt x="199249" y="22764"/>
                  <a:pt x="218137" y="40407"/>
                  <a:pt x="221318" y="63373"/>
                </a:cubicBezTo>
                <a:cubicBezTo>
                  <a:pt x="243337" y="67059"/>
                  <a:pt x="260164" y="87078"/>
                  <a:pt x="260164" y="111220"/>
                </a:cubicBezTo>
                <a:cubicBezTo>
                  <a:pt x="260164" y="133490"/>
                  <a:pt x="245847" y="152251"/>
                  <a:pt x="226343" y="157921"/>
                </a:cubicBezTo>
                <a:lnTo>
                  <a:pt x="226343" y="138345"/>
                </a:lnTo>
                <a:cubicBezTo>
                  <a:pt x="235400" y="133507"/>
                  <a:pt x="241771" y="123510"/>
                  <a:pt x="241949" y="111726"/>
                </a:cubicBezTo>
                <a:lnTo>
                  <a:pt x="241953" y="111220"/>
                </a:lnTo>
                <a:cubicBezTo>
                  <a:pt x="241953" y="96105"/>
                  <a:pt x="231670" y="83571"/>
                  <a:pt x="218312" y="81335"/>
                </a:cubicBezTo>
                <a:cubicBezTo>
                  <a:pt x="210460" y="80020"/>
                  <a:pt x="204371" y="73757"/>
                  <a:pt x="203279" y="65872"/>
                </a:cubicBezTo>
                <a:cubicBezTo>
                  <a:pt x="201290" y="51512"/>
                  <a:pt x="189754" y="40976"/>
                  <a:pt x="176424" y="40976"/>
                </a:cubicBezTo>
                <a:cubicBezTo>
                  <a:pt x="171401" y="40976"/>
                  <a:pt x="166608" y="42433"/>
                  <a:pt x="162403" y="45180"/>
                </a:cubicBezTo>
                <a:cubicBezTo>
                  <a:pt x="153772" y="50816"/>
                  <a:pt x="142189" y="48173"/>
                  <a:pt x="136858" y="39350"/>
                </a:cubicBezTo>
                <a:cubicBezTo>
                  <a:pt x="128914" y="26203"/>
                  <a:pt x="115376" y="18211"/>
                  <a:pt x="100651" y="18211"/>
                </a:cubicBezTo>
                <a:cubicBezTo>
                  <a:pt x="77873" y="18211"/>
                  <a:pt x="58781" y="37352"/>
                  <a:pt x="57618" y="62009"/>
                </a:cubicBezTo>
                <a:cubicBezTo>
                  <a:pt x="57216" y="70534"/>
                  <a:pt x="50947" y="77637"/>
                  <a:pt x="42538" y="79095"/>
                </a:cubicBezTo>
                <a:cubicBezTo>
                  <a:pt x="28777" y="81481"/>
                  <a:pt x="18211" y="94455"/>
                  <a:pt x="18211" y="110082"/>
                </a:cubicBezTo>
                <a:cubicBezTo>
                  <a:pt x="18211" y="127358"/>
                  <a:pt x="31008" y="141076"/>
                  <a:pt x="46490" y="141457"/>
                </a:cubicBezTo>
                <a:lnTo>
                  <a:pt x="46939" y="141464"/>
                </a:lnTo>
                <a:lnTo>
                  <a:pt x="52358" y="141464"/>
                </a:lnTo>
                <a:lnTo>
                  <a:pt x="52358" y="159676"/>
                </a:lnTo>
                <a:lnTo>
                  <a:pt x="46830" y="159676"/>
                </a:lnTo>
                <a:cubicBezTo>
                  <a:pt x="20936" y="159490"/>
                  <a:pt x="0" y="137358"/>
                  <a:pt x="0" y="110082"/>
                </a:cubicBezTo>
                <a:cubicBezTo>
                  <a:pt x="0" y="85460"/>
                  <a:pt x="17060" y="65029"/>
                  <a:pt x="39427" y="61151"/>
                </a:cubicBezTo>
                <a:cubicBezTo>
                  <a:pt x="41032" y="27094"/>
                  <a:pt x="67829" y="0"/>
                  <a:pt x="100651" y="0"/>
                </a:cubicBezTo>
                <a:close/>
                <a:moveTo>
                  <a:pt x="200038" y="103090"/>
                </a:moveTo>
                <a:lnTo>
                  <a:pt x="94923" y="103090"/>
                </a:lnTo>
                <a:lnTo>
                  <a:pt x="94923" y="130407"/>
                </a:lnTo>
                <a:lnTo>
                  <a:pt x="200038" y="130407"/>
                </a:lnTo>
                <a:lnTo>
                  <a:pt x="200038" y="103090"/>
                </a:lnTo>
                <a:close/>
                <a:moveTo>
                  <a:pt x="152521" y="111871"/>
                </a:moveTo>
                <a:cubicBezTo>
                  <a:pt x="155215" y="111871"/>
                  <a:pt x="157399" y="114564"/>
                  <a:pt x="157399" y="117887"/>
                </a:cubicBezTo>
                <a:cubicBezTo>
                  <a:pt x="157399" y="121209"/>
                  <a:pt x="155215" y="123903"/>
                  <a:pt x="152521" y="123903"/>
                </a:cubicBezTo>
                <a:lnTo>
                  <a:pt x="142765" y="123903"/>
                </a:lnTo>
                <a:cubicBezTo>
                  <a:pt x="140071" y="123903"/>
                  <a:pt x="137887" y="121209"/>
                  <a:pt x="137887" y="117887"/>
                </a:cubicBezTo>
                <a:cubicBezTo>
                  <a:pt x="137887" y="114564"/>
                  <a:pt x="140071" y="111871"/>
                  <a:pt x="142765" y="111871"/>
                </a:cubicBezTo>
                <a:lnTo>
                  <a:pt x="152521" y="111871"/>
                </a:lnTo>
                <a:close/>
                <a:moveTo>
                  <a:pt x="181790" y="111871"/>
                </a:moveTo>
                <a:cubicBezTo>
                  <a:pt x="184484" y="111871"/>
                  <a:pt x="186668" y="114564"/>
                  <a:pt x="186668" y="117887"/>
                </a:cubicBezTo>
                <a:cubicBezTo>
                  <a:pt x="186668" y="121209"/>
                  <a:pt x="184484" y="123903"/>
                  <a:pt x="181790" y="123903"/>
                </a:cubicBezTo>
                <a:lnTo>
                  <a:pt x="172033" y="123903"/>
                </a:lnTo>
                <a:cubicBezTo>
                  <a:pt x="169339" y="123903"/>
                  <a:pt x="167155" y="121209"/>
                  <a:pt x="167155" y="117887"/>
                </a:cubicBezTo>
                <a:cubicBezTo>
                  <a:pt x="167155" y="114564"/>
                  <a:pt x="169339" y="111871"/>
                  <a:pt x="172033" y="111871"/>
                </a:cubicBezTo>
                <a:lnTo>
                  <a:pt x="181790" y="111871"/>
                </a:lnTo>
                <a:close/>
              </a:path>
            </a:pathLst>
          </a:custGeom>
          <a:solidFill>
            <a:schemeClr val="accent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200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28160" y="954444"/>
            <a:ext cx="3535679" cy="661502"/>
          </a:xfrm>
          <a:prstGeom prst="roundRect">
            <a:avLst>
              <a:gd name="adj" fmla="val 0"/>
            </a:avLst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US"/>
            </a:defPPr>
            <a:lvl1pPr algn="ctr">
              <a:defRPr kumimoji="1" sz="1200" b="1">
                <a:solidFill>
                  <a:schemeClr val="accent1"/>
                </a:solidFill>
                <a:latin typeface="+mn-ea"/>
              </a:defRPr>
            </a:lvl1pPr>
          </a:lstStyle>
          <a:p>
            <a:pPr>
              <a:lnSpc>
                <a:spcPct val="110000"/>
              </a:lnSpc>
            </a:pPr>
            <a:r>
              <a:rPr lang="zh-CN" altLang="en-US" sz="18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Helvetica Neue" panose="02000503000000020004"/>
              </a:rPr>
              <a:t>一个平台统筹数据、模型、流程与监管运营</a:t>
            </a:r>
          </a:p>
          <a:p>
            <a:pPr>
              <a:lnSpc>
                <a:spcPct val="110000"/>
              </a:lnSpc>
            </a:pPr>
            <a:endParaRPr lang="zh-CN" altLang="en-US" sz="18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Helvetica Neue" panose="02000503000000020004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穿透监管“一三四五”方法体系</a:t>
            </a:r>
          </a:p>
        </p:txBody>
      </p:sp>
      <p:sp>
        <p:nvSpPr>
          <p:cNvPr id="13" name="椭圆 12"/>
          <p:cNvSpPr/>
          <p:nvPr/>
        </p:nvSpPr>
        <p:spPr>
          <a:xfrm>
            <a:off x="5711973" y="4226393"/>
            <a:ext cx="768054" cy="768049"/>
          </a:xfrm>
          <a:prstGeom prst="ellipse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86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穿透深度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5122" y="457200"/>
            <a:ext cx="10987278" cy="1049845"/>
            <a:chOff x="595122" y="457200"/>
            <a:chExt cx="10987278" cy="1049845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1143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0204" y="5181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02 |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产品定位与总体方案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45223" y="463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5122" y="949642"/>
              <a:ext cx="9072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图谱 </a:t>
              </a:r>
              <a:r>
                <a:rPr kumimoji="0" lang="en-US" altLang="zh-CN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规则 </a:t>
              </a:r>
              <a:r>
                <a:rPr kumimoji="0" lang="en-US" altLang="zh-CN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证据 </a:t>
              </a:r>
              <a:r>
                <a:rPr kumimoji="0" lang="en-US" altLang="zh-CN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在线闭环，是产品的核心机制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5122" y="1968818"/>
            <a:ext cx="4209478" cy="2461355"/>
            <a:chOff x="595122" y="1968818"/>
            <a:chExt cx="4209478" cy="2461355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1968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产品定位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5122" y="2378392"/>
              <a:ext cx="4209478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marL="0" marR="0" lvl="0" indent="0" algn="l" defTabSz="457200" rtl="0" eaLnBrk="1" fontAlgn="auto" latinLnBrk="0" hangingPunct="1">
                <a:lnSpc>
                  <a:spcPts val="40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面向央国企和大型集团的私有化穿透式监管软件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924300"/>
              <a:ext cx="3867150" cy="9525"/>
            </a:xfrm>
            <a:custGeom>
              <a:avLst/>
              <a:gdLst/>
              <a:ahLst/>
              <a:cxnLst/>
              <a:rect l="l" t="t" r="r" b="b"/>
              <a:pathLst>
                <a:path w="3867150" h="9525">
                  <a:moveTo>
                    <a:pt x="0" y="0"/>
                  </a:moveTo>
                  <a:lnTo>
                    <a:pt x="386715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2361" y="4151471"/>
              <a:ext cx="3159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可解释 </a:t>
              </a:r>
              <a:r>
                <a:rPr kumimoji="0" lang="en-US" altLang="zh-CN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可配置 </a:t>
              </a:r>
              <a:r>
                <a:rPr kumimoji="0" lang="en-US" altLang="zh-CN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可审计 </a:t>
              </a:r>
              <a:r>
                <a:rPr kumimoji="0" lang="en-US" altLang="zh-CN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可私有化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0" y="1924050"/>
            <a:ext cx="6027039" cy="2781300"/>
            <a:chOff x="5334000" y="1924050"/>
            <a:chExt cx="6027039" cy="2781300"/>
          </a:xfrm>
        </p:grpSpPr>
        <p:sp>
          <p:nvSpPr>
            <p:cNvPr id="13" name="Line 13"/>
            <p:cNvSpPr/>
            <p:nvPr/>
          </p:nvSpPr>
          <p:spPr>
            <a:xfrm>
              <a:off x="5334000" y="1924050"/>
              <a:ext cx="9525" cy="2781300"/>
            </a:xfrm>
            <a:custGeom>
              <a:avLst/>
              <a:gdLst/>
              <a:ahLst/>
              <a:cxnLst/>
              <a:rect l="l" t="t" r="r" b="b"/>
              <a:pathLst>
                <a:path w="9525" h="2781300">
                  <a:moveTo>
                    <a:pt x="0" y="0"/>
                  </a:moveTo>
                  <a:lnTo>
                    <a:pt x="0" y="27813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44718" y="19554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平台做什么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745861" y="23798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定义图谱与字段映射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45861" y="27608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配置场景与确定性规则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45861" y="31418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形成预警、证据与风险事件闭环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45861" y="35228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沉淀版本、审计与效果样本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3218" y="19554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平台不做什么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84742" y="2387918"/>
              <a:ext cx="2020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不由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AI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自动做监管结论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4742" y="27689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首批不自动阻断或回写源系统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84742" y="31499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不替代客户既有业务系统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5124450"/>
            <a:ext cx="10744200" cy="838200"/>
            <a:chOff x="609600" y="5124450"/>
            <a:chExt cx="10744200" cy="838200"/>
          </a:xfrm>
        </p:grpSpPr>
        <p:sp>
          <p:nvSpPr>
            <p:cNvPr id="24" name="Rectangle 24"/>
            <p:cNvSpPr/>
            <p:nvPr/>
          </p:nvSpPr>
          <p:spPr>
            <a:xfrm>
              <a:off x="609600" y="5124450"/>
              <a:ext cx="10744200" cy="838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2485" y="52887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客户关注点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55749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私有化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571750" y="54483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77718" y="5574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安全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476750" y="54483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82718" y="55749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可解释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819900" y="54483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25868" y="55749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可配置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163050" y="54483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69018" y="55749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可审计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4838" y="6436995"/>
            <a:ext cx="10982325" cy="176212"/>
            <a:chOff x="604838" y="6436995"/>
            <a:chExt cx="10982325" cy="176212"/>
          </a:xfrm>
        </p:grpSpPr>
        <p:sp>
          <p:nvSpPr>
            <p:cNvPr id="36" name="TextBox 36"/>
            <p:cNvSpPr txBox="1"/>
            <p:nvPr/>
          </p:nvSpPr>
          <p:spPr>
            <a:xfrm>
              <a:off x="604838" y="6436995"/>
              <a:ext cx="1973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来源：穿透式监管产品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PRD v11.19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44364" y="64369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5122" y="457200"/>
            <a:ext cx="10987278" cy="1049845"/>
            <a:chOff x="595122" y="457200"/>
            <a:chExt cx="10987278" cy="1049845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1143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0204" y="5181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02 |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产品定位与总体方案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45223" y="463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5122" y="94964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一平台、四穿透、四支撑、五能力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504" y="1756410"/>
            <a:ext cx="8692896" cy="3523774"/>
            <a:chOff x="603504" y="1756410"/>
            <a:chExt cx="8692896" cy="3523774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756410"/>
              <a:ext cx="1394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四穿透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监管目标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09600" y="2095500"/>
              <a:ext cx="8686800" cy="9525"/>
            </a:xfrm>
            <a:custGeom>
              <a:avLst/>
              <a:gdLst/>
              <a:ahLst/>
              <a:cxnLst/>
              <a:rect l="l" t="t" r="r" b="b"/>
              <a:pathLst>
                <a:path w="8686800" h="9525">
                  <a:moveTo>
                    <a:pt x="0" y="0"/>
                  </a:moveTo>
                  <a:lnTo>
                    <a:pt x="868680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组织级次穿透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8323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业务链路穿透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5968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风险过程穿透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6130" y="22955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要素证据穿透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800350"/>
              <a:ext cx="8686800" cy="1028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B9D3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8304" y="2975610"/>
              <a:ext cx="17338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一平台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监管运营中枢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2970" y="3262312"/>
              <a:ext cx="51114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2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中国电子云穿透式监管智能应用平台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685" y="3612356"/>
              <a:ext cx="37204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统一语义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组织事实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识别风险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固化证据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闭环处置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3504" y="4118610"/>
              <a:ext cx="1394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四支撑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平台底座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438650"/>
              <a:ext cx="8686800" cy="9525"/>
            </a:xfrm>
            <a:custGeom>
              <a:avLst/>
              <a:gdLst/>
              <a:ahLst/>
              <a:cxnLst/>
              <a:rect l="l" t="t" r="r" b="b"/>
              <a:pathLst>
                <a:path w="8686800" h="9525">
                  <a:moveTo>
                    <a:pt x="0" y="0"/>
                  </a:moveTo>
                  <a:lnTo>
                    <a:pt x="868680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9818" y="46796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安全云底座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25318" y="4679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数据治理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49368" y="4679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知识图谱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92468" y="4679632"/>
              <a:ext cx="1684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规则 </a:t>
              </a:r>
              <a:r>
                <a:rPr kumimoji="0" lang="en-US" altLang="zh-CN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模型智能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2485" y="506015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私有化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安全合规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27985" y="50601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口径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质量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52035" y="50601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语义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关系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版本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95135" y="50601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确定性识别 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智能辅助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11868" y="1756410"/>
            <a:ext cx="1741932" cy="3722179"/>
            <a:chOff x="9611868" y="1756410"/>
            <a:chExt cx="1741932" cy="3722179"/>
          </a:xfrm>
        </p:grpSpPr>
        <p:sp>
          <p:nvSpPr>
            <p:cNvPr id="29" name="TextBox 29"/>
            <p:cNvSpPr txBox="1"/>
            <p:nvPr/>
          </p:nvSpPr>
          <p:spPr>
            <a:xfrm>
              <a:off x="9614154" y="1756410"/>
              <a:ext cx="1394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五能力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价值输出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620250" y="209550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11868" y="2412682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01 </a:t>
              </a: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对象画像力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620250" y="278130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11868" y="3098482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02 </a:t>
              </a: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链路还原力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620250" y="346710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11868" y="3784282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03 </a:t>
              </a: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风险识别力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620250" y="415290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11868" y="4470082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04 </a:t>
              </a: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证据解释力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620250" y="4838700"/>
              <a:ext cx="1733550" cy="9525"/>
            </a:xfrm>
            <a:custGeom>
              <a:avLst/>
              <a:gdLst/>
              <a:ahLst/>
              <a:cxnLst/>
              <a:rect l="l" t="t" r="r" b="b"/>
              <a:pathLst>
                <a:path w="1733550" h="9525">
                  <a:moveTo>
                    <a:pt x="0" y="0"/>
                  </a:moveTo>
                  <a:lnTo>
                    <a:pt x="173355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11868" y="5155882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05 </a:t>
              </a:r>
              <a:r>
                <a:rPr kumimoji="0" lang="zh-CN" altLang="en-US" sz="1650" b="1" i="0" u="none" strike="noStrike" kern="120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协同闭环力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436995"/>
            <a:ext cx="10982325" cy="176212"/>
            <a:chOff x="604838" y="6436995"/>
            <a:chExt cx="10982325" cy="176212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436995"/>
              <a:ext cx="3489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来源：用户框架；现有产品材料；穿透式监管产品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PRD v11.19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44364" y="64369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5122" y="457200"/>
            <a:ext cx="10987278" cy="1049845"/>
            <a:chOff x="595122" y="457200"/>
            <a:chExt cx="10987278" cy="1049845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1143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0204" y="5181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02 |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产品定位与总体方案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45223" y="463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5122" y="9496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应用架构把多系统事实转化为监管行动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3504" y="1851660"/>
            <a:ext cx="1987240" cy="3390424"/>
            <a:chOff x="603504" y="1851660"/>
            <a:chExt cx="1987240" cy="3390424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851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来源系统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2209800"/>
              <a:ext cx="177165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3041" y="2368868"/>
              <a:ext cx="1384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ERP / </a:t>
              </a: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财务司库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876550"/>
              <a:ext cx="177165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7196" y="30356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采购 </a:t>
              </a:r>
              <a:r>
                <a:rPr kumimoji="0" lang="en-US" altLang="zh-CN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合同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3543300"/>
              <a:ext cx="177165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9951" y="3702368"/>
              <a:ext cx="9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OA / </a:t>
              </a: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人事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4210050"/>
              <a:ext cx="177165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7196" y="43691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投资 </a:t>
              </a:r>
              <a:r>
                <a:rPr kumimoji="0" lang="en-US" altLang="zh-CN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资产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3885" y="5022056"/>
              <a:ext cx="198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批量、</a:t>
              </a:r>
              <a:r>
                <a:rPr kumimoji="0" lang="en-US" altLang="zh-CN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API</a:t>
              </a: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、消息等方式接入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60954" y="1851660"/>
            <a:ext cx="6121146" cy="3234690"/>
            <a:chOff x="3060954" y="1851660"/>
            <a:chExt cx="6121146" cy="3234690"/>
          </a:xfrm>
        </p:grpSpPr>
        <p:sp>
          <p:nvSpPr>
            <p:cNvPr id="19" name="TextBox 19"/>
            <p:cNvSpPr txBox="1"/>
            <p:nvPr/>
          </p:nvSpPr>
          <p:spPr>
            <a:xfrm>
              <a:off x="3060954" y="1851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穿透式监管平台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67050" y="2209800"/>
              <a:ext cx="6115050" cy="590550"/>
            </a:xfrm>
            <a:prstGeom prst="rect">
              <a:avLst/>
            </a:prstGeom>
            <a:solidFill>
              <a:srgbClr val="EAF2FF"/>
            </a:solidFill>
            <a:ln w="9525">
              <a:solidFill>
                <a:srgbClr val="B9D3F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44799" y="2401729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8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应用层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1342" y="2426018"/>
              <a:ext cx="4511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工作台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态势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风险监管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场景规则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图谱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系统管理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67050" y="2971800"/>
              <a:ext cx="6115050" cy="5905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B9D3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44799" y="3163729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8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服务层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1342" y="3188018"/>
              <a:ext cx="4511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规则引擎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图谱查询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工作流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权限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审计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模型接入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67050" y="3733800"/>
              <a:ext cx="6115050" cy="590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B9D3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44799" y="3925729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8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数据层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41342" y="3950018"/>
              <a:ext cx="4302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主标识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字段映射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质量校验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版本快照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证据子图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67050" y="4495800"/>
              <a:ext cx="6115050" cy="5905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B9D3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44799" y="4687729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8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基础层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41342" y="4712018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数据库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中间件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安全与运维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631680" y="1851660"/>
            <a:ext cx="1722120" cy="3080385"/>
            <a:chOff x="9631680" y="1851660"/>
            <a:chExt cx="1722120" cy="3080385"/>
          </a:xfrm>
        </p:grpSpPr>
        <p:sp>
          <p:nvSpPr>
            <p:cNvPr id="33" name="TextBox 33"/>
            <p:cNvSpPr txBox="1"/>
            <p:nvPr/>
          </p:nvSpPr>
          <p:spPr>
            <a:xfrm>
              <a:off x="9633204" y="1851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监管输出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639300" y="23622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31680" y="2581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全局态势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639300" y="3048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31680" y="32670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预警研判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9639300" y="37338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31680" y="3952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整改复核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639300" y="44196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E6EDF7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31680" y="46386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运营复盘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533650" y="3409950"/>
            <a:ext cx="7124700" cy="152400"/>
            <a:chOff x="2533650" y="3409950"/>
            <a:chExt cx="7124700" cy="152400"/>
          </a:xfrm>
        </p:grpSpPr>
        <p:sp>
          <p:nvSpPr>
            <p:cNvPr id="43" name="Line 43"/>
            <p:cNvSpPr/>
            <p:nvPr/>
          </p:nvSpPr>
          <p:spPr>
            <a:xfrm>
              <a:off x="2533650" y="3486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2914650" y="3409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5" name="Line 45"/>
            <p:cNvSpPr/>
            <p:nvPr/>
          </p:nvSpPr>
          <p:spPr>
            <a:xfrm>
              <a:off x="9277350" y="34861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9525000" y="3409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604838" y="6436995"/>
            <a:ext cx="10982325" cy="176212"/>
            <a:chOff x="604838" y="6436995"/>
            <a:chExt cx="10982325" cy="176212"/>
          </a:xfrm>
        </p:grpSpPr>
        <p:sp>
          <p:nvSpPr>
            <p:cNvPr id="48" name="TextBox 48"/>
            <p:cNvSpPr txBox="1"/>
            <p:nvPr/>
          </p:nvSpPr>
          <p:spPr>
            <a:xfrm>
              <a:off x="604838" y="6436995"/>
              <a:ext cx="28576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来源：穿透式监管产品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PRD v11.19</a:t>
              </a: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；现有产品材料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44364" y="64369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5122" y="457200"/>
            <a:ext cx="10987278" cy="1049845"/>
            <a:chOff x="595122" y="457200"/>
            <a:chExt cx="10987278" cy="1049845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1143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0204" y="5181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02 |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产品定位与总体方案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45223" y="463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5122" y="94964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六个工程模块，构成一条监管运行链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504" y="1965960"/>
            <a:ext cx="8578596" cy="1158240"/>
            <a:chOff x="603504" y="1965960"/>
            <a:chExt cx="8578596" cy="1158240"/>
          </a:xfrm>
        </p:grpSpPr>
        <p:sp>
          <p:nvSpPr>
            <p:cNvPr id="8" name="TextBox 8"/>
            <p:cNvSpPr txBox="1"/>
            <p:nvPr/>
          </p:nvSpPr>
          <p:spPr>
            <a:xfrm>
              <a:off x="603504" y="1965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监管业务链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2324100"/>
              <a:ext cx="2438400" cy="800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B9D3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056" y="24536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104" y="2804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个人任务入口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048000" y="272415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562350" y="2647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695700" y="2324100"/>
              <a:ext cx="2438400" cy="8001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B9D3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915156" y="2453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监管态势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18204" y="28041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全局风险看板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134100" y="272415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6648450" y="2647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81800" y="2324100"/>
              <a:ext cx="2400300" cy="8001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B9D3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1256" y="2453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风险监管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04304" y="2804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预警与风险事件闭环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504" y="3562350"/>
            <a:ext cx="8578596" cy="781050"/>
            <a:chOff x="603504" y="3562350"/>
            <a:chExt cx="8578596" cy="781050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3756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识别配置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676400" y="3562350"/>
              <a:ext cx="7505700" cy="7810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72056" y="3691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场景与规则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31742" y="3740468"/>
              <a:ext cx="4167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风险场景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规则资产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Skill 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版本发布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效果复盘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6980" y="406955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1" i="0" u="none" strike="noStrike" kern="1200" cap="none" spc="0" normalizeH="0" baseline="0" noProof="0" dirty="0">
                  <a:ln>
                    <a:noFill/>
                  </a:ln>
                  <a:solidFill>
                    <a:srgbClr val="2F8CFF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风险识别配置中心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3504" y="4629150"/>
            <a:ext cx="8578596" cy="781050"/>
            <a:chOff x="603504" y="4629150"/>
            <a:chExt cx="8578596" cy="781050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48234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事实底座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676400" y="4629150"/>
              <a:ext cx="7505700" cy="781050"/>
            </a:xfrm>
            <a:prstGeom prst="rect">
              <a:avLst/>
            </a:prstGeom>
            <a:solidFill>
              <a:srgbClr val="EAF2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971675" y="475059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8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知识图谱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31742" y="4807268"/>
              <a:ext cx="42754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图谱结构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数据源与字段映射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图谱版本 </a:t>
              </a:r>
              <a:r>
                <a:rPr kumimoji="0" lang="en-US" altLang="zh-CN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证据子图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08667" y="5136356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监管数据与证据底座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601200" y="1885950"/>
            <a:ext cx="1752600" cy="3524250"/>
            <a:chOff x="9601200" y="1885950"/>
            <a:chExt cx="1752600" cy="3524250"/>
          </a:xfrm>
        </p:grpSpPr>
        <p:sp>
          <p:nvSpPr>
            <p:cNvPr id="35" name="Rectangle 35"/>
            <p:cNvSpPr/>
            <p:nvPr/>
          </p:nvSpPr>
          <p:spPr>
            <a:xfrm>
              <a:off x="9601200" y="1885950"/>
              <a:ext cx="1752600" cy="3524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B9D3F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19894" y="20564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系统管理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829800" y="2457450"/>
              <a:ext cx="1295400" cy="9525"/>
            </a:xfrm>
            <a:custGeom>
              <a:avLst/>
              <a:gdLst/>
              <a:ahLst/>
              <a:cxnLst/>
              <a:rect l="l" t="t" r="r" b="b"/>
              <a:pathLst>
                <a:path w="1295400" h="9525">
                  <a:moveTo>
                    <a:pt x="0" y="0"/>
                  </a:moveTo>
                  <a:lnTo>
                    <a:pt x="129540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22561" y="27798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组织与用户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22561" y="32180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角色与权限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22561" y="36561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模型接入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22561" y="40943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审计追溯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24085" y="47744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纵向约束全部模块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742" y="5855018"/>
            <a:ext cx="7074198" cy="264033"/>
            <a:chOff x="602742" y="5855018"/>
            <a:chExt cx="7074198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602742" y="5855018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上层闭环牵引业务，中层配置识别逻辑，下层知识图谱提供事实，系统管理贯穿全程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436995"/>
            <a:ext cx="10982325" cy="176212"/>
            <a:chOff x="604838" y="6436995"/>
            <a:chExt cx="10982325" cy="176212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436995"/>
              <a:ext cx="1973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来源：穿透式监管产品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PRD v11.19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44364" y="64369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5122" y="457200"/>
            <a:ext cx="10987278" cy="1049845"/>
            <a:chOff x="595122" y="457200"/>
            <a:chExt cx="10987278" cy="1049845"/>
          </a:xfrm>
        </p:grpSpPr>
        <p:sp>
          <p:nvSpPr>
            <p:cNvPr id="2" name="Rectangle 2"/>
            <p:cNvSpPr/>
            <p:nvPr/>
          </p:nvSpPr>
          <p:spPr>
            <a:xfrm>
              <a:off x="609600" y="457200"/>
              <a:ext cx="11430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70204" y="5181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02 |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产品定位与总体方案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45223" y="463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中国电子云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09600" y="80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5122" y="949642"/>
              <a:ext cx="848881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端到端闭环，让每条风险都有事实、责任与结果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2424" y="2362200"/>
            <a:ext cx="10609052" cy="1153573"/>
            <a:chOff x="772424" y="2362200"/>
            <a:chExt cx="10609052" cy="1153573"/>
          </a:xfrm>
        </p:grpSpPr>
        <p:sp>
          <p:nvSpPr>
            <p:cNvPr id="8" name="Line 8"/>
            <p:cNvSpPr/>
            <p:nvPr/>
          </p:nvSpPr>
          <p:spPr>
            <a:xfrm>
              <a:off x="1181100" y="2724150"/>
              <a:ext cx="9791700" cy="9525"/>
            </a:xfrm>
            <a:custGeom>
              <a:avLst/>
              <a:gdLst/>
              <a:ahLst/>
              <a:cxnLst/>
              <a:rect l="l" t="t" r="r" b="b"/>
              <a:pathLst>
                <a:path w="9791700" h="9525">
                  <a:moveTo>
                    <a:pt x="0" y="0"/>
                  </a:moveTo>
                  <a:lnTo>
                    <a:pt x="9791700" y="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19150" y="2362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6865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2424" y="32370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数据接入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781300" y="2362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19015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F8CFF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34574" y="32370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图谱关联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743450" y="2362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81165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6724" y="32370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规则命中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05600" y="2362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43315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F8CFF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8874" y="32370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预警研判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667750" y="2362200"/>
              <a:ext cx="723900" cy="7239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5465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21024" y="32370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整改复核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10610850" y="2362200"/>
              <a:ext cx="723900" cy="723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48565" y="26384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64124" y="323707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120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样本回流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4038600"/>
            <a:ext cx="10744200" cy="1504950"/>
            <a:chOff x="609600" y="4038600"/>
            <a:chExt cx="10744200" cy="1504950"/>
          </a:xfrm>
        </p:grpSpPr>
        <p:sp>
          <p:nvSpPr>
            <p:cNvPr id="28" name="Rectangle 28"/>
            <p:cNvSpPr/>
            <p:nvPr/>
          </p:nvSpPr>
          <p:spPr>
            <a:xfrm>
              <a:off x="609600" y="4038600"/>
              <a:ext cx="107442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4004" y="41757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数据管理员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99004" y="4175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来源、口径、映射、质量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9600" y="4591050"/>
              <a:ext cx="10744200" cy="400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E1EAF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4004" y="4728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监管专员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99004" y="47282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场景发布、预警研判、升级事件、复核关闭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" y="5143500"/>
              <a:ext cx="107442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4004" y="52806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业务责任人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99004" y="52806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整改举证、补充材料、纠正业务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4838" y="6436995"/>
            <a:ext cx="10982325" cy="176212"/>
            <a:chOff x="604838" y="6436995"/>
            <a:chExt cx="10982325" cy="176212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436995"/>
              <a:ext cx="1973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来源：穿透式监管产品 </a:t>
              </a:r>
              <a:r>
                <a:rPr kumimoji="0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PRD v11.19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44364" y="64369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6B7280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4069-019A-5C14-8A35-615DD645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D0D7046-D0DF-491D-0124-2BB8C83A9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930" y="1517371"/>
            <a:ext cx="4217670" cy="3822970"/>
          </a:xfrm>
        </p:spPr>
        <p:txBody>
          <a:bodyPr anchor="ctr" anchorCtr="0">
            <a:spAutoFit/>
          </a:bodyPr>
          <a:lstStyle/>
          <a:p>
            <a:pPr marL="0" indent="0">
              <a:buClrTx/>
              <a:buSzTx/>
              <a:buNone/>
            </a:pPr>
            <a:r>
              <a:rPr lang="en-US" altLang="zh-CN" dirty="0"/>
              <a:t>01  </a:t>
            </a:r>
            <a:r>
              <a:rPr lang="zh-CN" altLang="en-US" dirty="0"/>
              <a:t>监管要求与建设目标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02  </a:t>
            </a:r>
            <a:r>
              <a:rPr lang="zh-CN" altLang="en-US" dirty="0">
                <a:sym typeface="+mn-lt"/>
              </a:rPr>
              <a:t>产品定位与总体方案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03  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核心功能体系</a:t>
            </a:r>
            <a:endParaRPr lang="zh-CN" alt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04  </a:t>
            </a:r>
            <a:r>
              <a:rPr lang="zh-CN" altLang="en-US" dirty="0">
                <a:sym typeface="+mn-lt"/>
              </a:rPr>
              <a:t>典型应用场景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05  建设实施与应用价值</a:t>
            </a:r>
          </a:p>
        </p:txBody>
      </p:sp>
    </p:spTree>
    <p:extLst>
      <p:ext uri="{BB962C8B-B14F-4D97-AF65-F5344CB8AC3E}">
        <p14:creationId xmlns:p14="http://schemas.microsoft.com/office/powerpoint/2010/main" val="255598152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D331A-0A52-6116-44CF-712DD5E7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C9D554D-86DA-E962-B5DC-787E6A8A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endParaRPr lang="zh-CN" altLang="en-US" dirty="0"/>
          </a:p>
        </p:txBody>
      </p:sp>
      <p:sp>
        <p:nvSpPr>
          <p:cNvPr id="62" name="TextBox 6">
            <a:extLst>
              <a:ext uri="{FF2B5EF4-FFF2-40B4-BE49-F238E27FC236}">
                <a16:creationId xmlns:a16="http://schemas.microsoft.com/office/drawing/2014/main" id="{E83D9F41-E340-DDEE-ED0B-9E3856EC0C0B}"/>
              </a:ext>
            </a:extLst>
          </p:cNvPr>
          <p:cNvSpPr txBox="1"/>
          <p:nvPr/>
        </p:nvSpPr>
        <p:spPr>
          <a:xfrm>
            <a:off x="648910" y="1243012"/>
            <a:ext cx="929451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28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六模块协同：一条由事实驱动、由审计封闭的运行链</a:t>
            </a:r>
          </a:p>
        </p:txBody>
      </p:sp>
      <p:sp>
        <p:nvSpPr>
          <p:cNvPr id="63" name="Ellipse 8">
            <a:extLst>
              <a:ext uri="{FF2B5EF4-FFF2-40B4-BE49-F238E27FC236}">
                <a16:creationId xmlns:a16="http://schemas.microsoft.com/office/drawing/2014/main" id="{31BF0D0A-BB13-FE40-AD4F-684A82E4B4F8}"/>
              </a:ext>
            </a:extLst>
          </p:cNvPr>
          <p:cNvSpPr/>
          <p:nvPr/>
        </p:nvSpPr>
        <p:spPr>
          <a:xfrm>
            <a:off x="4682938" y="2274570"/>
            <a:ext cx="2933700" cy="2933700"/>
          </a:xfrm>
          <a:prstGeom prst="ellipse">
            <a:avLst/>
          </a:prstGeom>
          <a:solidFill>
            <a:srgbClr val="F2F7FF"/>
          </a:solidFill>
          <a:ln w="28575">
            <a:solidFill>
              <a:srgbClr val="B9D3FF"/>
            </a:solidFill>
          </a:ln>
        </p:spPr>
      </p:sp>
      <p:sp>
        <p:nvSpPr>
          <p:cNvPr id="128" name="Ellipse 9">
            <a:extLst>
              <a:ext uri="{FF2B5EF4-FFF2-40B4-BE49-F238E27FC236}">
                <a16:creationId xmlns:a16="http://schemas.microsoft.com/office/drawing/2014/main" id="{87478359-F004-A6BF-997B-E2A1CF7AE33D}"/>
              </a:ext>
            </a:extLst>
          </p:cNvPr>
          <p:cNvSpPr/>
          <p:nvPr/>
        </p:nvSpPr>
        <p:spPr>
          <a:xfrm>
            <a:off x="5140138" y="2731770"/>
            <a:ext cx="2019300" cy="2019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9" name="TextBox 10">
            <a:extLst>
              <a:ext uri="{FF2B5EF4-FFF2-40B4-BE49-F238E27FC236}">
                <a16:creationId xmlns:a16="http://schemas.microsoft.com/office/drawing/2014/main" id="{7784076C-76F8-602C-170F-9B405ED8E096}"/>
              </a:ext>
            </a:extLst>
          </p:cNvPr>
          <p:cNvSpPr txBox="1"/>
          <p:nvPr/>
        </p:nvSpPr>
        <p:spPr>
          <a:xfrm>
            <a:off x="5634828" y="338328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00" b="1" dirty="0">
                <a:solidFill>
                  <a:srgbClr val="0B63F6"/>
                </a:solidFill>
                <a:ea typeface="Microsoft YaHei" panose="020B0503020204020204" pitchFamily="34" charset="-122"/>
                <a:cs typeface="Arial"/>
              </a:rPr>
              <a:t>统一运行闭环</a:t>
            </a:r>
          </a:p>
        </p:txBody>
      </p:sp>
      <p:sp>
        <p:nvSpPr>
          <p:cNvPr id="130" name="TextBox 11">
            <a:extLst>
              <a:ext uri="{FF2B5EF4-FFF2-40B4-BE49-F238E27FC236}">
                <a16:creationId xmlns:a16="http://schemas.microsoft.com/office/drawing/2014/main" id="{53EA2DD0-908C-0257-8B7F-6FE065A63F41}"/>
              </a:ext>
            </a:extLst>
          </p:cNvPr>
          <p:cNvSpPr txBox="1"/>
          <p:nvPr/>
        </p:nvSpPr>
        <p:spPr>
          <a:xfrm>
            <a:off x="4995999" y="3664268"/>
            <a:ext cx="230757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9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发现 → 研判 → 整改</a:t>
            </a:r>
          </a:p>
        </p:txBody>
      </p:sp>
      <p:sp>
        <p:nvSpPr>
          <p:cNvPr id="131" name="TextBox 12">
            <a:extLst>
              <a:ext uri="{FF2B5EF4-FFF2-40B4-BE49-F238E27FC236}">
                <a16:creationId xmlns:a16="http://schemas.microsoft.com/office/drawing/2014/main" id="{D8C12098-DF6A-F0CC-C8A5-5DF1548A96CA}"/>
              </a:ext>
            </a:extLst>
          </p:cNvPr>
          <p:cNvSpPr txBox="1"/>
          <p:nvPr/>
        </p:nvSpPr>
        <p:spPr>
          <a:xfrm>
            <a:off x="5430123" y="4026218"/>
            <a:ext cx="1439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9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复核 → 优化</a:t>
            </a:r>
          </a:p>
        </p:txBody>
      </p:sp>
      <p:sp>
        <p:nvSpPr>
          <p:cNvPr id="132" name="Ellipse 13">
            <a:extLst>
              <a:ext uri="{FF2B5EF4-FFF2-40B4-BE49-F238E27FC236}">
                <a16:creationId xmlns:a16="http://schemas.microsoft.com/office/drawing/2014/main" id="{8538942F-3793-17EC-1247-6208E14F9F19}"/>
              </a:ext>
            </a:extLst>
          </p:cNvPr>
          <p:cNvSpPr/>
          <p:nvPr/>
        </p:nvSpPr>
        <p:spPr>
          <a:xfrm>
            <a:off x="5825938" y="1950720"/>
            <a:ext cx="647700" cy="647700"/>
          </a:xfrm>
          <a:prstGeom prst="ellipse">
            <a:avLst/>
          </a:prstGeom>
          <a:solidFill>
            <a:srgbClr val="0B63F6"/>
          </a:solidFill>
          <a:ln>
            <a:noFill/>
          </a:ln>
        </p:spPr>
      </p:sp>
      <p:sp>
        <p:nvSpPr>
          <p:cNvPr id="133" name="TextBox 14">
            <a:extLst>
              <a:ext uri="{FF2B5EF4-FFF2-40B4-BE49-F238E27FC236}">
                <a16:creationId xmlns:a16="http://schemas.microsoft.com/office/drawing/2014/main" id="{8774095B-D196-8872-9AF4-9B7AA56675E0}"/>
              </a:ext>
            </a:extLst>
          </p:cNvPr>
          <p:cNvSpPr txBox="1"/>
          <p:nvPr/>
        </p:nvSpPr>
        <p:spPr>
          <a:xfrm>
            <a:off x="5962382" y="2213134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80" b="1" dirty="0">
                <a:solidFill>
                  <a:srgbClr val="FFFFFF"/>
                </a:solidFill>
                <a:ea typeface="Microsoft YaHei" panose="020B0503020204020204" pitchFamily="34" charset="-122"/>
                <a:cs typeface="Arial"/>
              </a:rPr>
              <a:t>图谱</a:t>
            </a:r>
          </a:p>
        </p:txBody>
      </p:sp>
      <p:sp>
        <p:nvSpPr>
          <p:cNvPr id="134" name="TextBox 15">
            <a:extLst>
              <a:ext uri="{FF2B5EF4-FFF2-40B4-BE49-F238E27FC236}">
                <a16:creationId xmlns:a16="http://schemas.microsoft.com/office/drawing/2014/main" id="{FE521C35-CF02-9686-5218-DF8C4D740F3E}"/>
              </a:ext>
            </a:extLst>
          </p:cNvPr>
          <p:cNvSpPr txBox="1"/>
          <p:nvPr/>
        </p:nvSpPr>
        <p:spPr>
          <a:xfrm>
            <a:off x="5718115" y="1826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50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知识图谱</a:t>
            </a:r>
          </a:p>
        </p:txBody>
      </p:sp>
      <p:sp>
        <p:nvSpPr>
          <p:cNvPr id="135" name="TextBox 16">
            <a:extLst>
              <a:ext uri="{FF2B5EF4-FFF2-40B4-BE49-F238E27FC236}">
                <a16:creationId xmlns:a16="http://schemas.microsoft.com/office/drawing/2014/main" id="{0AC6A920-C688-9DEB-30EA-EB48B58B0EC4}"/>
              </a:ext>
            </a:extLst>
          </p:cNvPr>
          <p:cNvSpPr txBox="1"/>
          <p:nvPr/>
        </p:nvSpPr>
        <p:spPr>
          <a:xfrm>
            <a:off x="5579050" y="263747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050" dirty="0">
                <a:solidFill>
                  <a:srgbClr val="596579"/>
                </a:solidFill>
                <a:ea typeface="Microsoft YaHei" panose="020B0503020204020204" pitchFamily="34" charset="-122"/>
                <a:cs typeface="Arial"/>
              </a:rPr>
              <a:t>版本化事实与证据</a:t>
            </a:r>
          </a:p>
        </p:txBody>
      </p:sp>
      <p:sp>
        <p:nvSpPr>
          <p:cNvPr id="136" name="Ellipse 17">
            <a:extLst>
              <a:ext uri="{FF2B5EF4-FFF2-40B4-BE49-F238E27FC236}">
                <a16:creationId xmlns:a16="http://schemas.microsoft.com/office/drawing/2014/main" id="{0A81E329-925F-A99B-A581-E1C935722AC4}"/>
              </a:ext>
            </a:extLst>
          </p:cNvPr>
          <p:cNvSpPr/>
          <p:nvPr/>
        </p:nvSpPr>
        <p:spPr>
          <a:xfrm>
            <a:off x="7102288" y="2684145"/>
            <a:ext cx="647700" cy="647700"/>
          </a:xfrm>
          <a:prstGeom prst="ellipse">
            <a:avLst/>
          </a:prstGeom>
          <a:solidFill>
            <a:srgbClr val="2F8CFF"/>
          </a:solidFill>
          <a:ln>
            <a:noFill/>
          </a:ln>
        </p:spPr>
      </p:sp>
      <p:sp>
        <p:nvSpPr>
          <p:cNvPr id="137" name="TextBox 18">
            <a:extLst>
              <a:ext uri="{FF2B5EF4-FFF2-40B4-BE49-F238E27FC236}">
                <a16:creationId xmlns:a16="http://schemas.microsoft.com/office/drawing/2014/main" id="{443CC96B-9E10-F066-378D-494B7CD185B7}"/>
              </a:ext>
            </a:extLst>
          </p:cNvPr>
          <p:cNvSpPr txBox="1"/>
          <p:nvPr/>
        </p:nvSpPr>
        <p:spPr>
          <a:xfrm>
            <a:off x="7238732" y="294655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80" b="1" dirty="0">
                <a:solidFill>
                  <a:srgbClr val="FFFFFF"/>
                </a:solidFill>
                <a:ea typeface="Microsoft YaHei" panose="020B0503020204020204" pitchFamily="34" charset="-122"/>
                <a:cs typeface="Arial"/>
              </a:rPr>
              <a:t>规则</a:t>
            </a:r>
          </a:p>
        </p:txBody>
      </p:sp>
      <p:sp>
        <p:nvSpPr>
          <p:cNvPr id="138" name="TextBox 19">
            <a:extLst>
              <a:ext uri="{FF2B5EF4-FFF2-40B4-BE49-F238E27FC236}">
                <a16:creationId xmlns:a16="http://schemas.microsoft.com/office/drawing/2014/main" id="{12A9E824-C90C-9DCA-FD3C-94D9169CE864}"/>
              </a:ext>
            </a:extLst>
          </p:cNvPr>
          <p:cNvSpPr txBox="1"/>
          <p:nvPr/>
        </p:nvSpPr>
        <p:spPr>
          <a:xfrm>
            <a:off x="8047168" y="272224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150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场景与规则</a:t>
            </a:r>
          </a:p>
        </p:txBody>
      </p:sp>
      <p:sp>
        <p:nvSpPr>
          <p:cNvPr id="139" name="TextBox 20">
            <a:extLst>
              <a:ext uri="{FF2B5EF4-FFF2-40B4-BE49-F238E27FC236}">
                <a16:creationId xmlns:a16="http://schemas.microsoft.com/office/drawing/2014/main" id="{1AABA931-D410-4D43-7053-0FC7F8860179}"/>
              </a:ext>
            </a:extLst>
          </p:cNvPr>
          <p:cNvSpPr txBox="1"/>
          <p:nvPr/>
        </p:nvSpPr>
        <p:spPr>
          <a:xfrm>
            <a:off x="8049454" y="303752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1050" dirty="0">
                <a:solidFill>
                  <a:srgbClr val="596579"/>
                </a:solidFill>
                <a:ea typeface="Microsoft YaHei" panose="020B0503020204020204" pitchFamily="34" charset="-122"/>
                <a:cs typeface="Arial"/>
              </a:rPr>
              <a:t>定义识别逻辑</a:t>
            </a:r>
          </a:p>
        </p:txBody>
      </p:sp>
      <p:sp>
        <p:nvSpPr>
          <p:cNvPr id="140" name="Ellipse 21">
            <a:extLst>
              <a:ext uri="{FF2B5EF4-FFF2-40B4-BE49-F238E27FC236}">
                <a16:creationId xmlns:a16="http://schemas.microsoft.com/office/drawing/2014/main" id="{90FD5EDB-B1D9-519B-9C1C-2A2D075572D4}"/>
              </a:ext>
            </a:extLst>
          </p:cNvPr>
          <p:cNvSpPr/>
          <p:nvPr/>
        </p:nvSpPr>
        <p:spPr>
          <a:xfrm>
            <a:off x="7102288" y="4150995"/>
            <a:ext cx="647700" cy="647700"/>
          </a:xfrm>
          <a:prstGeom prst="ellipse">
            <a:avLst/>
          </a:prstGeom>
          <a:solidFill>
            <a:srgbClr val="0B63F6"/>
          </a:solidFill>
          <a:ln>
            <a:noFill/>
          </a:ln>
        </p:spPr>
      </p:sp>
      <p:sp>
        <p:nvSpPr>
          <p:cNvPr id="141" name="TextBox 22">
            <a:extLst>
              <a:ext uri="{FF2B5EF4-FFF2-40B4-BE49-F238E27FC236}">
                <a16:creationId xmlns:a16="http://schemas.microsoft.com/office/drawing/2014/main" id="{3C0E489A-BF01-BC83-368B-BC8A6A249359}"/>
              </a:ext>
            </a:extLst>
          </p:cNvPr>
          <p:cNvSpPr txBox="1"/>
          <p:nvPr/>
        </p:nvSpPr>
        <p:spPr>
          <a:xfrm>
            <a:off x="7238732" y="441340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80" b="1" dirty="0">
                <a:solidFill>
                  <a:srgbClr val="FFFFFF"/>
                </a:solidFill>
                <a:ea typeface="Microsoft YaHei" panose="020B0503020204020204" pitchFamily="34" charset="-122"/>
                <a:cs typeface="Arial"/>
              </a:rPr>
              <a:t>风险</a:t>
            </a:r>
          </a:p>
        </p:txBody>
      </p:sp>
      <p:sp>
        <p:nvSpPr>
          <p:cNvPr id="142" name="TextBox 23">
            <a:extLst>
              <a:ext uri="{FF2B5EF4-FFF2-40B4-BE49-F238E27FC236}">
                <a16:creationId xmlns:a16="http://schemas.microsoft.com/office/drawing/2014/main" id="{019D4A85-6F0B-ED25-1946-5169855C9ACD}"/>
              </a:ext>
            </a:extLst>
          </p:cNvPr>
          <p:cNvSpPr txBox="1"/>
          <p:nvPr/>
        </p:nvSpPr>
        <p:spPr>
          <a:xfrm>
            <a:off x="8047168" y="41890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150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风险监管</a:t>
            </a:r>
          </a:p>
        </p:txBody>
      </p:sp>
      <p:sp>
        <p:nvSpPr>
          <p:cNvPr id="143" name="TextBox 24">
            <a:extLst>
              <a:ext uri="{FF2B5EF4-FFF2-40B4-BE49-F238E27FC236}">
                <a16:creationId xmlns:a16="http://schemas.microsoft.com/office/drawing/2014/main" id="{C0AE264B-670B-D6FF-4184-06233CCFE765}"/>
              </a:ext>
            </a:extLst>
          </p:cNvPr>
          <p:cNvSpPr txBox="1"/>
          <p:nvPr/>
        </p:nvSpPr>
        <p:spPr>
          <a:xfrm>
            <a:off x="8049454" y="450437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1050" dirty="0">
                <a:solidFill>
                  <a:srgbClr val="596579"/>
                </a:solidFill>
                <a:ea typeface="Microsoft YaHei" panose="020B0503020204020204" pitchFamily="34" charset="-122"/>
                <a:cs typeface="Arial"/>
              </a:rPr>
              <a:t>研判、整改与复核</a:t>
            </a:r>
          </a:p>
        </p:txBody>
      </p:sp>
      <p:sp>
        <p:nvSpPr>
          <p:cNvPr id="144" name="Ellipse 25">
            <a:extLst>
              <a:ext uri="{FF2B5EF4-FFF2-40B4-BE49-F238E27FC236}">
                <a16:creationId xmlns:a16="http://schemas.microsoft.com/office/drawing/2014/main" id="{AE26EF43-5EAE-7D06-D05E-43AE9D206CA2}"/>
              </a:ext>
            </a:extLst>
          </p:cNvPr>
          <p:cNvSpPr/>
          <p:nvPr/>
        </p:nvSpPr>
        <p:spPr>
          <a:xfrm>
            <a:off x="5825938" y="4884420"/>
            <a:ext cx="647700" cy="647700"/>
          </a:xfrm>
          <a:prstGeom prst="ellipse">
            <a:avLst/>
          </a:prstGeom>
          <a:solidFill>
            <a:srgbClr val="22B573"/>
          </a:solidFill>
          <a:ln>
            <a:noFill/>
          </a:ln>
        </p:spPr>
      </p:sp>
      <p:sp>
        <p:nvSpPr>
          <p:cNvPr id="145" name="TextBox 26">
            <a:extLst>
              <a:ext uri="{FF2B5EF4-FFF2-40B4-BE49-F238E27FC236}">
                <a16:creationId xmlns:a16="http://schemas.microsoft.com/office/drawing/2014/main" id="{6044ED05-0999-7A93-3E3C-B2FEA4B1D1DA}"/>
              </a:ext>
            </a:extLst>
          </p:cNvPr>
          <p:cNvSpPr txBox="1"/>
          <p:nvPr/>
        </p:nvSpPr>
        <p:spPr>
          <a:xfrm>
            <a:off x="5962382" y="5146834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80" b="1" dirty="0">
                <a:solidFill>
                  <a:srgbClr val="FFFFFF"/>
                </a:solidFill>
                <a:ea typeface="Microsoft YaHei" panose="020B0503020204020204" pitchFamily="34" charset="-122"/>
                <a:cs typeface="Arial"/>
              </a:rPr>
              <a:t>任务</a:t>
            </a:r>
          </a:p>
        </p:txBody>
      </p:sp>
      <p:sp>
        <p:nvSpPr>
          <p:cNvPr id="146" name="TextBox 27">
            <a:extLst>
              <a:ext uri="{FF2B5EF4-FFF2-40B4-BE49-F238E27FC236}">
                <a16:creationId xmlns:a16="http://schemas.microsoft.com/office/drawing/2014/main" id="{7C56D607-D923-851C-B35D-A6AFD13BFD10}"/>
              </a:ext>
            </a:extLst>
          </p:cNvPr>
          <p:cNvSpPr txBox="1"/>
          <p:nvPr/>
        </p:nvSpPr>
        <p:spPr>
          <a:xfrm>
            <a:off x="4870009" y="5560695"/>
            <a:ext cx="2559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50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监管工作台｜事项分发到人</a:t>
            </a:r>
          </a:p>
        </p:txBody>
      </p:sp>
      <p:sp>
        <p:nvSpPr>
          <p:cNvPr id="147" name="Ellipse 28">
            <a:extLst>
              <a:ext uri="{FF2B5EF4-FFF2-40B4-BE49-F238E27FC236}">
                <a16:creationId xmlns:a16="http://schemas.microsoft.com/office/drawing/2014/main" id="{AA10D1C3-A56B-B67F-42E3-DD0C64C40717}"/>
              </a:ext>
            </a:extLst>
          </p:cNvPr>
          <p:cNvSpPr/>
          <p:nvPr/>
        </p:nvSpPr>
        <p:spPr>
          <a:xfrm>
            <a:off x="4549588" y="4150995"/>
            <a:ext cx="647700" cy="647700"/>
          </a:xfrm>
          <a:prstGeom prst="ellipse">
            <a:avLst/>
          </a:prstGeom>
          <a:solidFill>
            <a:srgbClr val="2F8CFF"/>
          </a:solidFill>
          <a:ln>
            <a:noFill/>
          </a:ln>
        </p:spPr>
      </p:sp>
      <p:sp>
        <p:nvSpPr>
          <p:cNvPr id="148" name="TextBox 29">
            <a:extLst>
              <a:ext uri="{FF2B5EF4-FFF2-40B4-BE49-F238E27FC236}">
                <a16:creationId xmlns:a16="http://schemas.microsoft.com/office/drawing/2014/main" id="{ED6426A9-9614-4E19-0A42-1A5DC09492E5}"/>
              </a:ext>
            </a:extLst>
          </p:cNvPr>
          <p:cNvSpPr txBox="1"/>
          <p:nvPr/>
        </p:nvSpPr>
        <p:spPr>
          <a:xfrm>
            <a:off x="4686032" y="441340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80" b="1" dirty="0">
                <a:solidFill>
                  <a:srgbClr val="FFFFFF"/>
                </a:solidFill>
                <a:ea typeface="Microsoft YaHei" panose="020B0503020204020204" pitchFamily="34" charset="-122"/>
                <a:cs typeface="Arial"/>
              </a:rPr>
              <a:t>态势</a:t>
            </a:r>
          </a:p>
        </p:txBody>
      </p:sp>
      <p:sp>
        <p:nvSpPr>
          <p:cNvPr id="149" name="TextBox 30">
            <a:extLst>
              <a:ext uri="{FF2B5EF4-FFF2-40B4-BE49-F238E27FC236}">
                <a16:creationId xmlns:a16="http://schemas.microsoft.com/office/drawing/2014/main" id="{1B513E30-DD58-B968-9951-DAE58946EC1C}"/>
              </a:ext>
            </a:extLst>
          </p:cNvPr>
          <p:cNvSpPr txBox="1"/>
          <p:nvPr/>
        </p:nvSpPr>
        <p:spPr>
          <a:xfrm>
            <a:off x="3389062" y="41890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defTabSz="457200"/>
            <a:r>
              <a:rPr lang="zh-CN" altLang="en-US" sz="150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监管态势</a:t>
            </a:r>
          </a:p>
        </p:txBody>
      </p:sp>
      <p:sp>
        <p:nvSpPr>
          <p:cNvPr id="150" name="TextBox 31">
            <a:extLst>
              <a:ext uri="{FF2B5EF4-FFF2-40B4-BE49-F238E27FC236}">
                <a16:creationId xmlns:a16="http://schemas.microsoft.com/office/drawing/2014/main" id="{2EFB29B0-FAF2-5EAE-C8D3-AAE26CFB341B}"/>
              </a:ext>
            </a:extLst>
          </p:cNvPr>
          <p:cNvSpPr txBox="1"/>
          <p:nvPr/>
        </p:nvSpPr>
        <p:spPr>
          <a:xfrm>
            <a:off x="3391348" y="450437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defTabSz="457200"/>
            <a:r>
              <a:rPr lang="zh-CN" altLang="en-US" sz="1050" dirty="0">
                <a:solidFill>
                  <a:srgbClr val="596579"/>
                </a:solidFill>
                <a:ea typeface="Microsoft YaHei" panose="020B0503020204020204" pitchFamily="34" charset="-122"/>
                <a:cs typeface="Arial"/>
              </a:rPr>
              <a:t>发现全局信号</a:t>
            </a:r>
          </a:p>
        </p:txBody>
      </p:sp>
      <p:sp>
        <p:nvSpPr>
          <p:cNvPr id="151" name="Ellipse 32">
            <a:extLst>
              <a:ext uri="{FF2B5EF4-FFF2-40B4-BE49-F238E27FC236}">
                <a16:creationId xmlns:a16="http://schemas.microsoft.com/office/drawing/2014/main" id="{0D248950-49E9-74FE-28D1-2FBB484EF756}"/>
              </a:ext>
            </a:extLst>
          </p:cNvPr>
          <p:cNvSpPr/>
          <p:nvPr/>
        </p:nvSpPr>
        <p:spPr>
          <a:xfrm>
            <a:off x="4549588" y="2684145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63F6"/>
            </a:solidFill>
          </a:ln>
        </p:spPr>
      </p:sp>
      <p:sp>
        <p:nvSpPr>
          <p:cNvPr id="152" name="TextBox 33">
            <a:extLst>
              <a:ext uri="{FF2B5EF4-FFF2-40B4-BE49-F238E27FC236}">
                <a16:creationId xmlns:a16="http://schemas.microsoft.com/office/drawing/2014/main" id="{E6D2E2B6-4EC7-ECC4-988B-51C342C66196}"/>
              </a:ext>
            </a:extLst>
          </p:cNvPr>
          <p:cNvSpPr txBox="1"/>
          <p:nvPr/>
        </p:nvSpPr>
        <p:spPr>
          <a:xfrm>
            <a:off x="4686032" y="2946559"/>
            <a:ext cx="3748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defTabSz="457200"/>
            <a:r>
              <a:rPr lang="zh-CN" altLang="en-US" sz="1280" b="1" dirty="0">
                <a:solidFill>
                  <a:srgbClr val="0B63F6"/>
                </a:solidFill>
                <a:ea typeface="Microsoft YaHei" panose="020B0503020204020204" pitchFamily="34" charset="-122"/>
                <a:cs typeface="Arial"/>
              </a:rPr>
              <a:t>治理</a:t>
            </a:r>
          </a:p>
        </p:txBody>
      </p:sp>
      <p:sp>
        <p:nvSpPr>
          <p:cNvPr id="153" name="TextBox 34">
            <a:extLst>
              <a:ext uri="{FF2B5EF4-FFF2-40B4-BE49-F238E27FC236}">
                <a16:creationId xmlns:a16="http://schemas.microsoft.com/office/drawing/2014/main" id="{FEA4D4D9-2DB2-041D-129D-D639503BD2E5}"/>
              </a:ext>
            </a:extLst>
          </p:cNvPr>
          <p:cNvSpPr txBox="1"/>
          <p:nvPr/>
        </p:nvSpPr>
        <p:spPr>
          <a:xfrm>
            <a:off x="3389062" y="27222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defTabSz="457200"/>
            <a:r>
              <a:rPr lang="zh-CN" altLang="en-US" sz="150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系统管理</a:t>
            </a:r>
          </a:p>
        </p:txBody>
      </p:sp>
      <p:sp>
        <p:nvSpPr>
          <p:cNvPr id="154" name="TextBox 35">
            <a:extLst>
              <a:ext uri="{FF2B5EF4-FFF2-40B4-BE49-F238E27FC236}">
                <a16:creationId xmlns:a16="http://schemas.microsoft.com/office/drawing/2014/main" id="{12F47A03-2F60-EDC1-7880-4C44C1A7C9C7}"/>
              </a:ext>
            </a:extLst>
          </p:cNvPr>
          <p:cNvSpPr txBox="1"/>
          <p:nvPr/>
        </p:nvSpPr>
        <p:spPr>
          <a:xfrm>
            <a:off x="3108646" y="303752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defTabSz="457200"/>
            <a:r>
              <a:rPr lang="zh-CN" altLang="en-US" sz="1050" dirty="0">
                <a:solidFill>
                  <a:srgbClr val="596579"/>
                </a:solidFill>
                <a:ea typeface="Microsoft YaHei" panose="020B0503020204020204" pitchFamily="34" charset="-122"/>
                <a:cs typeface="Arial"/>
              </a:rPr>
              <a:t>权限、模型与审计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792538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dirty="0">
                <a:sym typeface="+mn-lt"/>
              </a:rPr>
              <a:t>监管工作台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396240" y="865505"/>
            <a:ext cx="11441430" cy="75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1200" cap="none" spc="0" normalizeH="0" baseline="0" dirty="0">
                <a:solidFill>
                  <a:schemeClr val="tx2"/>
                </a:solidFill>
                <a:ea typeface="+mj-ea"/>
              </a:rPr>
              <a:t>监管工作台是大多数授权用户登录后的默认工作入口，核心目标是集中回答“我现在需要处理什么”。</a:t>
            </a:r>
          </a:p>
          <a:p>
            <a:pPr marR="0" lvl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i="0" u="none" strike="noStrike" kern="1200" cap="none" spc="0" normalizeH="0" baseline="0" dirty="0">
                <a:solidFill>
                  <a:schemeClr val="tx2"/>
                </a:solidFill>
                <a:ea typeface="+mj-ea"/>
              </a:rPr>
              <a:t>工作台是个人监管任务聚合和处置起点。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6240" y="2199005"/>
            <a:ext cx="7099935" cy="378587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8365490" y="2199005"/>
            <a:ext cx="3458210" cy="1112520"/>
            <a:chOff x="6877" y="3648"/>
            <a:chExt cx="5446" cy="1752"/>
          </a:xfrm>
        </p:grpSpPr>
        <p:sp>
          <p:nvSpPr>
            <p:cNvPr id="6" name="圆角矩形 5"/>
            <p:cNvSpPr/>
            <p:nvPr>
              <p:custDataLst>
                <p:tags r:id="rId14"/>
              </p:custDataLst>
            </p:nvPr>
          </p:nvSpPr>
          <p:spPr>
            <a:xfrm>
              <a:off x="6877" y="3648"/>
              <a:ext cx="5446" cy="55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1459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核心指标统计卡片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15"/>
              </p:custDataLst>
            </p:nvPr>
          </p:nvSpPr>
          <p:spPr>
            <a:xfrm>
              <a:off x="6900" y="4140"/>
              <a:ext cx="5401" cy="12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400" dirty="0">
                  <a:solidFill>
                    <a:schemeClr val="tx2"/>
                  </a:solidFill>
                  <a:ea typeface="+mj-ea"/>
                </a:rPr>
                <a:t>统计监管核心指标当前数据，展示待研判预警、待整改时间、带负荷时间和已逾期四大关键指标</a:t>
              </a:r>
            </a:p>
          </p:txBody>
        </p:sp>
      </p:grp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8365490" y="3669030"/>
            <a:ext cx="3458210" cy="1112520"/>
            <a:chOff x="6877" y="3648"/>
            <a:chExt cx="5446" cy="1752"/>
          </a:xfrm>
        </p:grpSpPr>
        <p:sp>
          <p:nvSpPr>
            <p:cNvPr id="16" name="圆角矩形 15"/>
            <p:cNvSpPr/>
            <p:nvPr>
              <p:custDataLst>
                <p:tags r:id="rId12"/>
              </p:custDataLst>
            </p:nvPr>
          </p:nvSpPr>
          <p:spPr>
            <a:xfrm>
              <a:off x="6877" y="3648"/>
              <a:ext cx="5446" cy="55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1459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待办工作台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13"/>
              </p:custDataLst>
            </p:nvPr>
          </p:nvSpPr>
          <p:spPr>
            <a:xfrm>
              <a:off x="6900" y="4140"/>
              <a:ext cx="5401" cy="12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400" dirty="0">
                  <a:solidFill>
                    <a:schemeClr val="tx2"/>
                  </a:solidFill>
                  <a:ea typeface="+mj-ea"/>
                </a:rPr>
                <a:t>展示当前角色下的待办事件，可通过关键词等待办信息进行筛选，支持数据下钻至具体待办详情页，同时可以进行代办操作。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4"/>
            </p:custDataLst>
          </p:nvPr>
        </p:nvGrpSpPr>
        <p:grpSpPr>
          <a:xfrm>
            <a:off x="8365490" y="5139055"/>
            <a:ext cx="3458210" cy="1112520"/>
            <a:chOff x="6877" y="3648"/>
            <a:chExt cx="5446" cy="1752"/>
          </a:xfrm>
        </p:grpSpPr>
        <p:sp>
          <p:nvSpPr>
            <p:cNvPr id="19" name="圆角矩形 18"/>
            <p:cNvSpPr/>
            <p:nvPr>
              <p:custDataLst>
                <p:tags r:id="rId10"/>
              </p:custDataLst>
            </p:nvPr>
          </p:nvSpPr>
          <p:spPr>
            <a:xfrm>
              <a:off x="6877" y="3648"/>
              <a:ext cx="5446" cy="554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rgbClr val="1459F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消息列表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11"/>
              </p:custDataLst>
            </p:nvPr>
          </p:nvSpPr>
          <p:spPr>
            <a:xfrm>
              <a:off x="6900" y="4140"/>
              <a:ext cx="5401" cy="126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400" dirty="0">
                  <a:solidFill>
                    <a:schemeClr val="tx2"/>
                  </a:solidFill>
                  <a:ea typeface="+mj-ea"/>
                </a:rPr>
                <a:t>展示当前角色接收到的消息，包括当前预警、事件的状态变化，支持通过消息下钻至具体预警或者事件的详情页。</a:t>
              </a:r>
            </a:p>
          </p:txBody>
        </p:sp>
      </p:grpSp>
      <p:sp>
        <p:nvSpPr>
          <p:cNvPr id="21" name="椭圆 2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7634605" y="219900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7634605" y="5139055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7634605" y="3669030"/>
            <a:ext cx="360000" cy="3600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26" name="直接连接符 25"/>
          <p:cNvCxnSpPr>
            <a:stCxn id="21" idx="4"/>
            <a:endCxn id="23" idx="0"/>
          </p:cNvCxnSpPr>
          <p:nvPr>
            <p:custDataLst>
              <p:tags r:id="rId8"/>
            </p:custDataLst>
          </p:nvPr>
        </p:nvCxnSpPr>
        <p:spPr>
          <a:xfrm>
            <a:off x="7814945" y="2559050"/>
            <a:ext cx="0" cy="1109980"/>
          </a:xfrm>
          <a:prstGeom prst="line">
            <a:avLst/>
          </a:prstGeom>
          <a:ln w="50800"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9"/>
            </p:custDataLst>
          </p:nvPr>
        </p:nvCxnSpPr>
        <p:spPr>
          <a:xfrm>
            <a:off x="7809230" y="4029075"/>
            <a:ext cx="0" cy="1109980"/>
          </a:xfrm>
          <a:prstGeom prst="line">
            <a:avLst/>
          </a:prstGeom>
          <a:ln w="50800">
            <a:tailEnd type="non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监管态势</a:t>
            </a:r>
            <a:endParaRPr kumimoji="1" lang="zh-CN" altLang="en-US" dirty="0"/>
          </a:p>
        </p:txBody>
      </p:sp>
      <p:sp>
        <p:nvSpPr>
          <p:cNvPr id="32" name="空心弧 31"/>
          <p:cNvSpPr/>
          <p:nvPr/>
        </p:nvSpPr>
        <p:spPr>
          <a:xfrm rot="16200000" flipH="1">
            <a:off x="1952329" y="947804"/>
            <a:ext cx="5358765" cy="5233670"/>
          </a:xfrm>
          <a:prstGeom prst="blockArc">
            <a:avLst>
              <a:gd name="adj1" fmla="val 12070388"/>
              <a:gd name="adj2" fmla="val 20133900"/>
              <a:gd name="adj3" fmla="val 21040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33" name="空心弧 32"/>
          <p:cNvSpPr/>
          <p:nvPr/>
        </p:nvSpPr>
        <p:spPr>
          <a:xfrm rot="5400000">
            <a:off x="4534239" y="947804"/>
            <a:ext cx="5358765" cy="5233670"/>
          </a:xfrm>
          <a:prstGeom prst="blockArc">
            <a:avLst>
              <a:gd name="adj1" fmla="val 12070388"/>
              <a:gd name="adj2" fmla="val 20359501"/>
              <a:gd name="adj3" fmla="val 21477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596958" y="2602230"/>
            <a:ext cx="1924685" cy="192468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941128" y="3613150"/>
            <a:ext cx="123634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数据大屏</a:t>
            </a:r>
          </a:p>
        </p:txBody>
      </p:sp>
      <p:pic>
        <p:nvPicPr>
          <p:cNvPr id="36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0855" y="3096260"/>
            <a:ext cx="516890" cy="516890"/>
          </a:xfrm>
          <a:prstGeom prst="rect">
            <a:avLst/>
          </a:prstGeom>
        </p:spPr>
      </p:pic>
      <p:sp>
        <p:nvSpPr>
          <p:cNvPr id="48" name="椭圆 47"/>
          <p:cNvSpPr/>
          <p:nvPr/>
        </p:nvSpPr>
        <p:spPr>
          <a:xfrm>
            <a:off x="2804160" y="165798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258060" y="263144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2258060" y="374777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2804160" y="467804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416358" y="2602230"/>
            <a:ext cx="1924685" cy="192468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760528" y="3613150"/>
            <a:ext cx="123634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穿透监管</a:t>
            </a:r>
          </a:p>
        </p:txBody>
      </p:sp>
      <p:pic>
        <p:nvPicPr>
          <p:cNvPr id="59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255" y="3096260"/>
            <a:ext cx="516890" cy="516890"/>
          </a:xfrm>
          <a:prstGeom prst="rect">
            <a:avLst/>
          </a:prstGeom>
        </p:spPr>
      </p:pic>
      <p:sp>
        <p:nvSpPr>
          <p:cNvPr id="60" name="椭圆 59"/>
          <p:cNvSpPr/>
          <p:nvPr/>
        </p:nvSpPr>
        <p:spPr>
          <a:xfrm>
            <a:off x="8265160" y="165798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8811260" y="263144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8785860" y="374777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8265160" y="467804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16033" y="174656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数量</a:t>
            </a:r>
          </a:p>
        </p:txBody>
      </p:sp>
      <p:sp>
        <p:nvSpPr>
          <p:cNvPr id="66" name="矩形 65"/>
          <p:cNvSpPr/>
          <p:nvPr/>
        </p:nvSpPr>
        <p:spPr>
          <a:xfrm>
            <a:off x="178518" y="2887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趋势</a:t>
            </a:r>
          </a:p>
        </p:txBody>
      </p:sp>
      <p:sp>
        <p:nvSpPr>
          <p:cNvPr id="67" name="矩形 66"/>
          <p:cNvSpPr/>
          <p:nvPr/>
        </p:nvSpPr>
        <p:spPr>
          <a:xfrm>
            <a:off x="203918" y="40554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排名</a:t>
            </a:r>
          </a:p>
        </p:txBody>
      </p:sp>
      <p:sp>
        <p:nvSpPr>
          <p:cNvPr id="68" name="矩形 67"/>
          <p:cNvSpPr/>
          <p:nvPr/>
        </p:nvSpPr>
        <p:spPr>
          <a:xfrm>
            <a:off x="680803" y="5046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展示结果</a:t>
            </a:r>
          </a:p>
        </p:txBody>
      </p:sp>
      <p:sp>
        <p:nvSpPr>
          <p:cNvPr id="69" name="矩形 68"/>
          <p:cNvSpPr/>
          <p:nvPr/>
        </p:nvSpPr>
        <p:spPr>
          <a:xfrm>
            <a:off x="9547075" y="5046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责任处置</a:t>
            </a:r>
          </a:p>
        </p:txBody>
      </p:sp>
      <p:sp>
        <p:nvSpPr>
          <p:cNvPr id="70" name="矩形 69"/>
          <p:cNvSpPr/>
          <p:nvPr/>
        </p:nvSpPr>
        <p:spPr>
          <a:xfrm>
            <a:off x="9908390" y="406431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版本证据</a:t>
            </a:r>
          </a:p>
        </p:txBody>
      </p:sp>
      <p:sp>
        <p:nvSpPr>
          <p:cNvPr id="71" name="矩形 70"/>
          <p:cNvSpPr/>
          <p:nvPr/>
        </p:nvSpPr>
        <p:spPr>
          <a:xfrm>
            <a:off x="9907755" y="2887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关系</a:t>
            </a:r>
          </a:p>
        </p:txBody>
      </p:sp>
      <p:sp>
        <p:nvSpPr>
          <p:cNvPr id="72" name="矩形 71"/>
          <p:cNvSpPr/>
          <p:nvPr/>
        </p:nvSpPr>
        <p:spPr>
          <a:xfrm>
            <a:off x="9572475" y="174656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来源</a:t>
            </a:r>
          </a:p>
        </p:txBody>
      </p:sp>
      <p:sp>
        <p:nvSpPr>
          <p:cNvPr id="76" name="任意多边形 75"/>
          <p:cNvSpPr/>
          <p:nvPr/>
        </p:nvSpPr>
        <p:spPr>
          <a:xfrm>
            <a:off x="5686425" y="3204845"/>
            <a:ext cx="512445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1" h="502">
                <a:moveTo>
                  <a:pt x="0" y="211"/>
                </a:moveTo>
                <a:lnTo>
                  <a:pt x="573" y="211"/>
                </a:lnTo>
                <a:lnTo>
                  <a:pt x="573" y="0"/>
                </a:lnTo>
                <a:lnTo>
                  <a:pt x="1171" y="502"/>
                </a:lnTo>
                <a:lnTo>
                  <a:pt x="0" y="502"/>
                </a:lnTo>
                <a:lnTo>
                  <a:pt x="0" y="21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60000">
                <a:schemeClr val="accent2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79" name="任意多边形 78"/>
          <p:cNvSpPr/>
          <p:nvPr/>
        </p:nvSpPr>
        <p:spPr>
          <a:xfrm rot="10800000">
            <a:off x="5739765" y="3492500"/>
            <a:ext cx="512445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1" h="502">
                <a:moveTo>
                  <a:pt x="0" y="211"/>
                </a:moveTo>
                <a:lnTo>
                  <a:pt x="573" y="211"/>
                </a:lnTo>
                <a:lnTo>
                  <a:pt x="573" y="0"/>
                </a:lnTo>
                <a:lnTo>
                  <a:pt x="1171" y="502"/>
                </a:lnTo>
                <a:lnTo>
                  <a:pt x="0" y="502"/>
                </a:lnTo>
                <a:lnTo>
                  <a:pt x="0" y="21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60000">
                <a:schemeClr val="accent2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pic>
        <p:nvPicPr>
          <p:cNvPr id="80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4967" y="1862280"/>
            <a:ext cx="360000" cy="360000"/>
          </a:xfrm>
          <a:prstGeom prst="rect">
            <a:avLst/>
          </a:prstGeom>
        </p:spPr>
      </p:pic>
      <p:pic>
        <p:nvPicPr>
          <p:cNvPr id="81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867" y="2850975"/>
            <a:ext cx="360000" cy="360000"/>
          </a:xfrm>
          <a:prstGeom prst="rect">
            <a:avLst/>
          </a:prstGeom>
        </p:spPr>
      </p:pic>
      <p:pic>
        <p:nvPicPr>
          <p:cNvPr id="82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867" y="3969845"/>
            <a:ext cx="360000" cy="360000"/>
          </a:xfrm>
          <a:prstGeom prst="rect">
            <a:avLst/>
          </a:prstGeom>
        </p:spPr>
      </p:pic>
      <p:pic>
        <p:nvPicPr>
          <p:cNvPr id="83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5602" y="4896310"/>
            <a:ext cx="360000" cy="360000"/>
          </a:xfrm>
          <a:prstGeom prst="rect">
            <a:avLst/>
          </a:prstGeom>
        </p:spPr>
      </p:pic>
      <p:pic>
        <p:nvPicPr>
          <p:cNvPr id="84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602" y="4881070"/>
            <a:ext cx="360000" cy="360000"/>
          </a:xfrm>
          <a:prstGeom prst="rect">
            <a:avLst/>
          </a:prstGeom>
        </p:spPr>
      </p:pic>
      <p:pic>
        <p:nvPicPr>
          <p:cNvPr id="85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5557" y="3953335"/>
            <a:ext cx="360000" cy="360000"/>
          </a:xfrm>
          <a:prstGeom prst="rect">
            <a:avLst/>
          </a:prstGeom>
        </p:spPr>
      </p:pic>
      <p:pic>
        <p:nvPicPr>
          <p:cNvPr id="86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5562" y="2845895"/>
            <a:ext cx="360000" cy="360000"/>
          </a:xfrm>
          <a:prstGeom prst="rect">
            <a:avLst/>
          </a:prstGeom>
        </p:spPr>
      </p:pic>
      <p:pic>
        <p:nvPicPr>
          <p:cNvPr id="87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4857" y="1871805"/>
            <a:ext cx="360000" cy="36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监管态势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96240" y="865505"/>
            <a:ext cx="1144143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监管态势用于快速掌握授权范围内的风险规模、等级结构、处置进度和重点异常。</a:t>
            </a:r>
          </a:p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>
                <a:solidFill>
                  <a:schemeClr val="tx2"/>
                </a:solidFill>
                <a:ea typeface="+mj-ea"/>
                <a:sym typeface="+mn-ea"/>
              </a:rPr>
              <a:t>页面核心目标是帮助用户快速回答三个问题：当前风险压力有多大、风险集中在哪些领域或组织、哪些事项需要优先处理。</a:t>
            </a:r>
            <a:endParaRPr kumimoji="1" lang="zh-CN" altLang="en-US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" y="3180080"/>
            <a:ext cx="5622925" cy="30029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015" y="3180080"/>
            <a:ext cx="5991225" cy="297434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832610" y="2493645"/>
            <a:ext cx="2381885" cy="3937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分析视图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7766685" y="2493645"/>
            <a:ext cx="2381885" cy="3937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</a:t>
            </a:r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大屏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监管态势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13665" y="892175"/>
            <a:ext cx="7041515" cy="5650230"/>
            <a:chOff x="179" y="1405"/>
            <a:chExt cx="11089" cy="889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rcRect l="591"/>
            <a:stretch>
              <a:fillRect/>
            </a:stretch>
          </p:blipFill>
          <p:spPr>
            <a:xfrm>
              <a:off x="179" y="1405"/>
              <a:ext cx="11083" cy="306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rcRect r="640"/>
            <a:stretch>
              <a:fillRect/>
            </a:stretch>
          </p:blipFill>
          <p:spPr>
            <a:xfrm>
              <a:off x="179" y="4470"/>
              <a:ext cx="11089" cy="5833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rcRect l="-252" t="153" r="252" b="-153"/>
          <a:stretch>
            <a:fillRect/>
          </a:stretch>
        </p:blipFill>
        <p:spPr>
          <a:xfrm>
            <a:off x="113665" y="2170430"/>
            <a:ext cx="7048500" cy="222123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7318375" y="1475105"/>
            <a:ext cx="4488180" cy="4928870"/>
            <a:chOff x="10319" y="2163"/>
            <a:chExt cx="7068" cy="7762"/>
          </a:xfrm>
        </p:grpSpPr>
        <p:sp>
          <p:nvSpPr>
            <p:cNvPr id="15" name="圆角矩形 14"/>
            <p:cNvSpPr/>
            <p:nvPr/>
          </p:nvSpPr>
          <p:spPr>
            <a:xfrm>
              <a:off x="10319" y="2163"/>
              <a:ext cx="3345" cy="2147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统一筛选条件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支持按时间范围、组织范围、监管领域、风险等级和预警阶段筛选。筛选后，页面内所有卡片同步刷新。</a:t>
              </a:r>
              <a:endParaRPr kumimoji="1" lang="zh-CN" altLang="en-US" sz="12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4042" y="2163"/>
              <a:ext cx="3345" cy="2147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核心指标卡片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展示本期预警总量、在办风险事件、重大风险事件、逾期风险事件和按期闭环率。</a:t>
              </a: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0323" y="6755"/>
              <a:ext cx="3345" cy="1653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风险等级结构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展示当前筛选范围内不同风险等级预警的数量和占比。</a:t>
              </a: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10319" y="4689"/>
              <a:ext cx="3345" cy="1687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预警趋势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展示当前筛选范围内预警数量随时间变化的情况。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0347" y="8787"/>
              <a:ext cx="7041" cy="1139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重点事项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汇总重大高风险、逾期事项和重点组织，形成行动入口。</a:t>
              </a: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4042" y="6755"/>
              <a:ext cx="3345" cy="1655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风险处置进展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展示当前筛选范围内风险事件所处的处置阶段。</a:t>
              </a: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14042" y="4689"/>
              <a:ext cx="3345" cy="1687"/>
            </a:xfrm>
            <a:prstGeom prst="roundRect">
              <a:avLst/>
            </a:prstGeom>
            <a:noFill/>
            <a:ln w="317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 algn="ctr" fontAlgn="auto">
                <a:lnSpc>
                  <a:spcPts val="2000"/>
                </a:lnSpc>
              </a:pPr>
              <a:r>
                <a:rPr kumimoji="1" lang="zh-CN" altLang="en-US" sz="1600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组织风险排行</a:t>
              </a:r>
            </a:p>
            <a:p>
              <a:pPr indent="0" algn="l" fontAlgn="auto">
                <a:lnSpc>
                  <a:spcPts val="2000"/>
                </a:lnSpc>
              </a:pPr>
              <a:r>
                <a:rPr kumimoji="1" lang="zh-CN" altLang="en-US" sz="1200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按照组织维度统计预警数量。</a:t>
              </a:r>
            </a:p>
          </p:txBody>
        </p:sp>
      </p:grpSp>
      <p:sp>
        <p:nvSpPr>
          <p:cNvPr id="24" name="圆角矩形 23"/>
          <p:cNvSpPr/>
          <p:nvPr/>
        </p:nvSpPr>
        <p:spPr>
          <a:xfrm>
            <a:off x="8335645" y="861695"/>
            <a:ext cx="2471420" cy="3937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分析视图功能总览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628C-9CBD-C93E-80CC-BD87ECE8C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B6036462-9BD9-20CE-8901-AB5A5A09E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监管态势</a:t>
            </a:r>
            <a:endParaRPr lang="zh-CN" altLang="en-US" dirty="0"/>
          </a:p>
        </p:txBody>
      </p:sp>
      <p:grpSp>
        <p:nvGrpSpPr>
          <p:cNvPr id="50" name="Group 9">
            <a:extLst>
              <a:ext uri="{FF2B5EF4-FFF2-40B4-BE49-F238E27FC236}">
                <a16:creationId xmlns:a16="http://schemas.microsoft.com/office/drawing/2014/main" id="{9E109D1F-586E-753D-4D2D-4A0AA36EBA3B}"/>
              </a:ext>
            </a:extLst>
          </p:cNvPr>
          <p:cNvGrpSpPr/>
          <p:nvPr/>
        </p:nvGrpSpPr>
        <p:grpSpPr>
          <a:xfrm>
            <a:off x="549728" y="2118968"/>
            <a:ext cx="10972800" cy="3905250"/>
            <a:chOff x="609600" y="2038350"/>
            <a:chExt cx="10972800" cy="3905250"/>
          </a:xfrm>
        </p:grpSpPr>
        <p:sp>
          <p:nvSpPr>
            <p:cNvPr id="51" name="Rectangle 8">
              <a:extLst>
                <a:ext uri="{FF2B5EF4-FFF2-40B4-BE49-F238E27FC236}">
                  <a16:creationId xmlns:a16="http://schemas.microsoft.com/office/drawing/2014/main" id="{4E23DAA9-9298-B212-819C-FBA56608B84B}"/>
                </a:ext>
              </a:extLst>
            </p:cNvPr>
            <p:cNvSpPr/>
            <p:nvPr/>
          </p:nvSpPr>
          <p:spPr>
            <a:xfrm>
              <a:off x="609600" y="2038350"/>
              <a:ext cx="10972800" cy="3905250"/>
            </a:xfrm>
            <a:prstGeom prst="rect">
              <a:avLst/>
            </a:prstGeom>
            <a:solidFill>
              <a:srgbClr val="EEF5FF"/>
            </a:solidFill>
            <a:ln>
              <a:noFill/>
            </a:ln>
          </p:spPr>
        </p:sp>
      </p:grpSp>
      <p:grpSp>
        <p:nvGrpSpPr>
          <p:cNvPr id="52" name="Group 22">
            <a:extLst>
              <a:ext uri="{FF2B5EF4-FFF2-40B4-BE49-F238E27FC236}">
                <a16:creationId xmlns:a16="http://schemas.microsoft.com/office/drawing/2014/main" id="{55D4B42F-6CD8-F3DC-9D4E-17F0CDC1B743}"/>
              </a:ext>
            </a:extLst>
          </p:cNvPr>
          <p:cNvGrpSpPr/>
          <p:nvPr/>
        </p:nvGrpSpPr>
        <p:grpSpPr>
          <a:xfrm>
            <a:off x="778328" y="2328518"/>
            <a:ext cx="10515600" cy="685800"/>
            <a:chOff x="838200" y="2247900"/>
            <a:chExt cx="10515600" cy="685800"/>
          </a:xfrm>
        </p:grpSpPr>
        <p:sp>
          <p:nvSpPr>
            <p:cNvPr id="53" name="Rectangle 10">
              <a:extLst>
                <a:ext uri="{FF2B5EF4-FFF2-40B4-BE49-F238E27FC236}">
                  <a16:creationId xmlns:a16="http://schemas.microsoft.com/office/drawing/2014/main" id="{9BF29E32-A8BD-6511-6962-5245FC2B037F}"/>
                </a:ext>
              </a:extLst>
            </p:cNvPr>
            <p:cNvSpPr/>
            <p:nvPr/>
          </p:nvSpPr>
          <p:spPr>
            <a:xfrm>
              <a:off x="838200" y="2247900"/>
              <a:ext cx="245745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11">
              <a:extLst>
                <a:ext uri="{FF2B5EF4-FFF2-40B4-BE49-F238E27FC236}">
                  <a16:creationId xmlns:a16="http://schemas.microsoft.com/office/drawing/2014/main" id="{E543B924-4060-424E-BCE6-F74D4CCCFE9E}"/>
                </a:ext>
              </a:extLst>
            </p:cNvPr>
            <p:cNvSpPr txBox="1"/>
            <p:nvPr/>
          </p:nvSpPr>
          <p:spPr>
            <a:xfrm>
              <a:off x="1040892" y="2368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1268E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风险总量</a:t>
              </a:r>
            </a:p>
          </p:txBody>
        </p:sp>
        <p:sp>
          <p:nvSpPr>
            <p:cNvPr id="55" name="TextBox 12">
              <a:extLst>
                <a:ext uri="{FF2B5EF4-FFF2-40B4-BE49-F238E27FC236}">
                  <a16:creationId xmlns:a16="http://schemas.microsoft.com/office/drawing/2014/main" id="{0BC711FC-B7B5-8EE4-B281-3C66BABD9864}"/>
                </a:ext>
              </a:extLst>
            </p:cNvPr>
            <p:cNvSpPr txBox="1"/>
            <p:nvPr/>
          </p:nvSpPr>
          <p:spPr>
            <a:xfrm>
              <a:off x="1040892" y="264509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预警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风险事件同源汇总</a:t>
              </a:r>
            </a:p>
          </p:txBody>
        </p:sp>
        <p:sp>
          <p:nvSpPr>
            <p:cNvPr id="56" name="Rectangle 13">
              <a:extLst>
                <a:ext uri="{FF2B5EF4-FFF2-40B4-BE49-F238E27FC236}">
                  <a16:creationId xmlns:a16="http://schemas.microsoft.com/office/drawing/2014/main" id="{93758F27-CB9E-81DE-9376-D689ADB6CFAF}"/>
                </a:ext>
              </a:extLst>
            </p:cNvPr>
            <p:cNvSpPr/>
            <p:nvPr/>
          </p:nvSpPr>
          <p:spPr>
            <a:xfrm>
              <a:off x="3524250" y="2247900"/>
              <a:ext cx="245745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14">
              <a:extLst>
                <a:ext uri="{FF2B5EF4-FFF2-40B4-BE49-F238E27FC236}">
                  <a16:creationId xmlns:a16="http://schemas.microsoft.com/office/drawing/2014/main" id="{E11AF004-4516-9CCB-3CAA-EBF60FAC7D25}"/>
                </a:ext>
              </a:extLst>
            </p:cNvPr>
            <p:cNvSpPr txBox="1"/>
            <p:nvPr/>
          </p:nvSpPr>
          <p:spPr>
            <a:xfrm>
              <a:off x="3726942" y="2368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1268E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等级结构</a:t>
              </a:r>
            </a:p>
          </p:txBody>
        </p:sp>
        <p:sp>
          <p:nvSpPr>
            <p:cNvPr id="58" name="TextBox 15">
              <a:extLst>
                <a:ext uri="{FF2B5EF4-FFF2-40B4-BE49-F238E27FC236}">
                  <a16:creationId xmlns:a16="http://schemas.microsoft.com/office/drawing/2014/main" id="{7C824223-2D24-2701-0C1B-11D7162B40C4}"/>
                </a:ext>
              </a:extLst>
            </p:cNvPr>
            <p:cNvSpPr txBox="1"/>
            <p:nvPr/>
          </p:nvSpPr>
          <p:spPr>
            <a:xfrm>
              <a:off x="3726942" y="2645092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重大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较大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一般</a:t>
              </a:r>
            </a:p>
          </p:txBody>
        </p:sp>
        <p:sp>
          <p:nvSpPr>
            <p:cNvPr id="59" name="Rectangle 16">
              <a:extLst>
                <a:ext uri="{FF2B5EF4-FFF2-40B4-BE49-F238E27FC236}">
                  <a16:creationId xmlns:a16="http://schemas.microsoft.com/office/drawing/2014/main" id="{18E50AE7-0F56-B8B4-39B5-A5703094C6AF}"/>
                </a:ext>
              </a:extLst>
            </p:cNvPr>
            <p:cNvSpPr/>
            <p:nvPr/>
          </p:nvSpPr>
          <p:spPr>
            <a:xfrm>
              <a:off x="6210300" y="2247900"/>
              <a:ext cx="245745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17">
              <a:extLst>
                <a:ext uri="{FF2B5EF4-FFF2-40B4-BE49-F238E27FC236}">
                  <a16:creationId xmlns:a16="http://schemas.microsoft.com/office/drawing/2014/main" id="{A1B6AD02-2581-32E5-162B-A4DBD19C7EAF}"/>
                </a:ext>
              </a:extLst>
            </p:cNvPr>
            <p:cNvSpPr txBox="1"/>
            <p:nvPr/>
          </p:nvSpPr>
          <p:spPr>
            <a:xfrm>
              <a:off x="6412992" y="2368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1268E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趋势变化</a:t>
              </a:r>
            </a:p>
          </p:txBody>
        </p:sp>
        <p:sp>
          <p:nvSpPr>
            <p:cNvPr id="61" name="TextBox 18">
              <a:extLst>
                <a:ext uri="{FF2B5EF4-FFF2-40B4-BE49-F238E27FC236}">
                  <a16:creationId xmlns:a16="http://schemas.microsoft.com/office/drawing/2014/main" id="{C5069A69-6202-53F2-A123-759321E52417}"/>
                </a:ext>
              </a:extLst>
            </p:cNvPr>
            <p:cNvSpPr txBox="1"/>
            <p:nvPr/>
          </p:nvSpPr>
          <p:spPr>
            <a:xfrm>
              <a:off x="6412992" y="26450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按时间窗口观察变化</a:t>
              </a:r>
            </a:p>
          </p:txBody>
        </p:sp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2D582738-CCA3-42C9-FA9E-32FD2C55A2DC}"/>
                </a:ext>
              </a:extLst>
            </p:cNvPr>
            <p:cNvSpPr/>
            <p:nvPr/>
          </p:nvSpPr>
          <p:spPr>
            <a:xfrm>
              <a:off x="8896350" y="2247900"/>
              <a:ext cx="2457450" cy="685800"/>
            </a:xfrm>
            <a:prstGeom prst="rect">
              <a:avLst/>
            </a:prstGeom>
            <a:solidFill>
              <a:srgbClr val="1268E8"/>
            </a:solidFill>
            <a:ln>
              <a:noFill/>
            </a:ln>
          </p:spPr>
        </p:sp>
        <p:sp>
          <p:nvSpPr>
            <p:cNvPr id="63" name="TextBox 20">
              <a:extLst>
                <a:ext uri="{FF2B5EF4-FFF2-40B4-BE49-F238E27FC236}">
                  <a16:creationId xmlns:a16="http://schemas.microsoft.com/office/drawing/2014/main" id="{E9A560AB-84AD-C219-9E71-23F43F961E38}"/>
                </a:ext>
              </a:extLst>
            </p:cNvPr>
            <p:cNvSpPr txBox="1"/>
            <p:nvPr/>
          </p:nvSpPr>
          <p:spPr>
            <a:xfrm>
              <a:off x="9099042" y="23688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组织 </a:t>
              </a:r>
              <a:r>
                <a:rPr kumimoji="0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场景分布</a:t>
              </a:r>
            </a:p>
          </p:txBody>
        </p:sp>
        <p:sp>
          <p:nvSpPr>
            <p:cNvPr id="64" name="TextBox 21">
              <a:extLst>
                <a:ext uri="{FF2B5EF4-FFF2-40B4-BE49-F238E27FC236}">
                  <a16:creationId xmlns:a16="http://schemas.microsoft.com/office/drawing/2014/main" id="{3E52FD03-021D-3401-2861-75C19B4E19B8}"/>
                </a:ext>
              </a:extLst>
            </p:cNvPr>
            <p:cNvSpPr txBox="1"/>
            <p:nvPr/>
          </p:nvSpPr>
          <p:spPr>
            <a:xfrm>
              <a:off x="9099042" y="26450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识别重点事项与聚集区</a:t>
              </a:r>
            </a:p>
          </p:txBody>
        </p:sp>
      </p:grpSp>
      <p:grpSp>
        <p:nvGrpSpPr>
          <p:cNvPr id="65" name="Group 31">
            <a:extLst>
              <a:ext uri="{FF2B5EF4-FFF2-40B4-BE49-F238E27FC236}">
                <a16:creationId xmlns:a16="http://schemas.microsoft.com/office/drawing/2014/main" id="{160C81BB-4553-5C4D-70DF-FEC2CBA43DCC}"/>
              </a:ext>
            </a:extLst>
          </p:cNvPr>
          <p:cNvGrpSpPr/>
          <p:nvPr/>
        </p:nvGrpSpPr>
        <p:grpSpPr>
          <a:xfrm>
            <a:off x="778328" y="3223868"/>
            <a:ext cx="6286500" cy="1466850"/>
            <a:chOff x="838200" y="3143250"/>
            <a:chExt cx="6286500" cy="1466850"/>
          </a:xfrm>
        </p:grpSpPr>
        <p:sp>
          <p:nvSpPr>
            <p:cNvPr id="66" name="Rectangle 23">
              <a:extLst>
                <a:ext uri="{FF2B5EF4-FFF2-40B4-BE49-F238E27FC236}">
                  <a16:creationId xmlns:a16="http://schemas.microsoft.com/office/drawing/2014/main" id="{3D543015-D21E-E638-0D8C-2695076D503B}"/>
                </a:ext>
              </a:extLst>
            </p:cNvPr>
            <p:cNvSpPr/>
            <p:nvPr/>
          </p:nvSpPr>
          <p:spPr>
            <a:xfrm>
              <a:off x="838200" y="3143250"/>
              <a:ext cx="6286500" cy="1466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24">
              <a:extLst>
                <a:ext uri="{FF2B5EF4-FFF2-40B4-BE49-F238E27FC236}">
                  <a16:creationId xmlns:a16="http://schemas.microsoft.com/office/drawing/2014/main" id="{98B5CD8F-8DDE-AD16-6E63-677E0931A77F}"/>
                </a:ext>
              </a:extLst>
            </p:cNvPr>
            <p:cNvSpPr txBox="1"/>
            <p:nvPr/>
          </p:nvSpPr>
          <p:spPr>
            <a:xfrm>
              <a:off x="1059942" y="32832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同源趋势｜保留时间、组织、领域筛选上下文</a:t>
              </a:r>
            </a:p>
          </p:txBody>
        </p:sp>
        <p:sp>
          <p:nvSpPr>
            <p:cNvPr id="68" name="Line 25">
              <a:extLst>
                <a:ext uri="{FF2B5EF4-FFF2-40B4-BE49-F238E27FC236}">
                  <a16:creationId xmlns:a16="http://schemas.microsoft.com/office/drawing/2014/main" id="{198F75FE-7A25-1F93-2AB8-5D93C5A7CA16}"/>
                </a:ext>
              </a:extLst>
            </p:cNvPr>
            <p:cNvSpPr/>
            <p:nvPr/>
          </p:nvSpPr>
          <p:spPr>
            <a:xfrm>
              <a:off x="1066800" y="4324350"/>
              <a:ext cx="5772150" cy="9525"/>
            </a:xfrm>
            <a:custGeom>
              <a:avLst/>
              <a:gdLst/>
              <a:ahLst/>
              <a:cxnLst/>
              <a:rect l="l" t="t" r="r" b="b"/>
              <a:pathLst>
                <a:path w="5772150" h="9525">
                  <a:moveTo>
                    <a:pt x="0" y="0"/>
                  </a:moveTo>
                  <a:lnTo>
                    <a:pt x="5772150" y="0"/>
                  </a:lnTo>
                </a:path>
              </a:pathLst>
            </a:custGeom>
            <a:noFill/>
            <a:ln w="19050">
              <a:solidFill>
                <a:srgbClr val="CFDEFA"/>
              </a:solidFill>
            </a:ln>
          </p:spPr>
        </p:sp>
        <p:sp>
          <p:nvSpPr>
            <p:cNvPr id="69" name="Line 26">
              <a:extLst>
                <a:ext uri="{FF2B5EF4-FFF2-40B4-BE49-F238E27FC236}">
                  <a16:creationId xmlns:a16="http://schemas.microsoft.com/office/drawing/2014/main" id="{253D4A1F-E7D3-4EA4-D1EB-AE9F991CFDC9}"/>
                </a:ext>
              </a:extLst>
            </p:cNvPr>
            <p:cNvSpPr/>
            <p:nvPr/>
          </p:nvSpPr>
          <p:spPr>
            <a:xfrm>
              <a:off x="1066800" y="371475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19050">
              <a:solidFill>
                <a:srgbClr val="CFDEFA"/>
              </a:solidFill>
            </a:ln>
          </p:spPr>
        </p:sp>
        <p:sp>
          <p:nvSpPr>
            <p:cNvPr id="70" name="Polyline 27">
              <a:extLst>
                <a:ext uri="{FF2B5EF4-FFF2-40B4-BE49-F238E27FC236}">
                  <a16:creationId xmlns:a16="http://schemas.microsoft.com/office/drawing/2014/main" id="{22B54A79-2523-8760-B341-F9A84421B9E2}"/>
                </a:ext>
              </a:extLst>
            </p:cNvPr>
            <p:cNvSpPr/>
            <p:nvPr/>
          </p:nvSpPr>
          <p:spPr>
            <a:xfrm>
              <a:off x="1181100" y="3314700"/>
              <a:ext cx="5486400" cy="857250"/>
            </a:xfrm>
            <a:custGeom>
              <a:avLst/>
              <a:gdLst/>
              <a:ahLst/>
              <a:cxnLst/>
              <a:rect l="l" t="t" r="r" b="b"/>
              <a:pathLst>
                <a:path w="5486400" h="857250">
                  <a:moveTo>
                    <a:pt x="0" y="857250"/>
                  </a:moveTo>
                  <a:lnTo>
                    <a:pt x="781050" y="685800"/>
                  </a:lnTo>
                  <a:lnTo>
                    <a:pt x="1562100" y="781050"/>
                  </a:lnTo>
                  <a:lnTo>
                    <a:pt x="2343150" y="438150"/>
                  </a:lnTo>
                  <a:lnTo>
                    <a:pt x="3124200" y="552450"/>
                  </a:lnTo>
                  <a:lnTo>
                    <a:pt x="3905250" y="228600"/>
                  </a:lnTo>
                  <a:lnTo>
                    <a:pt x="4686300" y="361950"/>
                  </a:lnTo>
                  <a:lnTo>
                    <a:pt x="5486400" y="0"/>
                  </a:lnTo>
                </a:path>
              </a:pathLst>
            </a:custGeom>
            <a:noFill/>
            <a:ln w="47625">
              <a:solidFill>
                <a:srgbClr val="1268E8"/>
              </a:solidFill>
            </a:ln>
          </p:spPr>
        </p:sp>
        <p:sp>
          <p:nvSpPr>
            <p:cNvPr id="71" name="Ellipse 28">
              <a:extLst>
                <a:ext uri="{FF2B5EF4-FFF2-40B4-BE49-F238E27FC236}">
                  <a16:creationId xmlns:a16="http://schemas.microsoft.com/office/drawing/2014/main" id="{88C3E109-DF4B-670D-B491-4C78924CC314}"/>
                </a:ext>
              </a:extLst>
            </p:cNvPr>
            <p:cNvSpPr/>
            <p:nvPr/>
          </p:nvSpPr>
          <p:spPr>
            <a:xfrm>
              <a:off x="1123950" y="4114800"/>
              <a:ext cx="114300" cy="114300"/>
            </a:xfrm>
            <a:prstGeom prst="ellipse">
              <a:avLst/>
            </a:prstGeom>
            <a:solidFill>
              <a:srgbClr val="1268E8"/>
            </a:solidFill>
            <a:ln>
              <a:noFill/>
            </a:ln>
          </p:spPr>
        </p:sp>
        <p:sp>
          <p:nvSpPr>
            <p:cNvPr id="72" name="Ellipse 29">
              <a:extLst>
                <a:ext uri="{FF2B5EF4-FFF2-40B4-BE49-F238E27FC236}">
                  <a16:creationId xmlns:a16="http://schemas.microsoft.com/office/drawing/2014/main" id="{C7BF1258-D662-E7D9-6849-3A65ECDA7ADC}"/>
                </a:ext>
              </a:extLst>
            </p:cNvPr>
            <p:cNvSpPr/>
            <p:nvPr/>
          </p:nvSpPr>
          <p:spPr>
            <a:xfrm>
              <a:off x="3467100" y="3695700"/>
              <a:ext cx="114300" cy="114300"/>
            </a:xfrm>
            <a:prstGeom prst="ellipse">
              <a:avLst/>
            </a:prstGeom>
            <a:solidFill>
              <a:srgbClr val="1268E8"/>
            </a:solidFill>
            <a:ln>
              <a:noFill/>
            </a:ln>
          </p:spPr>
        </p:sp>
        <p:sp>
          <p:nvSpPr>
            <p:cNvPr id="73" name="Ellipse 30">
              <a:extLst>
                <a:ext uri="{FF2B5EF4-FFF2-40B4-BE49-F238E27FC236}">
                  <a16:creationId xmlns:a16="http://schemas.microsoft.com/office/drawing/2014/main" id="{B31B345C-0944-DBBB-66EB-3FC76E331373}"/>
                </a:ext>
              </a:extLst>
            </p:cNvPr>
            <p:cNvSpPr/>
            <p:nvPr/>
          </p:nvSpPr>
          <p:spPr>
            <a:xfrm>
              <a:off x="6610350" y="3257550"/>
              <a:ext cx="114300" cy="114300"/>
            </a:xfrm>
            <a:prstGeom prst="ellipse">
              <a:avLst/>
            </a:prstGeom>
            <a:solidFill>
              <a:srgbClr val="35B878"/>
            </a:solidFill>
            <a:ln>
              <a:noFill/>
            </a:ln>
          </p:spPr>
        </p:sp>
      </p:grpSp>
      <p:grpSp>
        <p:nvGrpSpPr>
          <p:cNvPr id="74" name="Group 43">
            <a:extLst>
              <a:ext uri="{FF2B5EF4-FFF2-40B4-BE49-F238E27FC236}">
                <a16:creationId xmlns:a16="http://schemas.microsoft.com/office/drawing/2014/main" id="{9E222D0D-C1B5-DC12-C29D-DDB04CDB2E3F}"/>
              </a:ext>
            </a:extLst>
          </p:cNvPr>
          <p:cNvGrpSpPr/>
          <p:nvPr/>
        </p:nvGrpSpPr>
        <p:grpSpPr>
          <a:xfrm>
            <a:off x="7293428" y="3223868"/>
            <a:ext cx="4000500" cy="1466850"/>
            <a:chOff x="7353300" y="3143250"/>
            <a:chExt cx="4000500" cy="1466850"/>
          </a:xfrm>
        </p:grpSpPr>
        <p:sp>
          <p:nvSpPr>
            <p:cNvPr id="75" name="Rectangle 32">
              <a:extLst>
                <a:ext uri="{FF2B5EF4-FFF2-40B4-BE49-F238E27FC236}">
                  <a16:creationId xmlns:a16="http://schemas.microsoft.com/office/drawing/2014/main" id="{807129F3-6180-8394-727D-D25F0C86707D}"/>
                </a:ext>
              </a:extLst>
            </p:cNvPr>
            <p:cNvSpPr/>
            <p:nvPr/>
          </p:nvSpPr>
          <p:spPr>
            <a:xfrm>
              <a:off x="7353300" y="3143250"/>
              <a:ext cx="4000500" cy="1466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33">
              <a:extLst>
                <a:ext uri="{FF2B5EF4-FFF2-40B4-BE49-F238E27FC236}">
                  <a16:creationId xmlns:a16="http://schemas.microsoft.com/office/drawing/2014/main" id="{0A7C8250-CE68-9C5E-DFFF-ABCA77A11BBD}"/>
                </a:ext>
              </a:extLst>
            </p:cNvPr>
            <p:cNvSpPr txBox="1"/>
            <p:nvPr/>
          </p:nvSpPr>
          <p:spPr>
            <a:xfrm>
              <a:off x="7575042" y="3283268"/>
              <a:ext cx="2904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组织 </a:t>
              </a:r>
              <a:r>
                <a:rPr kumimoji="0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场景分布｜权限裁剪后统计</a:t>
              </a:r>
            </a:p>
          </p:txBody>
        </p:sp>
        <p:sp>
          <p:nvSpPr>
            <p:cNvPr id="77" name="TextBox 34">
              <a:extLst>
                <a:ext uri="{FF2B5EF4-FFF2-40B4-BE49-F238E27FC236}">
                  <a16:creationId xmlns:a16="http://schemas.microsoft.com/office/drawing/2014/main" id="{FC4F3552-6A39-5079-317A-9E01CE26D9FE}"/>
                </a:ext>
              </a:extLst>
            </p:cNvPr>
            <p:cNvSpPr txBox="1"/>
            <p:nvPr/>
          </p:nvSpPr>
          <p:spPr>
            <a:xfrm>
              <a:off x="7575804" y="3661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组织</a:t>
              </a:r>
            </a:p>
          </p:txBody>
        </p:sp>
        <p:sp>
          <p:nvSpPr>
            <p:cNvPr id="78" name="Rectangle 35">
              <a:extLst>
                <a:ext uri="{FF2B5EF4-FFF2-40B4-BE49-F238E27FC236}">
                  <a16:creationId xmlns:a16="http://schemas.microsoft.com/office/drawing/2014/main" id="{4B8C0BB8-3654-6C06-A627-8F1134E92726}"/>
                </a:ext>
              </a:extLst>
            </p:cNvPr>
            <p:cNvSpPr/>
            <p:nvPr/>
          </p:nvSpPr>
          <p:spPr>
            <a:xfrm>
              <a:off x="8115300" y="3657600"/>
              <a:ext cx="2724150" cy="171450"/>
            </a:xfrm>
            <a:prstGeom prst="rect">
              <a:avLst/>
            </a:prstGeom>
            <a:solidFill>
              <a:srgbClr val="CFDEFA"/>
            </a:solidFill>
            <a:ln>
              <a:noFill/>
            </a:ln>
          </p:spPr>
        </p:sp>
        <p:sp>
          <p:nvSpPr>
            <p:cNvPr id="79" name="Rectangle 36">
              <a:extLst>
                <a:ext uri="{FF2B5EF4-FFF2-40B4-BE49-F238E27FC236}">
                  <a16:creationId xmlns:a16="http://schemas.microsoft.com/office/drawing/2014/main" id="{0A956F52-2C82-7517-647F-D4867F8F2BC2}"/>
                </a:ext>
              </a:extLst>
            </p:cNvPr>
            <p:cNvSpPr/>
            <p:nvPr/>
          </p:nvSpPr>
          <p:spPr>
            <a:xfrm>
              <a:off x="8115300" y="3657600"/>
              <a:ext cx="1866900" cy="171450"/>
            </a:xfrm>
            <a:prstGeom prst="rect">
              <a:avLst/>
            </a:prstGeom>
            <a:solidFill>
              <a:srgbClr val="1268E8"/>
            </a:solidFill>
            <a:ln>
              <a:noFill/>
            </a:ln>
          </p:spPr>
        </p:sp>
        <p:sp>
          <p:nvSpPr>
            <p:cNvPr id="80" name="TextBox 37">
              <a:extLst>
                <a:ext uri="{FF2B5EF4-FFF2-40B4-BE49-F238E27FC236}">
                  <a16:creationId xmlns:a16="http://schemas.microsoft.com/office/drawing/2014/main" id="{EE94C7BE-BB75-E5BF-4F9E-5F2610CB8529}"/>
                </a:ext>
              </a:extLst>
            </p:cNvPr>
            <p:cNvSpPr txBox="1"/>
            <p:nvPr/>
          </p:nvSpPr>
          <p:spPr>
            <a:xfrm>
              <a:off x="7575804" y="3966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领域</a:t>
              </a:r>
            </a:p>
          </p:txBody>
        </p:sp>
        <p:sp>
          <p:nvSpPr>
            <p:cNvPr id="81" name="Rectangle 38">
              <a:extLst>
                <a:ext uri="{FF2B5EF4-FFF2-40B4-BE49-F238E27FC236}">
                  <a16:creationId xmlns:a16="http://schemas.microsoft.com/office/drawing/2014/main" id="{47D64FBA-09A2-4797-ABCD-07177D1AF8D0}"/>
                </a:ext>
              </a:extLst>
            </p:cNvPr>
            <p:cNvSpPr/>
            <p:nvPr/>
          </p:nvSpPr>
          <p:spPr>
            <a:xfrm>
              <a:off x="8115300" y="3962400"/>
              <a:ext cx="2724150" cy="171450"/>
            </a:xfrm>
            <a:prstGeom prst="rect">
              <a:avLst/>
            </a:prstGeom>
            <a:solidFill>
              <a:srgbClr val="CFDEFA"/>
            </a:solidFill>
            <a:ln>
              <a:noFill/>
            </a:ln>
          </p:spPr>
        </p:sp>
        <p:sp>
          <p:nvSpPr>
            <p:cNvPr id="82" name="Rectangle 39">
              <a:extLst>
                <a:ext uri="{FF2B5EF4-FFF2-40B4-BE49-F238E27FC236}">
                  <a16:creationId xmlns:a16="http://schemas.microsoft.com/office/drawing/2014/main" id="{80F8B7A9-F3E0-6C50-6FE9-92831AD08CAD}"/>
                </a:ext>
              </a:extLst>
            </p:cNvPr>
            <p:cNvSpPr/>
            <p:nvPr/>
          </p:nvSpPr>
          <p:spPr>
            <a:xfrm>
              <a:off x="8115300" y="3962400"/>
              <a:ext cx="1466850" cy="171450"/>
            </a:xfrm>
            <a:prstGeom prst="rect">
              <a:avLst/>
            </a:prstGeom>
            <a:solidFill>
              <a:srgbClr val="2A9EDB"/>
            </a:solidFill>
            <a:ln>
              <a:noFill/>
            </a:ln>
          </p:spPr>
        </p:sp>
        <p:sp>
          <p:nvSpPr>
            <p:cNvPr id="83" name="TextBox 40">
              <a:extLst>
                <a:ext uri="{FF2B5EF4-FFF2-40B4-BE49-F238E27FC236}">
                  <a16:creationId xmlns:a16="http://schemas.microsoft.com/office/drawing/2014/main" id="{1F5BBC27-8AE5-9141-DB34-E24FF5534510}"/>
                </a:ext>
              </a:extLst>
            </p:cNvPr>
            <p:cNvSpPr txBox="1"/>
            <p:nvPr/>
          </p:nvSpPr>
          <p:spPr>
            <a:xfrm>
              <a:off x="7575804" y="4271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44054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场景</a:t>
              </a:r>
            </a:p>
          </p:txBody>
        </p:sp>
        <p:sp>
          <p:nvSpPr>
            <p:cNvPr id="84" name="Rectangle 41">
              <a:extLst>
                <a:ext uri="{FF2B5EF4-FFF2-40B4-BE49-F238E27FC236}">
                  <a16:creationId xmlns:a16="http://schemas.microsoft.com/office/drawing/2014/main" id="{71A5C1BF-1B27-E510-1AE0-0E67A240A95E}"/>
                </a:ext>
              </a:extLst>
            </p:cNvPr>
            <p:cNvSpPr/>
            <p:nvPr/>
          </p:nvSpPr>
          <p:spPr>
            <a:xfrm>
              <a:off x="8115300" y="4267200"/>
              <a:ext cx="2724150" cy="171450"/>
            </a:xfrm>
            <a:prstGeom prst="rect">
              <a:avLst/>
            </a:prstGeom>
            <a:solidFill>
              <a:srgbClr val="CFDEFA"/>
            </a:solidFill>
            <a:ln>
              <a:noFill/>
            </a:ln>
          </p:spPr>
        </p:sp>
        <p:sp>
          <p:nvSpPr>
            <p:cNvPr id="85" name="Rectangle 42">
              <a:extLst>
                <a:ext uri="{FF2B5EF4-FFF2-40B4-BE49-F238E27FC236}">
                  <a16:creationId xmlns:a16="http://schemas.microsoft.com/office/drawing/2014/main" id="{A63A46D1-1D78-DB26-951B-34A76CEFCB92}"/>
                </a:ext>
              </a:extLst>
            </p:cNvPr>
            <p:cNvSpPr/>
            <p:nvPr/>
          </p:nvSpPr>
          <p:spPr>
            <a:xfrm>
              <a:off x="8115300" y="4267200"/>
              <a:ext cx="2152650" cy="171450"/>
            </a:xfrm>
            <a:prstGeom prst="rect">
              <a:avLst/>
            </a:prstGeom>
            <a:solidFill>
              <a:srgbClr val="35B878"/>
            </a:solidFill>
            <a:ln>
              <a:noFill/>
            </a:ln>
          </p:spPr>
        </p:sp>
      </p:grpSp>
      <p:grpSp>
        <p:nvGrpSpPr>
          <p:cNvPr id="86" name="Group 54">
            <a:extLst>
              <a:ext uri="{FF2B5EF4-FFF2-40B4-BE49-F238E27FC236}">
                <a16:creationId xmlns:a16="http://schemas.microsoft.com/office/drawing/2014/main" id="{968946B1-554D-2048-EE9D-63D5CFF55DA9}"/>
              </a:ext>
            </a:extLst>
          </p:cNvPr>
          <p:cNvGrpSpPr/>
          <p:nvPr/>
        </p:nvGrpSpPr>
        <p:grpSpPr>
          <a:xfrm>
            <a:off x="778328" y="4900268"/>
            <a:ext cx="10515600" cy="895350"/>
            <a:chOff x="838200" y="4819650"/>
            <a:chExt cx="10515600" cy="895350"/>
          </a:xfrm>
        </p:grpSpPr>
        <p:sp>
          <p:nvSpPr>
            <p:cNvPr id="87" name="Line 44">
              <a:extLst>
                <a:ext uri="{FF2B5EF4-FFF2-40B4-BE49-F238E27FC236}">
                  <a16:creationId xmlns:a16="http://schemas.microsoft.com/office/drawing/2014/main" id="{D366ADA2-1579-C9BA-4B45-14B169477580}"/>
                </a:ext>
              </a:extLst>
            </p:cNvPr>
            <p:cNvSpPr/>
            <p:nvPr/>
          </p:nvSpPr>
          <p:spPr>
            <a:xfrm>
              <a:off x="2190750" y="48196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38100">
              <a:solidFill>
                <a:srgbClr val="1268E8"/>
              </a:solidFill>
            </a:ln>
          </p:spPr>
        </p:sp>
        <p:sp>
          <p:nvSpPr>
            <p:cNvPr id="88" name="Polygon 45">
              <a:extLst>
                <a:ext uri="{FF2B5EF4-FFF2-40B4-BE49-F238E27FC236}">
                  <a16:creationId xmlns:a16="http://schemas.microsoft.com/office/drawing/2014/main" id="{F4C49143-49A0-49C4-4F6B-751C2590F3E4}"/>
                </a:ext>
              </a:extLst>
            </p:cNvPr>
            <p:cNvSpPr/>
            <p:nvPr/>
          </p:nvSpPr>
          <p:spPr>
            <a:xfrm>
              <a:off x="2076450" y="5029200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114300" y="209550"/>
                  </a:moveTo>
                  <a:lnTo>
                    <a:pt x="0" y="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268E8"/>
            </a:solidFill>
            <a:ln>
              <a:noFill/>
            </a:ln>
          </p:spPr>
        </p:sp>
        <p:sp>
          <p:nvSpPr>
            <p:cNvPr id="89" name="Line 46">
              <a:extLst>
                <a:ext uri="{FF2B5EF4-FFF2-40B4-BE49-F238E27FC236}">
                  <a16:creationId xmlns:a16="http://schemas.microsoft.com/office/drawing/2014/main" id="{FC359465-D34E-D8D7-7F45-265DC0444D53}"/>
                </a:ext>
              </a:extLst>
            </p:cNvPr>
            <p:cNvSpPr/>
            <p:nvPr/>
          </p:nvSpPr>
          <p:spPr>
            <a:xfrm>
              <a:off x="9334500" y="48196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38100">
              <a:solidFill>
                <a:srgbClr val="1268E8"/>
              </a:solidFill>
            </a:ln>
          </p:spPr>
        </p:sp>
        <p:sp>
          <p:nvSpPr>
            <p:cNvPr id="90" name="Polygon 47">
              <a:extLst>
                <a:ext uri="{FF2B5EF4-FFF2-40B4-BE49-F238E27FC236}">
                  <a16:creationId xmlns:a16="http://schemas.microsoft.com/office/drawing/2014/main" id="{EFF0129F-4D52-03D8-5282-2C052175C3B7}"/>
                </a:ext>
              </a:extLst>
            </p:cNvPr>
            <p:cNvSpPr/>
            <p:nvPr/>
          </p:nvSpPr>
          <p:spPr>
            <a:xfrm>
              <a:off x="9220200" y="5029200"/>
              <a:ext cx="228600" cy="209550"/>
            </a:xfrm>
            <a:custGeom>
              <a:avLst/>
              <a:gdLst/>
              <a:ahLst/>
              <a:cxnLst/>
              <a:rect l="l" t="t" r="r" b="b"/>
              <a:pathLst>
                <a:path w="228600" h="209550">
                  <a:moveTo>
                    <a:pt x="114300" y="209550"/>
                  </a:moveTo>
                  <a:lnTo>
                    <a:pt x="0" y="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1268E8"/>
            </a:solidFill>
            <a:ln>
              <a:noFill/>
            </a:ln>
          </p:spPr>
        </p:sp>
        <p:sp>
          <p:nvSpPr>
            <p:cNvPr id="91" name="Rectangle 48">
              <a:extLst>
                <a:ext uri="{FF2B5EF4-FFF2-40B4-BE49-F238E27FC236}">
                  <a16:creationId xmlns:a16="http://schemas.microsoft.com/office/drawing/2014/main" id="{E71B9969-0429-CD8E-6AEB-FB35AD632E2B}"/>
                </a:ext>
              </a:extLst>
            </p:cNvPr>
            <p:cNvSpPr/>
            <p:nvPr/>
          </p:nvSpPr>
          <p:spPr>
            <a:xfrm>
              <a:off x="838200" y="5238750"/>
              <a:ext cx="10515600" cy="476250"/>
            </a:xfrm>
            <a:prstGeom prst="rect">
              <a:avLst/>
            </a:prstGeom>
            <a:solidFill>
              <a:srgbClr val="1268E8"/>
            </a:solidFill>
            <a:ln>
              <a:noFill/>
            </a:ln>
          </p:spPr>
        </p:sp>
        <p:sp>
          <p:nvSpPr>
            <p:cNvPr id="92" name="TextBox 49">
              <a:extLst>
                <a:ext uri="{FF2B5EF4-FFF2-40B4-BE49-F238E27FC236}">
                  <a16:creationId xmlns:a16="http://schemas.microsoft.com/office/drawing/2014/main" id="{D5B8A140-F031-FAF2-03AC-E1AE62071486}"/>
                </a:ext>
              </a:extLst>
            </p:cNvPr>
            <p:cNvSpPr txBox="1"/>
            <p:nvPr/>
          </p:nvSpPr>
          <p:spPr>
            <a:xfrm>
              <a:off x="1059942" y="53978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同口径明细</a:t>
              </a:r>
            </a:p>
          </p:txBody>
        </p:sp>
        <p:sp>
          <p:nvSpPr>
            <p:cNvPr id="93" name="TextBox 50">
              <a:extLst>
                <a:ext uri="{FF2B5EF4-FFF2-40B4-BE49-F238E27FC236}">
                  <a16:creationId xmlns:a16="http://schemas.microsoft.com/office/drawing/2014/main" id="{09E7224D-E977-2463-F0CF-0586C3F24C74}"/>
                </a:ext>
              </a:extLst>
            </p:cNvPr>
            <p:cNvSpPr txBox="1"/>
            <p:nvPr/>
          </p:nvSpPr>
          <p:spPr>
            <a:xfrm>
              <a:off x="2298192" y="53978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指标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图表下钻</a:t>
              </a:r>
            </a:p>
          </p:txBody>
        </p:sp>
        <p:sp>
          <p:nvSpPr>
            <p:cNvPr id="94" name="TextBox 51">
              <a:extLst>
                <a:ext uri="{FF2B5EF4-FFF2-40B4-BE49-F238E27FC236}">
                  <a16:creationId xmlns:a16="http://schemas.microsoft.com/office/drawing/2014/main" id="{1170D6E7-E5EC-E4C7-5A61-AB01963A1324}"/>
                </a:ext>
              </a:extLst>
            </p:cNvPr>
            <p:cNvSpPr txBox="1"/>
            <p:nvPr/>
          </p:nvSpPr>
          <p:spPr>
            <a:xfrm>
              <a:off x="4507992" y="53978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保留组织、领域、时间筛选</a:t>
              </a:r>
            </a:p>
          </p:txBody>
        </p:sp>
        <p:sp>
          <p:nvSpPr>
            <p:cNvPr id="95" name="TextBox 52">
              <a:extLst>
                <a:ext uri="{FF2B5EF4-FFF2-40B4-BE49-F238E27FC236}">
                  <a16:creationId xmlns:a16="http://schemas.microsoft.com/office/drawing/2014/main" id="{AAA056D9-E2D5-C3A5-BBF9-DA7DF6CB829C}"/>
                </a:ext>
              </a:extLst>
            </p:cNvPr>
            <p:cNvSpPr txBox="1"/>
            <p:nvPr/>
          </p:nvSpPr>
          <p:spPr>
            <a:xfrm>
              <a:off x="7898892" y="53978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越权对象不进入统计</a:t>
              </a:r>
            </a:p>
          </p:txBody>
        </p:sp>
        <p:sp>
          <p:nvSpPr>
            <p:cNvPr id="96" name="TextBox 53">
              <a:extLst>
                <a:ext uri="{FF2B5EF4-FFF2-40B4-BE49-F238E27FC236}">
                  <a16:creationId xmlns:a16="http://schemas.microsoft.com/office/drawing/2014/main" id="{FFE7354D-E46D-27CE-CAD4-16F5D6FEB883}"/>
                </a:ext>
              </a:extLst>
            </p:cNvPr>
            <p:cNvSpPr txBox="1"/>
            <p:nvPr/>
          </p:nvSpPr>
          <p:spPr>
            <a:xfrm>
              <a:off x="9534504" y="5397818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5B87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图表 </a:t>
              </a:r>
              <a:r>
                <a:rPr kumimoji="0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5B87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= </a:t>
              </a: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5B87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筛选 </a:t>
              </a:r>
              <a:r>
                <a:rPr kumimoji="0" lang="en-US" altLang="zh-CN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5B87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= </a:t>
              </a: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35B87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明细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46E58EB-9D42-9CE6-2DDB-B853CD200340}"/>
              </a:ext>
            </a:extLst>
          </p:cNvPr>
          <p:cNvSpPr txBox="1"/>
          <p:nvPr/>
        </p:nvSpPr>
        <p:spPr>
          <a:xfrm>
            <a:off x="664028" y="1005475"/>
            <a:ext cx="942975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450" b="1" i="0" u="none" strike="noStrike" cap="none" spc="0" normalizeH="0" baseline="0">
                <a:ln>
                  <a:noFill/>
                </a:ln>
                <a:solidFill>
                  <a:srgbClr val="344054"/>
                </a:solidFill>
                <a:effectLst/>
                <a:uLnTx/>
                <a:uFillTx/>
                <a:latin typeface="Arial"/>
                <a:ea typeface="Microsoft YaHei" panose="020B0503020204020204" pitchFamily="34" charset="-122"/>
                <a:cs typeface="Arial"/>
              </a:defRPr>
            </a:lvl1pPr>
          </a:lstStyle>
          <a:p>
            <a:r>
              <a:rPr lang="zh-CN" altLang="zh-CN" dirty="0"/>
              <a:t>监管态势：同源指标、趋势、分布与下钻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448375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971112" y="6135865"/>
            <a:ext cx="9286412" cy="455930"/>
          </a:xfrm>
        </p:spPr>
        <p:txBody>
          <a:bodyPr/>
          <a:lstStyle/>
          <a:p>
            <a:r>
              <a:rPr dirty="0">
                <a:sym typeface="+mn-ea"/>
              </a:rPr>
              <a:t>监管模型五步法把问题转化为可执行预警</a:t>
            </a:r>
            <a:endParaRPr lang="zh-CN" altLang="en-US" dirty="0"/>
          </a:p>
        </p:txBody>
      </p: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401955" y="928370"/>
            <a:ext cx="11588507" cy="5055413"/>
            <a:chOff x="801" y="1533"/>
            <a:chExt cx="17871" cy="7795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6850" y="1533"/>
              <a:ext cx="5424" cy="4387"/>
              <a:chOff x="6532" y="1533"/>
              <a:chExt cx="5424" cy="4387"/>
            </a:xfrm>
          </p:grpSpPr>
          <p:sp>
            <p:nvSpPr>
              <p:cNvPr id="4" name="任意多边形: 形状 4"/>
              <p:cNvSpPr/>
              <p:nvPr>
                <p:custDataLst>
                  <p:tags r:id="rId25"/>
                </p:custDataLst>
              </p:nvPr>
            </p:nvSpPr>
            <p:spPr>
              <a:xfrm rot="10800000">
                <a:off x="7293" y="2276"/>
                <a:ext cx="3904" cy="1601"/>
              </a:xfrm>
              <a:custGeom>
                <a:avLst/>
                <a:gdLst>
                  <a:gd name="connsiteX0" fmla="*/ 2666748 w 2666748"/>
                  <a:gd name="connsiteY0" fmla="*/ 4159580 h 4159580"/>
                  <a:gd name="connsiteX1" fmla="*/ 1 w 2666748"/>
                  <a:gd name="connsiteY1" fmla="*/ 4159580 h 4159580"/>
                  <a:gd name="connsiteX2" fmla="*/ 1 w 2666748"/>
                  <a:gd name="connsiteY2" fmla="*/ 253727 h 4159580"/>
                  <a:gd name="connsiteX3" fmla="*/ 0 w 2666748"/>
                  <a:gd name="connsiteY3" fmla="*/ 253723 h 4159580"/>
                  <a:gd name="connsiteX4" fmla="*/ 1 w 2666748"/>
                  <a:gd name="connsiteY4" fmla="*/ 253720 h 4159580"/>
                  <a:gd name="connsiteX5" fmla="*/ 1 w 2666748"/>
                  <a:gd name="connsiteY5" fmla="*/ 224005 h 4159580"/>
                  <a:gd name="connsiteX6" fmla="*/ 9913 w 2666748"/>
                  <a:gd name="connsiteY6" fmla="*/ 224005 h 4159580"/>
                  <a:gd name="connsiteX7" fmla="*/ 27089 w 2666748"/>
                  <a:gd name="connsiteY7" fmla="*/ 202589 h 4159580"/>
                  <a:gd name="connsiteX8" fmla="*/ 1333374 w 2666748"/>
                  <a:gd name="connsiteY8" fmla="*/ 0 h 4159580"/>
                  <a:gd name="connsiteX9" fmla="*/ 2639659 w 2666748"/>
                  <a:gd name="connsiteY9" fmla="*/ 202589 h 4159580"/>
                  <a:gd name="connsiteX10" fmla="*/ 2656835 w 2666748"/>
                  <a:gd name="connsiteY10" fmla="*/ 224005 h 4159580"/>
                  <a:gd name="connsiteX11" fmla="*/ 2666748 w 2666748"/>
                  <a:gd name="connsiteY11" fmla="*/ 224005 h 4159580"/>
                  <a:gd name="connsiteX12" fmla="*/ 2666748 w 2666748"/>
                  <a:gd name="connsiteY12" fmla="*/ 253723 h 4159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66748" h="4159580">
                    <a:moveTo>
                      <a:pt x="2666748" y="4159580"/>
                    </a:moveTo>
                    <a:lnTo>
                      <a:pt x="1" y="4159580"/>
                    </a:lnTo>
                    <a:lnTo>
                      <a:pt x="1" y="253727"/>
                    </a:lnTo>
                    <a:lnTo>
                      <a:pt x="0" y="253723"/>
                    </a:lnTo>
                    <a:lnTo>
                      <a:pt x="1" y="253720"/>
                    </a:lnTo>
                    <a:lnTo>
                      <a:pt x="1" y="224005"/>
                    </a:lnTo>
                    <a:lnTo>
                      <a:pt x="9913" y="224005"/>
                    </a:lnTo>
                    <a:lnTo>
                      <a:pt x="27089" y="202589"/>
                    </a:lnTo>
                    <a:cubicBezTo>
                      <a:pt x="151422" y="86972"/>
                      <a:pt x="689022" y="0"/>
                      <a:pt x="1333374" y="0"/>
                    </a:cubicBezTo>
                    <a:cubicBezTo>
                      <a:pt x="1977726" y="0"/>
                      <a:pt x="2515326" y="86972"/>
                      <a:pt x="2639659" y="202589"/>
                    </a:cubicBezTo>
                    <a:lnTo>
                      <a:pt x="2656835" y="224005"/>
                    </a:lnTo>
                    <a:lnTo>
                      <a:pt x="2666748" y="224005"/>
                    </a:lnTo>
                    <a:lnTo>
                      <a:pt x="2666748" y="253723"/>
                    </a:lnTo>
                    <a:close/>
                  </a:path>
                </a:pathLst>
              </a:custGeom>
              <a:gradFill flip="none" rotWithShape="1">
                <a:gsLst>
                  <a:gs pos="54000">
                    <a:schemeClr val="accent2">
                      <a:alpha val="10000"/>
                    </a:schemeClr>
                  </a:gs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5" name="椭圆 4"/>
              <p:cNvSpPr/>
              <p:nvPr>
                <p:custDataLst>
                  <p:tags r:id="rId26"/>
                </p:custDataLst>
              </p:nvPr>
            </p:nvSpPr>
            <p:spPr>
              <a:xfrm>
                <a:off x="6532" y="3616"/>
                <a:ext cx="5425" cy="1032"/>
              </a:xfrm>
              <a:prstGeom prst="ellipse">
                <a:avLst/>
              </a:prstGeom>
              <a:gradFill>
                <a:gsLst>
                  <a:gs pos="100000">
                    <a:schemeClr val="accent2">
                      <a:alpha val="20000"/>
                    </a:schemeClr>
                  </a:gs>
                  <a:gs pos="0">
                    <a:schemeClr val="accent2">
                      <a:alpha val="1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31" y="3344"/>
                <a:ext cx="5028" cy="934"/>
              </a:xfrm>
              <a:prstGeom prst="ellipse">
                <a:avLst/>
              </a:prstGeom>
              <a:noFill/>
              <a:ln>
                <a:gradFill>
                  <a:gsLst>
                    <a:gs pos="26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2">
                        <a:alpha val="57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28"/>
                </p:custDataLst>
              </p:nvPr>
            </p:nvSpPr>
            <p:spPr>
              <a:xfrm>
                <a:off x="7293" y="3186"/>
                <a:ext cx="3904" cy="743"/>
              </a:xfrm>
              <a:prstGeom prst="ellipse">
                <a:avLst/>
              </a:prstGeom>
              <a:gradFill>
                <a:gsLst>
                  <a:gs pos="100000">
                    <a:schemeClr val="accent2">
                      <a:alpha val="20000"/>
                    </a:schemeClr>
                  </a:gs>
                  <a:gs pos="0">
                    <a:schemeClr val="accent2">
                      <a:lumMod val="20000"/>
                      <a:lumOff val="80000"/>
                      <a:alpha val="30000"/>
                    </a:schemeClr>
                  </a:gs>
                </a:gsLst>
                <a:lin ang="5400000" scaled="0"/>
              </a:gradFill>
              <a:ln w="3175">
                <a:noFill/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vertOverflow="overflow" horzOverflow="overflow" vert="horz" wrap="none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6" name="任意多边形: 形状 10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32" y="4072"/>
                <a:ext cx="5425" cy="1848"/>
              </a:xfrm>
              <a:custGeom>
                <a:avLst/>
                <a:gdLst>
                  <a:gd name="connsiteX0" fmla="*/ 0 w 4023360"/>
                  <a:gd name="connsiteY0" fmla="*/ 7761 h 1357052"/>
                  <a:gd name="connsiteX1" fmla="*/ 2011680 w 4023360"/>
                  <a:gd name="connsiteY1" fmla="*/ 410984 h 1357052"/>
                  <a:gd name="connsiteX2" fmla="*/ 4023360 w 4023360"/>
                  <a:gd name="connsiteY2" fmla="*/ 7761 h 1357052"/>
                  <a:gd name="connsiteX3" fmla="*/ 4023360 w 4023360"/>
                  <a:gd name="connsiteY3" fmla="*/ 953829 h 1357052"/>
                  <a:gd name="connsiteX4" fmla="*/ 2011680 w 4023360"/>
                  <a:gd name="connsiteY4" fmla="*/ 1357052 h 1357052"/>
                  <a:gd name="connsiteX5" fmla="*/ 0 w 4023360"/>
                  <a:gd name="connsiteY5" fmla="*/ 953829 h 1357052"/>
                  <a:gd name="connsiteX6" fmla="*/ 4021405 w 4023360"/>
                  <a:gd name="connsiteY6" fmla="*/ 0 h 1357052"/>
                  <a:gd name="connsiteX7" fmla="*/ 4023360 w 4023360"/>
                  <a:gd name="connsiteY7" fmla="*/ 0 h 1357052"/>
                  <a:gd name="connsiteX8" fmla="*/ 4023360 w 4023360"/>
                  <a:gd name="connsiteY8" fmla="*/ 7761 h 1357052"/>
                  <a:gd name="connsiteX9" fmla="*/ 0 w 4023360"/>
                  <a:gd name="connsiteY9" fmla="*/ 0 h 1357052"/>
                  <a:gd name="connsiteX10" fmla="*/ 1955 w 4023360"/>
                  <a:gd name="connsiteY10" fmla="*/ 0 h 1357052"/>
                  <a:gd name="connsiteX11" fmla="*/ 0 w 4023360"/>
                  <a:gd name="connsiteY11" fmla="*/ 7761 h 135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23360" h="1357052">
                    <a:moveTo>
                      <a:pt x="0" y="7761"/>
                    </a:moveTo>
                    <a:cubicBezTo>
                      <a:pt x="0" y="230455"/>
                      <a:pt x="900660" y="410984"/>
                      <a:pt x="2011680" y="410984"/>
                    </a:cubicBezTo>
                    <a:cubicBezTo>
                      <a:pt x="3122700" y="410984"/>
                      <a:pt x="4023360" y="230455"/>
                      <a:pt x="4023360" y="7761"/>
                    </a:cubicBezTo>
                    <a:lnTo>
                      <a:pt x="4023360" y="953829"/>
                    </a:lnTo>
                    <a:cubicBezTo>
                      <a:pt x="4023360" y="1176523"/>
                      <a:pt x="3122700" y="1357052"/>
                      <a:pt x="2011680" y="1357052"/>
                    </a:cubicBezTo>
                    <a:cubicBezTo>
                      <a:pt x="900660" y="1357052"/>
                      <a:pt x="0" y="1176523"/>
                      <a:pt x="0" y="953829"/>
                    </a:cubicBezTo>
                    <a:close/>
                    <a:moveTo>
                      <a:pt x="4021405" y="0"/>
                    </a:moveTo>
                    <a:lnTo>
                      <a:pt x="4023360" y="0"/>
                    </a:lnTo>
                    <a:lnTo>
                      <a:pt x="4023360" y="7761"/>
                    </a:lnTo>
                    <a:close/>
                    <a:moveTo>
                      <a:pt x="0" y="0"/>
                    </a:moveTo>
                    <a:lnTo>
                      <a:pt x="1955" y="0"/>
                    </a:lnTo>
                    <a:lnTo>
                      <a:pt x="0" y="77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alpha val="45000"/>
                    </a:schemeClr>
                  </a:gs>
                  <a:gs pos="41000">
                    <a:schemeClr val="accent2">
                      <a:alpha val="20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  <a:tileRect/>
              </a:gradFill>
              <a:ln w="19050">
                <a:noFill/>
              </a:ln>
            </p:spPr>
            <p:style>
              <a:lnRef idx="2">
                <a:srgbClr val="376FFF">
                  <a:shade val="15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微软雅黑" panose="020B0502040204020203" pitchFamily="34" charset="-122"/>
                </a:endParaRPr>
              </a:p>
            </p:txBody>
          </p:sp>
          <p:sp>
            <p:nvSpPr>
              <p:cNvPr id="115" name="椭圆 114"/>
              <p:cNvSpPr/>
              <p:nvPr>
                <p:custDataLst>
                  <p:tags r:id="rId30"/>
                </p:custDataLst>
              </p:nvPr>
            </p:nvSpPr>
            <p:spPr>
              <a:xfrm>
                <a:off x="8204" y="1533"/>
                <a:ext cx="1957" cy="1957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  <a:defRPr/>
                </a:pPr>
                <a:r>
                  <a:rPr lang="en-US" altLang="zh-CN" sz="40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监管</a:t>
                </a:r>
              </a:p>
            </p:txBody>
          </p:sp>
        </p:grpSp>
        <p:grpSp>
          <p:nvGrpSpPr>
            <p:cNvPr id="10" name="组合 9"/>
            <p:cNvGrpSpPr/>
            <p:nvPr>
              <p:custDataLst>
                <p:tags r:id="rId3"/>
              </p:custDataLst>
            </p:nvPr>
          </p:nvGrpSpPr>
          <p:grpSpPr>
            <a:xfrm>
              <a:off x="1639" y="1913"/>
              <a:ext cx="15562" cy="4623"/>
              <a:chOff x="1237" y="1913"/>
              <a:chExt cx="16533" cy="4911"/>
            </a:xfrm>
          </p:grpSpPr>
          <p:sp>
            <p:nvSpPr>
              <p:cNvPr id="27" name="弧形 26"/>
              <p:cNvSpPr/>
              <p:nvPr>
                <p:custDataLst>
                  <p:tags r:id="rId18"/>
                </p:custDataLst>
              </p:nvPr>
            </p:nvSpPr>
            <p:spPr>
              <a:xfrm rot="21075889">
                <a:off x="1687" y="1913"/>
                <a:ext cx="15478" cy="3944"/>
              </a:xfrm>
              <a:prstGeom prst="arc">
                <a:avLst>
                  <a:gd name="adj1" fmla="val 19423901"/>
                  <a:gd name="adj2" fmla="val 12943440"/>
                </a:avLst>
              </a:prstGeom>
              <a:ln w="1587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rgbClr val="376FFF"/>
              </a:lnRef>
              <a:fillRef idx="0">
                <a:srgbClr val="376FFF"/>
              </a:fillRef>
              <a:effectRef idx="0">
                <a:srgbClr val="376FFF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61" name="序号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37" y="4458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01</a:t>
                </a:r>
              </a:p>
            </p:txBody>
          </p:sp>
          <p:sp>
            <p:nvSpPr>
              <p:cNvPr id="77" name="序号"/>
              <p:cNvSpPr/>
              <p:nvPr>
                <p:custDataLst>
                  <p:tags r:id="rId20"/>
                </p:custDataLst>
              </p:nvPr>
            </p:nvSpPr>
            <p:spPr>
              <a:xfrm>
                <a:off x="7466" y="5397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03</a:t>
                </a:r>
              </a:p>
            </p:txBody>
          </p:sp>
          <p:sp>
            <p:nvSpPr>
              <p:cNvPr id="40" name="序号"/>
              <p:cNvSpPr/>
              <p:nvPr>
                <p:custDataLst>
                  <p:tags r:id="rId21"/>
                </p:custDataLst>
              </p:nvPr>
            </p:nvSpPr>
            <p:spPr>
              <a:xfrm>
                <a:off x="4230" y="5514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02</a:t>
                </a:r>
              </a:p>
            </p:txBody>
          </p:sp>
          <p:sp>
            <p:nvSpPr>
              <p:cNvPr id="43" name="序号"/>
              <p:cNvSpPr/>
              <p:nvPr>
                <p:custDataLst>
                  <p:tags r:id="rId22"/>
                </p:custDataLst>
              </p:nvPr>
            </p:nvSpPr>
            <p:spPr>
              <a:xfrm>
                <a:off x="10768" y="4944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04</a:t>
                </a:r>
              </a:p>
            </p:txBody>
          </p:sp>
          <p:sp>
            <p:nvSpPr>
              <p:cNvPr id="46" name="序号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916" y="3930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05</a:t>
                </a:r>
              </a:p>
            </p:txBody>
          </p:sp>
          <p:sp>
            <p:nvSpPr>
              <p:cNvPr id="2" name="序号"/>
              <p:cNvSpPr/>
              <p:nvPr>
                <p:custDataLst>
                  <p:tags r:id="rId24"/>
                </p:custDataLst>
              </p:nvPr>
            </p:nvSpPr>
            <p:spPr>
              <a:xfrm>
                <a:off x="16460" y="2313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06</a:t>
                </a:r>
              </a:p>
            </p:txBody>
          </p:sp>
        </p:grpSp>
        <p:sp>
          <p:nvSpPr>
            <p:cNvPr id="130" name="圆角矩形 74"/>
            <p:cNvSpPr/>
            <p:nvPr>
              <p:custDataLst>
                <p:tags r:id="rId4"/>
              </p:custDataLst>
            </p:nvPr>
          </p:nvSpPr>
          <p:spPr>
            <a:xfrm>
              <a:off x="801" y="8551"/>
              <a:ext cx="17751" cy="777"/>
            </a:xfrm>
            <a:prstGeom prst="roundRect">
              <a:avLst>
                <a:gd name="adj" fmla="val 10623"/>
              </a:avLst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755" tIns="36195" rIns="71755" bIns="36195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五步构建，持续迭代</a:t>
              </a:r>
            </a:p>
          </p:txBody>
        </p:sp>
        <p:sp>
          <p:nvSpPr>
            <p:cNvPr id="9" name="五边形 8"/>
            <p:cNvSpPr/>
            <p:nvPr>
              <p:custDataLst>
                <p:tags r:id="rId5"/>
              </p:custDataLst>
            </p:nvPr>
          </p:nvSpPr>
          <p:spPr>
            <a:xfrm rot="5400000" flipV="1">
              <a:off x="9301" y="7443"/>
              <a:ext cx="523" cy="1511"/>
            </a:xfrm>
            <a:prstGeom prst="homePlate">
              <a:avLst>
                <a:gd name="adj" fmla="val 10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lin ang="0" scaled="0"/>
            </a:gradFill>
            <a:ln w="9525" cap="flat" cmpd="sng" algn="ctr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>
              <a:outerShdw blurRad="475241" sx="107000" sy="107000" algn="ctr" rotWithShape="0">
                <a:srgbClr val="336FFF">
                  <a:alpha val="6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2400" kern="0">
                <a:solidFill>
                  <a:srgbClr val="000000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1" name="矩形 1"/>
            <p:cNvSpPr/>
            <p:nvPr>
              <p:custDataLst>
                <p:tags r:id="rId6"/>
              </p:custDataLst>
            </p:nvPr>
          </p:nvSpPr>
          <p:spPr>
            <a:xfrm>
              <a:off x="976" y="6434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明确表现、对象与影响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2" name="矩形 2"/>
            <p:cNvSpPr/>
            <p:nvPr>
              <p:custDataLst>
                <p:tags r:id="rId7"/>
              </p:custDataLst>
            </p:nvPr>
          </p:nvSpPr>
          <p:spPr>
            <a:xfrm>
              <a:off x="976" y="5611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梳理风险</a:t>
              </a:r>
            </a:p>
          </p:txBody>
        </p:sp>
        <p:sp>
          <p:nvSpPr>
            <p:cNvPr id="19" name="矩形 1"/>
            <p:cNvSpPr/>
            <p:nvPr>
              <p:custDataLst>
                <p:tags r:id="rId8"/>
              </p:custDataLst>
            </p:nvPr>
          </p:nvSpPr>
          <p:spPr>
            <a:xfrm>
              <a:off x="3925" y="7328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提取指标、关系与行为特征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0" name="矩形 2"/>
            <p:cNvSpPr/>
            <p:nvPr>
              <p:custDataLst>
                <p:tags r:id="rId9"/>
              </p:custDataLst>
            </p:nvPr>
          </p:nvSpPr>
          <p:spPr>
            <a:xfrm>
              <a:off x="3925" y="6505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识别指标</a:t>
              </a:r>
            </a:p>
          </p:txBody>
        </p:sp>
        <p:sp>
          <p:nvSpPr>
            <p:cNvPr id="21" name="矩形 1"/>
            <p:cNvSpPr/>
            <p:nvPr>
              <p:custDataLst>
                <p:tags r:id="rId10"/>
              </p:custDataLst>
            </p:nvPr>
          </p:nvSpPr>
          <p:spPr>
            <a:xfrm>
              <a:off x="7085" y="7192"/>
              <a:ext cx="3221" cy="821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定义阈值、例外与风险等级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2" name="矩形 2"/>
            <p:cNvSpPr/>
            <p:nvPr>
              <p:custDataLst>
                <p:tags r:id="rId11"/>
              </p:custDataLst>
            </p:nvPr>
          </p:nvSpPr>
          <p:spPr>
            <a:xfrm>
              <a:off x="7085" y="636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制定规则</a:t>
              </a:r>
            </a:p>
          </p:txBody>
        </p:sp>
        <p:sp>
          <p:nvSpPr>
            <p:cNvPr id="23" name="矩形 1"/>
            <p:cNvSpPr/>
            <p:nvPr>
              <p:custDataLst>
                <p:tags r:id="rId12"/>
              </p:custDataLst>
            </p:nvPr>
          </p:nvSpPr>
          <p:spPr>
            <a:xfrm>
              <a:off x="10145" y="6712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组合规则、图谱并历史回溯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4" name="矩形 2"/>
            <p:cNvSpPr/>
            <p:nvPr>
              <p:custDataLst>
                <p:tags r:id="rId13"/>
              </p:custDataLst>
            </p:nvPr>
          </p:nvSpPr>
          <p:spPr>
            <a:xfrm>
              <a:off x="10145" y="588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创建模型</a:t>
              </a:r>
            </a:p>
          </p:txBody>
        </p:sp>
        <p:sp>
          <p:nvSpPr>
            <p:cNvPr id="25" name="矩形 1"/>
            <p:cNvSpPr/>
            <p:nvPr>
              <p:custDataLst>
                <p:tags r:id="rId14"/>
              </p:custDataLst>
            </p:nvPr>
          </p:nvSpPr>
          <p:spPr>
            <a:xfrm>
              <a:off x="13171" y="6064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预警派单、整改与结果反馈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8" name="矩形 2"/>
            <p:cNvSpPr/>
            <p:nvPr>
              <p:custDataLst>
                <p:tags r:id="rId15"/>
              </p:custDataLst>
            </p:nvPr>
          </p:nvSpPr>
          <p:spPr>
            <a:xfrm>
              <a:off x="13171" y="5241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lvl="0" algn="l" defTabSz="264160" hangingPunct="0">
                <a:buClrTx/>
                <a:buSzTx/>
                <a:buFontTx/>
              </a:pPr>
              <a:r>
                <a:rPr lang="zh-CN" altLang="en-US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闭环控制</a:t>
              </a:r>
            </a:p>
          </p:txBody>
        </p:sp>
        <p:sp>
          <p:nvSpPr>
            <p:cNvPr id="29" name="矩形 1"/>
            <p:cNvSpPr/>
            <p:nvPr>
              <p:custDataLst>
                <p:tags r:id="rId16"/>
              </p:custDataLst>
            </p:nvPr>
          </p:nvSpPr>
          <p:spPr>
            <a:xfrm>
              <a:off x="15451" y="4552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依据处置效果持续优化模型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0" name="矩形 2"/>
            <p:cNvSpPr/>
            <p:nvPr>
              <p:custDataLst>
                <p:tags r:id="rId17"/>
              </p:custDataLst>
            </p:nvPr>
          </p:nvSpPr>
          <p:spPr>
            <a:xfrm>
              <a:off x="15451" y="372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lvl="0" algn="l" defTabSz="264160" hangingPunct="0">
                <a:buClrTx/>
                <a:buSzTx/>
                <a:buFontTx/>
              </a:pPr>
              <a:r>
                <a:rPr lang="zh-CN" altLang="en-US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复盘迭代</a:t>
              </a:r>
            </a:p>
          </p:txBody>
        </p:sp>
      </p:grpSp>
      <p:sp>
        <p:nvSpPr>
          <p:cNvPr id="6" name="标题 3">
            <a:extLst>
              <a:ext uri="{FF2B5EF4-FFF2-40B4-BE49-F238E27FC236}">
                <a16:creationId xmlns:a16="http://schemas.microsoft.com/office/drawing/2014/main" id="{8F03B5E6-609C-5EA4-2302-EF002CEBBC34}"/>
              </a:ext>
            </a:extLst>
          </p:cNvPr>
          <p:cNvSpPr txBox="1">
            <a:spLocks/>
          </p:cNvSpPr>
          <p:nvPr/>
        </p:nvSpPr>
        <p:spPr>
          <a:xfrm>
            <a:off x="396000" y="288000"/>
            <a:ext cx="9286412" cy="455930"/>
          </a:xfrm>
          <a:prstGeom prst="rect">
            <a:avLst/>
          </a:prstGeom>
          <a:noFill/>
        </p:spPr>
        <p:txBody>
          <a:bodyPr wrap="square" tIns="36195" bIns="36195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accent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风险监管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6240" y="865505"/>
            <a:ext cx="11441430" cy="75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>
                <a:solidFill>
                  <a:schemeClr val="tx2"/>
                </a:solidFill>
                <a:ea typeface="+mj-ea"/>
                <a:sym typeface="+mn-ea"/>
              </a:rPr>
              <a:t>风险监管在同一能力域内承接预警研判、核查复核和确认风险后的整改关闭。</a:t>
            </a:r>
          </a:p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>
                <a:solidFill>
                  <a:schemeClr val="tx2"/>
                </a:solidFill>
                <a:ea typeface="+mj-ea"/>
                <a:sym typeface="+mn-ea"/>
              </a:rPr>
              <a:t>预警关注“是否需要升级”，风险事件关注“如何整改并关闭”。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06070" y="1963103"/>
            <a:ext cx="5726430" cy="4035425"/>
            <a:chOff x="482" y="3087"/>
            <a:chExt cx="9018" cy="6355"/>
          </a:xfrm>
        </p:grpSpPr>
        <p:sp>
          <p:nvSpPr>
            <p:cNvPr id="7" name="圆角矩形 6"/>
            <p:cNvSpPr/>
            <p:nvPr>
              <p:custDataLst>
                <p:tags r:id="rId4"/>
              </p:custDataLst>
            </p:nvPr>
          </p:nvSpPr>
          <p:spPr>
            <a:xfrm>
              <a:off x="3116" y="3087"/>
              <a:ext cx="3751" cy="6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统一预警</a:t>
              </a:r>
            </a:p>
          </p:txBody>
        </p:sp>
        <p:pic>
          <p:nvPicPr>
            <p:cNvPr id="2" name="图片 1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482" y="4871"/>
              <a:ext cx="9018" cy="4571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189" y="3878"/>
              <a:ext cx="560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400" dirty="0">
                  <a:solidFill>
                    <a:schemeClr val="tx2"/>
                  </a:solidFill>
                  <a:ea typeface="+mj-ea"/>
                  <a:sym typeface="+mn-ea"/>
                </a:rPr>
                <a:t>集中承接事前、事中、事后风险线索。</a:t>
              </a:r>
            </a:p>
            <a:p>
              <a:pPr algn="ctr"/>
              <a:r>
                <a:rPr kumimoji="1" lang="zh-CN" altLang="en-US" sz="1400" dirty="0">
                  <a:solidFill>
                    <a:schemeClr val="tx2"/>
                  </a:solidFill>
                  <a:ea typeface="+mj-ea"/>
                  <a:sym typeface="+mn-ea"/>
                </a:rPr>
                <a:t>用于统一查询和处理系统生成的预警线索。</a:t>
              </a:r>
              <a:endParaRPr kumimoji="1" lang="zh-CN" altLang="en-US" sz="1400" dirty="0">
                <a:solidFill>
                  <a:schemeClr val="tx1"/>
                </a:solidFill>
                <a:ea typeface="+mj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34100" y="1960245"/>
            <a:ext cx="6008370" cy="4041140"/>
            <a:chOff x="9660" y="3087"/>
            <a:chExt cx="9462" cy="6364"/>
          </a:xfrm>
        </p:grpSpPr>
        <p:sp>
          <p:nvSpPr>
            <p:cNvPr id="10" name="圆角矩形 9"/>
            <p:cNvSpPr/>
            <p:nvPr>
              <p:custDataLst>
                <p:tags r:id="rId2"/>
              </p:custDataLst>
            </p:nvPr>
          </p:nvSpPr>
          <p:spPr>
            <a:xfrm>
              <a:off x="12516" y="3087"/>
              <a:ext cx="3751" cy="620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风险事件</a:t>
              </a:r>
            </a:p>
          </p:txBody>
        </p:sp>
        <p:pic>
          <p:nvPicPr>
            <p:cNvPr id="8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660" y="4871"/>
              <a:ext cx="9463" cy="458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1524" y="3878"/>
              <a:ext cx="5735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400" dirty="0">
                  <a:solidFill>
                    <a:schemeClr val="tx2"/>
                  </a:solidFill>
                  <a:ea typeface="+mj-ea"/>
                  <a:sym typeface="+mn-ea"/>
                </a:rPr>
                <a:t>跟踪已确认风险的整改、复核和关闭全过程。用于管理已经确认成立的风险。</a:t>
              </a:r>
            </a:p>
          </p:txBody>
        </p:sp>
      </p:grpSp>
    </p:spTree>
    <p:custDataLst>
      <p:tags r:id="rId1"/>
    </p:custData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4EFE-69FD-D9E7-EEFA-1CB5D69DB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324F1C20-27B3-3642-2C35-ECC0F4BB7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风险监管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A9D79C-F126-D5BA-15DB-8CBED0DB63AB}"/>
              </a:ext>
            </a:extLst>
          </p:cNvPr>
          <p:cNvSpPr txBox="1"/>
          <p:nvPr/>
        </p:nvSpPr>
        <p:spPr>
          <a:xfrm>
            <a:off x="772885" y="10263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预警负责研判，风险事件负责整改复核</a:t>
            </a:r>
          </a:p>
        </p:txBody>
      </p:sp>
      <p:grpSp>
        <p:nvGrpSpPr>
          <p:cNvPr id="36" name="Group 16">
            <a:extLst>
              <a:ext uri="{FF2B5EF4-FFF2-40B4-BE49-F238E27FC236}">
                <a16:creationId xmlns:a16="http://schemas.microsoft.com/office/drawing/2014/main" id="{831D70F7-CC8D-C88F-3C3B-1A5652533359}"/>
              </a:ext>
            </a:extLst>
          </p:cNvPr>
          <p:cNvGrpSpPr/>
          <p:nvPr/>
        </p:nvGrpSpPr>
        <p:grpSpPr>
          <a:xfrm>
            <a:off x="603504" y="1965960"/>
            <a:ext cx="4673346" cy="1082040"/>
            <a:chOff x="603504" y="1965960"/>
            <a:chExt cx="4673346" cy="1082040"/>
          </a:xfrm>
        </p:grpSpPr>
        <p:sp>
          <p:nvSpPr>
            <p:cNvPr id="37" name="TextBox 8">
              <a:extLst>
                <a:ext uri="{FF2B5EF4-FFF2-40B4-BE49-F238E27FC236}">
                  <a16:creationId xmlns:a16="http://schemas.microsoft.com/office/drawing/2014/main" id="{AB930DCA-587B-4E63-9802-6A9B3F7235F0}"/>
                </a:ext>
              </a:extLst>
            </p:cNvPr>
            <p:cNvSpPr txBox="1"/>
            <p:nvPr/>
          </p:nvSpPr>
          <p:spPr>
            <a:xfrm>
              <a:off x="603504" y="1965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预警状态机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C8CC8C18-B8CB-05AF-0E26-A344AF0E692D}"/>
                </a:ext>
              </a:extLst>
            </p:cNvPr>
            <p:cNvSpPr/>
            <p:nvPr/>
          </p:nvSpPr>
          <p:spPr>
            <a:xfrm>
              <a:off x="1123950" y="2724150"/>
              <a:ext cx="3829050" cy="9525"/>
            </a:xfrm>
            <a:custGeom>
              <a:avLst/>
              <a:gdLst/>
              <a:ahLst/>
              <a:cxnLst/>
              <a:rect l="l" t="t" r="r" b="b"/>
              <a:pathLst>
                <a:path w="3829050" h="9525">
                  <a:moveTo>
                    <a:pt x="0" y="0"/>
                  </a:moveTo>
                  <a:lnTo>
                    <a:pt x="3829050" y="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39" name="Ellipse 10">
              <a:extLst>
                <a:ext uri="{FF2B5EF4-FFF2-40B4-BE49-F238E27FC236}">
                  <a16:creationId xmlns:a16="http://schemas.microsoft.com/office/drawing/2014/main" id="{ED33F353-CAE4-7871-358B-396D4C7F5168}"/>
                </a:ext>
              </a:extLst>
            </p:cNvPr>
            <p:cNvSpPr/>
            <p:nvPr/>
          </p:nvSpPr>
          <p:spPr>
            <a:xfrm>
              <a:off x="800100" y="2400300"/>
              <a:ext cx="647700" cy="647700"/>
            </a:xfrm>
            <a:prstGeom prst="ellipse">
              <a:avLst/>
            </a:prstGeom>
            <a:solidFill>
              <a:srgbClr val="F2F7FF"/>
            </a:solidFill>
            <a:ln w="19050">
              <a:solidFill>
                <a:srgbClr val="0B63F6"/>
              </a:solidFill>
            </a:ln>
          </p:spPr>
        </p:sp>
        <p:sp>
          <p:nvSpPr>
            <p:cNvPr id="40" name="TextBox 11">
              <a:extLst>
                <a:ext uri="{FF2B5EF4-FFF2-40B4-BE49-F238E27FC236}">
                  <a16:creationId xmlns:a16="http://schemas.microsoft.com/office/drawing/2014/main" id="{BE8B9299-9B74-4D47-F079-5E4E441DA2CC}"/>
                </a:ext>
              </a:extLst>
            </p:cNvPr>
            <p:cNvSpPr txBox="1"/>
            <p:nvPr/>
          </p:nvSpPr>
          <p:spPr>
            <a:xfrm>
              <a:off x="830856" y="26546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待研判</a:t>
              </a:r>
            </a:p>
          </p:txBody>
        </p:sp>
        <p:sp>
          <p:nvSpPr>
            <p:cNvPr id="41" name="Ellipse 12">
              <a:extLst>
                <a:ext uri="{FF2B5EF4-FFF2-40B4-BE49-F238E27FC236}">
                  <a16:creationId xmlns:a16="http://schemas.microsoft.com/office/drawing/2014/main" id="{B50D73FA-75AE-AD26-BDC5-7BF92CEBA68A}"/>
                </a:ext>
              </a:extLst>
            </p:cNvPr>
            <p:cNvSpPr/>
            <p:nvPr/>
          </p:nvSpPr>
          <p:spPr>
            <a:xfrm>
              <a:off x="2819400" y="24003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2B573"/>
              </a:solidFill>
            </a:ln>
          </p:spPr>
        </p:sp>
        <p:sp>
          <p:nvSpPr>
            <p:cNvPr id="42" name="TextBox 13">
              <a:extLst>
                <a:ext uri="{FF2B5EF4-FFF2-40B4-BE49-F238E27FC236}">
                  <a16:creationId xmlns:a16="http://schemas.microsoft.com/office/drawing/2014/main" id="{7847F5AA-D6AD-9C51-2DFD-1906F41B2003}"/>
                </a:ext>
              </a:extLst>
            </p:cNvPr>
            <p:cNvSpPr txBox="1"/>
            <p:nvPr/>
          </p:nvSpPr>
          <p:spPr>
            <a:xfrm>
              <a:off x="2850156" y="26546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已解除</a:t>
              </a:r>
            </a:p>
          </p:txBody>
        </p:sp>
        <p:sp>
          <p:nvSpPr>
            <p:cNvPr id="43" name="Ellipse 14">
              <a:extLst>
                <a:ext uri="{FF2B5EF4-FFF2-40B4-BE49-F238E27FC236}">
                  <a16:creationId xmlns:a16="http://schemas.microsoft.com/office/drawing/2014/main" id="{B3612B2E-D05B-142D-CE53-C3B9466BC7FC}"/>
                </a:ext>
              </a:extLst>
            </p:cNvPr>
            <p:cNvSpPr/>
            <p:nvPr/>
          </p:nvSpPr>
          <p:spPr>
            <a:xfrm>
              <a:off x="4629150" y="24003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B63F6"/>
              </a:solidFill>
            </a:ln>
          </p:spPr>
        </p:sp>
        <p:sp>
          <p:nvSpPr>
            <p:cNvPr id="44" name="TextBox 15">
              <a:extLst>
                <a:ext uri="{FF2B5EF4-FFF2-40B4-BE49-F238E27FC236}">
                  <a16:creationId xmlns:a16="http://schemas.microsoft.com/office/drawing/2014/main" id="{8B214599-DE37-1C4B-11E8-F5C9989F3102}"/>
                </a:ext>
              </a:extLst>
            </p:cNvPr>
            <p:cNvSpPr txBox="1"/>
            <p:nvPr/>
          </p:nvSpPr>
          <p:spPr>
            <a:xfrm>
              <a:off x="4659906" y="26546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已升级</a:t>
              </a:r>
            </a:p>
          </p:txBody>
        </p:sp>
      </p:grpSp>
      <p:grpSp>
        <p:nvGrpSpPr>
          <p:cNvPr id="45" name="Group 26">
            <a:extLst>
              <a:ext uri="{FF2B5EF4-FFF2-40B4-BE49-F238E27FC236}">
                <a16:creationId xmlns:a16="http://schemas.microsoft.com/office/drawing/2014/main" id="{908C0E3F-B822-1AA1-EB78-DFF00035C5AB}"/>
              </a:ext>
            </a:extLst>
          </p:cNvPr>
          <p:cNvGrpSpPr/>
          <p:nvPr/>
        </p:nvGrpSpPr>
        <p:grpSpPr>
          <a:xfrm>
            <a:off x="6280404" y="1965960"/>
            <a:ext cx="5016246" cy="1352074"/>
            <a:chOff x="6280404" y="1965960"/>
            <a:chExt cx="5016246" cy="1352074"/>
          </a:xfrm>
        </p:grpSpPr>
        <p:sp>
          <p:nvSpPr>
            <p:cNvPr id="46" name="TextBox 17">
              <a:extLst>
                <a:ext uri="{FF2B5EF4-FFF2-40B4-BE49-F238E27FC236}">
                  <a16:creationId xmlns:a16="http://schemas.microsoft.com/office/drawing/2014/main" id="{689EFC76-11D1-FECB-23E3-85234AFBE380}"/>
                </a:ext>
              </a:extLst>
            </p:cNvPr>
            <p:cNvSpPr txBox="1"/>
            <p:nvPr/>
          </p:nvSpPr>
          <p:spPr>
            <a:xfrm>
              <a:off x="6280404" y="19659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风险事件状态机</a:t>
              </a:r>
            </a:p>
          </p:txBody>
        </p:sp>
        <p:sp>
          <p:nvSpPr>
            <p:cNvPr id="47" name="Line 18">
              <a:extLst>
                <a:ext uri="{FF2B5EF4-FFF2-40B4-BE49-F238E27FC236}">
                  <a16:creationId xmlns:a16="http://schemas.microsoft.com/office/drawing/2014/main" id="{0BAD3537-2F77-31D7-460E-F2134A39202A}"/>
                </a:ext>
              </a:extLst>
            </p:cNvPr>
            <p:cNvSpPr/>
            <p:nvPr/>
          </p:nvSpPr>
          <p:spPr>
            <a:xfrm>
              <a:off x="6667500" y="2724150"/>
              <a:ext cx="4305300" cy="9525"/>
            </a:xfrm>
            <a:custGeom>
              <a:avLst/>
              <a:gdLst/>
              <a:ahLst/>
              <a:cxnLst/>
              <a:rect l="l" t="t" r="r" b="b"/>
              <a:pathLst>
                <a:path w="4305300" h="9525">
                  <a:moveTo>
                    <a:pt x="0" y="0"/>
                  </a:moveTo>
                  <a:lnTo>
                    <a:pt x="4305300" y="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48" name="Ellipse 19">
              <a:extLst>
                <a:ext uri="{FF2B5EF4-FFF2-40B4-BE49-F238E27FC236}">
                  <a16:creationId xmlns:a16="http://schemas.microsoft.com/office/drawing/2014/main" id="{FA06A3BD-9D96-9868-78E4-5340EAB5D56A}"/>
                </a:ext>
              </a:extLst>
            </p:cNvPr>
            <p:cNvSpPr/>
            <p:nvPr/>
          </p:nvSpPr>
          <p:spPr>
            <a:xfrm>
              <a:off x="6343650" y="2400300"/>
              <a:ext cx="647700" cy="647700"/>
            </a:xfrm>
            <a:prstGeom prst="ellipse">
              <a:avLst/>
            </a:prstGeom>
            <a:solidFill>
              <a:srgbClr val="F2F7FF"/>
            </a:solidFill>
            <a:ln w="19050">
              <a:solidFill>
                <a:srgbClr val="0B63F6"/>
              </a:solidFill>
            </a:ln>
          </p:spPr>
        </p:sp>
        <p:sp>
          <p:nvSpPr>
            <p:cNvPr id="49" name="TextBox 20">
              <a:extLst>
                <a:ext uri="{FF2B5EF4-FFF2-40B4-BE49-F238E27FC236}">
                  <a16:creationId xmlns:a16="http://schemas.microsoft.com/office/drawing/2014/main" id="{85992F1A-C0EA-C4C0-BD9D-19535EEFEF15}"/>
                </a:ext>
              </a:extLst>
            </p:cNvPr>
            <p:cNvSpPr txBox="1"/>
            <p:nvPr/>
          </p:nvSpPr>
          <p:spPr>
            <a:xfrm>
              <a:off x="6374406" y="26546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待整改</a:t>
              </a:r>
            </a:p>
          </p:txBody>
        </p:sp>
        <p:sp>
          <p:nvSpPr>
            <p:cNvPr id="50" name="Ellipse 21">
              <a:extLst>
                <a:ext uri="{FF2B5EF4-FFF2-40B4-BE49-F238E27FC236}">
                  <a16:creationId xmlns:a16="http://schemas.microsoft.com/office/drawing/2014/main" id="{40C4ECB6-893E-1C51-1069-80CE994782CA}"/>
                </a:ext>
              </a:extLst>
            </p:cNvPr>
            <p:cNvSpPr/>
            <p:nvPr/>
          </p:nvSpPr>
          <p:spPr>
            <a:xfrm>
              <a:off x="8496300" y="24003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8CFF"/>
              </a:solidFill>
            </a:ln>
          </p:spPr>
        </p:sp>
        <p:sp>
          <p:nvSpPr>
            <p:cNvPr id="51" name="TextBox 22">
              <a:extLst>
                <a:ext uri="{FF2B5EF4-FFF2-40B4-BE49-F238E27FC236}">
                  <a16:creationId xmlns:a16="http://schemas.microsoft.com/office/drawing/2014/main" id="{1FAA724D-A83B-2C92-4062-EB620F196A05}"/>
                </a:ext>
              </a:extLst>
            </p:cNvPr>
            <p:cNvSpPr txBox="1"/>
            <p:nvPr/>
          </p:nvSpPr>
          <p:spPr>
            <a:xfrm>
              <a:off x="8527056" y="26546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待复核</a:t>
              </a:r>
            </a:p>
          </p:txBody>
        </p:sp>
        <p:sp>
          <p:nvSpPr>
            <p:cNvPr id="52" name="Ellipse 23">
              <a:extLst>
                <a:ext uri="{FF2B5EF4-FFF2-40B4-BE49-F238E27FC236}">
                  <a16:creationId xmlns:a16="http://schemas.microsoft.com/office/drawing/2014/main" id="{C5FC8431-FC87-BC96-028F-469F99A44854}"/>
                </a:ext>
              </a:extLst>
            </p:cNvPr>
            <p:cNvSpPr/>
            <p:nvPr/>
          </p:nvSpPr>
          <p:spPr>
            <a:xfrm>
              <a:off x="10648950" y="24003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2B573"/>
              </a:solidFill>
            </a:ln>
          </p:spPr>
        </p:sp>
        <p:sp>
          <p:nvSpPr>
            <p:cNvPr id="53" name="TextBox 24">
              <a:extLst>
                <a:ext uri="{FF2B5EF4-FFF2-40B4-BE49-F238E27FC236}">
                  <a16:creationId xmlns:a16="http://schemas.microsoft.com/office/drawing/2014/main" id="{E3858F16-4D1B-33A3-90DC-B26B951D4F71}"/>
                </a:ext>
              </a:extLst>
            </p:cNvPr>
            <p:cNvSpPr txBox="1"/>
            <p:nvPr/>
          </p:nvSpPr>
          <p:spPr>
            <a:xfrm>
              <a:off x="10679706" y="26546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已关闭</a:t>
              </a:r>
            </a:p>
          </p:txBody>
        </p:sp>
        <p:sp>
          <p:nvSpPr>
            <p:cNvPr id="54" name="TextBox 25">
              <a:extLst>
                <a:ext uri="{FF2B5EF4-FFF2-40B4-BE49-F238E27FC236}">
                  <a16:creationId xmlns:a16="http://schemas.microsoft.com/office/drawing/2014/main" id="{77134BFA-6949-7880-EFA8-C033F79183F5}"/>
                </a:ext>
              </a:extLst>
            </p:cNvPr>
            <p:cNvSpPr txBox="1"/>
            <p:nvPr/>
          </p:nvSpPr>
          <p:spPr>
            <a:xfrm>
              <a:off x="7785735" y="3098006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复核退回 → 待整改</a:t>
              </a:r>
            </a:p>
          </p:txBody>
        </p:sp>
      </p:grpSp>
      <p:grpSp>
        <p:nvGrpSpPr>
          <p:cNvPr id="55" name="Group 30">
            <a:extLst>
              <a:ext uri="{FF2B5EF4-FFF2-40B4-BE49-F238E27FC236}">
                <a16:creationId xmlns:a16="http://schemas.microsoft.com/office/drawing/2014/main" id="{726D2AE7-2D52-AB18-6A49-530077B51142}"/>
              </a:ext>
            </a:extLst>
          </p:cNvPr>
          <p:cNvGrpSpPr/>
          <p:nvPr/>
        </p:nvGrpSpPr>
        <p:grpSpPr>
          <a:xfrm>
            <a:off x="5429250" y="2412206"/>
            <a:ext cx="876300" cy="388144"/>
            <a:chOff x="5429250" y="2412206"/>
            <a:chExt cx="876300" cy="388144"/>
          </a:xfrm>
        </p:grpSpPr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0098A280-C548-4D76-4A0A-9CE9416A997E}"/>
                </a:ext>
              </a:extLst>
            </p:cNvPr>
            <p:cNvSpPr/>
            <p:nvPr/>
          </p:nvSpPr>
          <p:spPr>
            <a:xfrm>
              <a:off x="5429250" y="2724150"/>
              <a:ext cx="742950" cy="9525"/>
            </a:xfrm>
            <a:custGeom>
              <a:avLst/>
              <a:gdLst/>
              <a:ahLst/>
              <a:cxnLst/>
              <a:rect l="l" t="t" r="r" b="b"/>
              <a:pathLst>
                <a:path w="742950" h="9525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8575">
              <a:solidFill>
                <a:srgbClr val="0B63F6"/>
              </a:solidFill>
            </a:ln>
          </p:spPr>
        </p:sp>
        <p:sp>
          <p:nvSpPr>
            <p:cNvPr id="57" name="Polygon 28">
              <a:extLst>
                <a:ext uri="{FF2B5EF4-FFF2-40B4-BE49-F238E27FC236}">
                  <a16:creationId xmlns:a16="http://schemas.microsoft.com/office/drawing/2014/main" id="{5F533FB1-B073-15F5-0565-B6F753BD34A5}"/>
                </a:ext>
              </a:extLst>
            </p:cNvPr>
            <p:cNvSpPr/>
            <p:nvPr/>
          </p:nvSpPr>
          <p:spPr>
            <a:xfrm>
              <a:off x="6172200" y="26479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B63F6"/>
            </a:solidFill>
            <a:ln>
              <a:noFill/>
            </a:ln>
          </p:spPr>
        </p:sp>
        <p:sp>
          <p:nvSpPr>
            <p:cNvPr id="58" name="TextBox 29">
              <a:extLst>
                <a:ext uri="{FF2B5EF4-FFF2-40B4-BE49-F238E27FC236}">
                  <a16:creationId xmlns:a16="http://schemas.microsoft.com/office/drawing/2014/main" id="{98FC7520-3221-6D9D-CD3C-958371962BC6}"/>
                </a:ext>
              </a:extLst>
            </p:cNvPr>
            <p:cNvSpPr txBox="1"/>
            <p:nvPr/>
          </p:nvSpPr>
          <p:spPr>
            <a:xfrm>
              <a:off x="5665272" y="24122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升级</a:t>
              </a:r>
            </a:p>
          </p:txBody>
        </p:sp>
      </p:grpSp>
      <p:grpSp>
        <p:nvGrpSpPr>
          <p:cNvPr id="59" name="Group 36">
            <a:extLst>
              <a:ext uri="{FF2B5EF4-FFF2-40B4-BE49-F238E27FC236}">
                <a16:creationId xmlns:a16="http://schemas.microsoft.com/office/drawing/2014/main" id="{FCD1D90B-8D67-EB50-E769-CF5BA5690460}"/>
              </a:ext>
            </a:extLst>
          </p:cNvPr>
          <p:cNvGrpSpPr/>
          <p:nvPr/>
        </p:nvGrpSpPr>
        <p:grpSpPr>
          <a:xfrm>
            <a:off x="609600" y="3790950"/>
            <a:ext cx="10744200" cy="1752600"/>
            <a:chOff x="609600" y="3790950"/>
            <a:chExt cx="10744200" cy="1752600"/>
          </a:xfrm>
        </p:grpSpPr>
        <p:sp>
          <p:nvSpPr>
            <p:cNvPr id="60" name="Rectangle 31">
              <a:extLst>
                <a:ext uri="{FF2B5EF4-FFF2-40B4-BE49-F238E27FC236}">
                  <a16:creationId xmlns:a16="http://schemas.microsoft.com/office/drawing/2014/main" id="{66A4A7C6-B952-1AC2-E6F9-4FAE1E4A3710}"/>
                </a:ext>
              </a:extLst>
            </p:cNvPr>
            <p:cNvSpPr/>
            <p:nvPr/>
          </p:nvSpPr>
          <p:spPr>
            <a:xfrm>
              <a:off x="609600" y="3790950"/>
              <a:ext cx="10744200" cy="175260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61" name="TextBox 32">
              <a:extLst>
                <a:ext uri="{FF2B5EF4-FFF2-40B4-BE49-F238E27FC236}">
                  <a16:creationId xmlns:a16="http://schemas.microsoft.com/office/drawing/2014/main" id="{5997EC43-3FA0-2EB6-DBE0-E015630C9118}"/>
                </a:ext>
              </a:extLst>
            </p:cNvPr>
            <p:cNvSpPr txBox="1"/>
            <p:nvPr/>
          </p:nvSpPr>
          <p:spPr>
            <a:xfrm>
              <a:off x="832104" y="3966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对象约束</a:t>
              </a:r>
            </a:p>
          </p:txBody>
        </p:sp>
        <p:sp>
          <p:nvSpPr>
            <p:cNvPr id="62" name="TextBox 33">
              <a:extLst>
                <a:ext uri="{FF2B5EF4-FFF2-40B4-BE49-F238E27FC236}">
                  <a16:creationId xmlns:a16="http://schemas.microsoft.com/office/drawing/2014/main" id="{548ED452-9951-6966-CFDF-C307BAA89E62}"/>
                </a:ext>
              </a:extLst>
            </p:cNvPr>
            <p:cNvSpPr txBox="1"/>
            <p:nvPr/>
          </p:nvSpPr>
          <p:spPr>
            <a:xfrm>
              <a:off x="831342" y="4292918"/>
              <a:ext cx="5338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同一预警最多升级一个事件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关闭后只读保留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转派只改变处理人</a:t>
              </a:r>
            </a:p>
          </p:txBody>
        </p:sp>
        <p:sp>
          <p:nvSpPr>
            <p:cNvPr id="63" name="TextBox 34">
              <a:extLst>
                <a:ext uri="{FF2B5EF4-FFF2-40B4-BE49-F238E27FC236}">
                  <a16:creationId xmlns:a16="http://schemas.microsoft.com/office/drawing/2014/main" id="{A6701EDE-3CAF-A016-7ABE-7329EC291779}"/>
                </a:ext>
              </a:extLst>
            </p:cNvPr>
            <p:cNvSpPr txBox="1"/>
            <p:nvPr/>
          </p:nvSpPr>
          <p:spPr>
            <a:xfrm>
              <a:off x="832104" y="47663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证据与高危操作</a:t>
              </a:r>
            </a:p>
          </p:txBody>
        </p:sp>
        <p:sp>
          <p:nvSpPr>
            <p:cNvPr id="64" name="TextBox 35">
              <a:extLst>
                <a:ext uri="{FF2B5EF4-FFF2-40B4-BE49-F238E27FC236}">
                  <a16:creationId xmlns:a16="http://schemas.microsoft.com/office/drawing/2014/main" id="{B8B7C448-F2D9-6D54-2FC0-81373B2DAD26}"/>
                </a:ext>
              </a:extLst>
            </p:cNvPr>
            <p:cNvSpPr txBox="1"/>
            <p:nvPr/>
          </p:nvSpPr>
          <p:spPr>
            <a:xfrm>
              <a:off x="831342" y="5093018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规则、知识图谱版本、映射快照、来源记录和证据子图；解除、升级、关闭均需权限、原因、确认与审计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0884517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6240" y="865505"/>
            <a:ext cx="11441430" cy="71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>
                <a:solidFill>
                  <a:schemeClr val="tx2"/>
                </a:solidFill>
                <a:ea typeface="+mj-ea"/>
                <a:sym typeface="+mn-ea"/>
              </a:rPr>
              <a:t>预警详情页</a:t>
            </a:r>
          </a:p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dirty="0">
                <a:solidFill>
                  <a:schemeClr val="tx2"/>
                </a:solidFill>
                <a:ea typeface="+mj-ea"/>
                <a:sym typeface="+mn-ea"/>
              </a:rPr>
              <a:t>围绕风险事实、命中规则和证据子图完成研判。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9508443" y="1709828"/>
            <a:ext cx="2388090" cy="2276952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顶部展示预警阶段、处理状态、风险等级、目标节点、组织、提前量、证据状态和版本信息。用户进入详情后可以先判断预警基础状态和风险严重程度。</a:t>
            </a:r>
          </a:p>
        </p:txBody>
      </p:sp>
      <p:sp>
        <p:nvSpPr>
          <p:cNvPr id="5" name="圆角矩形 14"/>
          <p:cNvSpPr/>
          <p:nvPr/>
        </p:nvSpPr>
        <p:spPr>
          <a:xfrm>
            <a:off x="333224" y="3962328"/>
            <a:ext cx="2350333" cy="2030167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左侧展示风险说明、命中规则和核心路径。该部分用于解释系统识别逻辑，让监管人员理解预警生成依据。</a:t>
            </a:r>
          </a:p>
        </p:txBody>
      </p:sp>
      <p:sp>
        <p:nvSpPr>
          <p:cNvPr id="7" name="圆角矩形 14"/>
          <p:cNvSpPr/>
          <p:nvPr/>
        </p:nvSpPr>
        <p:spPr>
          <a:xfrm>
            <a:off x="2979751" y="6161971"/>
            <a:ext cx="6232498" cy="563023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底部提供返回、转派、解除预警和升级风险事件。重大高风险解除可受角色权限控制，升级后自动创建风险事件并进入后续整改复核流程。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2979750" y="1709828"/>
            <a:ext cx="6232499" cy="4282667"/>
            <a:chOff x="2979750" y="2120977"/>
            <a:chExt cx="6232499" cy="428266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9751" y="2120977"/>
              <a:ext cx="6232498" cy="399771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9750" y="6118695"/>
              <a:ext cx="6232499" cy="284949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98526" y="1012867"/>
            <a:ext cx="11794948" cy="3451287"/>
            <a:chOff x="258091" y="1089067"/>
            <a:chExt cx="11794948" cy="3451287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8091" y="1089067"/>
              <a:ext cx="5837909" cy="3451287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8980" y="1089067"/>
              <a:ext cx="5844059" cy="3451286"/>
            </a:xfrm>
            <a:prstGeom prst="rect">
              <a:avLst/>
            </a:prstGeom>
          </p:spPr>
        </p:pic>
      </p:grpSp>
      <p:sp>
        <p:nvSpPr>
          <p:cNvPr id="13" name="圆角矩形 14"/>
          <p:cNvSpPr/>
          <p:nvPr/>
        </p:nvSpPr>
        <p:spPr>
          <a:xfrm>
            <a:off x="463957" y="4781582"/>
            <a:ext cx="5307045" cy="1486325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证据子图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证据子图展示节点、关系、事件和证据来源。支持风险链视图和完整本体视图切换，也支持核心证据链、仅命中关系、隐藏辅助关系和全部关系筛选。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6421000" y="4783346"/>
            <a:ext cx="5307045" cy="1486325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业务时间轴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展示采购项目创建、供应商报名、评审专家抽取、规则命中并生成预警、中标确认等业务事件顺序。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pic>
        <p:nvPicPr>
          <p:cNvPr id="7" name="图片 6"/>
          <p:cNvPicPr/>
          <p:nvPr/>
        </p:nvPicPr>
        <p:blipFill>
          <a:blip r:embed="rId4"/>
          <a:srcRect b="48455"/>
          <a:stretch>
            <a:fillRect/>
          </a:stretch>
        </p:blipFill>
        <p:spPr>
          <a:xfrm>
            <a:off x="396000" y="841472"/>
            <a:ext cx="8100057" cy="236173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rcRect b="37091"/>
          <a:stretch>
            <a:fillRect/>
          </a:stretch>
        </p:blipFill>
        <p:spPr>
          <a:xfrm>
            <a:off x="396000" y="3428999"/>
            <a:ext cx="8100057" cy="3007901"/>
          </a:xfrm>
          <a:prstGeom prst="rect">
            <a:avLst/>
          </a:prstGeom>
        </p:spPr>
      </p:pic>
      <p:sp>
        <p:nvSpPr>
          <p:cNvPr id="4" name="圆角矩形 14"/>
          <p:cNvSpPr/>
          <p:nvPr/>
        </p:nvSpPr>
        <p:spPr>
          <a:xfrm>
            <a:off x="8720163" y="1428356"/>
            <a:ext cx="3075837" cy="1187963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制度依据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algn="ctr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制度依据展示固化的制度条款快照。</a:t>
            </a:r>
          </a:p>
        </p:txBody>
      </p:sp>
      <p:sp>
        <p:nvSpPr>
          <p:cNvPr id="8" name="圆角矩形 14"/>
          <p:cNvSpPr/>
          <p:nvPr/>
        </p:nvSpPr>
        <p:spPr>
          <a:xfrm>
            <a:off x="8720163" y="4020121"/>
            <a:ext cx="3075837" cy="1825655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实际证据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实际证据展示证据编号、类型、字段关系、证据值、来源、有效性和采集时间，支撑人工研判和后续审计。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6240" y="865505"/>
            <a:ext cx="1144143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b="1" dirty="0">
                <a:solidFill>
                  <a:schemeClr val="tx2"/>
                </a:solidFill>
                <a:ea typeface="+mj-ea"/>
                <a:sym typeface="+mn-ea"/>
              </a:rPr>
              <a:t>风险事件详情页</a:t>
            </a:r>
          </a:p>
          <a:p>
            <a:pPr lvl="0" defTabSz="457200">
              <a:lnSpc>
                <a:spcPts val="2600"/>
              </a:lnSpc>
              <a:defRPr/>
            </a:pPr>
            <a:r>
              <a:rPr kumimoji="1" lang="zh-CN" altLang="en-US" sz="1400" dirty="0">
                <a:solidFill>
                  <a:schemeClr val="tx2"/>
                </a:solidFill>
                <a:ea typeface="+mj-ea"/>
                <a:sym typeface="+mn-ea"/>
              </a:rPr>
              <a:t>围绕已确认风险完成事实查看、整改跟踪、监管复核和闭环留痕</a:t>
            </a:r>
          </a:p>
          <a:p>
            <a:pPr marR="0" lvl="0" indent="0" algn="l" defTabSz="457200" rtl="0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dirty="0">
                <a:solidFill>
                  <a:schemeClr val="tx2"/>
                </a:solidFill>
                <a:ea typeface="+mj-ea"/>
                <a:sym typeface="+mn-ea"/>
              </a:rPr>
              <a:t>用于承接已升级预警后的处置工作，清楚知道“风险事实是什么、来源证据是什么、当前处置到哪一步、下一步应该由谁完成”。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146473" y="2217957"/>
            <a:ext cx="3622964" cy="1211043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顶部展示风险等级、当前状态、来源预警、主对象、责任组织、当前处理人和截止时间。</a:t>
            </a:r>
          </a:p>
        </p:txBody>
      </p:sp>
      <p:sp>
        <p:nvSpPr>
          <p:cNvPr id="5" name="圆角矩形 14"/>
          <p:cNvSpPr/>
          <p:nvPr/>
        </p:nvSpPr>
        <p:spPr>
          <a:xfrm>
            <a:off x="8146473" y="4829062"/>
            <a:ext cx="3691197" cy="1472863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l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底部固定操作栏根据事件状态展示当前任务。未关闭事件支持转派；待整改事件支持提交整改；待复核事件支持监管复核；已关闭事件展示事件已闭环。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2131707"/>
            <a:ext cx="7566280" cy="417021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sp>
        <p:nvSpPr>
          <p:cNvPr id="13" name="圆角矩形 14"/>
          <p:cNvSpPr/>
          <p:nvPr/>
        </p:nvSpPr>
        <p:spPr>
          <a:xfrm>
            <a:off x="8239160" y="1126313"/>
            <a:ext cx="3412427" cy="2209627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风险事实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展示事件标题、来源预警的初始证据快照、规则版本和图谱版本，并说明后续材料以新增记录保存。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239161" y="4040536"/>
            <a:ext cx="3412427" cy="2303531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证据子图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复用来源预警升级时固化的证据图谱，展示节点、关系、事件和证据来源。用户可在风险链视图和完整本体视图之间切换，也可筛选核心证据链、仅命中关系、隐藏辅助关系或全部关系。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24" y="815011"/>
            <a:ext cx="7369583" cy="28322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396" y="3718324"/>
            <a:ext cx="5201037" cy="294795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sp>
        <p:nvSpPr>
          <p:cNvPr id="13" name="圆角矩形 14"/>
          <p:cNvSpPr/>
          <p:nvPr/>
        </p:nvSpPr>
        <p:spPr>
          <a:xfrm>
            <a:off x="8245941" y="1114937"/>
            <a:ext cx="3397957" cy="2097509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实际证据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展示来源预警关联证据，包括证据编号、结论、类型、字段或关系、证据值、来源、有效性和采集时间。用户可以通过证据记录定位到来源节点或来源记录。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8245941" y="4020411"/>
            <a:ext cx="3397957" cy="2167216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处理时间线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处理时间线记录预警生成、升级风险事件、当前处理人、整改提交、等待复核和复核关闭等流程节点。该区域用于还原事件从预警到闭环的完整处理过程。</a:t>
            </a:r>
          </a:p>
        </p:txBody>
      </p:sp>
      <p:pic>
        <p:nvPicPr>
          <p:cNvPr id="4" name="图片 3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19759" y="996949"/>
            <a:ext cx="7399347" cy="23334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759" y="3664978"/>
            <a:ext cx="7399347" cy="288364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</a:t>
            </a:r>
            <a:r>
              <a:rPr lang="en-US" altLang="zh-CN" dirty="0">
                <a:sym typeface="+mn-lt"/>
              </a:rPr>
              <a:t>-</a:t>
            </a:r>
            <a:r>
              <a:rPr lang="zh-CN" altLang="zh-CN" dirty="0"/>
              <a:t>风险监管</a:t>
            </a:r>
          </a:p>
        </p:txBody>
      </p:sp>
      <p:sp>
        <p:nvSpPr>
          <p:cNvPr id="13" name="圆角矩形 14"/>
          <p:cNvSpPr/>
          <p:nvPr/>
        </p:nvSpPr>
        <p:spPr>
          <a:xfrm>
            <a:off x="908897" y="2732426"/>
            <a:ext cx="10374205" cy="973357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整改反馈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ts val="2200"/>
              </a:lnSpc>
            </a:pPr>
            <a:r>
              <a:rPr kumimoji="1" lang="zh-CN" altLang="en-US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待整改状态下展示“尚未提交整改结果”；提交后展示整改反馈、最近提交人、整改说明和证明材料。整改材料作为补充证据新增保存，不覆盖来源预警的初始证据快照。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908895" y="5690135"/>
            <a:ext cx="10374207" cy="973357"/>
          </a:xfrm>
          <a:prstGeom prst="roundRect">
            <a:avLst/>
          </a:prstGeom>
          <a:noFill/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ctr" fontAlgn="auto">
              <a:lnSpc>
                <a:spcPts val="2200"/>
              </a:lnSpc>
            </a:pPr>
            <a:r>
              <a:rPr kumimoji="1"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复核记录</a:t>
            </a:r>
            <a:endParaRPr kumimoji="1" lang="en-US" altLang="zh-CN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ts val="2200"/>
              </a:lnSpc>
            </a:pPr>
            <a:r>
              <a:rPr kumimoji="1" lang="zh-CN" altLang="zh-CN" sz="1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展示监管复核状态，包括未进入复核、待复核和复核通过。待复核时提示监管人员选择通过、退回整改或不成立关闭；关闭后展示风险事实和整改材料完整、事件已关闭。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57" y="936713"/>
            <a:ext cx="10793286" cy="16996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357" y="3867706"/>
            <a:ext cx="10793284" cy="166050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风险监管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" name="五边形 5"/>
          <p:cNvSpPr/>
          <p:nvPr/>
        </p:nvSpPr>
        <p:spPr>
          <a:xfrm flipH="1">
            <a:off x="312942" y="3752890"/>
            <a:ext cx="2730487" cy="415637"/>
          </a:xfrm>
          <a:prstGeom prst="homePlate">
            <a:avLst>
              <a:gd name="adj" fmla="val 0"/>
            </a:avLst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预警与快照</a:t>
            </a:r>
          </a:p>
        </p:txBody>
      </p:sp>
      <p:sp>
        <p:nvSpPr>
          <p:cNvPr id="7" name="五边形 6"/>
          <p:cNvSpPr/>
          <p:nvPr/>
        </p:nvSpPr>
        <p:spPr>
          <a:xfrm flipH="1">
            <a:off x="2772232" y="3757986"/>
            <a:ext cx="2730487" cy="415637"/>
          </a:xfrm>
          <a:prstGeom prst="homePlate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人工研判</a:t>
            </a:r>
          </a:p>
        </p:txBody>
      </p:sp>
      <p:sp>
        <p:nvSpPr>
          <p:cNvPr id="8" name="五边形 7"/>
          <p:cNvSpPr/>
          <p:nvPr/>
        </p:nvSpPr>
        <p:spPr>
          <a:xfrm flipH="1">
            <a:off x="5296825" y="3757986"/>
            <a:ext cx="2730487" cy="415637"/>
          </a:xfrm>
          <a:prstGeom prst="homePlate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整改复核</a:t>
            </a:r>
          </a:p>
        </p:txBody>
      </p:sp>
      <p:sp>
        <p:nvSpPr>
          <p:cNvPr id="9" name="空心弧 8"/>
          <p:cNvSpPr/>
          <p:nvPr/>
        </p:nvSpPr>
        <p:spPr>
          <a:xfrm rot="5400000">
            <a:off x="8709297" y="961713"/>
            <a:ext cx="3171806" cy="3167716"/>
          </a:xfrm>
          <a:prstGeom prst="blockArc">
            <a:avLst>
              <a:gd name="adj1" fmla="val 10796676"/>
              <a:gd name="adj2" fmla="val 21492386"/>
              <a:gd name="adj3" fmla="val 11324"/>
            </a:avLst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0" name="五边形 9"/>
          <p:cNvSpPr/>
          <p:nvPr/>
        </p:nvSpPr>
        <p:spPr>
          <a:xfrm>
            <a:off x="297799" y="927830"/>
            <a:ext cx="2722388" cy="415637"/>
          </a:xfrm>
          <a:prstGeom prst="homePlate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本体与映射</a:t>
            </a:r>
          </a:p>
        </p:txBody>
      </p:sp>
      <p:sp>
        <p:nvSpPr>
          <p:cNvPr id="11" name="燕尾形 10"/>
          <p:cNvSpPr/>
          <p:nvPr/>
        </p:nvSpPr>
        <p:spPr>
          <a:xfrm>
            <a:off x="2796043" y="927586"/>
            <a:ext cx="2722391" cy="415637"/>
          </a:xfrm>
          <a:prstGeom prst="chevron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图谱与规则</a:t>
            </a:r>
          </a:p>
        </p:txBody>
      </p:sp>
      <p:sp>
        <p:nvSpPr>
          <p:cNvPr id="12" name="燕尾形 11"/>
          <p:cNvSpPr/>
          <p:nvPr/>
        </p:nvSpPr>
        <p:spPr>
          <a:xfrm>
            <a:off x="5296826" y="927831"/>
            <a:ext cx="2722391" cy="415637"/>
          </a:xfrm>
          <a:prstGeom prst="chevron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场景发布</a:t>
            </a:r>
          </a:p>
        </p:txBody>
      </p:sp>
      <p:sp>
        <p:nvSpPr>
          <p:cNvPr id="13" name="燕尾形 12"/>
          <p:cNvSpPr/>
          <p:nvPr/>
        </p:nvSpPr>
        <p:spPr>
          <a:xfrm>
            <a:off x="7787953" y="929671"/>
            <a:ext cx="2722391" cy="415637"/>
          </a:xfrm>
          <a:prstGeom prst="chevron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事件触发</a:t>
            </a:r>
          </a:p>
        </p:txBody>
      </p:sp>
      <p:sp>
        <p:nvSpPr>
          <p:cNvPr id="14" name="上箭头标注 13"/>
          <p:cNvSpPr/>
          <p:nvPr/>
        </p:nvSpPr>
        <p:spPr>
          <a:xfrm>
            <a:off x="8019216" y="1459086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业务事件或定时扫描触发规则计算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5" name="上箭头标注 14"/>
          <p:cNvSpPr/>
          <p:nvPr/>
        </p:nvSpPr>
        <p:spPr>
          <a:xfrm>
            <a:off x="5507032" y="1452452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组合领域、对象、范围、制度和证据要求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6" name="上箭头标注 15"/>
          <p:cNvSpPr/>
          <p:nvPr/>
        </p:nvSpPr>
        <p:spPr>
          <a:xfrm>
            <a:off x="2984189" y="1469888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发布图谱事实基线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校验并版本化规则资产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7" name="上箭头标注 16"/>
          <p:cNvSpPr/>
          <p:nvPr/>
        </p:nvSpPr>
        <p:spPr>
          <a:xfrm>
            <a:off x="501821" y="1469004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统一对象、关系和事件语义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登记来源并完成字段映射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8" name="上箭头标注 17"/>
          <p:cNvSpPr/>
          <p:nvPr/>
        </p:nvSpPr>
        <p:spPr>
          <a:xfrm>
            <a:off x="8039949" y="4226448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沉淀解除、升级和关闭样本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持续优化规则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9" name="上箭头标注 18"/>
          <p:cNvSpPr/>
          <p:nvPr/>
        </p:nvSpPr>
        <p:spPr>
          <a:xfrm>
            <a:off x="5516970" y="4231244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责任人整改</a:t>
            </a: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监管人员通过或退回复核</a:t>
            </a: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0" name="上箭头标注 19"/>
          <p:cNvSpPr/>
          <p:nvPr/>
        </p:nvSpPr>
        <p:spPr>
          <a:xfrm>
            <a:off x="2994127" y="4248680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查看证据、转派补充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解除或升级风险事件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1" name="上箭头标注 20"/>
          <p:cNvSpPr/>
          <p:nvPr/>
        </p:nvSpPr>
        <p:spPr>
          <a:xfrm>
            <a:off x="511759" y="4247796"/>
            <a:ext cx="2270411" cy="2148103"/>
          </a:xfrm>
          <a:prstGeom prst="upArrowCallout">
            <a:avLst>
              <a:gd name="adj1" fmla="val 25000"/>
              <a:gd name="adj2" fmla="val 4126"/>
              <a:gd name="adj3" fmla="val 4612"/>
              <a:gd name="adj4" fmla="val 96771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生成风险预警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r>
              <a:rPr kumimoji="1"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同时固化事实、来源和版本</a:t>
            </a: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marL="171450" indent="-17145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90204" pitchFamily="34" charset="0"/>
              <a:buChar char="•"/>
            </a:pPr>
            <a:endParaRPr kumimoji="1"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2" name="五边形 21"/>
          <p:cNvSpPr/>
          <p:nvPr/>
        </p:nvSpPr>
        <p:spPr>
          <a:xfrm flipH="1">
            <a:off x="7787381" y="3742328"/>
            <a:ext cx="2512184" cy="415637"/>
          </a:xfrm>
          <a:prstGeom prst="homePlate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508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效果复盘</a:t>
            </a: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420630" y="5029645"/>
            <a:ext cx="2502493" cy="621854"/>
          </a:xfrm>
          <a:prstGeom prst="ellipse">
            <a:avLst/>
          </a:prstGeom>
          <a:noFill/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435571" y="5693833"/>
            <a:ext cx="2472611" cy="412751"/>
          </a:xfrm>
          <a:prstGeom prst="ellipse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835908" y="5029645"/>
            <a:ext cx="2502493" cy="621854"/>
          </a:xfrm>
          <a:prstGeom prst="ellipse">
            <a:avLst/>
          </a:prstGeom>
          <a:noFill/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850849" y="5693833"/>
            <a:ext cx="2472611" cy="412751"/>
          </a:xfrm>
          <a:prstGeom prst="ellipse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271652" y="5029645"/>
            <a:ext cx="2502493" cy="621854"/>
          </a:xfrm>
          <a:prstGeom prst="ellipse">
            <a:avLst/>
          </a:prstGeom>
          <a:noFill/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8286593" y="5693833"/>
            <a:ext cx="2472611" cy="412751"/>
          </a:xfrm>
          <a:prstGeom prst="ellipse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2">
                  <a:lumMod val="25000"/>
                </a:schemeClr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480907" y="3888342"/>
            <a:ext cx="9212494" cy="862249"/>
          </a:xfrm>
          <a:prstGeom prst="ellipse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5400000" scaled="1"/>
          </a:gradFill>
          <a:ln>
            <a:gradFill>
              <a:gsLst>
                <a:gs pos="20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609694" y="2861733"/>
            <a:ext cx="2124364" cy="503767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501937" y="3144805"/>
            <a:ext cx="2339878" cy="578170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23063" y="2769681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规则条件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066582" y="241731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风险解释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17604" y="241731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证据快照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045845" y="27696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事实版本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169175" y="487796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触发依据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84452" y="487796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来源追溯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020197" y="487796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版本保护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859076" y="5300133"/>
            <a:ext cx="1625600" cy="5359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条件、实际值</a:t>
            </a:r>
            <a:endParaRPr lang="en-US" altLang="zh-CN" sz="12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关系路径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5274353" y="5300133"/>
            <a:ext cx="1625600" cy="5359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系统、记录</a:t>
            </a:r>
            <a:endParaRPr lang="en-US" altLang="zh-CN" sz="12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同步时间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8710098" y="5300133"/>
            <a:ext cx="1625600" cy="5359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本体、图谱</a:t>
            </a:r>
            <a:endParaRPr lang="en-US" altLang="zh-CN" sz="12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2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规则与场景</a:t>
            </a:r>
          </a:p>
        </p:txBody>
      </p:sp>
      <p:sp>
        <p:nvSpPr>
          <p:cNvPr id="23" name="椭圆 22"/>
          <p:cNvSpPr/>
          <p:nvPr/>
        </p:nvSpPr>
        <p:spPr>
          <a:xfrm>
            <a:off x="8460716" y="2861733"/>
            <a:ext cx="2124364" cy="503767"/>
          </a:xfrm>
          <a:prstGeom prst="ellipse">
            <a:avLst/>
          </a:prstGeom>
          <a:noFill/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8352959" y="3144805"/>
            <a:ext cx="2339878" cy="578170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3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 flipV="1">
            <a:off x="4378466" y="2596236"/>
            <a:ext cx="3417375" cy="1326614"/>
          </a:xfrm>
          <a:custGeom>
            <a:avLst/>
            <a:gdLst>
              <a:gd name="connsiteX0" fmla="*/ 0 w 3417375"/>
              <a:gd name="connsiteY0" fmla="*/ 1326614 h 1326614"/>
              <a:gd name="connsiteX1" fmla="*/ 14069 w 3417375"/>
              <a:gd name="connsiteY1" fmla="*/ 1320132 h 1326614"/>
              <a:gd name="connsiteX2" fmla="*/ 1708687 w 3417375"/>
              <a:gd name="connsiteY2" fmla="*/ 1096297 h 1326614"/>
              <a:gd name="connsiteX3" fmla="*/ 3403305 w 3417375"/>
              <a:gd name="connsiteY3" fmla="*/ 1320132 h 1326614"/>
              <a:gd name="connsiteX4" fmla="*/ 3417375 w 3417375"/>
              <a:gd name="connsiteY4" fmla="*/ 1326614 h 1326614"/>
              <a:gd name="connsiteX5" fmla="*/ 2427681 w 3417375"/>
              <a:gd name="connsiteY5" fmla="*/ 0 h 1326614"/>
              <a:gd name="connsiteX6" fmla="*/ 989693 w 3417375"/>
              <a:gd name="connsiteY6" fmla="*/ 0 h 1326614"/>
              <a:gd name="connsiteX7" fmla="*/ 0 w 3417375"/>
              <a:gd name="connsiteY7" fmla="*/ 1326614 h 1326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17375" h="1326614">
                <a:moveTo>
                  <a:pt x="0" y="1326614"/>
                </a:moveTo>
                <a:lnTo>
                  <a:pt x="14069" y="1320132"/>
                </a:lnTo>
                <a:cubicBezTo>
                  <a:pt x="340424" y="1186806"/>
                  <a:pt x="976929" y="1096297"/>
                  <a:pt x="1708687" y="1096297"/>
                </a:cubicBezTo>
                <a:cubicBezTo>
                  <a:pt x="2440446" y="1096297"/>
                  <a:pt x="3076951" y="1186806"/>
                  <a:pt x="3403305" y="1320132"/>
                </a:cubicBezTo>
                <a:lnTo>
                  <a:pt x="3417375" y="1326614"/>
                </a:lnTo>
                <a:lnTo>
                  <a:pt x="2427681" y="0"/>
                </a:lnTo>
                <a:lnTo>
                  <a:pt x="989693" y="0"/>
                </a:lnTo>
                <a:lnTo>
                  <a:pt x="0" y="1326614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4159929" y="1971143"/>
            <a:ext cx="3854448" cy="855410"/>
          </a:xfrm>
          <a:prstGeom prst="ellipse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6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738340" y="151290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预警</a:t>
            </a:r>
          </a:p>
        </p:txBody>
      </p:sp>
      <p:sp>
        <p:nvSpPr>
          <p:cNvPr id="28" name="椭圆 27"/>
          <p:cNvSpPr/>
          <p:nvPr/>
        </p:nvSpPr>
        <p:spPr>
          <a:xfrm>
            <a:off x="4918753" y="1618431"/>
            <a:ext cx="2336800" cy="503767"/>
          </a:xfrm>
          <a:prstGeom prst="ellipse">
            <a:avLst/>
          </a:prstGeom>
          <a:noFill/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800220" y="1901503"/>
            <a:ext cx="2573866" cy="578170"/>
          </a:xfrm>
          <a:prstGeom prst="ellipse">
            <a:avLst/>
          </a:prstGeom>
          <a:gradFill>
            <a:gsLst>
              <a:gs pos="0">
                <a:schemeClr val="accent2">
                  <a:alpha val="0"/>
                </a:schemeClr>
              </a:gs>
              <a:gs pos="100000">
                <a:schemeClr val="accent2">
                  <a:alpha val="19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817212" y="3938436"/>
            <a:ext cx="2438400" cy="5193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不可覆盖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533155" y="32819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证据</a:t>
            </a:r>
          </a:p>
        </p:txBody>
      </p:sp>
      <p:sp>
        <p:nvSpPr>
          <p:cNvPr id="35" name="椭圆 34"/>
          <p:cNvSpPr/>
          <p:nvPr/>
        </p:nvSpPr>
        <p:spPr>
          <a:xfrm>
            <a:off x="3885314" y="2226597"/>
            <a:ext cx="4403678" cy="946836"/>
          </a:xfrm>
          <a:prstGeom prst="ellipse">
            <a:avLst/>
          </a:prstGeom>
          <a:noFill/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1147" y="1100908"/>
            <a:ext cx="9286412" cy="455930"/>
          </a:xfrm>
        </p:spPr>
        <p:txBody>
          <a:bodyPr/>
          <a:lstStyle/>
          <a:p>
            <a:r>
              <a:rPr lang="zh-CN" altLang="en-US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预警生成即固化证据</a:t>
            </a:r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32" name="标题 3">
            <a:extLst>
              <a:ext uri="{FF2B5EF4-FFF2-40B4-BE49-F238E27FC236}">
                <a16:creationId xmlns:a16="http://schemas.microsoft.com/office/drawing/2014/main" id="{9F70E487-573B-1F52-5773-EC6FA6F71331}"/>
              </a:ext>
            </a:extLst>
          </p:cNvPr>
          <p:cNvSpPr txBox="1">
            <a:spLocks/>
          </p:cNvSpPr>
          <p:nvPr/>
        </p:nvSpPr>
        <p:spPr>
          <a:xfrm>
            <a:off x="396000" y="288000"/>
            <a:ext cx="9286412" cy="455930"/>
          </a:xfrm>
          <a:prstGeom prst="rect">
            <a:avLst/>
          </a:prstGeom>
          <a:noFill/>
        </p:spPr>
        <p:txBody>
          <a:bodyPr wrap="square" tIns="36195" bIns="36195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accent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风险监管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场景与规则</a:t>
            </a:r>
            <a:endParaRPr kumimoji="1" lang="zh-CN" altLang="en-US" dirty="0"/>
          </a:p>
        </p:txBody>
      </p:sp>
      <p:sp>
        <p:nvSpPr>
          <p:cNvPr id="32" name="空心弧 31"/>
          <p:cNvSpPr/>
          <p:nvPr/>
        </p:nvSpPr>
        <p:spPr>
          <a:xfrm rot="16200000" flipH="1">
            <a:off x="1952329" y="947804"/>
            <a:ext cx="5358765" cy="5233670"/>
          </a:xfrm>
          <a:prstGeom prst="blockArc">
            <a:avLst>
              <a:gd name="adj1" fmla="val 12070388"/>
              <a:gd name="adj2" fmla="val 20133900"/>
              <a:gd name="adj3" fmla="val 21040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33" name="空心弧 32"/>
          <p:cNvSpPr/>
          <p:nvPr/>
        </p:nvSpPr>
        <p:spPr>
          <a:xfrm rot="5400000">
            <a:off x="4534239" y="947804"/>
            <a:ext cx="5358765" cy="5233670"/>
          </a:xfrm>
          <a:prstGeom prst="blockArc">
            <a:avLst>
              <a:gd name="adj1" fmla="val 12070388"/>
              <a:gd name="adj2" fmla="val 20359501"/>
              <a:gd name="adj3" fmla="val 21477"/>
            </a:avLst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3596958" y="2602230"/>
            <a:ext cx="1924685" cy="192468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941128" y="3613150"/>
            <a:ext cx="123634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规则资产</a:t>
            </a:r>
          </a:p>
        </p:txBody>
      </p:sp>
      <p:pic>
        <p:nvPicPr>
          <p:cNvPr id="36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0855" y="3096260"/>
            <a:ext cx="516890" cy="516890"/>
          </a:xfrm>
          <a:prstGeom prst="rect">
            <a:avLst/>
          </a:prstGeom>
        </p:spPr>
      </p:pic>
      <p:sp>
        <p:nvSpPr>
          <p:cNvPr id="48" name="椭圆 47"/>
          <p:cNvSpPr/>
          <p:nvPr/>
        </p:nvSpPr>
        <p:spPr>
          <a:xfrm>
            <a:off x="2804160" y="165798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258060" y="263144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2258060" y="374777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2804160" y="467804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6416358" y="2602230"/>
            <a:ext cx="1924685" cy="192468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760528" y="3613150"/>
            <a:ext cx="123634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风险场景</a:t>
            </a:r>
          </a:p>
        </p:txBody>
      </p:sp>
      <p:pic>
        <p:nvPicPr>
          <p:cNvPr id="59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0255" y="3096260"/>
            <a:ext cx="516890" cy="516890"/>
          </a:xfrm>
          <a:prstGeom prst="rect">
            <a:avLst/>
          </a:prstGeom>
        </p:spPr>
      </p:pic>
      <p:sp>
        <p:nvSpPr>
          <p:cNvPr id="60" name="椭圆 59"/>
          <p:cNvSpPr/>
          <p:nvPr/>
        </p:nvSpPr>
        <p:spPr>
          <a:xfrm>
            <a:off x="8265160" y="165798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8811260" y="263144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2" name="椭圆 61"/>
          <p:cNvSpPr/>
          <p:nvPr/>
        </p:nvSpPr>
        <p:spPr>
          <a:xfrm>
            <a:off x="8785860" y="3747770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3" name="椭圆 62"/>
          <p:cNvSpPr/>
          <p:nvPr/>
        </p:nvSpPr>
        <p:spPr>
          <a:xfrm>
            <a:off x="8265160" y="4678045"/>
            <a:ext cx="793115" cy="79311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rIns="9144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16033" y="174656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属性判断</a:t>
            </a:r>
          </a:p>
        </p:txBody>
      </p:sp>
      <p:sp>
        <p:nvSpPr>
          <p:cNvPr id="66" name="矩形 65"/>
          <p:cNvSpPr/>
          <p:nvPr/>
        </p:nvSpPr>
        <p:spPr>
          <a:xfrm>
            <a:off x="178518" y="2887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对象比对</a:t>
            </a:r>
          </a:p>
        </p:txBody>
      </p:sp>
      <p:sp>
        <p:nvSpPr>
          <p:cNvPr id="67" name="矩形 66"/>
          <p:cNvSpPr/>
          <p:nvPr/>
        </p:nvSpPr>
        <p:spPr>
          <a:xfrm>
            <a:off x="203918" y="40554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关系路径</a:t>
            </a:r>
          </a:p>
        </p:txBody>
      </p:sp>
      <p:sp>
        <p:nvSpPr>
          <p:cNvPr id="68" name="矩形 67"/>
          <p:cNvSpPr/>
          <p:nvPr/>
        </p:nvSpPr>
        <p:spPr>
          <a:xfrm>
            <a:off x="680803" y="5046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时序聚合</a:t>
            </a:r>
          </a:p>
        </p:txBody>
      </p:sp>
      <p:sp>
        <p:nvSpPr>
          <p:cNvPr id="69" name="矩形 68"/>
          <p:cNvSpPr/>
          <p:nvPr/>
        </p:nvSpPr>
        <p:spPr>
          <a:xfrm>
            <a:off x="9547075" y="5046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证据制度</a:t>
            </a:r>
          </a:p>
        </p:txBody>
      </p:sp>
      <p:sp>
        <p:nvSpPr>
          <p:cNvPr id="70" name="矩形 69"/>
          <p:cNvSpPr/>
          <p:nvPr/>
        </p:nvSpPr>
        <p:spPr>
          <a:xfrm>
            <a:off x="9908390" y="406431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组织范围</a:t>
            </a:r>
          </a:p>
        </p:txBody>
      </p:sp>
      <p:sp>
        <p:nvSpPr>
          <p:cNvPr id="71" name="矩形 70"/>
          <p:cNvSpPr/>
          <p:nvPr/>
        </p:nvSpPr>
        <p:spPr>
          <a:xfrm>
            <a:off x="9907755" y="288702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目标事件</a:t>
            </a:r>
          </a:p>
        </p:txBody>
      </p:sp>
      <p:sp>
        <p:nvSpPr>
          <p:cNvPr id="72" name="矩形 71"/>
          <p:cNvSpPr/>
          <p:nvPr/>
        </p:nvSpPr>
        <p:spPr>
          <a:xfrm>
            <a:off x="9572475" y="1746568"/>
            <a:ext cx="1728000" cy="28130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领域对象</a:t>
            </a:r>
          </a:p>
        </p:txBody>
      </p:sp>
      <p:sp>
        <p:nvSpPr>
          <p:cNvPr id="76" name="任意多边形 75"/>
          <p:cNvSpPr/>
          <p:nvPr/>
        </p:nvSpPr>
        <p:spPr>
          <a:xfrm>
            <a:off x="5686425" y="3204845"/>
            <a:ext cx="512445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1" h="502">
                <a:moveTo>
                  <a:pt x="0" y="211"/>
                </a:moveTo>
                <a:lnTo>
                  <a:pt x="573" y="211"/>
                </a:lnTo>
                <a:lnTo>
                  <a:pt x="573" y="0"/>
                </a:lnTo>
                <a:lnTo>
                  <a:pt x="1171" y="502"/>
                </a:lnTo>
                <a:lnTo>
                  <a:pt x="0" y="502"/>
                </a:lnTo>
                <a:lnTo>
                  <a:pt x="0" y="21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60000">
                <a:schemeClr val="accent2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79" name="任意多边形 78"/>
          <p:cNvSpPr/>
          <p:nvPr/>
        </p:nvSpPr>
        <p:spPr>
          <a:xfrm rot="10800000">
            <a:off x="5739765" y="3492500"/>
            <a:ext cx="512445" cy="2197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1" h="502">
                <a:moveTo>
                  <a:pt x="0" y="211"/>
                </a:moveTo>
                <a:lnTo>
                  <a:pt x="573" y="211"/>
                </a:lnTo>
                <a:lnTo>
                  <a:pt x="573" y="0"/>
                </a:lnTo>
                <a:lnTo>
                  <a:pt x="1171" y="502"/>
                </a:lnTo>
                <a:lnTo>
                  <a:pt x="0" y="502"/>
                </a:lnTo>
                <a:lnTo>
                  <a:pt x="0" y="21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0"/>
                </a:schemeClr>
              </a:gs>
              <a:gs pos="60000">
                <a:schemeClr val="accent2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pic>
        <p:nvPicPr>
          <p:cNvPr id="80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4967" y="1862280"/>
            <a:ext cx="360000" cy="360000"/>
          </a:xfrm>
          <a:prstGeom prst="rect">
            <a:avLst/>
          </a:prstGeom>
        </p:spPr>
      </p:pic>
      <p:pic>
        <p:nvPicPr>
          <p:cNvPr id="81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867" y="2850975"/>
            <a:ext cx="360000" cy="360000"/>
          </a:xfrm>
          <a:prstGeom prst="rect">
            <a:avLst/>
          </a:prstGeom>
        </p:spPr>
      </p:pic>
      <p:pic>
        <p:nvPicPr>
          <p:cNvPr id="82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867" y="3969845"/>
            <a:ext cx="360000" cy="360000"/>
          </a:xfrm>
          <a:prstGeom prst="rect">
            <a:avLst/>
          </a:prstGeom>
        </p:spPr>
      </p:pic>
      <p:pic>
        <p:nvPicPr>
          <p:cNvPr id="83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15602" y="4896310"/>
            <a:ext cx="360000" cy="360000"/>
          </a:xfrm>
          <a:prstGeom prst="rect">
            <a:avLst/>
          </a:prstGeom>
        </p:spPr>
      </p:pic>
      <p:pic>
        <p:nvPicPr>
          <p:cNvPr id="84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602" y="4881070"/>
            <a:ext cx="360000" cy="360000"/>
          </a:xfrm>
          <a:prstGeom prst="rect">
            <a:avLst/>
          </a:prstGeom>
        </p:spPr>
      </p:pic>
      <p:pic>
        <p:nvPicPr>
          <p:cNvPr id="85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5557" y="3953335"/>
            <a:ext cx="360000" cy="360000"/>
          </a:xfrm>
          <a:prstGeom prst="rect">
            <a:avLst/>
          </a:prstGeom>
        </p:spPr>
      </p:pic>
      <p:pic>
        <p:nvPicPr>
          <p:cNvPr id="86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45562" y="2845895"/>
            <a:ext cx="360000" cy="360000"/>
          </a:xfrm>
          <a:prstGeom prst="rect">
            <a:avLst/>
          </a:prstGeom>
        </p:spPr>
      </p:pic>
      <p:pic>
        <p:nvPicPr>
          <p:cNvPr id="87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4857" y="1871805"/>
            <a:ext cx="360000" cy="3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61086CA-FEB7-B9A4-A05F-658C3EC0DBB3}"/>
              </a:ext>
            </a:extLst>
          </p:cNvPr>
          <p:cNvSpPr txBox="1"/>
          <p:nvPr/>
        </p:nvSpPr>
        <p:spPr>
          <a:xfrm>
            <a:off x="4395407" y="1194892"/>
            <a:ext cx="6094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chemeClr val="tx2"/>
                </a:solidFill>
              </a:rPr>
              <a:t>规则复用，场景编排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B574-C16B-B85B-1394-0ECDDA88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8728A16A-964E-C892-E50E-0428FF48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场景与规则</a:t>
            </a:r>
            <a:endParaRPr lang="zh-CN" altLang="en-US" dirty="0"/>
          </a:p>
        </p:txBody>
      </p:sp>
      <p:sp>
        <p:nvSpPr>
          <p:cNvPr id="49" name="Line 5">
            <a:extLst>
              <a:ext uri="{FF2B5EF4-FFF2-40B4-BE49-F238E27FC236}">
                <a16:creationId xmlns:a16="http://schemas.microsoft.com/office/drawing/2014/main" id="{67E0189B-560A-CEB7-AEBA-9F7CB90C943D}"/>
              </a:ext>
            </a:extLst>
          </p:cNvPr>
          <p:cNvSpPr/>
          <p:nvPr/>
        </p:nvSpPr>
        <p:spPr>
          <a:xfrm>
            <a:off x="595122" y="1017814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CE8FA"/>
            </a:solidFill>
          </a:ln>
        </p:spPr>
      </p:sp>
      <p:sp>
        <p:nvSpPr>
          <p:cNvPr id="50" name="TextBox 6">
            <a:extLst>
              <a:ext uri="{FF2B5EF4-FFF2-40B4-BE49-F238E27FC236}">
                <a16:creationId xmlns:a16="http://schemas.microsoft.com/office/drawing/2014/main" id="{00076337-B8E1-4F52-C438-410ADC0D4BD2}"/>
              </a:ext>
            </a:extLst>
          </p:cNvPr>
          <p:cNvSpPr txBox="1"/>
          <p:nvPr/>
        </p:nvSpPr>
        <p:spPr>
          <a:xfrm>
            <a:off x="580644" y="1167356"/>
            <a:ext cx="768311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28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场景与规则：把制度要求沉淀为可运营配置</a:t>
            </a:r>
          </a:p>
        </p:txBody>
      </p:sp>
      <p:grpSp>
        <p:nvGrpSpPr>
          <p:cNvPr id="51" name="Group 17">
            <a:extLst>
              <a:ext uri="{FF2B5EF4-FFF2-40B4-BE49-F238E27FC236}">
                <a16:creationId xmlns:a16="http://schemas.microsoft.com/office/drawing/2014/main" id="{60C5CF36-B09D-C0B4-6EF6-6DA95088E5BA}"/>
              </a:ext>
            </a:extLst>
          </p:cNvPr>
          <p:cNvGrpSpPr/>
          <p:nvPr/>
        </p:nvGrpSpPr>
        <p:grpSpPr>
          <a:xfrm>
            <a:off x="584454" y="2050324"/>
            <a:ext cx="2068068" cy="3082290"/>
            <a:chOff x="598932" y="1832610"/>
            <a:chExt cx="2068068" cy="3082290"/>
          </a:xfrm>
        </p:grpSpPr>
        <p:sp>
          <p:nvSpPr>
            <p:cNvPr id="52" name="TextBox 8">
              <a:extLst>
                <a:ext uri="{FF2B5EF4-FFF2-40B4-BE49-F238E27FC236}">
                  <a16:creationId xmlns:a16="http://schemas.microsoft.com/office/drawing/2014/main" id="{0FAD8443-0079-A4FB-5CAF-938F2ED453A4}"/>
                </a:ext>
              </a:extLst>
            </p:cNvPr>
            <p:cNvSpPr txBox="1"/>
            <p:nvPr/>
          </p:nvSpPr>
          <p:spPr>
            <a:xfrm>
              <a:off x="603504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制度输入</a:t>
              </a:r>
            </a:p>
          </p:txBody>
        </p:sp>
        <p:sp>
          <p:nvSpPr>
            <p:cNvPr id="53" name="Line 9">
              <a:extLst>
                <a:ext uri="{FF2B5EF4-FFF2-40B4-BE49-F238E27FC236}">
                  <a16:creationId xmlns:a16="http://schemas.microsoft.com/office/drawing/2014/main" id="{A45F8FFC-EC74-2E05-6808-D92F39BDABA8}"/>
                </a:ext>
              </a:extLst>
            </p:cNvPr>
            <p:cNvSpPr/>
            <p:nvPr/>
          </p:nvSpPr>
          <p:spPr>
            <a:xfrm>
              <a:off x="609600" y="213360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54" name="TextBox 10">
              <a:extLst>
                <a:ext uri="{FF2B5EF4-FFF2-40B4-BE49-F238E27FC236}">
                  <a16:creationId xmlns:a16="http://schemas.microsoft.com/office/drawing/2014/main" id="{126C8D95-CC86-C8A7-A29C-D8FBBC4BA45C}"/>
                </a:ext>
              </a:extLst>
            </p:cNvPr>
            <p:cNvSpPr txBox="1"/>
            <p:nvPr/>
          </p:nvSpPr>
          <p:spPr>
            <a:xfrm>
              <a:off x="598932" y="23450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监管制度</a:t>
              </a:r>
            </a:p>
          </p:txBody>
        </p:sp>
        <p:sp>
          <p:nvSpPr>
            <p:cNvPr id="55" name="TextBox 11">
              <a:extLst>
                <a:ext uri="{FF2B5EF4-FFF2-40B4-BE49-F238E27FC236}">
                  <a16:creationId xmlns:a16="http://schemas.microsoft.com/office/drawing/2014/main" id="{B84112FE-C783-1E49-5CFE-5421CB38B3C6}"/>
                </a:ext>
              </a:extLst>
            </p:cNvPr>
            <p:cNvSpPr txBox="1"/>
            <p:nvPr/>
          </p:nvSpPr>
          <p:spPr>
            <a:xfrm>
              <a:off x="602742" y="2807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条款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口径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责任</a:t>
              </a:r>
            </a:p>
          </p:txBody>
        </p:sp>
        <p:sp>
          <p:nvSpPr>
            <p:cNvPr id="56" name="TextBox 12">
              <a:extLst>
                <a:ext uri="{FF2B5EF4-FFF2-40B4-BE49-F238E27FC236}">
                  <a16:creationId xmlns:a16="http://schemas.microsoft.com/office/drawing/2014/main" id="{3A1C810F-EFEA-25B1-8B5B-8186EC5BC31F}"/>
                </a:ext>
              </a:extLst>
            </p:cNvPr>
            <p:cNvSpPr txBox="1"/>
            <p:nvPr/>
          </p:nvSpPr>
          <p:spPr>
            <a:xfrm>
              <a:off x="602742" y="3188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阈值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例外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</a:t>
              </a:r>
            </a:p>
          </p:txBody>
        </p: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9E6E66F5-5C57-D8CA-6C75-89DF4F5239FB}"/>
                </a:ext>
              </a:extLst>
            </p:cNvPr>
            <p:cNvSpPr/>
            <p:nvPr/>
          </p:nvSpPr>
          <p:spPr>
            <a:xfrm>
              <a:off x="609600" y="3790950"/>
              <a:ext cx="2057400" cy="112395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58" name="TextBox 14">
              <a:extLst>
                <a:ext uri="{FF2B5EF4-FFF2-40B4-BE49-F238E27FC236}">
                  <a16:creationId xmlns:a16="http://schemas.microsoft.com/office/drawing/2014/main" id="{B3628674-4B20-EC77-65D0-1D576CA14DB3}"/>
                </a:ext>
              </a:extLst>
            </p:cNvPr>
            <p:cNvSpPr txBox="1"/>
            <p:nvPr/>
          </p:nvSpPr>
          <p:spPr>
            <a:xfrm>
              <a:off x="794004" y="3966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转译原则</a:t>
              </a:r>
            </a:p>
          </p:txBody>
        </p:sp>
        <p:sp>
          <p:nvSpPr>
            <p:cNvPr id="59" name="TextBox 15">
              <a:extLst>
                <a:ext uri="{FF2B5EF4-FFF2-40B4-BE49-F238E27FC236}">
                  <a16:creationId xmlns:a16="http://schemas.microsoft.com/office/drawing/2014/main" id="{C4F4DE79-25E7-25A9-88D7-34C24F674B5F}"/>
                </a:ext>
              </a:extLst>
            </p:cNvPr>
            <p:cNvSpPr txBox="1"/>
            <p:nvPr/>
          </p:nvSpPr>
          <p:spPr>
            <a:xfrm>
              <a:off x="793242" y="4292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先定义监管问题</a:t>
              </a:r>
            </a:p>
          </p:txBody>
        </p:sp>
        <p:sp>
          <p:nvSpPr>
            <p:cNvPr id="60" name="TextBox 16">
              <a:extLst>
                <a:ext uri="{FF2B5EF4-FFF2-40B4-BE49-F238E27FC236}">
                  <a16:creationId xmlns:a16="http://schemas.microsoft.com/office/drawing/2014/main" id="{1BC7859F-FF38-3112-3BDA-D604322E173C}"/>
                </a:ext>
              </a:extLst>
            </p:cNvPr>
            <p:cNvSpPr txBox="1"/>
            <p:nvPr/>
          </p:nvSpPr>
          <p:spPr>
            <a:xfrm>
              <a:off x="793242" y="4578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再组织规则资产</a:t>
              </a:r>
            </a:p>
          </p:txBody>
        </p:sp>
      </p:grpSp>
      <p:grpSp>
        <p:nvGrpSpPr>
          <p:cNvPr id="61" name="Group 31">
            <a:extLst>
              <a:ext uri="{FF2B5EF4-FFF2-40B4-BE49-F238E27FC236}">
                <a16:creationId xmlns:a16="http://schemas.microsoft.com/office/drawing/2014/main" id="{CF23E33B-823F-9C83-BE3C-8DD4D2094027}"/>
              </a:ext>
            </a:extLst>
          </p:cNvPr>
          <p:cNvGrpSpPr/>
          <p:nvPr/>
        </p:nvGrpSpPr>
        <p:grpSpPr>
          <a:xfrm>
            <a:off x="3262122" y="1970314"/>
            <a:ext cx="4514850" cy="3638550"/>
            <a:chOff x="3276600" y="1752600"/>
            <a:chExt cx="4514850" cy="3638550"/>
          </a:xfrm>
        </p:grpSpPr>
        <p:sp>
          <p:nvSpPr>
            <p:cNvPr id="62" name="Rectangle 18">
              <a:extLst>
                <a:ext uri="{FF2B5EF4-FFF2-40B4-BE49-F238E27FC236}">
                  <a16:creationId xmlns:a16="http://schemas.microsoft.com/office/drawing/2014/main" id="{23AE8248-E101-75E9-CF1D-DD0466F9454C}"/>
                </a:ext>
              </a:extLst>
            </p:cNvPr>
            <p:cNvSpPr/>
            <p:nvPr/>
          </p:nvSpPr>
          <p:spPr>
            <a:xfrm>
              <a:off x="3276600" y="1752600"/>
              <a:ext cx="4514850" cy="363855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63" name="TextBox 19">
              <a:extLst>
                <a:ext uri="{FF2B5EF4-FFF2-40B4-BE49-F238E27FC236}">
                  <a16:creationId xmlns:a16="http://schemas.microsoft.com/office/drawing/2014/main" id="{57E5052C-7926-F0E2-C4B4-7629289F87D7}"/>
                </a:ext>
              </a:extLst>
            </p:cNvPr>
            <p:cNvSpPr txBox="1"/>
            <p:nvPr/>
          </p:nvSpPr>
          <p:spPr>
            <a:xfrm>
              <a:off x="3499104" y="1927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配置中心</a:t>
              </a:r>
            </a:p>
          </p:txBody>
        </p:sp>
        <p:sp>
          <p:nvSpPr>
            <p:cNvPr id="64" name="TextBox 20">
              <a:extLst>
                <a:ext uri="{FF2B5EF4-FFF2-40B4-BE49-F238E27FC236}">
                  <a16:creationId xmlns:a16="http://schemas.microsoft.com/office/drawing/2014/main" id="{EABB1AEA-E7CB-1EC1-BFC7-B9B2231725A3}"/>
                </a:ext>
              </a:extLst>
            </p:cNvPr>
            <p:cNvSpPr txBox="1"/>
            <p:nvPr/>
          </p:nvSpPr>
          <p:spPr>
            <a:xfrm>
              <a:off x="3494532" y="22307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场景版本是发布单元</a:t>
              </a:r>
            </a:p>
          </p:txBody>
        </p:sp>
        <p:sp>
          <p:nvSpPr>
            <p:cNvPr id="65" name="Line 21">
              <a:extLst>
                <a:ext uri="{FF2B5EF4-FFF2-40B4-BE49-F238E27FC236}">
                  <a16:creationId xmlns:a16="http://schemas.microsoft.com/office/drawing/2014/main" id="{72E77A88-D53C-9E22-5A91-7A28805819A4}"/>
                </a:ext>
              </a:extLst>
            </p:cNvPr>
            <p:cNvSpPr/>
            <p:nvPr/>
          </p:nvSpPr>
          <p:spPr>
            <a:xfrm>
              <a:off x="3505200" y="26479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66" name="TextBox 22">
              <a:extLst>
                <a:ext uri="{FF2B5EF4-FFF2-40B4-BE49-F238E27FC236}">
                  <a16:creationId xmlns:a16="http://schemas.microsoft.com/office/drawing/2014/main" id="{94E07AC1-0FC1-9140-4502-B40CDF839BA6}"/>
                </a:ext>
              </a:extLst>
            </p:cNvPr>
            <p:cNvSpPr txBox="1"/>
            <p:nvPr/>
          </p:nvSpPr>
          <p:spPr>
            <a:xfrm>
              <a:off x="3497580" y="28860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风险场景</a:t>
              </a:r>
            </a:p>
          </p:txBody>
        </p:sp>
        <p:sp>
          <p:nvSpPr>
            <p:cNvPr id="67" name="TextBox 23">
              <a:extLst>
                <a:ext uri="{FF2B5EF4-FFF2-40B4-BE49-F238E27FC236}">
                  <a16:creationId xmlns:a16="http://schemas.microsoft.com/office/drawing/2014/main" id="{A4A7776C-9695-2FB5-295F-890F672C2A6C}"/>
                </a:ext>
              </a:extLst>
            </p:cNvPr>
            <p:cNvSpPr txBox="1"/>
            <p:nvPr/>
          </p:nvSpPr>
          <p:spPr>
            <a:xfrm>
              <a:off x="4946142" y="290226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主题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组织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范围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</a:t>
              </a:r>
            </a:p>
          </p:txBody>
        </p:sp>
        <p:sp>
          <p:nvSpPr>
            <p:cNvPr id="68" name="Line 24">
              <a:extLst>
                <a:ext uri="{FF2B5EF4-FFF2-40B4-BE49-F238E27FC236}">
                  <a16:creationId xmlns:a16="http://schemas.microsoft.com/office/drawing/2014/main" id="{E8157AC7-B2FE-A36F-B45C-C5C72D1062AA}"/>
                </a:ext>
              </a:extLst>
            </p:cNvPr>
            <p:cNvSpPr/>
            <p:nvPr/>
          </p:nvSpPr>
          <p:spPr>
            <a:xfrm>
              <a:off x="3505200" y="32766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69" name="TextBox 25">
              <a:extLst>
                <a:ext uri="{FF2B5EF4-FFF2-40B4-BE49-F238E27FC236}">
                  <a16:creationId xmlns:a16="http://schemas.microsoft.com/office/drawing/2014/main" id="{5B868A39-5D78-4C89-1C56-AE5C2A0E6F07}"/>
                </a:ext>
              </a:extLst>
            </p:cNvPr>
            <p:cNvSpPr txBox="1"/>
            <p:nvPr/>
          </p:nvSpPr>
          <p:spPr>
            <a:xfrm>
              <a:off x="3497580" y="3514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规则资产</a:t>
              </a:r>
            </a:p>
          </p:txBody>
        </p:sp>
        <p:sp>
          <p:nvSpPr>
            <p:cNvPr id="70" name="TextBox 26">
              <a:extLst>
                <a:ext uri="{FF2B5EF4-FFF2-40B4-BE49-F238E27FC236}">
                  <a16:creationId xmlns:a16="http://schemas.microsoft.com/office/drawing/2014/main" id="{3F36FB72-CE6B-71E9-D209-C0BAC916B854}"/>
                </a:ext>
              </a:extLst>
            </p:cNvPr>
            <p:cNvSpPr txBox="1"/>
            <p:nvPr/>
          </p:nvSpPr>
          <p:spPr>
            <a:xfrm>
              <a:off x="4946142" y="35309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条件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阈值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等级 </a:t>
              </a:r>
              <a:r>
                <a:rPr kumimoji="0" lang="en-US" altLang="zh-CN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版本</a:t>
              </a:r>
            </a:p>
          </p:txBody>
        </p:sp>
        <p:sp>
          <p:nvSpPr>
            <p:cNvPr id="71" name="Line 27">
              <a:extLst>
                <a:ext uri="{FF2B5EF4-FFF2-40B4-BE49-F238E27FC236}">
                  <a16:creationId xmlns:a16="http://schemas.microsoft.com/office/drawing/2014/main" id="{A6C87ED7-4933-D4BE-7D86-AB96A181BD6B}"/>
                </a:ext>
              </a:extLst>
            </p:cNvPr>
            <p:cNvSpPr/>
            <p:nvPr/>
          </p:nvSpPr>
          <p:spPr>
            <a:xfrm>
              <a:off x="3505200" y="390525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74" name="TextBox 30">
              <a:extLst>
                <a:ext uri="{FF2B5EF4-FFF2-40B4-BE49-F238E27FC236}">
                  <a16:creationId xmlns:a16="http://schemas.microsoft.com/office/drawing/2014/main" id="{CB1CB0FE-2889-2AD3-E969-10A8E2DACC71}"/>
                </a:ext>
              </a:extLst>
            </p:cNvPr>
            <p:cNvSpPr txBox="1"/>
            <p:nvPr/>
          </p:nvSpPr>
          <p:spPr>
            <a:xfrm>
              <a:off x="3499104" y="4842510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一项规则可被多个场景复用，依赖关系随版本固化</a:t>
              </a:r>
            </a:p>
          </p:txBody>
        </p:sp>
      </p:grpSp>
      <p:grpSp>
        <p:nvGrpSpPr>
          <p:cNvPr id="75" name="Group 45">
            <a:extLst>
              <a:ext uri="{FF2B5EF4-FFF2-40B4-BE49-F238E27FC236}">
                <a16:creationId xmlns:a16="http://schemas.microsoft.com/office/drawing/2014/main" id="{6AF76D92-7C14-5EB2-0121-0212CDD9CB16}"/>
              </a:ext>
            </a:extLst>
          </p:cNvPr>
          <p:cNvGrpSpPr/>
          <p:nvPr/>
        </p:nvGrpSpPr>
        <p:grpSpPr>
          <a:xfrm>
            <a:off x="8189976" y="2050324"/>
            <a:ext cx="1328699" cy="3333941"/>
            <a:chOff x="8204454" y="1832610"/>
            <a:chExt cx="1328699" cy="3333941"/>
          </a:xfrm>
        </p:grpSpPr>
        <p:sp>
          <p:nvSpPr>
            <p:cNvPr id="76" name="TextBox 32">
              <a:extLst>
                <a:ext uri="{FF2B5EF4-FFF2-40B4-BE49-F238E27FC236}">
                  <a16:creationId xmlns:a16="http://schemas.microsoft.com/office/drawing/2014/main" id="{73FC1307-4F23-C298-33E1-F7068347295D}"/>
                </a:ext>
              </a:extLst>
            </p:cNvPr>
            <p:cNvSpPr txBox="1"/>
            <p:nvPr/>
          </p:nvSpPr>
          <p:spPr>
            <a:xfrm>
              <a:off x="8204454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发布链路</a:t>
              </a:r>
            </a:p>
          </p:txBody>
        </p:sp>
        <p:sp>
          <p:nvSpPr>
            <p:cNvPr id="77" name="Line 33">
              <a:extLst>
                <a:ext uri="{FF2B5EF4-FFF2-40B4-BE49-F238E27FC236}">
                  <a16:creationId xmlns:a16="http://schemas.microsoft.com/office/drawing/2014/main" id="{53A4B982-5EF1-83C4-F7BD-952A65E4DC6D}"/>
                </a:ext>
              </a:extLst>
            </p:cNvPr>
            <p:cNvSpPr/>
            <p:nvPr/>
          </p:nvSpPr>
          <p:spPr>
            <a:xfrm>
              <a:off x="8439150" y="2476500"/>
              <a:ext cx="9525" cy="2419350"/>
            </a:xfrm>
            <a:custGeom>
              <a:avLst/>
              <a:gdLst/>
              <a:ahLst/>
              <a:cxnLst/>
              <a:rect l="l" t="t" r="r" b="b"/>
              <a:pathLst>
                <a:path w="9525" h="2419350">
                  <a:moveTo>
                    <a:pt x="0" y="0"/>
                  </a:moveTo>
                  <a:lnTo>
                    <a:pt x="0" y="241935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78" name="Ellipse 34">
              <a:extLst>
                <a:ext uri="{FF2B5EF4-FFF2-40B4-BE49-F238E27FC236}">
                  <a16:creationId xmlns:a16="http://schemas.microsoft.com/office/drawing/2014/main" id="{A8C68E7A-DBAC-C1E7-EAC1-C3F52B3A80D9}"/>
                </a:ext>
              </a:extLst>
            </p:cNvPr>
            <p:cNvSpPr/>
            <p:nvPr/>
          </p:nvSpPr>
          <p:spPr>
            <a:xfrm>
              <a:off x="8267700" y="2362200"/>
              <a:ext cx="342900" cy="3429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79" name="TextBox 35">
              <a:extLst>
                <a:ext uri="{FF2B5EF4-FFF2-40B4-BE49-F238E27FC236}">
                  <a16:creationId xmlns:a16="http://schemas.microsoft.com/office/drawing/2014/main" id="{D703D781-CD8E-B3BD-3EB5-2077A9045753}"/>
                </a:ext>
              </a:extLst>
            </p:cNvPr>
            <p:cNvSpPr txBox="1"/>
            <p:nvPr/>
          </p:nvSpPr>
          <p:spPr>
            <a:xfrm>
              <a:off x="8755380" y="24479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编辑</a:t>
              </a:r>
            </a:p>
          </p:txBody>
        </p:sp>
        <p:sp>
          <p:nvSpPr>
            <p:cNvPr id="80" name="Ellipse 36">
              <a:extLst>
                <a:ext uri="{FF2B5EF4-FFF2-40B4-BE49-F238E27FC236}">
                  <a16:creationId xmlns:a16="http://schemas.microsoft.com/office/drawing/2014/main" id="{673B6B57-95CC-4C27-E4FC-718EB15D8E34}"/>
                </a:ext>
              </a:extLst>
            </p:cNvPr>
            <p:cNvSpPr/>
            <p:nvPr/>
          </p:nvSpPr>
          <p:spPr>
            <a:xfrm>
              <a:off x="8267700" y="2933700"/>
              <a:ext cx="342900" cy="3429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81" name="TextBox 37">
              <a:extLst>
                <a:ext uri="{FF2B5EF4-FFF2-40B4-BE49-F238E27FC236}">
                  <a16:creationId xmlns:a16="http://schemas.microsoft.com/office/drawing/2014/main" id="{513B9526-B20D-DE8D-55D3-F8CC96B8782E}"/>
                </a:ext>
              </a:extLst>
            </p:cNvPr>
            <p:cNvSpPr txBox="1"/>
            <p:nvPr/>
          </p:nvSpPr>
          <p:spPr>
            <a:xfrm>
              <a:off x="8755380" y="30194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校验</a:t>
              </a:r>
            </a:p>
          </p:txBody>
        </p:sp>
        <p:sp>
          <p:nvSpPr>
            <p:cNvPr id="82" name="Ellipse 38">
              <a:extLst>
                <a:ext uri="{FF2B5EF4-FFF2-40B4-BE49-F238E27FC236}">
                  <a16:creationId xmlns:a16="http://schemas.microsoft.com/office/drawing/2014/main" id="{8A55B888-B73E-152D-F14C-0928C8168B93}"/>
                </a:ext>
              </a:extLst>
            </p:cNvPr>
            <p:cNvSpPr/>
            <p:nvPr/>
          </p:nvSpPr>
          <p:spPr>
            <a:xfrm>
              <a:off x="8267700" y="3505200"/>
              <a:ext cx="342900" cy="3429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83" name="TextBox 39">
              <a:extLst>
                <a:ext uri="{FF2B5EF4-FFF2-40B4-BE49-F238E27FC236}">
                  <a16:creationId xmlns:a16="http://schemas.microsoft.com/office/drawing/2014/main" id="{01DDB61A-9A25-8D7B-3DFC-8EE44EC6B7D0}"/>
                </a:ext>
              </a:extLst>
            </p:cNvPr>
            <p:cNvSpPr txBox="1"/>
            <p:nvPr/>
          </p:nvSpPr>
          <p:spPr>
            <a:xfrm>
              <a:off x="8755380" y="35909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试跑</a:t>
              </a:r>
            </a:p>
          </p:txBody>
        </p:sp>
        <p:sp>
          <p:nvSpPr>
            <p:cNvPr id="84" name="Ellipse 40">
              <a:extLst>
                <a:ext uri="{FF2B5EF4-FFF2-40B4-BE49-F238E27FC236}">
                  <a16:creationId xmlns:a16="http://schemas.microsoft.com/office/drawing/2014/main" id="{EA03CB6F-91F1-538B-BECF-703E1B58FCA5}"/>
                </a:ext>
              </a:extLst>
            </p:cNvPr>
            <p:cNvSpPr/>
            <p:nvPr/>
          </p:nvSpPr>
          <p:spPr>
            <a:xfrm>
              <a:off x="8267700" y="4076700"/>
              <a:ext cx="342900" cy="34290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85" name="TextBox 41">
              <a:extLst>
                <a:ext uri="{FF2B5EF4-FFF2-40B4-BE49-F238E27FC236}">
                  <a16:creationId xmlns:a16="http://schemas.microsoft.com/office/drawing/2014/main" id="{BC56B5B3-39D3-F3D1-2642-412E994F2410}"/>
                </a:ext>
              </a:extLst>
            </p:cNvPr>
            <p:cNvSpPr txBox="1"/>
            <p:nvPr/>
          </p:nvSpPr>
          <p:spPr>
            <a:xfrm>
              <a:off x="8755380" y="41624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发布</a:t>
              </a:r>
            </a:p>
          </p:txBody>
        </p:sp>
        <p:sp>
          <p:nvSpPr>
            <p:cNvPr id="86" name="Ellipse 42">
              <a:extLst>
                <a:ext uri="{FF2B5EF4-FFF2-40B4-BE49-F238E27FC236}">
                  <a16:creationId xmlns:a16="http://schemas.microsoft.com/office/drawing/2014/main" id="{CE719113-0B01-2E2C-CC69-4624AB3D5E4E}"/>
                </a:ext>
              </a:extLst>
            </p:cNvPr>
            <p:cNvSpPr/>
            <p:nvPr/>
          </p:nvSpPr>
          <p:spPr>
            <a:xfrm>
              <a:off x="8267700" y="464820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B63F6"/>
              </a:solidFill>
            </a:ln>
          </p:spPr>
        </p:sp>
        <p:sp>
          <p:nvSpPr>
            <p:cNvPr id="87" name="TextBox 43">
              <a:extLst>
                <a:ext uri="{FF2B5EF4-FFF2-40B4-BE49-F238E27FC236}">
                  <a16:creationId xmlns:a16="http://schemas.microsoft.com/office/drawing/2014/main" id="{64D5CF9A-5FB4-1B68-0C96-793F73F825CD}"/>
                </a:ext>
              </a:extLst>
            </p:cNvPr>
            <p:cNvSpPr txBox="1"/>
            <p:nvPr/>
          </p:nvSpPr>
          <p:spPr>
            <a:xfrm>
              <a:off x="8756142" y="4635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运行监控</a:t>
              </a:r>
            </a:p>
          </p:txBody>
        </p:sp>
        <p:sp>
          <p:nvSpPr>
            <p:cNvPr id="88" name="TextBox 44">
              <a:extLst>
                <a:ext uri="{FF2B5EF4-FFF2-40B4-BE49-F238E27FC236}">
                  <a16:creationId xmlns:a16="http://schemas.microsoft.com/office/drawing/2014/main" id="{725F3E97-0613-8AE2-3540-C2E44AF2DB0B}"/>
                </a:ext>
              </a:extLst>
            </p:cNvPr>
            <p:cNvSpPr txBox="1"/>
            <p:nvPr/>
          </p:nvSpPr>
          <p:spPr>
            <a:xfrm>
              <a:off x="8756142" y="4902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效果复盘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7442170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椭圆 30"/>
          <p:cNvSpPr/>
          <p:nvPr/>
        </p:nvSpPr>
        <p:spPr>
          <a:xfrm rot="10800000" flipH="1">
            <a:off x="7788275" y="970915"/>
            <a:ext cx="4203700" cy="5023485"/>
          </a:xfrm>
          <a:prstGeom prst="ellipse">
            <a:avLst/>
          </a:prstGeom>
          <a:gradFill>
            <a:gsLst>
              <a:gs pos="31000">
                <a:schemeClr val="bg2">
                  <a:alpha val="0"/>
                </a:schemeClr>
              </a:gs>
              <a:gs pos="0">
                <a:schemeClr val="bg2"/>
              </a:gs>
            </a:gsLst>
            <a:lin ang="0" scaled="0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bg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0" name="椭圆 29"/>
          <p:cNvSpPr/>
          <p:nvPr/>
        </p:nvSpPr>
        <p:spPr>
          <a:xfrm rot="10800000">
            <a:off x="-443230" y="917575"/>
            <a:ext cx="5023485" cy="5023485"/>
          </a:xfrm>
          <a:prstGeom prst="ellipse">
            <a:avLst/>
          </a:prstGeom>
          <a:gradFill>
            <a:gsLst>
              <a:gs pos="31000">
                <a:schemeClr val="bg2">
                  <a:alpha val="0"/>
                </a:schemeClr>
              </a:gs>
              <a:gs pos="0">
                <a:schemeClr val="bg2"/>
              </a:gs>
            </a:gsLst>
            <a:lin ang="0" scaled="0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bg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802755" y="2635885"/>
            <a:ext cx="1694180" cy="169418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2">
                <a:lumMod val="90000"/>
              </a:schemeClr>
            </a:solidFill>
          </a:ln>
          <a:effectLst>
            <a:outerShdw blurRad="292100" dist="88900" dir="5340000" sx="98000" sy="98000" algn="ctr" rotWithShape="0">
              <a:schemeClr val="bg2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质量</a:t>
            </a:r>
            <a:endParaRPr lang="en-US" altLang="zh-CN" sz="1600" b="1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校验</a:t>
            </a:r>
          </a:p>
        </p:txBody>
      </p:sp>
      <p:sp>
        <p:nvSpPr>
          <p:cNvPr id="25" name="椭圆 24"/>
          <p:cNvSpPr/>
          <p:nvPr/>
        </p:nvSpPr>
        <p:spPr>
          <a:xfrm>
            <a:off x="3765550" y="2636520"/>
            <a:ext cx="1694180" cy="169418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2">
                <a:lumMod val="90000"/>
              </a:schemeClr>
            </a:solidFill>
          </a:ln>
          <a:effectLst>
            <a:outerShdw blurRad="292100" dist="88900" dir="5340000" sx="98000" sy="98000" algn="ctr" rotWithShape="0">
              <a:schemeClr val="bg2">
                <a:lumMod val="50000"/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来源</a:t>
            </a:r>
            <a:endParaRPr lang="en-US" altLang="zh-CN" sz="1600" b="1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  <a:p>
            <a:pPr algn="ctr"/>
            <a:r>
              <a:rPr lang="zh-CN" altLang="en-US" sz="1600" b="1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登记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156" y="295799"/>
            <a:ext cx="9967929" cy="461665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知识图谱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5221923" y="2520950"/>
            <a:ext cx="1924685" cy="192468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0" scaled="0"/>
          </a:gradFill>
          <a:ln w="9525">
            <a:noFill/>
          </a:ln>
          <a:effectLst>
            <a:outerShdw blurRad="292100" dist="88900" dir="5340000" sx="98000" sy="98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566093" y="3531870"/>
            <a:ext cx="1236345" cy="451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语义映射</a:t>
            </a:r>
          </a:p>
        </p:txBody>
      </p:sp>
      <p:pic>
        <p:nvPicPr>
          <p:cNvPr id="23" name="图片 12" descr="icon-3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5820" y="3014980"/>
            <a:ext cx="516890" cy="516890"/>
          </a:xfrm>
          <a:prstGeom prst="rect">
            <a:avLst/>
          </a:prstGeom>
        </p:spPr>
      </p:pic>
      <p:sp>
        <p:nvSpPr>
          <p:cNvPr id="41" name="圆角矩形 40"/>
          <p:cNvSpPr/>
          <p:nvPr/>
        </p:nvSpPr>
        <p:spPr>
          <a:xfrm>
            <a:off x="955040" y="2416175"/>
            <a:ext cx="2437130" cy="462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755" tIns="36195" rIns="71755" bIns="3619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多源系统</a:t>
            </a:r>
          </a:p>
        </p:txBody>
      </p:sp>
      <p:sp>
        <p:nvSpPr>
          <p:cNvPr id="84" name="矩形 83"/>
          <p:cNvSpPr/>
          <p:nvPr/>
        </p:nvSpPr>
        <p:spPr>
          <a:xfrm>
            <a:off x="960120" y="3015615"/>
            <a:ext cx="2339340" cy="15589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ERP、OA、采购、合同、财务、司库</a:t>
            </a:r>
          </a:p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8856980" y="2416175"/>
            <a:ext cx="2437130" cy="4622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755" tIns="36195" rIns="71755" bIns="36195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统一对象</a:t>
            </a:r>
          </a:p>
        </p:txBody>
      </p:sp>
      <p:sp>
        <p:nvSpPr>
          <p:cNvPr id="58" name="矩形 57"/>
          <p:cNvSpPr/>
          <p:nvPr/>
        </p:nvSpPr>
        <p:spPr>
          <a:xfrm>
            <a:off x="8879205" y="3015615"/>
            <a:ext cx="2339340" cy="155892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2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组织、人员、供应商、合同、项目、账户与事件</a:t>
            </a:r>
          </a:p>
          <a:p>
            <a:pPr algn="r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sz="12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A31AC2-9C42-04F6-3DF8-CF33D486F154}"/>
              </a:ext>
            </a:extLst>
          </p:cNvPr>
          <p:cNvSpPr txBox="1"/>
          <p:nvPr/>
        </p:nvSpPr>
        <p:spPr>
          <a:xfrm>
            <a:off x="2937622" y="1314747"/>
            <a:ext cx="6316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语义映射把异构数据转换为同一套监管事实</a:t>
            </a:r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/>
        </p:nvSpPr>
        <p:spPr>
          <a:xfrm flipV="1">
            <a:off x="2254250" y="1629335"/>
            <a:ext cx="7683500" cy="4110645"/>
          </a:xfrm>
          <a:custGeom>
            <a:avLst/>
            <a:gdLst>
              <a:gd name="connsiteX0" fmla="*/ 0 w 7683500"/>
              <a:gd name="connsiteY0" fmla="*/ 4110645 h 4110645"/>
              <a:gd name="connsiteX1" fmla="*/ 7683500 w 7683500"/>
              <a:gd name="connsiteY1" fmla="*/ 4110645 h 4110645"/>
              <a:gd name="connsiteX2" fmla="*/ 5771022 w 7683500"/>
              <a:gd name="connsiteY2" fmla="*/ 0 h 4110645"/>
              <a:gd name="connsiteX3" fmla="*/ 5739395 w 7683500"/>
              <a:gd name="connsiteY3" fmla="*/ 0 h 4110645"/>
              <a:gd name="connsiteX4" fmla="*/ 5746750 w 7683500"/>
              <a:gd name="connsiteY4" fmla="*/ 24049 h 4110645"/>
              <a:gd name="connsiteX5" fmla="*/ 3841750 w 7683500"/>
              <a:gd name="connsiteY5" fmla="*/ 338553 h 4110645"/>
              <a:gd name="connsiteX6" fmla="*/ 1936750 w 7683500"/>
              <a:gd name="connsiteY6" fmla="*/ 24049 h 4110645"/>
              <a:gd name="connsiteX7" fmla="*/ 1944106 w 7683500"/>
              <a:gd name="connsiteY7" fmla="*/ 0 h 4110645"/>
              <a:gd name="connsiteX8" fmla="*/ 1912478 w 7683500"/>
              <a:gd name="connsiteY8" fmla="*/ 0 h 4110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83500" h="4110645">
                <a:moveTo>
                  <a:pt x="0" y="4110645"/>
                </a:moveTo>
                <a:lnTo>
                  <a:pt x="7683500" y="4110645"/>
                </a:lnTo>
                <a:lnTo>
                  <a:pt x="5771022" y="0"/>
                </a:lnTo>
                <a:lnTo>
                  <a:pt x="5739395" y="0"/>
                </a:lnTo>
                <a:lnTo>
                  <a:pt x="5746750" y="24049"/>
                </a:lnTo>
                <a:cubicBezTo>
                  <a:pt x="5746750" y="197745"/>
                  <a:pt x="4893852" y="338553"/>
                  <a:pt x="3841750" y="338553"/>
                </a:cubicBezTo>
                <a:cubicBezTo>
                  <a:pt x="2789648" y="338553"/>
                  <a:pt x="1936750" y="197745"/>
                  <a:pt x="1936750" y="24049"/>
                </a:cubicBezTo>
                <a:lnTo>
                  <a:pt x="1944106" y="0"/>
                </a:lnTo>
                <a:lnTo>
                  <a:pt x="1912478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7000"/>
                </a:schemeClr>
              </a:gs>
              <a:gs pos="0">
                <a:schemeClr val="accent1">
                  <a:alpha val="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527739" y="5159071"/>
            <a:ext cx="5008060" cy="1161821"/>
          </a:xfrm>
          <a:prstGeom prst="ellipse">
            <a:avLst/>
          </a:prstGeom>
          <a:gradFill>
            <a:gsLst>
              <a:gs pos="100000">
                <a:schemeClr val="accent1">
                  <a:alpha val="23000"/>
                </a:schemeClr>
              </a:gs>
              <a:gs pos="3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2418080" y="1311421"/>
            <a:ext cx="7355840" cy="1188591"/>
          </a:xfrm>
          <a:prstGeom prst="ellipse">
            <a:avLst/>
          </a:prstGeom>
          <a:noFill/>
          <a:ln w="47625">
            <a:gradFill>
              <a:gsLst>
                <a:gs pos="0">
                  <a:schemeClr val="accent2">
                    <a:alpha val="3200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rgbClr val="2872FF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191000" y="5401427"/>
            <a:ext cx="3810000" cy="629008"/>
          </a:xfrm>
          <a:prstGeom prst="ellips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20000"/>
                </a:schemeClr>
              </a:gs>
            </a:gsLst>
            <a:lin ang="5400000" scaled="1"/>
          </a:gradFill>
          <a:ln w="47625">
            <a:gradFill>
              <a:gsLst>
                <a:gs pos="0">
                  <a:schemeClr val="accent1">
                    <a:alpha val="51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3527738" y="3896881"/>
            <a:ext cx="5118421" cy="792611"/>
          </a:xfrm>
          <a:prstGeom prst="ellipse">
            <a:avLst/>
          </a:prstGeom>
          <a:gradFill>
            <a:gsLst>
              <a:gs pos="0">
                <a:schemeClr val="accent1">
                  <a:alpha val="19000"/>
                </a:schemeClr>
              </a:gs>
              <a:gs pos="58000">
                <a:schemeClr val="accent1">
                  <a:alpha val="0"/>
                </a:schemeClr>
              </a:gs>
            </a:gsLst>
            <a:lin ang="5400000" scaled="1"/>
          </a:gra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7" name="弧形 6"/>
          <p:cNvSpPr/>
          <p:nvPr/>
        </p:nvSpPr>
        <p:spPr>
          <a:xfrm>
            <a:off x="3527738" y="3878161"/>
            <a:ext cx="5118421" cy="814373"/>
          </a:xfrm>
          <a:prstGeom prst="arc">
            <a:avLst>
              <a:gd name="adj1" fmla="val 21389116"/>
              <a:gd name="adj2" fmla="val 10892524"/>
            </a:avLst>
          </a:prstGeom>
          <a:noFill/>
          <a:ln w="476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000983" y="2934939"/>
            <a:ext cx="4102550" cy="571474"/>
          </a:xfrm>
          <a:prstGeom prst="ellipse">
            <a:avLst/>
          </a:prstGeom>
          <a:noFill/>
          <a:ln w="25400">
            <a:gradFill>
              <a:gsLst>
                <a:gs pos="100000">
                  <a:schemeClr val="accent2"/>
                </a:gs>
                <a:gs pos="1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088468" y="2947143"/>
            <a:ext cx="4090240" cy="571474"/>
          </a:xfrm>
          <a:prstGeom prst="ellipse">
            <a:avLst/>
          </a:prstGeom>
          <a:noFill/>
          <a:ln w="25400">
            <a:gradFill>
              <a:gsLst>
                <a:gs pos="100000">
                  <a:schemeClr val="accent2"/>
                </a:gs>
                <a:gs pos="1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cxnSp>
        <p:nvCxnSpPr>
          <p:cNvPr id="10" name="直接连接符 9"/>
          <p:cNvCxnSpPr>
            <a:stCxn id="5" idx="3"/>
            <a:endCxn id="5" idx="7"/>
          </p:cNvCxnSpPr>
          <p:nvPr/>
        </p:nvCxnSpPr>
        <p:spPr>
          <a:xfrm flipV="1">
            <a:off x="4748962" y="5493543"/>
            <a:ext cx="2694076" cy="444776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35000">
                  <a:schemeClr val="accent1">
                    <a:alpha val="0"/>
                  </a:schemeClr>
                </a:gs>
                <a:gs pos="6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1"/>
            <a:endCxn id="5" idx="5"/>
          </p:cNvCxnSpPr>
          <p:nvPr/>
        </p:nvCxnSpPr>
        <p:spPr>
          <a:xfrm>
            <a:off x="4748962" y="5493543"/>
            <a:ext cx="2694076" cy="444776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35000">
                  <a:schemeClr val="accent1">
                    <a:alpha val="0"/>
                  </a:schemeClr>
                </a:gs>
                <a:gs pos="65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4" idx="1"/>
            <a:endCxn id="4" idx="5"/>
          </p:cNvCxnSpPr>
          <p:nvPr/>
        </p:nvCxnSpPr>
        <p:spPr>
          <a:xfrm>
            <a:off x="3495318" y="1485486"/>
            <a:ext cx="5201364" cy="8404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35000">
                  <a:schemeClr val="accent2">
                    <a:alpha val="0"/>
                  </a:schemeClr>
                </a:gs>
                <a:gs pos="65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4" idx="3"/>
            <a:endCxn id="4" idx="7"/>
          </p:cNvCxnSpPr>
          <p:nvPr/>
        </p:nvCxnSpPr>
        <p:spPr>
          <a:xfrm flipV="1">
            <a:off x="3495318" y="1485486"/>
            <a:ext cx="5201364" cy="840461"/>
          </a:xfrm>
          <a:prstGeom prst="line">
            <a:avLst/>
          </a:prstGeom>
          <a:ln>
            <a:gradFill>
              <a:gsLst>
                <a:gs pos="0">
                  <a:schemeClr val="accent2"/>
                </a:gs>
                <a:gs pos="35000">
                  <a:schemeClr val="accent2">
                    <a:alpha val="0"/>
                  </a:schemeClr>
                </a:gs>
                <a:gs pos="65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224735" y="502203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tx2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同步批次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224735" y="594150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源记录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250924" y="594150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外部数据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250924" y="502203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tx2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更新时间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388114" y="415986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映射与质量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388114" y="3041068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图谱事实组织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8244844" y="278472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i="0" dirty="0">
                <a:solidFill>
                  <a:schemeClr val="tx2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映射快照</a:t>
            </a:r>
            <a:endParaRPr lang="en-US" altLang="zh-CN" sz="1100" b="0" i="0" dirty="0">
              <a:solidFill>
                <a:schemeClr val="tx2"/>
              </a:solidFill>
              <a:effectLst/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311170" y="17519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图谱版本发布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069811" y="156842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主体与关系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069811" y="195195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合同与项目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8246049" y="195195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质量结果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8246049" y="15684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b="0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资金事件</a:t>
            </a:r>
          </a:p>
        </p:txBody>
      </p:sp>
      <p:sp>
        <p:nvSpPr>
          <p:cNvPr id="2" name="椭圆 1"/>
          <p:cNvSpPr/>
          <p:nvPr/>
        </p:nvSpPr>
        <p:spPr>
          <a:xfrm>
            <a:off x="3813244" y="2566598"/>
            <a:ext cx="755512" cy="755512"/>
          </a:xfrm>
          <a:prstGeom prst="ellipse">
            <a:avLst/>
          </a:prstGeom>
          <a:gradFill flip="none" rotWithShape="1">
            <a:gsLst>
              <a:gs pos="36000">
                <a:schemeClr val="accent2">
                  <a:alpha val="14000"/>
                </a:schemeClr>
              </a:gs>
              <a:gs pos="100000">
                <a:schemeClr val="accent2">
                  <a:alpha val="56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reflection stA="72000" endPos="21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3929046" y="2682400"/>
            <a:ext cx="523908" cy="523908"/>
          </a:xfrm>
          <a:prstGeom prst="ellipse">
            <a:avLst/>
          </a:prstGeom>
          <a:gradFill>
            <a:gsLst>
              <a:gs pos="37000">
                <a:schemeClr val="accent2">
                  <a:alpha val="49000"/>
                </a:schemeClr>
              </a:gs>
              <a:gs pos="86000">
                <a:schemeClr val="accent2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7" name="图形 68"/>
          <p:cNvSpPr/>
          <p:nvPr/>
        </p:nvSpPr>
        <p:spPr>
          <a:xfrm>
            <a:off x="4061901" y="2800307"/>
            <a:ext cx="239820" cy="230454"/>
          </a:xfrm>
          <a:custGeom>
            <a:avLst/>
            <a:gdLst>
              <a:gd name="connsiteX0" fmla="*/ 223242 w 1451967"/>
              <a:gd name="connsiteY0" fmla="*/ 446484 h 1395263"/>
              <a:gd name="connsiteX1" fmla="*/ 429909 w 1451967"/>
              <a:gd name="connsiteY1" fmla="*/ 306958 h 1395263"/>
              <a:gd name="connsiteX2" fmla="*/ 1395543 w 1451967"/>
              <a:gd name="connsiteY2" fmla="*/ 306958 h 1395263"/>
              <a:gd name="connsiteX3" fmla="*/ 1451353 w 1451967"/>
              <a:gd name="connsiteY3" fmla="*/ 251147 h 1395263"/>
              <a:gd name="connsiteX4" fmla="*/ 1395543 w 1451967"/>
              <a:gd name="connsiteY4" fmla="*/ 195337 h 1395263"/>
              <a:gd name="connsiteX5" fmla="*/ 443694 w 1451967"/>
              <a:gd name="connsiteY5" fmla="*/ 195337 h 1395263"/>
              <a:gd name="connsiteX6" fmla="*/ 223242 w 1451967"/>
              <a:gd name="connsiteY6" fmla="*/ 0 h 1395263"/>
              <a:gd name="connsiteX7" fmla="*/ 0 w 1451967"/>
              <a:gd name="connsiteY7" fmla="*/ 223242 h 1395263"/>
              <a:gd name="connsiteX8" fmla="*/ 223242 w 1451967"/>
              <a:gd name="connsiteY8" fmla="*/ 446484 h 1395263"/>
              <a:gd name="connsiteX9" fmla="*/ 223242 w 1451967"/>
              <a:gd name="connsiteY9" fmla="*/ 111621 h 1395263"/>
              <a:gd name="connsiteX10" fmla="*/ 334863 w 1451967"/>
              <a:gd name="connsiteY10" fmla="*/ 223298 h 1395263"/>
              <a:gd name="connsiteX11" fmla="*/ 223186 w 1451967"/>
              <a:gd name="connsiteY11" fmla="*/ 334919 h 1395263"/>
              <a:gd name="connsiteX12" fmla="*/ 111565 w 1451967"/>
              <a:gd name="connsiteY12" fmla="*/ 223242 h 1395263"/>
              <a:gd name="connsiteX13" fmla="*/ 223242 w 1451967"/>
              <a:gd name="connsiteY13" fmla="*/ 111621 h 1395263"/>
              <a:gd name="connsiteX14" fmla="*/ 1396157 w 1451967"/>
              <a:gd name="connsiteY14" fmla="*/ 948779 h 1395263"/>
              <a:gd name="connsiteX15" fmla="*/ 446484 w 1451967"/>
              <a:gd name="connsiteY15" fmla="*/ 948779 h 1395263"/>
              <a:gd name="connsiteX16" fmla="*/ 439062 w 1451967"/>
              <a:gd name="connsiteY16" fmla="*/ 950286 h 1395263"/>
              <a:gd name="connsiteX17" fmla="*/ 223242 w 1451967"/>
              <a:gd name="connsiteY17" fmla="*/ 781348 h 1395263"/>
              <a:gd name="connsiteX18" fmla="*/ 0 w 1451967"/>
              <a:gd name="connsiteY18" fmla="*/ 1004590 h 1395263"/>
              <a:gd name="connsiteX19" fmla="*/ 223242 w 1451967"/>
              <a:gd name="connsiteY19" fmla="*/ 1227832 h 1395263"/>
              <a:gd name="connsiteX20" fmla="*/ 439062 w 1451967"/>
              <a:gd name="connsiteY20" fmla="*/ 1058894 h 1395263"/>
              <a:gd name="connsiteX21" fmla="*/ 446484 w 1451967"/>
              <a:gd name="connsiteY21" fmla="*/ 1060400 h 1395263"/>
              <a:gd name="connsiteX22" fmla="*/ 1396157 w 1451967"/>
              <a:gd name="connsiteY22" fmla="*/ 1060400 h 1395263"/>
              <a:gd name="connsiteX23" fmla="*/ 1451967 w 1451967"/>
              <a:gd name="connsiteY23" fmla="*/ 1004590 h 1395263"/>
              <a:gd name="connsiteX24" fmla="*/ 1396157 w 1451967"/>
              <a:gd name="connsiteY24" fmla="*/ 948779 h 1395263"/>
              <a:gd name="connsiteX25" fmla="*/ 223242 w 1451967"/>
              <a:gd name="connsiteY25" fmla="*/ 1116211 h 1395263"/>
              <a:gd name="connsiteX26" fmla="*/ 111621 w 1451967"/>
              <a:gd name="connsiteY26" fmla="*/ 1004534 h 1395263"/>
              <a:gd name="connsiteX27" fmla="*/ 223298 w 1451967"/>
              <a:gd name="connsiteY27" fmla="*/ 892913 h 1395263"/>
              <a:gd name="connsiteX28" fmla="*/ 334919 w 1451967"/>
              <a:gd name="connsiteY28" fmla="*/ 1004590 h 1395263"/>
              <a:gd name="connsiteX29" fmla="*/ 223242 w 1451967"/>
              <a:gd name="connsiteY29" fmla="*/ 1116211 h 1395263"/>
              <a:gd name="connsiteX30" fmla="*/ 1396157 w 1451967"/>
              <a:gd name="connsiteY30" fmla="*/ 558106 h 1395263"/>
              <a:gd name="connsiteX31" fmla="*/ 892969 w 1451967"/>
              <a:gd name="connsiteY31" fmla="*/ 558106 h 1395263"/>
              <a:gd name="connsiteX32" fmla="*/ 837158 w 1451967"/>
              <a:gd name="connsiteY32" fmla="*/ 613916 h 1395263"/>
              <a:gd name="connsiteX33" fmla="*/ 892969 w 1451967"/>
              <a:gd name="connsiteY33" fmla="*/ 669727 h 1395263"/>
              <a:gd name="connsiteX34" fmla="*/ 1396157 w 1451967"/>
              <a:gd name="connsiteY34" fmla="*/ 669727 h 1395263"/>
              <a:gd name="connsiteX35" fmla="*/ 1451967 w 1451967"/>
              <a:gd name="connsiteY35" fmla="*/ 613916 h 1395263"/>
              <a:gd name="connsiteX36" fmla="*/ 1396157 w 1451967"/>
              <a:gd name="connsiteY36" fmla="*/ 558106 h 1395263"/>
              <a:gd name="connsiteX37" fmla="*/ 1396157 w 1451967"/>
              <a:gd name="connsiteY37" fmla="*/ 1283643 h 1395263"/>
              <a:gd name="connsiteX38" fmla="*/ 892969 w 1451967"/>
              <a:gd name="connsiteY38" fmla="*/ 1283643 h 1395263"/>
              <a:gd name="connsiteX39" fmla="*/ 837158 w 1451967"/>
              <a:gd name="connsiteY39" fmla="*/ 1339453 h 1395263"/>
              <a:gd name="connsiteX40" fmla="*/ 892969 w 1451967"/>
              <a:gd name="connsiteY40" fmla="*/ 1395264 h 1395263"/>
              <a:gd name="connsiteX41" fmla="*/ 1396157 w 1451967"/>
              <a:gd name="connsiteY41" fmla="*/ 1395264 h 1395263"/>
              <a:gd name="connsiteX42" fmla="*/ 1451967 w 1451967"/>
              <a:gd name="connsiteY42" fmla="*/ 1339453 h 1395263"/>
              <a:gd name="connsiteX43" fmla="*/ 1396157 w 1451967"/>
              <a:gd name="connsiteY43" fmla="*/ 1283643 h 139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451967" h="1395263">
                <a:moveTo>
                  <a:pt x="223242" y="446484"/>
                </a:moveTo>
                <a:cubicBezTo>
                  <a:pt x="314130" y="446445"/>
                  <a:pt x="395897" y="391242"/>
                  <a:pt x="429909" y="306958"/>
                </a:cubicBezTo>
                <a:lnTo>
                  <a:pt x="1395543" y="306958"/>
                </a:lnTo>
                <a:cubicBezTo>
                  <a:pt x="1426366" y="306958"/>
                  <a:pt x="1451353" y="281971"/>
                  <a:pt x="1451353" y="251147"/>
                </a:cubicBezTo>
                <a:cubicBezTo>
                  <a:pt x="1451353" y="220324"/>
                  <a:pt x="1426366" y="195337"/>
                  <a:pt x="1395543" y="195337"/>
                </a:cubicBezTo>
                <a:lnTo>
                  <a:pt x="443694" y="195337"/>
                </a:lnTo>
                <a:cubicBezTo>
                  <a:pt x="429797" y="85390"/>
                  <a:pt x="336984" y="0"/>
                  <a:pt x="223242" y="0"/>
                </a:cubicBezTo>
                <a:cubicBezTo>
                  <a:pt x="99949" y="0"/>
                  <a:pt x="0" y="99949"/>
                  <a:pt x="0" y="223242"/>
                </a:cubicBezTo>
                <a:cubicBezTo>
                  <a:pt x="0" y="346535"/>
                  <a:pt x="99949" y="446484"/>
                  <a:pt x="223242" y="446484"/>
                </a:cubicBezTo>
                <a:close/>
                <a:moveTo>
                  <a:pt x="223242" y="111621"/>
                </a:moveTo>
                <a:cubicBezTo>
                  <a:pt x="284904" y="111637"/>
                  <a:pt x="334879" y="161636"/>
                  <a:pt x="334863" y="223298"/>
                </a:cubicBezTo>
                <a:cubicBezTo>
                  <a:pt x="334848" y="284960"/>
                  <a:pt x="284848" y="334934"/>
                  <a:pt x="223186" y="334919"/>
                </a:cubicBezTo>
                <a:cubicBezTo>
                  <a:pt x="161524" y="334904"/>
                  <a:pt x="111550" y="284904"/>
                  <a:pt x="111565" y="223242"/>
                </a:cubicBezTo>
                <a:cubicBezTo>
                  <a:pt x="111581" y="161580"/>
                  <a:pt x="161580" y="111606"/>
                  <a:pt x="223242" y="111621"/>
                </a:cubicBezTo>
                <a:close/>
                <a:moveTo>
                  <a:pt x="1396157" y="948779"/>
                </a:moveTo>
                <a:lnTo>
                  <a:pt x="446484" y="948779"/>
                </a:lnTo>
                <a:cubicBezTo>
                  <a:pt x="443861" y="948779"/>
                  <a:pt x="441573" y="949951"/>
                  <a:pt x="439062" y="950286"/>
                </a:cubicBezTo>
                <a:cubicBezTo>
                  <a:pt x="414365" y="851151"/>
                  <a:pt x="325407" y="781517"/>
                  <a:pt x="223242" y="781348"/>
                </a:cubicBezTo>
                <a:cubicBezTo>
                  <a:pt x="99949" y="781348"/>
                  <a:pt x="0" y="881297"/>
                  <a:pt x="0" y="1004590"/>
                </a:cubicBezTo>
                <a:cubicBezTo>
                  <a:pt x="0" y="1127883"/>
                  <a:pt x="99949" y="1227832"/>
                  <a:pt x="223242" y="1227832"/>
                </a:cubicBezTo>
                <a:cubicBezTo>
                  <a:pt x="325407" y="1227663"/>
                  <a:pt x="414365" y="1158029"/>
                  <a:pt x="439062" y="1058894"/>
                </a:cubicBezTo>
                <a:cubicBezTo>
                  <a:pt x="441573" y="1059228"/>
                  <a:pt x="443861" y="1060400"/>
                  <a:pt x="446484" y="1060400"/>
                </a:cubicBezTo>
                <a:lnTo>
                  <a:pt x="1396157" y="1060400"/>
                </a:lnTo>
                <a:cubicBezTo>
                  <a:pt x="1426980" y="1060400"/>
                  <a:pt x="1451967" y="1035413"/>
                  <a:pt x="1451967" y="1004590"/>
                </a:cubicBezTo>
                <a:cubicBezTo>
                  <a:pt x="1451967" y="973767"/>
                  <a:pt x="1426980" y="948779"/>
                  <a:pt x="1396157" y="948779"/>
                </a:cubicBezTo>
                <a:close/>
                <a:moveTo>
                  <a:pt x="223242" y="1116211"/>
                </a:moveTo>
                <a:cubicBezTo>
                  <a:pt x="161580" y="1116196"/>
                  <a:pt x="111606" y="1066196"/>
                  <a:pt x="111621" y="1004534"/>
                </a:cubicBezTo>
                <a:cubicBezTo>
                  <a:pt x="111637" y="942872"/>
                  <a:pt x="161636" y="892897"/>
                  <a:pt x="223298" y="892913"/>
                </a:cubicBezTo>
                <a:cubicBezTo>
                  <a:pt x="284960" y="892928"/>
                  <a:pt x="334934" y="942928"/>
                  <a:pt x="334919" y="1004590"/>
                </a:cubicBezTo>
                <a:cubicBezTo>
                  <a:pt x="334904" y="1066252"/>
                  <a:pt x="284904" y="1116226"/>
                  <a:pt x="223242" y="1116211"/>
                </a:cubicBezTo>
                <a:close/>
                <a:moveTo>
                  <a:pt x="1396157" y="558106"/>
                </a:moveTo>
                <a:lnTo>
                  <a:pt x="892969" y="558106"/>
                </a:lnTo>
                <a:cubicBezTo>
                  <a:pt x="862145" y="558106"/>
                  <a:pt x="837158" y="583093"/>
                  <a:pt x="837158" y="613916"/>
                </a:cubicBezTo>
                <a:cubicBezTo>
                  <a:pt x="837158" y="644739"/>
                  <a:pt x="862145" y="669727"/>
                  <a:pt x="892969" y="669727"/>
                </a:cubicBezTo>
                <a:lnTo>
                  <a:pt x="1396157" y="669727"/>
                </a:lnTo>
                <a:cubicBezTo>
                  <a:pt x="1426980" y="669727"/>
                  <a:pt x="1451967" y="644739"/>
                  <a:pt x="1451967" y="613916"/>
                </a:cubicBezTo>
                <a:cubicBezTo>
                  <a:pt x="1451967" y="583093"/>
                  <a:pt x="1426980" y="558106"/>
                  <a:pt x="1396157" y="558106"/>
                </a:cubicBezTo>
                <a:close/>
                <a:moveTo>
                  <a:pt x="1396157" y="1283643"/>
                </a:moveTo>
                <a:lnTo>
                  <a:pt x="892969" y="1283643"/>
                </a:lnTo>
                <a:cubicBezTo>
                  <a:pt x="862145" y="1283643"/>
                  <a:pt x="837158" y="1308630"/>
                  <a:pt x="837158" y="1339453"/>
                </a:cubicBezTo>
                <a:cubicBezTo>
                  <a:pt x="837158" y="1370277"/>
                  <a:pt x="862145" y="1395264"/>
                  <a:pt x="892969" y="1395264"/>
                </a:cubicBezTo>
                <a:lnTo>
                  <a:pt x="1396157" y="1395264"/>
                </a:lnTo>
                <a:cubicBezTo>
                  <a:pt x="1426980" y="1395264"/>
                  <a:pt x="1451967" y="1370277"/>
                  <a:pt x="1451967" y="1339453"/>
                </a:cubicBezTo>
                <a:cubicBezTo>
                  <a:pt x="1451967" y="1308630"/>
                  <a:pt x="1426980" y="1283643"/>
                  <a:pt x="1396157" y="1283643"/>
                </a:cubicBezTo>
                <a:close/>
              </a:path>
            </a:pathLst>
          </a:custGeom>
          <a:solidFill>
            <a:schemeClr val="tx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7422679" y="2566598"/>
            <a:ext cx="755512" cy="755512"/>
          </a:xfrm>
          <a:prstGeom prst="ellipse">
            <a:avLst/>
          </a:prstGeom>
          <a:gradFill flip="none" rotWithShape="1">
            <a:gsLst>
              <a:gs pos="36000">
                <a:schemeClr val="accent2">
                  <a:alpha val="14000"/>
                </a:schemeClr>
              </a:gs>
              <a:gs pos="100000">
                <a:schemeClr val="accent2">
                  <a:alpha val="56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reflection stA="72000" endPos="21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7538481" y="2682400"/>
            <a:ext cx="523908" cy="523908"/>
          </a:xfrm>
          <a:prstGeom prst="ellipse">
            <a:avLst/>
          </a:prstGeom>
          <a:gradFill>
            <a:gsLst>
              <a:gs pos="37000">
                <a:schemeClr val="accent2">
                  <a:alpha val="49000"/>
                </a:schemeClr>
              </a:gs>
              <a:gs pos="86000">
                <a:schemeClr val="accent2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059135" y="278472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0" i="0" dirty="0">
                <a:solidFill>
                  <a:schemeClr val="tx2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本体版本</a:t>
            </a:r>
            <a:endParaRPr lang="en-US" altLang="zh-CN" sz="1100" b="0" i="0" dirty="0">
              <a:solidFill>
                <a:schemeClr val="tx2"/>
              </a:solidFill>
              <a:effectLst/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708419" y="2868333"/>
            <a:ext cx="184033" cy="152042"/>
            <a:chOff x="7699229" y="2604375"/>
            <a:chExt cx="184033" cy="152042"/>
          </a:xfrm>
          <a:solidFill>
            <a:schemeClr val="tx1"/>
          </a:solidFill>
        </p:grpSpPr>
        <p:sp>
          <p:nvSpPr>
            <p:cNvPr id="38" name="任意多边形: 形状 37"/>
            <p:cNvSpPr/>
            <p:nvPr/>
          </p:nvSpPr>
          <p:spPr>
            <a:xfrm>
              <a:off x="7699229" y="2604375"/>
              <a:ext cx="184033" cy="152042"/>
            </a:xfrm>
            <a:custGeom>
              <a:avLst/>
              <a:gdLst>
                <a:gd name="connsiteX0" fmla="*/ 172605 w 184033"/>
                <a:gd name="connsiteY0" fmla="*/ 0 h 152042"/>
                <a:gd name="connsiteX1" fmla="*/ 11429 w 184033"/>
                <a:gd name="connsiteY1" fmla="*/ 0 h 152042"/>
                <a:gd name="connsiteX2" fmla="*/ 0 w 184033"/>
                <a:gd name="connsiteY2" fmla="*/ 11429 h 152042"/>
                <a:gd name="connsiteX3" fmla="*/ 0 w 184033"/>
                <a:gd name="connsiteY3" fmla="*/ 140613 h 152042"/>
                <a:gd name="connsiteX4" fmla="*/ 11429 w 184033"/>
                <a:gd name="connsiteY4" fmla="*/ 152042 h 152042"/>
                <a:gd name="connsiteX5" fmla="*/ 172605 w 184033"/>
                <a:gd name="connsiteY5" fmla="*/ 152042 h 152042"/>
                <a:gd name="connsiteX6" fmla="*/ 184034 w 184033"/>
                <a:gd name="connsiteY6" fmla="*/ 140613 h 152042"/>
                <a:gd name="connsiteX7" fmla="*/ 184034 w 184033"/>
                <a:gd name="connsiteY7" fmla="*/ 11429 h 152042"/>
                <a:gd name="connsiteX8" fmla="*/ 172605 w 184033"/>
                <a:gd name="connsiteY8" fmla="*/ 0 h 152042"/>
                <a:gd name="connsiteX9" fmla="*/ 170333 w 184033"/>
                <a:gd name="connsiteY9" fmla="*/ 138318 h 152042"/>
                <a:gd name="connsiteX10" fmla="*/ 13701 w 184033"/>
                <a:gd name="connsiteY10" fmla="*/ 138318 h 152042"/>
                <a:gd name="connsiteX11" fmla="*/ 13701 w 184033"/>
                <a:gd name="connsiteY11" fmla="*/ 13724 h 152042"/>
                <a:gd name="connsiteX12" fmla="*/ 170310 w 184033"/>
                <a:gd name="connsiteY12" fmla="*/ 13724 h 152042"/>
                <a:gd name="connsiteX13" fmla="*/ 170310 w 184033"/>
                <a:gd name="connsiteY13" fmla="*/ 138318 h 15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4033" h="152042">
                  <a:moveTo>
                    <a:pt x="172605" y="0"/>
                  </a:moveTo>
                  <a:lnTo>
                    <a:pt x="11429" y="0"/>
                  </a:lnTo>
                  <a:cubicBezTo>
                    <a:pt x="5129" y="0"/>
                    <a:pt x="0" y="5129"/>
                    <a:pt x="0" y="11429"/>
                  </a:cubicBezTo>
                  <a:lnTo>
                    <a:pt x="0" y="140613"/>
                  </a:lnTo>
                  <a:cubicBezTo>
                    <a:pt x="0" y="146913"/>
                    <a:pt x="5129" y="152042"/>
                    <a:pt x="11429" y="152042"/>
                  </a:cubicBezTo>
                  <a:lnTo>
                    <a:pt x="172605" y="152042"/>
                  </a:lnTo>
                  <a:cubicBezTo>
                    <a:pt x="178905" y="152042"/>
                    <a:pt x="184034" y="146913"/>
                    <a:pt x="184034" y="140613"/>
                  </a:cubicBezTo>
                  <a:lnTo>
                    <a:pt x="184034" y="11429"/>
                  </a:lnTo>
                  <a:cubicBezTo>
                    <a:pt x="184034" y="5129"/>
                    <a:pt x="178905" y="0"/>
                    <a:pt x="172605" y="0"/>
                  </a:cubicBezTo>
                  <a:close/>
                  <a:moveTo>
                    <a:pt x="170333" y="138318"/>
                  </a:moveTo>
                  <a:lnTo>
                    <a:pt x="13701" y="138318"/>
                  </a:lnTo>
                  <a:lnTo>
                    <a:pt x="13701" y="13724"/>
                  </a:lnTo>
                  <a:lnTo>
                    <a:pt x="170310" y="13724"/>
                  </a:lnTo>
                  <a:lnTo>
                    <a:pt x="170310" y="138318"/>
                  </a:lnTo>
                  <a:close/>
                </a:path>
              </a:pathLst>
            </a:custGeom>
            <a:grpFill/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7738915" y="2657084"/>
              <a:ext cx="104847" cy="46789"/>
            </a:xfrm>
            <a:custGeom>
              <a:avLst/>
              <a:gdLst>
                <a:gd name="connsiteX0" fmla="*/ 11603 w 104847"/>
                <a:gd name="connsiteY0" fmla="*/ 44882 h 46789"/>
                <a:gd name="connsiteX1" fmla="*/ 34766 w 104847"/>
                <a:gd name="connsiteY1" fmla="*/ 22703 h 46789"/>
                <a:gd name="connsiteX2" fmla="*/ 40831 w 104847"/>
                <a:gd name="connsiteY2" fmla="*/ 22656 h 46789"/>
                <a:gd name="connsiteX3" fmla="*/ 64813 w 104847"/>
                <a:gd name="connsiteY3" fmla="*/ 45022 h 46789"/>
                <a:gd name="connsiteX4" fmla="*/ 70411 w 104847"/>
                <a:gd name="connsiteY4" fmla="*/ 44882 h 46789"/>
                <a:gd name="connsiteX5" fmla="*/ 102894 w 104847"/>
                <a:gd name="connsiteY5" fmla="*/ 11649 h 46789"/>
                <a:gd name="connsiteX6" fmla="*/ 102777 w 104847"/>
                <a:gd name="connsiteY6" fmla="*/ 1953 h 46789"/>
                <a:gd name="connsiteX7" fmla="*/ 93081 w 104847"/>
                <a:gd name="connsiteY7" fmla="*/ 2070 h 46789"/>
                <a:gd name="connsiteX8" fmla="*/ 68420 w 104847"/>
                <a:gd name="connsiteY8" fmla="*/ 27293 h 46789"/>
                <a:gd name="connsiteX9" fmla="*/ 65961 w 104847"/>
                <a:gd name="connsiteY9" fmla="*/ 27340 h 46789"/>
                <a:gd name="connsiteX10" fmla="*/ 41370 w 104847"/>
                <a:gd name="connsiteY10" fmla="*/ 4412 h 46789"/>
                <a:gd name="connsiteX11" fmla="*/ 33969 w 104847"/>
                <a:gd name="connsiteY11" fmla="*/ 4459 h 46789"/>
                <a:gd name="connsiteX12" fmla="*/ 2118 w 104847"/>
                <a:gd name="connsiteY12" fmla="*/ 34975 h 46789"/>
                <a:gd name="connsiteX13" fmla="*/ 1907 w 104847"/>
                <a:gd name="connsiteY13" fmla="*/ 44671 h 46789"/>
                <a:gd name="connsiteX14" fmla="*/ 11603 w 104847"/>
                <a:gd name="connsiteY14" fmla="*/ 44882 h 46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847" h="46789">
                  <a:moveTo>
                    <a:pt x="11603" y="44882"/>
                  </a:moveTo>
                  <a:lnTo>
                    <a:pt x="34766" y="22703"/>
                  </a:lnTo>
                  <a:cubicBezTo>
                    <a:pt x="36452" y="21087"/>
                    <a:pt x="39122" y="21064"/>
                    <a:pt x="40831" y="22656"/>
                  </a:cubicBezTo>
                  <a:lnTo>
                    <a:pt x="64813" y="45022"/>
                  </a:lnTo>
                  <a:cubicBezTo>
                    <a:pt x="66406" y="46498"/>
                    <a:pt x="68888" y="46451"/>
                    <a:pt x="70411" y="44882"/>
                  </a:cubicBezTo>
                  <a:lnTo>
                    <a:pt x="102894" y="11649"/>
                  </a:lnTo>
                  <a:cubicBezTo>
                    <a:pt x="105541" y="8932"/>
                    <a:pt x="105494" y="4600"/>
                    <a:pt x="102777" y="1953"/>
                  </a:cubicBezTo>
                  <a:cubicBezTo>
                    <a:pt x="100060" y="-693"/>
                    <a:pt x="95728" y="-647"/>
                    <a:pt x="93081" y="2070"/>
                  </a:cubicBezTo>
                  <a:lnTo>
                    <a:pt x="68420" y="27293"/>
                  </a:lnTo>
                  <a:cubicBezTo>
                    <a:pt x="67764" y="27973"/>
                    <a:pt x="66664" y="27996"/>
                    <a:pt x="65961" y="27340"/>
                  </a:cubicBezTo>
                  <a:lnTo>
                    <a:pt x="41370" y="4412"/>
                  </a:lnTo>
                  <a:cubicBezTo>
                    <a:pt x="39286" y="2468"/>
                    <a:pt x="36030" y="2492"/>
                    <a:pt x="33969" y="4459"/>
                  </a:cubicBezTo>
                  <a:lnTo>
                    <a:pt x="2118" y="34975"/>
                  </a:lnTo>
                  <a:cubicBezTo>
                    <a:pt x="-622" y="37598"/>
                    <a:pt x="-716" y="41931"/>
                    <a:pt x="1907" y="44671"/>
                  </a:cubicBezTo>
                  <a:cubicBezTo>
                    <a:pt x="4530" y="47411"/>
                    <a:pt x="8863" y="47505"/>
                    <a:pt x="11603" y="44882"/>
                  </a:cubicBezTo>
                  <a:close/>
                </a:path>
              </a:pathLst>
            </a:custGeom>
            <a:grpFill/>
            <a:ln w="2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5388114" y="551031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i="0" dirty="0">
                <a:solidFill>
                  <a:schemeClr val="accent1"/>
                </a:solidFill>
                <a:effectLst/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来源集合</a:t>
            </a:r>
          </a:p>
        </p:txBody>
      </p:sp>
      <p:sp>
        <p:nvSpPr>
          <p:cNvPr id="33" name="标题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图谱基线</a:t>
            </a: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5E7F-484B-D0A8-306A-31A30419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D6884B0A-2EB0-D37F-1A29-A5C67614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知识图谱</a:t>
            </a:r>
            <a:endParaRPr lang="zh-CN" altLang="en-US" dirty="0"/>
          </a:p>
        </p:txBody>
      </p:sp>
      <p:grpSp>
        <p:nvGrpSpPr>
          <p:cNvPr id="54" name="Group 30">
            <a:extLst>
              <a:ext uri="{FF2B5EF4-FFF2-40B4-BE49-F238E27FC236}">
                <a16:creationId xmlns:a16="http://schemas.microsoft.com/office/drawing/2014/main" id="{16E442B5-9EE3-F902-B8BE-5E0F7E3CDF54}"/>
              </a:ext>
            </a:extLst>
          </p:cNvPr>
          <p:cNvGrpSpPr/>
          <p:nvPr/>
        </p:nvGrpSpPr>
        <p:grpSpPr>
          <a:xfrm>
            <a:off x="603504" y="1832610"/>
            <a:ext cx="4014216" cy="3568446"/>
            <a:chOff x="603504" y="1832610"/>
            <a:chExt cx="4014216" cy="3568446"/>
          </a:xfrm>
        </p:grpSpPr>
        <p:sp>
          <p:nvSpPr>
            <p:cNvPr id="55" name="TextBox 8">
              <a:extLst>
                <a:ext uri="{FF2B5EF4-FFF2-40B4-BE49-F238E27FC236}">
                  <a16:creationId xmlns:a16="http://schemas.microsoft.com/office/drawing/2014/main" id="{20772895-FA00-7905-8D19-D8718F189441}"/>
                </a:ext>
              </a:extLst>
            </p:cNvPr>
            <p:cNvSpPr txBox="1"/>
            <p:nvPr/>
          </p:nvSpPr>
          <p:spPr>
            <a:xfrm>
              <a:off x="603504" y="18326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五步可信链</a:t>
              </a:r>
            </a:p>
          </p:txBody>
        </p:sp>
        <p:sp>
          <p:nvSpPr>
            <p:cNvPr id="56" name="Line 9">
              <a:extLst>
                <a:ext uri="{FF2B5EF4-FFF2-40B4-BE49-F238E27FC236}">
                  <a16:creationId xmlns:a16="http://schemas.microsoft.com/office/drawing/2014/main" id="{ED473FA0-75C3-5521-60A8-3B62496C2B9B}"/>
                </a:ext>
              </a:extLst>
            </p:cNvPr>
            <p:cNvSpPr/>
            <p:nvPr/>
          </p:nvSpPr>
          <p:spPr>
            <a:xfrm>
              <a:off x="876300" y="236220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57" name="Ellipse 10">
              <a:extLst>
                <a:ext uri="{FF2B5EF4-FFF2-40B4-BE49-F238E27FC236}">
                  <a16:creationId xmlns:a16="http://schemas.microsoft.com/office/drawing/2014/main" id="{E9A808E8-4FF3-256A-722C-82EBD0C438EF}"/>
                </a:ext>
              </a:extLst>
            </p:cNvPr>
            <p:cNvSpPr/>
            <p:nvPr/>
          </p:nvSpPr>
          <p:spPr>
            <a:xfrm>
              <a:off x="704850" y="2228850"/>
              <a:ext cx="342900" cy="3429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58" name="TextBox 11">
              <a:extLst>
                <a:ext uri="{FF2B5EF4-FFF2-40B4-BE49-F238E27FC236}">
                  <a16:creationId xmlns:a16="http://schemas.microsoft.com/office/drawing/2014/main" id="{59D68F04-57F6-BABB-ECB6-996117DE3325}"/>
                </a:ext>
              </a:extLst>
            </p:cNvPr>
            <p:cNvSpPr txBox="1"/>
            <p:nvPr/>
          </p:nvSpPr>
          <p:spPr>
            <a:xfrm>
              <a:off x="827049" y="2345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59" name="TextBox 12">
              <a:extLst>
                <a:ext uri="{FF2B5EF4-FFF2-40B4-BE49-F238E27FC236}">
                  <a16:creationId xmlns:a16="http://schemas.microsoft.com/office/drawing/2014/main" id="{CBD25006-BE4F-0D25-C0E6-BA579039DCAE}"/>
                </a:ext>
              </a:extLst>
            </p:cNvPr>
            <p:cNvSpPr txBox="1"/>
            <p:nvPr/>
          </p:nvSpPr>
          <p:spPr>
            <a:xfrm>
              <a:off x="1211580" y="22002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图谱结构管理</a:t>
              </a:r>
            </a:p>
          </p:txBody>
        </p:sp>
        <p:sp>
          <p:nvSpPr>
            <p:cNvPr id="60" name="TextBox 13">
              <a:extLst>
                <a:ext uri="{FF2B5EF4-FFF2-40B4-BE49-F238E27FC236}">
                  <a16:creationId xmlns:a16="http://schemas.microsoft.com/office/drawing/2014/main" id="{24CF3CAA-C8BD-E0A1-A61B-74516855921A}"/>
                </a:ext>
              </a:extLst>
            </p:cNvPr>
            <p:cNvSpPr txBox="1"/>
            <p:nvPr/>
          </p:nvSpPr>
          <p:spPr>
            <a:xfrm>
              <a:off x="1213104" y="24993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定义类、属性、关系和业务记录类；发布后只读</a:t>
              </a:r>
            </a:p>
          </p:txBody>
        </p:sp>
        <p:sp>
          <p:nvSpPr>
            <p:cNvPr id="61" name="Ellipse 14">
              <a:extLst>
                <a:ext uri="{FF2B5EF4-FFF2-40B4-BE49-F238E27FC236}">
                  <a16:creationId xmlns:a16="http://schemas.microsoft.com/office/drawing/2014/main" id="{159E08DD-3FD4-71C2-B9D4-471115FED55F}"/>
                </a:ext>
              </a:extLst>
            </p:cNvPr>
            <p:cNvSpPr/>
            <p:nvPr/>
          </p:nvSpPr>
          <p:spPr>
            <a:xfrm>
              <a:off x="704850" y="2895600"/>
              <a:ext cx="342900" cy="3429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62" name="TextBox 15">
              <a:extLst>
                <a:ext uri="{FF2B5EF4-FFF2-40B4-BE49-F238E27FC236}">
                  <a16:creationId xmlns:a16="http://schemas.microsoft.com/office/drawing/2014/main" id="{37EA8CEB-34DC-50B1-CDCF-6D6BDAB464A5}"/>
                </a:ext>
              </a:extLst>
            </p:cNvPr>
            <p:cNvSpPr txBox="1"/>
            <p:nvPr/>
          </p:nvSpPr>
          <p:spPr>
            <a:xfrm>
              <a:off x="827049" y="30122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63" name="TextBox 16">
              <a:extLst>
                <a:ext uri="{FF2B5EF4-FFF2-40B4-BE49-F238E27FC236}">
                  <a16:creationId xmlns:a16="http://schemas.microsoft.com/office/drawing/2014/main" id="{E78C4373-396A-154D-2A47-9024D6022583}"/>
                </a:ext>
              </a:extLst>
            </p:cNvPr>
            <p:cNvSpPr txBox="1"/>
            <p:nvPr/>
          </p:nvSpPr>
          <p:spPr>
            <a:xfrm>
              <a:off x="1211580" y="28670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数据源与字段映射</a:t>
              </a:r>
            </a:p>
          </p:txBody>
        </p:sp>
        <p:sp>
          <p:nvSpPr>
            <p:cNvPr id="64" name="TextBox 17">
              <a:extLst>
                <a:ext uri="{FF2B5EF4-FFF2-40B4-BE49-F238E27FC236}">
                  <a16:creationId xmlns:a16="http://schemas.microsoft.com/office/drawing/2014/main" id="{57ED021D-0EEC-4856-5FCC-F04616830076}"/>
                </a:ext>
              </a:extLst>
            </p:cNvPr>
            <p:cNvSpPr txBox="1"/>
            <p:nvPr/>
          </p:nvSpPr>
          <p:spPr>
            <a:xfrm>
              <a:off x="1213104" y="3166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连接来源系统，解析元数据并校验语义覆盖</a:t>
              </a:r>
            </a:p>
          </p:txBody>
        </p:sp>
        <p:sp>
          <p:nvSpPr>
            <p:cNvPr id="65" name="Ellipse 18">
              <a:extLst>
                <a:ext uri="{FF2B5EF4-FFF2-40B4-BE49-F238E27FC236}">
                  <a16:creationId xmlns:a16="http://schemas.microsoft.com/office/drawing/2014/main" id="{2994A823-B3F5-A789-5FE4-89823BE3E4CF}"/>
                </a:ext>
              </a:extLst>
            </p:cNvPr>
            <p:cNvSpPr/>
            <p:nvPr/>
          </p:nvSpPr>
          <p:spPr>
            <a:xfrm>
              <a:off x="704850" y="3562350"/>
              <a:ext cx="342900" cy="3429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66" name="TextBox 19">
              <a:extLst>
                <a:ext uri="{FF2B5EF4-FFF2-40B4-BE49-F238E27FC236}">
                  <a16:creationId xmlns:a16="http://schemas.microsoft.com/office/drawing/2014/main" id="{90C7667A-EF19-BE1B-47D8-4E863079EB14}"/>
                </a:ext>
              </a:extLst>
            </p:cNvPr>
            <p:cNvSpPr txBox="1"/>
            <p:nvPr/>
          </p:nvSpPr>
          <p:spPr>
            <a:xfrm>
              <a:off x="827049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67" name="TextBox 20">
              <a:extLst>
                <a:ext uri="{FF2B5EF4-FFF2-40B4-BE49-F238E27FC236}">
                  <a16:creationId xmlns:a16="http://schemas.microsoft.com/office/drawing/2014/main" id="{66BD18D3-BDDC-C4A8-6D88-BE4E5B392F1B}"/>
                </a:ext>
              </a:extLst>
            </p:cNvPr>
            <p:cNvSpPr txBox="1"/>
            <p:nvPr/>
          </p:nvSpPr>
          <p:spPr>
            <a:xfrm>
              <a:off x="1211580" y="353377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知识图谱生成与版本发布</a:t>
              </a:r>
            </a:p>
          </p:txBody>
        </p:sp>
        <p:sp>
          <p:nvSpPr>
            <p:cNvPr id="68" name="TextBox 21">
              <a:extLst>
                <a:ext uri="{FF2B5EF4-FFF2-40B4-BE49-F238E27FC236}">
                  <a16:creationId xmlns:a16="http://schemas.microsoft.com/office/drawing/2014/main" id="{E6E38C0F-003B-9EA3-E439-04C85B1DD04A}"/>
                </a:ext>
              </a:extLst>
            </p:cNvPr>
            <p:cNvSpPr txBox="1"/>
            <p:nvPr/>
          </p:nvSpPr>
          <p:spPr>
            <a:xfrm>
              <a:off x="1213104" y="38328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固化结构、映射快照、数据范围和版本</a:t>
              </a:r>
            </a:p>
          </p:txBody>
        </p:sp>
        <p:sp>
          <p:nvSpPr>
            <p:cNvPr id="69" name="Ellipse 22">
              <a:extLst>
                <a:ext uri="{FF2B5EF4-FFF2-40B4-BE49-F238E27FC236}">
                  <a16:creationId xmlns:a16="http://schemas.microsoft.com/office/drawing/2014/main" id="{C45B8985-4D10-F451-CB41-FF6F2D4CFF2B}"/>
                </a:ext>
              </a:extLst>
            </p:cNvPr>
            <p:cNvSpPr/>
            <p:nvPr/>
          </p:nvSpPr>
          <p:spPr>
            <a:xfrm>
              <a:off x="704850" y="4229100"/>
              <a:ext cx="342900" cy="34290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70" name="TextBox 23">
              <a:extLst>
                <a:ext uri="{FF2B5EF4-FFF2-40B4-BE49-F238E27FC236}">
                  <a16:creationId xmlns:a16="http://schemas.microsoft.com/office/drawing/2014/main" id="{D8BC53F9-75A1-C0D3-3678-8437B045EC42}"/>
                </a:ext>
              </a:extLst>
            </p:cNvPr>
            <p:cNvSpPr txBox="1"/>
            <p:nvPr/>
          </p:nvSpPr>
          <p:spPr>
            <a:xfrm>
              <a:off x="827049" y="43457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71" name="TextBox 24">
              <a:extLst>
                <a:ext uri="{FF2B5EF4-FFF2-40B4-BE49-F238E27FC236}">
                  <a16:creationId xmlns:a16="http://schemas.microsoft.com/office/drawing/2014/main" id="{87268410-CB13-53B5-ECC9-1F21D25DEC4A}"/>
                </a:ext>
              </a:extLst>
            </p:cNvPr>
            <p:cNvSpPr txBox="1"/>
            <p:nvPr/>
          </p:nvSpPr>
          <p:spPr>
            <a:xfrm>
              <a:off x="1211580" y="4200525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证据子图 </a:t>
              </a:r>
              <a:r>
                <a:rPr kumimoji="0" lang="en-US" altLang="zh-CN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关系子图</a:t>
              </a:r>
            </a:p>
          </p:txBody>
        </p:sp>
        <p:sp>
          <p:nvSpPr>
            <p:cNvPr id="72" name="TextBox 25">
              <a:extLst>
                <a:ext uri="{FF2B5EF4-FFF2-40B4-BE49-F238E27FC236}">
                  <a16:creationId xmlns:a16="http://schemas.microsoft.com/office/drawing/2014/main" id="{CBAA63B7-1431-2908-F8B9-2E767C1A6157}"/>
                </a:ext>
              </a:extLst>
            </p:cNvPr>
            <p:cNvSpPr txBox="1"/>
            <p:nvPr/>
          </p:nvSpPr>
          <p:spPr>
            <a:xfrm>
              <a:off x="1213104" y="44996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预警生成时冻结有限事实与来源记录</a:t>
              </a:r>
            </a:p>
          </p:txBody>
        </p:sp>
        <p:sp>
          <p:nvSpPr>
            <p:cNvPr id="73" name="Ellipse 26">
              <a:extLst>
                <a:ext uri="{FF2B5EF4-FFF2-40B4-BE49-F238E27FC236}">
                  <a16:creationId xmlns:a16="http://schemas.microsoft.com/office/drawing/2014/main" id="{E6584C38-91C3-5E0D-661D-1AF588F2105A}"/>
                </a:ext>
              </a:extLst>
            </p:cNvPr>
            <p:cNvSpPr/>
            <p:nvPr/>
          </p:nvSpPr>
          <p:spPr>
            <a:xfrm>
              <a:off x="704850" y="48958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B63F6"/>
              </a:solidFill>
            </a:ln>
          </p:spPr>
        </p:sp>
        <p:sp>
          <p:nvSpPr>
            <p:cNvPr id="74" name="TextBox 27">
              <a:extLst>
                <a:ext uri="{FF2B5EF4-FFF2-40B4-BE49-F238E27FC236}">
                  <a16:creationId xmlns:a16="http://schemas.microsoft.com/office/drawing/2014/main" id="{E74A08B3-09D4-8563-955C-D1D7025A02FF}"/>
                </a:ext>
              </a:extLst>
            </p:cNvPr>
            <p:cNvSpPr txBox="1"/>
            <p:nvPr/>
          </p:nvSpPr>
          <p:spPr>
            <a:xfrm>
              <a:off x="827049" y="50125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75" name="TextBox 28">
              <a:extLst>
                <a:ext uri="{FF2B5EF4-FFF2-40B4-BE49-F238E27FC236}">
                  <a16:creationId xmlns:a16="http://schemas.microsoft.com/office/drawing/2014/main" id="{C2B2A07C-3DA0-CA6E-3E76-CCDE7956B989}"/>
                </a:ext>
              </a:extLst>
            </p:cNvPr>
            <p:cNvSpPr txBox="1"/>
            <p:nvPr/>
          </p:nvSpPr>
          <p:spPr>
            <a:xfrm>
              <a:off x="1211580" y="48672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权限、安全与审计</a:t>
              </a:r>
            </a:p>
          </p:txBody>
        </p:sp>
        <p:sp>
          <p:nvSpPr>
            <p:cNvPr id="76" name="TextBox 29">
              <a:extLst>
                <a:ext uri="{FF2B5EF4-FFF2-40B4-BE49-F238E27FC236}">
                  <a16:creationId xmlns:a16="http://schemas.microsoft.com/office/drawing/2014/main" id="{E4EA7253-D792-8B81-31B5-463DAE08B5DE}"/>
                </a:ext>
              </a:extLst>
            </p:cNvPr>
            <p:cNvSpPr txBox="1"/>
            <p:nvPr/>
          </p:nvSpPr>
          <p:spPr>
            <a:xfrm>
              <a:off x="1213104" y="51663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关系、证据与版本操作服务端控制并留痕</a:t>
              </a:r>
            </a:p>
          </p:txBody>
        </p:sp>
      </p:grpSp>
      <p:grpSp>
        <p:nvGrpSpPr>
          <p:cNvPr id="77" name="Group 55">
            <a:extLst>
              <a:ext uri="{FF2B5EF4-FFF2-40B4-BE49-F238E27FC236}">
                <a16:creationId xmlns:a16="http://schemas.microsoft.com/office/drawing/2014/main" id="{B7D3DBAE-938A-0D7C-EB31-781F6C53465A}"/>
              </a:ext>
            </a:extLst>
          </p:cNvPr>
          <p:cNvGrpSpPr/>
          <p:nvPr/>
        </p:nvGrpSpPr>
        <p:grpSpPr>
          <a:xfrm>
            <a:off x="5638800" y="1752600"/>
            <a:ext cx="5715000" cy="3638550"/>
            <a:chOff x="5638800" y="1752600"/>
            <a:chExt cx="5715000" cy="3638550"/>
          </a:xfrm>
        </p:grpSpPr>
        <p:sp>
          <p:nvSpPr>
            <p:cNvPr id="78" name="Rectangle 31">
              <a:extLst>
                <a:ext uri="{FF2B5EF4-FFF2-40B4-BE49-F238E27FC236}">
                  <a16:creationId xmlns:a16="http://schemas.microsoft.com/office/drawing/2014/main" id="{4279D439-3A34-588C-55D5-3475A436541E}"/>
                </a:ext>
              </a:extLst>
            </p:cNvPr>
            <p:cNvSpPr/>
            <p:nvPr/>
          </p:nvSpPr>
          <p:spPr>
            <a:xfrm>
              <a:off x="5638800" y="1752600"/>
              <a:ext cx="5715000" cy="363855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79" name="TextBox 32">
              <a:extLst>
                <a:ext uri="{FF2B5EF4-FFF2-40B4-BE49-F238E27FC236}">
                  <a16:creationId xmlns:a16="http://schemas.microsoft.com/office/drawing/2014/main" id="{E7B95E3B-CD59-DA50-08F9-F81F0178B399}"/>
                </a:ext>
              </a:extLst>
            </p:cNvPr>
            <p:cNvSpPr txBox="1"/>
            <p:nvPr/>
          </p:nvSpPr>
          <p:spPr>
            <a:xfrm>
              <a:off x="5861304" y="19278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证据子图示意</a:t>
              </a:r>
            </a:p>
          </p:txBody>
        </p:sp>
        <p:sp>
          <p:nvSpPr>
            <p:cNvPr id="80" name="Line 33">
              <a:extLst>
                <a:ext uri="{FF2B5EF4-FFF2-40B4-BE49-F238E27FC236}">
                  <a16:creationId xmlns:a16="http://schemas.microsoft.com/office/drawing/2014/main" id="{CA56CFE1-6965-885D-286B-D802D096D11C}"/>
                </a:ext>
              </a:extLst>
            </p:cNvPr>
            <p:cNvSpPr/>
            <p:nvPr/>
          </p:nvSpPr>
          <p:spPr>
            <a:xfrm>
              <a:off x="6667500" y="2647950"/>
              <a:ext cx="1752600" cy="742950"/>
            </a:xfrm>
            <a:custGeom>
              <a:avLst/>
              <a:gdLst/>
              <a:ahLst/>
              <a:cxnLst/>
              <a:rect l="l" t="t" r="r" b="b"/>
              <a:pathLst>
                <a:path w="1752600" h="742950">
                  <a:moveTo>
                    <a:pt x="1752600" y="742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81" name="Line 34">
              <a:extLst>
                <a:ext uri="{FF2B5EF4-FFF2-40B4-BE49-F238E27FC236}">
                  <a16:creationId xmlns:a16="http://schemas.microsoft.com/office/drawing/2014/main" id="{63F94D0B-B6FE-5A69-CB94-575502B597E7}"/>
                </a:ext>
              </a:extLst>
            </p:cNvPr>
            <p:cNvSpPr/>
            <p:nvPr/>
          </p:nvSpPr>
          <p:spPr>
            <a:xfrm>
              <a:off x="8420100" y="2647950"/>
              <a:ext cx="1752600" cy="742950"/>
            </a:xfrm>
            <a:custGeom>
              <a:avLst/>
              <a:gdLst/>
              <a:ahLst/>
              <a:cxnLst/>
              <a:rect l="l" t="t" r="r" b="b"/>
              <a:pathLst>
                <a:path w="1752600" h="742950">
                  <a:moveTo>
                    <a:pt x="0" y="742950"/>
                  </a:moveTo>
                  <a:lnTo>
                    <a:pt x="1752600" y="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82" name="Line 35">
              <a:extLst>
                <a:ext uri="{FF2B5EF4-FFF2-40B4-BE49-F238E27FC236}">
                  <a16:creationId xmlns:a16="http://schemas.microsoft.com/office/drawing/2014/main" id="{CF51FF6F-D4CA-2D73-C60F-4FCB7000974D}"/>
                </a:ext>
              </a:extLst>
            </p:cNvPr>
            <p:cNvSpPr/>
            <p:nvPr/>
          </p:nvSpPr>
          <p:spPr>
            <a:xfrm>
              <a:off x="6572250" y="3390900"/>
              <a:ext cx="1847850" cy="971550"/>
            </a:xfrm>
            <a:custGeom>
              <a:avLst/>
              <a:gdLst/>
              <a:ahLst/>
              <a:cxnLst/>
              <a:rect l="l" t="t" r="r" b="b"/>
              <a:pathLst>
                <a:path w="1847850" h="971550">
                  <a:moveTo>
                    <a:pt x="1847850" y="0"/>
                  </a:moveTo>
                  <a:lnTo>
                    <a:pt x="0" y="97155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83" name="Line 36">
              <a:extLst>
                <a:ext uri="{FF2B5EF4-FFF2-40B4-BE49-F238E27FC236}">
                  <a16:creationId xmlns:a16="http://schemas.microsoft.com/office/drawing/2014/main" id="{B2E61397-A494-50E0-9968-9EA5CDCDEEB1}"/>
                </a:ext>
              </a:extLst>
            </p:cNvPr>
            <p:cNvSpPr/>
            <p:nvPr/>
          </p:nvSpPr>
          <p:spPr>
            <a:xfrm>
              <a:off x="8420100" y="3390900"/>
              <a:ext cx="1847850" cy="971550"/>
            </a:xfrm>
            <a:custGeom>
              <a:avLst/>
              <a:gdLst/>
              <a:ahLst/>
              <a:cxnLst/>
              <a:rect l="l" t="t" r="r" b="b"/>
              <a:pathLst>
                <a:path w="1847850" h="971550">
                  <a:moveTo>
                    <a:pt x="0" y="0"/>
                  </a:moveTo>
                  <a:lnTo>
                    <a:pt x="1847850" y="97155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84" name="Line 37">
              <a:extLst>
                <a:ext uri="{FF2B5EF4-FFF2-40B4-BE49-F238E27FC236}">
                  <a16:creationId xmlns:a16="http://schemas.microsoft.com/office/drawing/2014/main" id="{E275949E-8CE1-3D35-AFBB-E649A3002921}"/>
                </a:ext>
              </a:extLst>
            </p:cNvPr>
            <p:cNvSpPr/>
            <p:nvPr/>
          </p:nvSpPr>
          <p:spPr>
            <a:xfrm>
              <a:off x="6667500" y="26479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rgbClr val="D2E1F7"/>
              </a:solidFill>
            </a:ln>
          </p:spPr>
        </p:sp>
        <p:sp>
          <p:nvSpPr>
            <p:cNvPr id="85" name="Line 38">
              <a:extLst>
                <a:ext uri="{FF2B5EF4-FFF2-40B4-BE49-F238E27FC236}">
                  <a16:creationId xmlns:a16="http://schemas.microsoft.com/office/drawing/2014/main" id="{DF6F4527-CA35-3DBC-AA4C-5088DC5FAECC}"/>
                </a:ext>
              </a:extLst>
            </p:cNvPr>
            <p:cNvSpPr/>
            <p:nvPr/>
          </p:nvSpPr>
          <p:spPr>
            <a:xfrm>
              <a:off x="6572250" y="4362450"/>
              <a:ext cx="3695700" cy="9525"/>
            </a:xfrm>
            <a:custGeom>
              <a:avLst/>
              <a:gdLst/>
              <a:ahLst/>
              <a:cxnLst/>
              <a:rect l="l" t="t" r="r" b="b"/>
              <a:pathLst>
                <a:path w="3695700" h="9525">
                  <a:moveTo>
                    <a:pt x="0" y="0"/>
                  </a:moveTo>
                  <a:lnTo>
                    <a:pt x="3695700" y="0"/>
                  </a:lnTo>
                </a:path>
              </a:pathLst>
            </a:custGeom>
            <a:noFill/>
            <a:ln w="9525">
              <a:solidFill>
                <a:srgbClr val="D2E1F7"/>
              </a:solidFill>
            </a:ln>
          </p:spPr>
        </p:sp>
        <p:sp>
          <p:nvSpPr>
            <p:cNvPr id="86" name="Ellipse 39">
              <a:extLst>
                <a:ext uri="{FF2B5EF4-FFF2-40B4-BE49-F238E27FC236}">
                  <a16:creationId xmlns:a16="http://schemas.microsoft.com/office/drawing/2014/main" id="{09371248-62E5-CE82-ABAC-3CBA9C90BC30}"/>
                </a:ext>
              </a:extLst>
            </p:cNvPr>
            <p:cNvSpPr/>
            <p:nvPr/>
          </p:nvSpPr>
          <p:spPr>
            <a:xfrm>
              <a:off x="7829550" y="2800350"/>
              <a:ext cx="1181100" cy="11811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87" name="TextBox 40">
              <a:extLst>
                <a:ext uri="{FF2B5EF4-FFF2-40B4-BE49-F238E27FC236}">
                  <a16:creationId xmlns:a16="http://schemas.microsoft.com/office/drawing/2014/main" id="{F9AB5803-8B83-233A-B6F9-A0AFA875FC39}"/>
                </a:ext>
              </a:extLst>
            </p:cNvPr>
            <p:cNvSpPr txBox="1"/>
            <p:nvPr/>
          </p:nvSpPr>
          <p:spPr>
            <a:xfrm>
              <a:off x="7945260" y="3155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业务记录</a:t>
              </a:r>
            </a:p>
          </p:txBody>
        </p:sp>
        <p:sp>
          <p:nvSpPr>
            <p:cNvPr id="88" name="TextBox 41">
              <a:extLst>
                <a:ext uri="{FF2B5EF4-FFF2-40B4-BE49-F238E27FC236}">
                  <a16:creationId xmlns:a16="http://schemas.microsoft.com/office/drawing/2014/main" id="{DCF0F8A3-BC7D-7724-7B66-43192CED6715}"/>
                </a:ext>
              </a:extLst>
            </p:cNvPr>
            <p:cNvSpPr txBox="1"/>
            <p:nvPr/>
          </p:nvSpPr>
          <p:spPr>
            <a:xfrm>
              <a:off x="7886675" y="34980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当时发生了什么</a:t>
              </a:r>
            </a:p>
          </p:txBody>
        </p:sp>
        <p:sp>
          <p:nvSpPr>
            <p:cNvPr id="89" name="Ellipse 42">
              <a:extLst>
                <a:ext uri="{FF2B5EF4-FFF2-40B4-BE49-F238E27FC236}">
                  <a16:creationId xmlns:a16="http://schemas.microsoft.com/office/drawing/2014/main" id="{2F56CD4B-CFD1-3A7F-1132-167DED1C8CF5}"/>
                </a:ext>
              </a:extLst>
            </p:cNvPr>
            <p:cNvSpPr/>
            <p:nvPr/>
          </p:nvSpPr>
          <p:spPr>
            <a:xfrm>
              <a:off x="6229350" y="2209800"/>
              <a:ext cx="876300" cy="876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8CFF"/>
              </a:solidFill>
            </a:ln>
          </p:spPr>
        </p:sp>
        <p:sp>
          <p:nvSpPr>
            <p:cNvPr id="90" name="TextBox 43">
              <a:extLst>
                <a:ext uri="{FF2B5EF4-FFF2-40B4-BE49-F238E27FC236}">
                  <a16:creationId xmlns:a16="http://schemas.microsoft.com/office/drawing/2014/main" id="{E40ABA50-7F16-5E33-D80C-E67089BCF073}"/>
                </a:ext>
              </a:extLst>
            </p:cNvPr>
            <p:cNvSpPr txBox="1"/>
            <p:nvPr/>
          </p:nvSpPr>
          <p:spPr>
            <a:xfrm>
              <a:off x="6359183" y="25703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供应商</a:t>
              </a:r>
            </a:p>
          </p:txBody>
        </p:sp>
        <p:sp>
          <p:nvSpPr>
            <p:cNvPr id="91" name="Ellipse 44">
              <a:extLst>
                <a:ext uri="{FF2B5EF4-FFF2-40B4-BE49-F238E27FC236}">
                  <a16:creationId xmlns:a16="http://schemas.microsoft.com/office/drawing/2014/main" id="{54735785-667E-5F90-1FF5-578FC364CE77}"/>
                </a:ext>
              </a:extLst>
            </p:cNvPr>
            <p:cNvSpPr/>
            <p:nvPr/>
          </p:nvSpPr>
          <p:spPr>
            <a:xfrm>
              <a:off x="9734550" y="2209800"/>
              <a:ext cx="876300" cy="876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8CFF"/>
              </a:solidFill>
            </a:ln>
          </p:spPr>
        </p:sp>
        <p:sp>
          <p:nvSpPr>
            <p:cNvPr id="92" name="TextBox 45">
              <a:extLst>
                <a:ext uri="{FF2B5EF4-FFF2-40B4-BE49-F238E27FC236}">
                  <a16:creationId xmlns:a16="http://schemas.microsoft.com/office/drawing/2014/main" id="{B3AC19C3-3347-29DA-638C-F9318DE4B451}"/>
                </a:ext>
              </a:extLst>
            </p:cNvPr>
            <p:cNvSpPr txBox="1"/>
            <p:nvPr/>
          </p:nvSpPr>
          <p:spPr>
            <a:xfrm>
              <a:off x="99647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人员</a:t>
              </a:r>
            </a:p>
          </p:txBody>
        </p:sp>
        <p:sp>
          <p:nvSpPr>
            <p:cNvPr id="93" name="Ellipse 46">
              <a:extLst>
                <a:ext uri="{FF2B5EF4-FFF2-40B4-BE49-F238E27FC236}">
                  <a16:creationId xmlns:a16="http://schemas.microsoft.com/office/drawing/2014/main" id="{F6D50AA0-0B50-FD65-1787-8BEC7BFCAF58}"/>
                </a:ext>
              </a:extLst>
            </p:cNvPr>
            <p:cNvSpPr/>
            <p:nvPr/>
          </p:nvSpPr>
          <p:spPr>
            <a:xfrm>
              <a:off x="6134100" y="3924300"/>
              <a:ext cx="876300" cy="876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2B573"/>
              </a:solidFill>
            </a:ln>
          </p:spPr>
        </p:sp>
        <p:sp>
          <p:nvSpPr>
            <p:cNvPr id="94" name="TextBox 47">
              <a:extLst>
                <a:ext uri="{FF2B5EF4-FFF2-40B4-BE49-F238E27FC236}">
                  <a16:creationId xmlns:a16="http://schemas.microsoft.com/office/drawing/2014/main" id="{627CD187-CD49-0455-E961-ABA3EA5F270C}"/>
                </a:ext>
              </a:extLst>
            </p:cNvPr>
            <p:cNvSpPr txBox="1"/>
            <p:nvPr/>
          </p:nvSpPr>
          <p:spPr>
            <a:xfrm>
              <a:off x="6364293" y="42848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</a:t>
              </a:r>
            </a:p>
          </p:txBody>
        </p:sp>
        <p:sp>
          <p:nvSpPr>
            <p:cNvPr id="95" name="Ellipse 48">
              <a:extLst>
                <a:ext uri="{FF2B5EF4-FFF2-40B4-BE49-F238E27FC236}">
                  <a16:creationId xmlns:a16="http://schemas.microsoft.com/office/drawing/2014/main" id="{E38896EB-30C4-C6F4-2AC5-4CF9434F50FF}"/>
                </a:ext>
              </a:extLst>
            </p:cNvPr>
            <p:cNvSpPr/>
            <p:nvPr/>
          </p:nvSpPr>
          <p:spPr>
            <a:xfrm>
              <a:off x="9829800" y="3924300"/>
              <a:ext cx="876300" cy="8763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2B573"/>
              </a:solidFill>
            </a:ln>
          </p:spPr>
        </p:sp>
        <p:sp>
          <p:nvSpPr>
            <p:cNvPr id="96" name="TextBox 49">
              <a:extLst>
                <a:ext uri="{FF2B5EF4-FFF2-40B4-BE49-F238E27FC236}">
                  <a16:creationId xmlns:a16="http://schemas.microsoft.com/office/drawing/2014/main" id="{F2D4330F-0C3E-0D6D-A59C-FE42E0B69912}"/>
                </a:ext>
              </a:extLst>
            </p:cNvPr>
            <p:cNvSpPr txBox="1"/>
            <p:nvPr/>
          </p:nvSpPr>
          <p:spPr>
            <a:xfrm>
              <a:off x="10059993" y="42848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2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</a:t>
              </a:r>
            </a:p>
          </p:txBody>
        </p:sp>
        <p:sp>
          <p:nvSpPr>
            <p:cNvPr id="97" name="TextBox 50">
              <a:extLst>
                <a:ext uri="{FF2B5EF4-FFF2-40B4-BE49-F238E27FC236}">
                  <a16:creationId xmlns:a16="http://schemas.microsoft.com/office/drawing/2014/main" id="{5DF4DF45-412C-1E82-5E28-4C1DF102073C}"/>
                </a:ext>
              </a:extLst>
            </p:cNvPr>
            <p:cNvSpPr txBox="1"/>
            <p:nvPr/>
          </p:nvSpPr>
          <p:spPr>
            <a:xfrm>
              <a:off x="7538466" y="26108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股权 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任职</a:t>
              </a:r>
            </a:p>
          </p:txBody>
        </p:sp>
        <p:sp>
          <p:nvSpPr>
            <p:cNvPr id="98" name="TextBox 51">
              <a:extLst>
                <a:ext uri="{FF2B5EF4-FFF2-40B4-BE49-F238E27FC236}">
                  <a16:creationId xmlns:a16="http://schemas.microsoft.com/office/drawing/2014/main" id="{88D5A76B-F78A-8343-CF3C-F18D7BF6F866}"/>
                </a:ext>
              </a:extLst>
            </p:cNvPr>
            <p:cNvSpPr txBox="1"/>
            <p:nvPr/>
          </p:nvSpPr>
          <p:spPr>
            <a:xfrm>
              <a:off x="8364607" y="26108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联系人 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专家</a:t>
              </a:r>
            </a:p>
          </p:txBody>
        </p:sp>
        <p:sp>
          <p:nvSpPr>
            <p:cNvPr id="99" name="TextBox 52">
              <a:extLst>
                <a:ext uri="{FF2B5EF4-FFF2-40B4-BE49-F238E27FC236}">
                  <a16:creationId xmlns:a16="http://schemas.microsoft.com/office/drawing/2014/main" id="{3288AAAC-A673-08F6-7969-B0F4A09FF1F5}"/>
                </a:ext>
              </a:extLst>
            </p:cNvPr>
            <p:cNvSpPr txBox="1"/>
            <p:nvPr/>
          </p:nvSpPr>
          <p:spPr>
            <a:xfrm>
              <a:off x="7405116" y="40586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履约 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发票</a:t>
              </a:r>
            </a:p>
          </p:txBody>
        </p:sp>
        <p:sp>
          <p:nvSpPr>
            <p:cNvPr id="100" name="TextBox 53">
              <a:extLst>
                <a:ext uri="{FF2B5EF4-FFF2-40B4-BE49-F238E27FC236}">
                  <a16:creationId xmlns:a16="http://schemas.microsoft.com/office/drawing/2014/main" id="{7BBE96F6-42A4-C39C-1D9F-1BFAAA9D32C2}"/>
                </a:ext>
              </a:extLst>
            </p:cNvPr>
            <p:cNvSpPr txBox="1"/>
            <p:nvPr/>
          </p:nvSpPr>
          <p:spPr>
            <a:xfrm>
              <a:off x="8734558" y="40586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 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账户</a:t>
              </a:r>
            </a:p>
          </p:txBody>
        </p:sp>
        <p:sp>
          <p:nvSpPr>
            <p:cNvPr id="101" name="TextBox 54">
              <a:extLst>
                <a:ext uri="{FF2B5EF4-FFF2-40B4-BE49-F238E27FC236}">
                  <a16:creationId xmlns:a16="http://schemas.microsoft.com/office/drawing/2014/main" id="{89DA95BB-A94C-833E-1762-2B6C4965F87A}"/>
                </a:ext>
              </a:extLst>
            </p:cNvPr>
            <p:cNvSpPr txBox="1"/>
            <p:nvPr/>
          </p:nvSpPr>
          <p:spPr>
            <a:xfrm>
              <a:off x="6679627" y="4994910"/>
              <a:ext cx="3480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来源记录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关系路径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版本快照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=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可解释证据</a:t>
              </a:r>
            </a:p>
          </p:txBody>
        </p:sp>
      </p:grpSp>
      <p:grpSp>
        <p:nvGrpSpPr>
          <p:cNvPr id="102" name="Group 58">
            <a:extLst>
              <a:ext uri="{FF2B5EF4-FFF2-40B4-BE49-F238E27FC236}">
                <a16:creationId xmlns:a16="http://schemas.microsoft.com/office/drawing/2014/main" id="{56BB857B-1628-014E-D1F9-2BAABB01CDAB}"/>
              </a:ext>
            </a:extLst>
          </p:cNvPr>
          <p:cNvGrpSpPr/>
          <p:nvPr/>
        </p:nvGrpSpPr>
        <p:grpSpPr>
          <a:xfrm>
            <a:off x="602742" y="5676900"/>
            <a:ext cx="10751058" cy="461201"/>
            <a:chOff x="602742" y="5676900"/>
            <a:chExt cx="10751058" cy="461201"/>
          </a:xfrm>
        </p:grpSpPr>
        <p:sp>
          <p:nvSpPr>
            <p:cNvPr id="103" name="Line 56">
              <a:extLst>
                <a:ext uri="{FF2B5EF4-FFF2-40B4-BE49-F238E27FC236}">
                  <a16:creationId xmlns:a16="http://schemas.microsoft.com/office/drawing/2014/main" id="{B2ECC879-8AEF-00F7-D3BA-33AFD072F12A}"/>
                </a:ext>
              </a:extLst>
            </p:cNvPr>
            <p:cNvSpPr/>
            <p:nvPr/>
          </p:nvSpPr>
          <p:spPr>
            <a:xfrm>
              <a:off x="609600" y="56769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19050">
              <a:solidFill>
                <a:srgbClr val="0B63F6"/>
              </a:solidFill>
            </a:ln>
          </p:spPr>
        </p:sp>
        <p:sp>
          <p:nvSpPr>
            <p:cNvPr id="104" name="TextBox 57">
              <a:extLst>
                <a:ext uri="{FF2B5EF4-FFF2-40B4-BE49-F238E27FC236}">
                  <a16:creationId xmlns:a16="http://schemas.microsoft.com/office/drawing/2014/main" id="{3DC6142F-9D62-0A16-3FF7-0E4C3F8B4DBD}"/>
                </a:ext>
              </a:extLst>
            </p:cNvPr>
            <p:cNvSpPr txBox="1"/>
            <p:nvPr/>
          </p:nvSpPr>
          <p:spPr>
            <a:xfrm>
              <a:off x="602742" y="5874068"/>
              <a:ext cx="7455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版本底线：刷新当前图谱不得覆盖历史事实；结构、映射、数据范围与证据快照均可追溯</a:t>
              </a:r>
            </a:p>
          </p:txBody>
        </p:sp>
      </p:grpSp>
      <p:sp>
        <p:nvSpPr>
          <p:cNvPr id="106" name="TextBox 6">
            <a:extLst>
              <a:ext uri="{FF2B5EF4-FFF2-40B4-BE49-F238E27FC236}">
                <a16:creationId xmlns:a16="http://schemas.microsoft.com/office/drawing/2014/main" id="{C542931D-C897-1474-C366-1ADA482001AB}"/>
              </a:ext>
            </a:extLst>
          </p:cNvPr>
          <p:cNvSpPr txBox="1"/>
          <p:nvPr/>
        </p:nvSpPr>
        <p:spPr>
          <a:xfrm>
            <a:off x="460629" y="1004316"/>
            <a:ext cx="6974666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知识图谱：统一语义、生成版本、固化证据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3948456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flipV="1">
            <a:off x="2783838" y="3746509"/>
            <a:ext cx="6624325" cy="2073352"/>
            <a:chOff x="3243726" y="2226092"/>
            <a:chExt cx="5709776" cy="1787107"/>
          </a:xfrm>
        </p:grpSpPr>
        <p:sp>
          <p:nvSpPr>
            <p:cNvPr id="3" name="等腰三角形 2"/>
            <p:cNvSpPr/>
            <p:nvPr/>
          </p:nvSpPr>
          <p:spPr>
            <a:xfrm flipV="1">
              <a:off x="3243726" y="2226092"/>
              <a:ext cx="5709776" cy="1787105"/>
            </a:xfrm>
            <a:prstGeom prst="triangle">
              <a:avLst/>
            </a:pr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7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4" name="等腰三角形 3"/>
            <p:cNvSpPr/>
            <p:nvPr/>
          </p:nvSpPr>
          <p:spPr>
            <a:xfrm flipV="1">
              <a:off x="4080877" y="2226094"/>
              <a:ext cx="4035471" cy="1787105"/>
            </a:xfrm>
            <a:prstGeom prst="triangle">
              <a:avLst/>
            </a:pr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2783838" y="1610139"/>
            <a:ext cx="6624325" cy="2073352"/>
            <a:chOff x="3243726" y="2226092"/>
            <a:chExt cx="5709776" cy="1787107"/>
          </a:xfrm>
        </p:grpSpPr>
        <p:sp>
          <p:nvSpPr>
            <p:cNvPr id="40" name="等腰三角形 39"/>
            <p:cNvSpPr/>
            <p:nvPr/>
          </p:nvSpPr>
          <p:spPr>
            <a:xfrm flipV="1">
              <a:off x="3243726" y="2226092"/>
              <a:ext cx="5709776" cy="1787105"/>
            </a:xfrm>
            <a:prstGeom prst="triangle">
              <a:avLst/>
            </a:pr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29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 flipV="1">
              <a:off x="4080877" y="2226094"/>
              <a:ext cx="4035471" cy="1787105"/>
            </a:xfrm>
            <a:prstGeom prst="triangle">
              <a:avLst/>
            </a:prstGeom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</p:grpSp>
      <p:sp>
        <p:nvSpPr>
          <p:cNvPr id="42" name="椭圆 41"/>
          <p:cNvSpPr/>
          <p:nvPr/>
        </p:nvSpPr>
        <p:spPr>
          <a:xfrm>
            <a:off x="4494974" y="2123414"/>
            <a:ext cx="3202051" cy="301572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>
                    <a:alpha val="69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3755079" y="1441191"/>
            <a:ext cx="4681843" cy="337904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>
                    <a:alpha val="69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180418" y="2834436"/>
            <a:ext cx="1831163" cy="141816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>
                    <a:alpha val="69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080337" y="1253067"/>
            <a:ext cx="20313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可解释 · 可复核 · 可追责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5388113" y="1944877"/>
            <a:ext cx="1415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L5 证据责任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388113" y="2552756"/>
            <a:ext cx="1415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L4 风险判断</a:t>
            </a:r>
          </a:p>
        </p:txBody>
      </p:sp>
      <p:sp>
        <p:nvSpPr>
          <p:cNvPr id="48" name="椭圆 47"/>
          <p:cNvSpPr/>
          <p:nvPr/>
        </p:nvSpPr>
        <p:spPr>
          <a:xfrm>
            <a:off x="4494974" y="5054272"/>
            <a:ext cx="3202051" cy="301572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>
                    <a:alpha val="69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285521" y="4875734"/>
            <a:ext cx="16209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L2 语义对象</a:t>
            </a:r>
          </a:p>
        </p:txBody>
      </p:sp>
      <p:sp>
        <p:nvSpPr>
          <p:cNvPr id="50" name="椭圆 49"/>
          <p:cNvSpPr/>
          <p:nvPr/>
        </p:nvSpPr>
        <p:spPr>
          <a:xfrm>
            <a:off x="5180418" y="4528868"/>
            <a:ext cx="1831163" cy="141816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>
                    <a:alpha val="69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285521" y="4247188"/>
            <a:ext cx="16209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L3 关系事实</a:t>
            </a:r>
          </a:p>
        </p:txBody>
      </p:sp>
      <p:sp>
        <p:nvSpPr>
          <p:cNvPr id="52" name="椭圆 51"/>
          <p:cNvSpPr/>
          <p:nvPr/>
        </p:nvSpPr>
        <p:spPr>
          <a:xfrm>
            <a:off x="3755078" y="5733753"/>
            <a:ext cx="4681843" cy="337904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6000"/>
                </a:schemeClr>
              </a:gs>
            </a:gsLst>
            <a:lin ang="5400000" scaled="1"/>
          </a:gradFill>
          <a:ln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>
                    <a:alpha val="69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388113" y="5545629"/>
            <a:ext cx="1415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L1 来源记录</a:t>
            </a:r>
          </a:p>
        </p:txBody>
      </p:sp>
      <p:sp>
        <p:nvSpPr>
          <p:cNvPr id="54" name="椭圆 53"/>
          <p:cNvSpPr/>
          <p:nvPr/>
        </p:nvSpPr>
        <p:spPr>
          <a:xfrm>
            <a:off x="2051464" y="3371651"/>
            <a:ext cx="8089071" cy="750182"/>
          </a:xfrm>
          <a:prstGeom prst="ellipse">
            <a:avLst/>
          </a:prstGeom>
          <a:gradFill>
            <a:gsLst>
              <a:gs pos="36000">
                <a:schemeClr val="accent2">
                  <a:alpha val="0"/>
                </a:schemeClr>
              </a:gs>
              <a:gs pos="100000">
                <a:schemeClr val="accent2">
                  <a:alpha val="46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3205643" y="3504652"/>
            <a:ext cx="5780713" cy="358948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2796245" y="2800196"/>
            <a:ext cx="1005721" cy="1005721"/>
          </a:xfrm>
          <a:prstGeom prst="ellipse">
            <a:avLst/>
          </a:prstGeom>
          <a:gradFill flip="none" rotWithShape="1">
            <a:gsLst>
              <a:gs pos="36000">
                <a:schemeClr val="accent2">
                  <a:alpha val="14000"/>
                </a:schemeClr>
              </a:gs>
              <a:gs pos="100000">
                <a:schemeClr val="accent2">
                  <a:alpha val="56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reflection stA="72000" endPos="21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950397" y="2954348"/>
            <a:ext cx="697417" cy="697417"/>
          </a:xfrm>
          <a:prstGeom prst="ellipse">
            <a:avLst/>
          </a:prstGeom>
          <a:gradFill>
            <a:gsLst>
              <a:gs pos="37000">
                <a:schemeClr val="accent2">
                  <a:alpha val="49000"/>
                </a:schemeClr>
              </a:gs>
              <a:gs pos="86000">
                <a:schemeClr val="accent2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8488554" y="2800196"/>
            <a:ext cx="1005721" cy="1005721"/>
          </a:xfrm>
          <a:prstGeom prst="ellipse">
            <a:avLst/>
          </a:prstGeom>
          <a:gradFill flip="none" rotWithShape="1">
            <a:gsLst>
              <a:gs pos="36000">
                <a:schemeClr val="accent2">
                  <a:alpha val="14000"/>
                </a:schemeClr>
              </a:gs>
              <a:gs pos="100000">
                <a:schemeClr val="accent2">
                  <a:alpha val="56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reflection stA="72000" endPos="21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8642706" y="2954348"/>
            <a:ext cx="697417" cy="697417"/>
          </a:xfrm>
          <a:prstGeom prst="ellipse">
            <a:avLst/>
          </a:prstGeom>
          <a:gradFill>
            <a:gsLst>
              <a:gs pos="37000">
                <a:schemeClr val="accent2">
                  <a:alpha val="49000"/>
                </a:schemeClr>
              </a:gs>
              <a:gs pos="86000">
                <a:schemeClr val="accent2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 dirty="0">
              <a:solidFill>
                <a:schemeClr val="tx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473889" y="3010668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数据语义图谱</a:t>
            </a:r>
            <a:endParaRPr lang="en-US" altLang="zh-CN" sz="16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algn="ctr"/>
            <a:endParaRPr lang="zh-CN" altLang="en-US" sz="16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663408" y="3010668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规则 · 证据 · 闭环</a:t>
            </a:r>
            <a:endParaRPr lang="en-US" altLang="zh-CN" sz="16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endParaRPr lang="zh-CN" altLang="en-US" sz="1600" b="1" dirty="0">
              <a:solidFill>
                <a:schemeClr val="accent1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686756" y="3193719"/>
            <a:ext cx="818487" cy="361561"/>
          </a:xfrm>
          <a:prstGeom prst="roundRect">
            <a:avLst/>
          </a:prstGeom>
          <a:noFill/>
          <a:ln>
            <a:noFill/>
          </a:ln>
          <a:effectLst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贯通</a:t>
            </a:r>
          </a:p>
        </p:txBody>
      </p:sp>
      <p:sp>
        <p:nvSpPr>
          <p:cNvPr id="63" name="箭头: 右 62"/>
          <p:cNvSpPr/>
          <p:nvPr/>
        </p:nvSpPr>
        <p:spPr>
          <a:xfrm>
            <a:off x="6701389" y="3244594"/>
            <a:ext cx="1130709" cy="339782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4" name="箭头: 右 63"/>
          <p:cNvSpPr/>
          <p:nvPr/>
        </p:nvSpPr>
        <p:spPr>
          <a:xfrm flipH="1">
            <a:off x="4380186" y="3244594"/>
            <a:ext cx="1130709" cy="339782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5" name="图形 4"/>
          <p:cNvSpPr/>
          <p:nvPr/>
        </p:nvSpPr>
        <p:spPr>
          <a:xfrm>
            <a:off x="3132093" y="3165689"/>
            <a:ext cx="334025" cy="274734"/>
          </a:xfrm>
          <a:custGeom>
            <a:avLst/>
            <a:gdLst>
              <a:gd name="connsiteX0" fmla="*/ 205878 w 260164"/>
              <a:gd name="connsiteY0" fmla="*/ 87480 h 213984"/>
              <a:gd name="connsiteX1" fmla="*/ 215611 w 260164"/>
              <a:gd name="connsiteY1" fmla="*/ 97236 h 213984"/>
              <a:gd name="connsiteX2" fmla="*/ 215611 w 260164"/>
              <a:gd name="connsiteY2" fmla="*/ 136261 h 213984"/>
              <a:gd name="connsiteX3" fmla="*/ 205878 w 260164"/>
              <a:gd name="connsiteY3" fmla="*/ 146017 h 213984"/>
              <a:gd name="connsiteX4" fmla="*/ 188944 w 260164"/>
              <a:gd name="connsiteY4" fmla="*/ 146017 h 213984"/>
              <a:gd name="connsiteX5" fmla="*/ 188944 w 260164"/>
              <a:gd name="connsiteY5" fmla="*/ 155448 h 213984"/>
              <a:gd name="connsiteX6" fmla="*/ 205878 w 260164"/>
              <a:gd name="connsiteY6" fmla="*/ 155448 h 213984"/>
              <a:gd name="connsiteX7" fmla="*/ 215611 w 260164"/>
              <a:gd name="connsiteY7" fmla="*/ 165204 h 213984"/>
              <a:gd name="connsiteX8" fmla="*/ 215611 w 260164"/>
              <a:gd name="connsiteY8" fmla="*/ 204229 h 213984"/>
              <a:gd name="connsiteX9" fmla="*/ 205878 w 260164"/>
              <a:gd name="connsiteY9" fmla="*/ 213985 h 213984"/>
              <a:gd name="connsiteX10" fmla="*/ 89083 w 260164"/>
              <a:gd name="connsiteY10" fmla="*/ 213985 h 213984"/>
              <a:gd name="connsiteX11" fmla="*/ 79350 w 260164"/>
              <a:gd name="connsiteY11" fmla="*/ 204229 h 213984"/>
              <a:gd name="connsiteX12" fmla="*/ 79350 w 260164"/>
              <a:gd name="connsiteY12" fmla="*/ 165204 h 213984"/>
              <a:gd name="connsiteX13" fmla="*/ 89083 w 260164"/>
              <a:gd name="connsiteY13" fmla="*/ 155448 h 213984"/>
              <a:gd name="connsiteX14" fmla="*/ 176912 w 260164"/>
              <a:gd name="connsiteY14" fmla="*/ 155448 h 213984"/>
              <a:gd name="connsiteX15" fmla="*/ 176912 w 260164"/>
              <a:gd name="connsiteY15" fmla="*/ 146017 h 213984"/>
              <a:gd name="connsiteX16" fmla="*/ 89083 w 260164"/>
              <a:gd name="connsiteY16" fmla="*/ 146017 h 213984"/>
              <a:gd name="connsiteX17" fmla="*/ 79350 w 260164"/>
              <a:gd name="connsiteY17" fmla="*/ 136261 h 213984"/>
              <a:gd name="connsiteX18" fmla="*/ 79350 w 260164"/>
              <a:gd name="connsiteY18" fmla="*/ 97236 h 213984"/>
              <a:gd name="connsiteX19" fmla="*/ 89083 w 260164"/>
              <a:gd name="connsiteY19" fmla="*/ 87480 h 213984"/>
              <a:gd name="connsiteX20" fmla="*/ 205878 w 260164"/>
              <a:gd name="connsiteY20" fmla="*/ 87480 h 213984"/>
              <a:gd name="connsiteX21" fmla="*/ 200038 w 260164"/>
              <a:gd name="connsiteY21" fmla="*/ 171058 h 213984"/>
              <a:gd name="connsiteX22" fmla="*/ 94923 w 260164"/>
              <a:gd name="connsiteY22" fmla="*/ 171058 h 213984"/>
              <a:gd name="connsiteX23" fmla="*/ 94923 w 260164"/>
              <a:gd name="connsiteY23" fmla="*/ 198375 h 213984"/>
              <a:gd name="connsiteX24" fmla="*/ 200038 w 260164"/>
              <a:gd name="connsiteY24" fmla="*/ 198375 h 213984"/>
              <a:gd name="connsiteX25" fmla="*/ 200038 w 260164"/>
              <a:gd name="connsiteY25" fmla="*/ 171058 h 213984"/>
              <a:gd name="connsiteX26" fmla="*/ 152521 w 260164"/>
              <a:gd name="connsiteY26" fmla="*/ 179838 h 213984"/>
              <a:gd name="connsiteX27" fmla="*/ 157399 w 260164"/>
              <a:gd name="connsiteY27" fmla="*/ 185855 h 213984"/>
              <a:gd name="connsiteX28" fmla="*/ 152521 w 260164"/>
              <a:gd name="connsiteY28" fmla="*/ 191871 h 213984"/>
              <a:gd name="connsiteX29" fmla="*/ 142765 w 260164"/>
              <a:gd name="connsiteY29" fmla="*/ 191871 h 213984"/>
              <a:gd name="connsiteX30" fmla="*/ 137887 w 260164"/>
              <a:gd name="connsiteY30" fmla="*/ 185855 h 213984"/>
              <a:gd name="connsiteX31" fmla="*/ 142765 w 260164"/>
              <a:gd name="connsiteY31" fmla="*/ 179838 h 213984"/>
              <a:gd name="connsiteX32" fmla="*/ 152521 w 260164"/>
              <a:gd name="connsiteY32" fmla="*/ 179838 h 213984"/>
              <a:gd name="connsiteX33" fmla="*/ 181790 w 260164"/>
              <a:gd name="connsiteY33" fmla="*/ 179838 h 213984"/>
              <a:gd name="connsiteX34" fmla="*/ 186668 w 260164"/>
              <a:gd name="connsiteY34" fmla="*/ 185855 h 213984"/>
              <a:gd name="connsiteX35" fmla="*/ 181790 w 260164"/>
              <a:gd name="connsiteY35" fmla="*/ 191871 h 213984"/>
              <a:gd name="connsiteX36" fmla="*/ 172033 w 260164"/>
              <a:gd name="connsiteY36" fmla="*/ 191871 h 213984"/>
              <a:gd name="connsiteX37" fmla="*/ 167155 w 260164"/>
              <a:gd name="connsiteY37" fmla="*/ 185855 h 213984"/>
              <a:gd name="connsiteX38" fmla="*/ 172033 w 260164"/>
              <a:gd name="connsiteY38" fmla="*/ 179838 h 213984"/>
              <a:gd name="connsiteX39" fmla="*/ 181790 w 260164"/>
              <a:gd name="connsiteY39" fmla="*/ 179838 h 213984"/>
              <a:gd name="connsiteX40" fmla="*/ 100651 w 260164"/>
              <a:gd name="connsiteY40" fmla="*/ 0 h 213984"/>
              <a:gd name="connsiteX41" fmla="*/ 152445 w 260164"/>
              <a:gd name="connsiteY41" fmla="*/ 29932 h 213984"/>
              <a:gd name="connsiteX42" fmla="*/ 176424 w 260164"/>
              <a:gd name="connsiteY42" fmla="*/ 22764 h 213984"/>
              <a:gd name="connsiteX43" fmla="*/ 221318 w 260164"/>
              <a:gd name="connsiteY43" fmla="*/ 63373 h 213984"/>
              <a:gd name="connsiteX44" fmla="*/ 260164 w 260164"/>
              <a:gd name="connsiteY44" fmla="*/ 111220 h 213984"/>
              <a:gd name="connsiteX45" fmla="*/ 226343 w 260164"/>
              <a:gd name="connsiteY45" fmla="*/ 157921 h 213984"/>
              <a:gd name="connsiteX46" fmla="*/ 226343 w 260164"/>
              <a:gd name="connsiteY46" fmla="*/ 138345 h 213984"/>
              <a:gd name="connsiteX47" fmla="*/ 241949 w 260164"/>
              <a:gd name="connsiteY47" fmla="*/ 111726 h 213984"/>
              <a:gd name="connsiteX48" fmla="*/ 241953 w 260164"/>
              <a:gd name="connsiteY48" fmla="*/ 111220 h 213984"/>
              <a:gd name="connsiteX49" fmla="*/ 218312 w 260164"/>
              <a:gd name="connsiteY49" fmla="*/ 81335 h 213984"/>
              <a:gd name="connsiteX50" fmla="*/ 203279 w 260164"/>
              <a:gd name="connsiteY50" fmla="*/ 65872 h 213984"/>
              <a:gd name="connsiteX51" fmla="*/ 176424 w 260164"/>
              <a:gd name="connsiteY51" fmla="*/ 40976 h 213984"/>
              <a:gd name="connsiteX52" fmla="*/ 162403 w 260164"/>
              <a:gd name="connsiteY52" fmla="*/ 45180 h 213984"/>
              <a:gd name="connsiteX53" fmla="*/ 136858 w 260164"/>
              <a:gd name="connsiteY53" fmla="*/ 39350 h 213984"/>
              <a:gd name="connsiteX54" fmla="*/ 100651 w 260164"/>
              <a:gd name="connsiteY54" fmla="*/ 18211 h 213984"/>
              <a:gd name="connsiteX55" fmla="*/ 57618 w 260164"/>
              <a:gd name="connsiteY55" fmla="*/ 62009 h 213984"/>
              <a:gd name="connsiteX56" fmla="*/ 42538 w 260164"/>
              <a:gd name="connsiteY56" fmla="*/ 79095 h 213984"/>
              <a:gd name="connsiteX57" fmla="*/ 18211 w 260164"/>
              <a:gd name="connsiteY57" fmla="*/ 110082 h 213984"/>
              <a:gd name="connsiteX58" fmla="*/ 46490 w 260164"/>
              <a:gd name="connsiteY58" fmla="*/ 141457 h 213984"/>
              <a:gd name="connsiteX59" fmla="*/ 46939 w 260164"/>
              <a:gd name="connsiteY59" fmla="*/ 141464 h 213984"/>
              <a:gd name="connsiteX60" fmla="*/ 52358 w 260164"/>
              <a:gd name="connsiteY60" fmla="*/ 141464 h 213984"/>
              <a:gd name="connsiteX61" fmla="*/ 52358 w 260164"/>
              <a:gd name="connsiteY61" fmla="*/ 159676 h 213984"/>
              <a:gd name="connsiteX62" fmla="*/ 46830 w 260164"/>
              <a:gd name="connsiteY62" fmla="*/ 159676 h 213984"/>
              <a:gd name="connsiteX63" fmla="*/ 0 w 260164"/>
              <a:gd name="connsiteY63" fmla="*/ 110082 h 213984"/>
              <a:gd name="connsiteX64" fmla="*/ 39427 w 260164"/>
              <a:gd name="connsiteY64" fmla="*/ 61151 h 213984"/>
              <a:gd name="connsiteX65" fmla="*/ 100651 w 260164"/>
              <a:gd name="connsiteY65" fmla="*/ 0 h 213984"/>
              <a:gd name="connsiteX66" fmla="*/ 200038 w 260164"/>
              <a:gd name="connsiteY66" fmla="*/ 103090 h 213984"/>
              <a:gd name="connsiteX67" fmla="*/ 94923 w 260164"/>
              <a:gd name="connsiteY67" fmla="*/ 103090 h 213984"/>
              <a:gd name="connsiteX68" fmla="*/ 94923 w 260164"/>
              <a:gd name="connsiteY68" fmla="*/ 130407 h 213984"/>
              <a:gd name="connsiteX69" fmla="*/ 200038 w 260164"/>
              <a:gd name="connsiteY69" fmla="*/ 130407 h 213984"/>
              <a:gd name="connsiteX70" fmla="*/ 200038 w 260164"/>
              <a:gd name="connsiteY70" fmla="*/ 103090 h 213984"/>
              <a:gd name="connsiteX71" fmla="*/ 152521 w 260164"/>
              <a:gd name="connsiteY71" fmla="*/ 111871 h 213984"/>
              <a:gd name="connsiteX72" fmla="*/ 157399 w 260164"/>
              <a:gd name="connsiteY72" fmla="*/ 117887 h 213984"/>
              <a:gd name="connsiteX73" fmla="*/ 152521 w 260164"/>
              <a:gd name="connsiteY73" fmla="*/ 123903 h 213984"/>
              <a:gd name="connsiteX74" fmla="*/ 142765 w 260164"/>
              <a:gd name="connsiteY74" fmla="*/ 123903 h 213984"/>
              <a:gd name="connsiteX75" fmla="*/ 137887 w 260164"/>
              <a:gd name="connsiteY75" fmla="*/ 117887 h 213984"/>
              <a:gd name="connsiteX76" fmla="*/ 142765 w 260164"/>
              <a:gd name="connsiteY76" fmla="*/ 111871 h 213984"/>
              <a:gd name="connsiteX77" fmla="*/ 152521 w 260164"/>
              <a:gd name="connsiteY77" fmla="*/ 111871 h 213984"/>
              <a:gd name="connsiteX78" fmla="*/ 181790 w 260164"/>
              <a:gd name="connsiteY78" fmla="*/ 111871 h 213984"/>
              <a:gd name="connsiteX79" fmla="*/ 186668 w 260164"/>
              <a:gd name="connsiteY79" fmla="*/ 117887 h 213984"/>
              <a:gd name="connsiteX80" fmla="*/ 181790 w 260164"/>
              <a:gd name="connsiteY80" fmla="*/ 123903 h 213984"/>
              <a:gd name="connsiteX81" fmla="*/ 172033 w 260164"/>
              <a:gd name="connsiteY81" fmla="*/ 123903 h 213984"/>
              <a:gd name="connsiteX82" fmla="*/ 167155 w 260164"/>
              <a:gd name="connsiteY82" fmla="*/ 117887 h 213984"/>
              <a:gd name="connsiteX83" fmla="*/ 172033 w 260164"/>
              <a:gd name="connsiteY83" fmla="*/ 111871 h 213984"/>
              <a:gd name="connsiteX84" fmla="*/ 181790 w 260164"/>
              <a:gd name="connsiteY84" fmla="*/ 111871 h 213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60164" h="213984">
                <a:moveTo>
                  <a:pt x="205878" y="87480"/>
                </a:moveTo>
                <a:cubicBezTo>
                  <a:pt x="211254" y="87480"/>
                  <a:pt x="215611" y="91848"/>
                  <a:pt x="215611" y="97236"/>
                </a:cubicBezTo>
                <a:lnTo>
                  <a:pt x="215611" y="136261"/>
                </a:lnTo>
                <a:cubicBezTo>
                  <a:pt x="215611" y="141649"/>
                  <a:pt x="211253" y="146017"/>
                  <a:pt x="205878" y="146017"/>
                </a:cubicBezTo>
                <a:lnTo>
                  <a:pt x="188944" y="146017"/>
                </a:lnTo>
                <a:lnTo>
                  <a:pt x="188944" y="155448"/>
                </a:lnTo>
                <a:lnTo>
                  <a:pt x="205878" y="155448"/>
                </a:lnTo>
                <a:cubicBezTo>
                  <a:pt x="211254" y="155448"/>
                  <a:pt x="215611" y="159816"/>
                  <a:pt x="215611" y="165204"/>
                </a:cubicBezTo>
                <a:lnTo>
                  <a:pt x="215611" y="204229"/>
                </a:lnTo>
                <a:cubicBezTo>
                  <a:pt x="215611" y="209617"/>
                  <a:pt x="211253" y="213985"/>
                  <a:pt x="205878" y="213985"/>
                </a:cubicBezTo>
                <a:lnTo>
                  <a:pt x="89083" y="213985"/>
                </a:lnTo>
                <a:cubicBezTo>
                  <a:pt x="83707" y="213985"/>
                  <a:pt x="79350" y="209617"/>
                  <a:pt x="79350" y="204229"/>
                </a:cubicBezTo>
                <a:lnTo>
                  <a:pt x="79350" y="165204"/>
                </a:lnTo>
                <a:cubicBezTo>
                  <a:pt x="79350" y="159816"/>
                  <a:pt x="83708" y="155448"/>
                  <a:pt x="89083" y="155448"/>
                </a:cubicBezTo>
                <a:lnTo>
                  <a:pt x="176912" y="155448"/>
                </a:lnTo>
                <a:lnTo>
                  <a:pt x="176912" y="146017"/>
                </a:lnTo>
                <a:lnTo>
                  <a:pt x="89083" y="146017"/>
                </a:lnTo>
                <a:cubicBezTo>
                  <a:pt x="83707" y="146017"/>
                  <a:pt x="79350" y="141649"/>
                  <a:pt x="79350" y="136261"/>
                </a:cubicBezTo>
                <a:lnTo>
                  <a:pt x="79350" y="97236"/>
                </a:lnTo>
                <a:cubicBezTo>
                  <a:pt x="79350" y="91848"/>
                  <a:pt x="83708" y="87480"/>
                  <a:pt x="89083" y="87480"/>
                </a:cubicBezTo>
                <a:lnTo>
                  <a:pt x="205878" y="87480"/>
                </a:lnTo>
                <a:close/>
                <a:moveTo>
                  <a:pt x="200038" y="171058"/>
                </a:moveTo>
                <a:lnTo>
                  <a:pt x="94923" y="171058"/>
                </a:lnTo>
                <a:lnTo>
                  <a:pt x="94923" y="198375"/>
                </a:lnTo>
                <a:lnTo>
                  <a:pt x="200038" y="198375"/>
                </a:lnTo>
                <a:lnTo>
                  <a:pt x="200038" y="171058"/>
                </a:lnTo>
                <a:close/>
                <a:moveTo>
                  <a:pt x="152521" y="179838"/>
                </a:moveTo>
                <a:cubicBezTo>
                  <a:pt x="155215" y="179838"/>
                  <a:pt x="157399" y="182532"/>
                  <a:pt x="157399" y="185855"/>
                </a:cubicBezTo>
                <a:cubicBezTo>
                  <a:pt x="157399" y="189177"/>
                  <a:pt x="155215" y="191871"/>
                  <a:pt x="152521" y="191871"/>
                </a:cubicBezTo>
                <a:lnTo>
                  <a:pt x="142765" y="191871"/>
                </a:lnTo>
                <a:cubicBezTo>
                  <a:pt x="140071" y="191871"/>
                  <a:pt x="137887" y="189177"/>
                  <a:pt x="137887" y="185855"/>
                </a:cubicBezTo>
                <a:cubicBezTo>
                  <a:pt x="137887" y="182532"/>
                  <a:pt x="140071" y="179838"/>
                  <a:pt x="142765" y="179838"/>
                </a:cubicBezTo>
                <a:lnTo>
                  <a:pt x="152521" y="179838"/>
                </a:lnTo>
                <a:close/>
                <a:moveTo>
                  <a:pt x="181790" y="179838"/>
                </a:moveTo>
                <a:cubicBezTo>
                  <a:pt x="184484" y="179838"/>
                  <a:pt x="186668" y="182532"/>
                  <a:pt x="186668" y="185855"/>
                </a:cubicBezTo>
                <a:cubicBezTo>
                  <a:pt x="186668" y="189177"/>
                  <a:pt x="184484" y="191871"/>
                  <a:pt x="181790" y="191871"/>
                </a:cubicBezTo>
                <a:lnTo>
                  <a:pt x="172033" y="191871"/>
                </a:lnTo>
                <a:cubicBezTo>
                  <a:pt x="169339" y="191871"/>
                  <a:pt x="167155" y="189177"/>
                  <a:pt x="167155" y="185855"/>
                </a:cubicBezTo>
                <a:cubicBezTo>
                  <a:pt x="167155" y="182532"/>
                  <a:pt x="169339" y="179838"/>
                  <a:pt x="172033" y="179838"/>
                </a:cubicBezTo>
                <a:lnTo>
                  <a:pt x="181790" y="179838"/>
                </a:lnTo>
                <a:close/>
                <a:moveTo>
                  <a:pt x="100651" y="0"/>
                </a:moveTo>
                <a:cubicBezTo>
                  <a:pt x="122440" y="0"/>
                  <a:pt x="141573" y="11941"/>
                  <a:pt x="152445" y="29932"/>
                </a:cubicBezTo>
                <a:cubicBezTo>
                  <a:pt x="159401" y="25389"/>
                  <a:pt x="167619" y="22764"/>
                  <a:pt x="176424" y="22764"/>
                </a:cubicBezTo>
                <a:cubicBezTo>
                  <a:pt x="199249" y="22764"/>
                  <a:pt x="218137" y="40407"/>
                  <a:pt x="221318" y="63373"/>
                </a:cubicBezTo>
                <a:cubicBezTo>
                  <a:pt x="243337" y="67059"/>
                  <a:pt x="260164" y="87078"/>
                  <a:pt x="260164" y="111220"/>
                </a:cubicBezTo>
                <a:cubicBezTo>
                  <a:pt x="260164" y="133490"/>
                  <a:pt x="245847" y="152251"/>
                  <a:pt x="226343" y="157921"/>
                </a:cubicBezTo>
                <a:lnTo>
                  <a:pt x="226343" y="138345"/>
                </a:lnTo>
                <a:cubicBezTo>
                  <a:pt x="235400" y="133507"/>
                  <a:pt x="241771" y="123510"/>
                  <a:pt x="241949" y="111726"/>
                </a:cubicBezTo>
                <a:lnTo>
                  <a:pt x="241953" y="111220"/>
                </a:lnTo>
                <a:cubicBezTo>
                  <a:pt x="241953" y="96105"/>
                  <a:pt x="231670" y="83571"/>
                  <a:pt x="218312" y="81335"/>
                </a:cubicBezTo>
                <a:cubicBezTo>
                  <a:pt x="210460" y="80020"/>
                  <a:pt x="204371" y="73757"/>
                  <a:pt x="203279" y="65872"/>
                </a:cubicBezTo>
                <a:cubicBezTo>
                  <a:pt x="201290" y="51512"/>
                  <a:pt x="189754" y="40976"/>
                  <a:pt x="176424" y="40976"/>
                </a:cubicBezTo>
                <a:cubicBezTo>
                  <a:pt x="171401" y="40976"/>
                  <a:pt x="166608" y="42433"/>
                  <a:pt x="162403" y="45180"/>
                </a:cubicBezTo>
                <a:cubicBezTo>
                  <a:pt x="153772" y="50816"/>
                  <a:pt x="142189" y="48173"/>
                  <a:pt x="136858" y="39350"/>
                </a:cubicBezTo>
                <a:cubicBezTo>
                  <a:pt x="128914" y="26203"/>
                  <a:pt x="115376" y="18211"/>
                  <a:pt x="100651" y="18211"/>
                </a:cubicBezTo>
                <a:cubicBezTo>
                  <a:pt x="77873" y="18211"/>
                  <a:pt x="58781" y="37352"/>
                  <a:pt x="57618" y="62009"/>
                </a:cubicBezTo>
                <a:cubicBezTo>
                  <a:pt x="57216" y="70534"/>
                  <a:pt x="50947" y="77637"/>
                  <a:pt x="42538" y="79095"/>
                </a:cubicBezTo>
                <a:cubicBezTo>
                  <a:pt x="28777" y="81481"/>
                  <a:pt x="18211" y="94455"/>
                  <a:pt x="18211" y="110082"/>
                </a:cubicBezTo>
                <a:cubicBezTo>
                  <a:pt x="18211" y="127358"/>
                  <a:pt x="31008" y="141076"/>
                  <a:pt x="46490" y="141457"/>
                </a:cubicBezTo>
                <a:lnTo>
                  <a:pt x="46939" y="141464"/>
                </a:lnTo>
                <a:lnTo>
                  <a:pt x="52358" y="141464"/>
                </a:lnTo>
                <a:lnTo>
                  <a:pt x="52358" y="159676"/>
                </a:lnTo>
                <a:lnTo>
                  <a:pt x="46830" y="159676"/>
                </a:lnTo>
                <a:cubicBezTo>
                  <a:pt x="20936" y="159490"/>
                  <a:pt x="0" y="137358"/>
                  <a:pt x="0" y="110082"/>
                </a:cubicBezTo>
                <a:cubicBezTo>
                  <a:pt x="0" y="85460"/>
                  <a:pt x="17060" y="65029"/>
                  <a:pt x="39427" y="61151"/>
                </a:cubicBezTo>
                <a:cubicBezTo>
                  <a:pt x="41032" y="27094"/>
                  <a:pt x="67829" y="0"/>
                  <a:pt x="100651" y="0"/>
                </a:cubicBezTo>
                <a:close/>
                <a:moveTo>
                  <a:pt x="200038" y="103090"/>
                </a:moveTo>
                <a:lnTo>
                  <a:pt x="94923" y="103090"/>
                </a:lnTo>
                <a:lnTo>
                  <a:pt x="94923" y="130407"/>
                </a:lnTo>
                <a:lnTo>
                  <a:pt x="200038" y="130407"/>
                </a:lnTo>
                <a:lnTo>
                  <a:pt x="200038" y="103090"/>
                </a:lnTo>
                <a:close/>
                <a:moveTo>
                  <a:pt x="152521" y="111871"/>
                </a:moveTo>
                <a:cubicBezTo>
                  <a:pt x="155215" y="111871"/>
                  <a:pt x="157399" y="114564"/>
                  <a:pt x="157399" y="117887"/>
                </a:cubicBezTo>
                <a:cubicBezTo>
                  <a:pt x="157399" y="121209"/>
                  <a:pt x="155215" y="123903"/>
                  <a:pt x="152521" y="123903"/>
                </a:cubicBezTo>
                <a:lnTo>
                  <a:pt x="142765" y="123903"/>
                </a:lnTo>
                <a:cubicBezTo>
                  <a:pt x="140071" y="123903"/>
                  <a:pt x="137887" y="121209"/>
                  <a:pt x="137887" y="117887"/>
                </a:cubicBezTo>
                <a:cubicBezTo>
                  <a:pt x="137887" y="114564"/>
                  <a:pt x="140071" y="111871"/>
                  <a:pt x="142765" y="111871"/>
                </a:cubicBezTo>
                <a:lnTo>
                  <a:pt x="152521" y="111871"/>
                </a:lnTo>
                <a:close/>
                <a:moveTo>
                  <a:pt x="181790" y="111871"/>
                </a:moveTo>
                <a:cubicBezTo>
                  <a:pt x="184484" y="111871"/>
                  <a:pt x="186668" y="114564"/>
                  <a:pt x="186668" y="117887"/>
                </a:cubicBezTo>
                <a:cubicBezTo>
                  <a:pt x="186668" y="121209"/>
                  <a:pt x="184484" y="123903"/>
                  <a:pt x="181790" y="123903"/>
                </a:cubicBezTo>
                <a:lnTo>
                  <a:pt x="172033" y="123903"/>
                </a:lnTo>
                <a:cubicBezTo>
                  <a:pt x="169339" y="123903"/>
                  <a:pt x="167155" y="121209"/>
                  <a:pt x="167155" y="117887"/>
                </a:cubicBezTo>
                <a:cubicBezTo>
                  <a:pt x="167155" y="114564"/>
                  <a:pt x="169339" y="111871"/>
                  <a:pt x="172033" y="111871"/>
                </a:cubicBezTo>
                <a:lnTo>
                  <a:pt x="181790" y="111871"/>
                </a:lnTo>
                <a:close/>
              </a:path>
            </a:pathLst>
          </a:custGeom>
          <a:solidFill>
            <a:schemeClr val="bg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知识图谱</a:t>
            </a:r>
            <a:endParaRPr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6" name="图形 7"/>
          <p:cNvSpPr/>
          <p:nvPr/>
        </p:nvSpPr>
        <p:spPr>
          <a:xfrm>
            <a:off x="8858209" y="3135878"/>
            <a:ext cx="282489" cy="265585"/>
          </a:xfrm>
          <a:custGeom>
            <a:avLst/>
            <a:gdLst>
              <a:gd name="connsiteX0" fmla="*/ 281061 w 282489"/>
              <a:gd name="connsiteY0" fmla="*/ 145219 h 265585"/>
              <a:gd name="connsiteX1" fmla="*/ 259332 w 282489"/>
              <a:gd name="connsiteY1" fmla="*/ 124739 h 265585"/>
              <a:gd name="connsiteX2" fmla="*/ 259332 w 282489"/>
              <a:gd name="connsiteY2" fmla="*/ 84095 h 265585"/>
              <a:gd name="connsiteX3" fmla="*/ 256435 w 282489"/>
              <a:gd name="connsiteY3" fmla="*/ 78550 h 265585"/>
              <a:gd name="connsiteX4" fmla="*/ 219255 w 282489"/>
              <a:gd name="connsiteY4" fmla="*/ 52342 h 265585"/>
              <a:gd name="connsiteX5" fmla="*/ 209764 w 282489"/>
              <a:gd name="connsiteY5" fmla="*/ 53974 h 265585"/>
              <a:gd name="connsiteX6" fmla="*/ 209531 w 282489"/>
              <a:gd name="connsiteY6" fmla="*/ 54307 h 265585"/>
              <a:gd name="connsiteX7" fmla="*/ 186170 w 282489"/>
              <a:gd name="connsiteY7" fmla="*/ 71124 h 265585"/>
              <a:gd name="connsiteX8" fmla="*/ 186170 w 282489"/>
              <a:gd name="connsiteY8" fmla="*/ 32994 h 265585"/>
              <a:gd name="connsiteX9" fmla="*/ 183273 w 282489"/>
              <a:gd name="connsiteY9" fmla="*/ 27450 h 265585"/>
              <a:gd name="connsiteX10" fmla="*/ 146109 w 282489"/>
              <a:gd name="connsiteY10" fmla="*/ 1242 h 265585"/>
              <a:gd name="connsiteX11" fmla="*/ 136618 w 282489"/>
              <a:gd name="connsiteY11" fmla="*/ 2874 h 265585"/>
              <a:gd name="connsiteX12" fmla="*/ 136368 w 282489"/>
              <a:gd name="connsiteY12" fmla="*/ 3207 h 265585"/>
              <a:gd name="connsiteX13" fmla="*/ 102634 w 282489"/>
              <a:gd name="connsiteY13" fmla="*/ 27483 h 265585"/>
              <a:gd name="connsiteX14" fmla="*/ 99804 w 282489"/>
              <a:gd name="connsiteY14" fmla="*/ 33011 h 265585"/>
              <a:gd name="connsiteX15" fmla="*/ 99804 w 282489"/>
              <a:gd name="connsiteY15" fmla="*/ 101811 h 265585"/>
              <a:gd name="connsiteX16" fmla="*/ 74095 w 282489"/>
              <a:gd name="connsiteY16" fmla="*/ 83679 h 265585"/>
              <a:gd name="connsiteX17" fmla="*/ 64605 w 282489"/>
              <a:gd name="connsiteY17" fmla="*/ 85310 h 265585"/>
              <a:gd name="connsiteX18" fmla="*/ 64372 w 282489"/>
              <a:gd name="connsiteY18" fmla="*/ 85643 h 265585"/>
              <a:gd name="connsiteX19" fmla="*/ 30621 w 282489"/>
              <a:gd name="connsiteY19" fmla="*/ 109903 h 265585"/>
              <a:gd name="connsiteX20" fmla="*/ 27790 w 282489"/>
              <a:gd name="connsiteY20" fmla="*/ 115414 h 265585"/>
              <a:gd name="connsiteX21" fmla="*/ 27790 w 282489"/>
              <a:gd name="connsiteY21" fmla="*/ 186362 h 265585"/>
              <a:gd name="connsiteX22" fmla="*/ 23794 w 282489"/>
              <a:gd name="connsiteY22" fmla="*/ 188144 h 265585"/>
              <a:gd name="connsiteX23" fmla="*/ 4247 w 282489"/>
              <a:gd name="connsiteY23" fmla="*/ 212653 h 265585"/>
              <a:gd name="connsiteX24" fmla="*/ 1416 w 282489"/>
              <a:gd name="connsiteY24" fmla="*/ 238145 h 265585"/>
              <a:gd name="connsiteX25" fmla="*/ 22179 w 282489"/>
              <a:gd name="connsiteY25" fmla="*/ 258359 h 265585"/>
              <a:gd name="connsiteX26" fmla="*/ 58511 w 282489"/>
              <a:gd name="connsiteY26" fmla="*/ 265452 h 265585"/>
              <a:gd name="connsiteX27" fmla="*/ 65870 w 282489"/>
              <a:gd name="connsiteY27" fmla="*/ 265585 h 265585"/>
              <a:gd name="connsiteX28" fmla="*/ 160112 w 282489"/>
              <a:gd name="connsiteY28" fmla="*/ 248485 h 265585"/>
              <a:gd name="connsiteX29" fmla="*/ 251640 w 282489"/>
              <a:gd name="connsiteY29" fmla="*/ 201198 h 265585"/>
              <a:gd name="connsiteX30" fmla="*/ 276482 w 282489"/>
              <a:gd name="connsiteY30" fmla="*/ 173808 h 265585"/>
              <a:gd name="connsiteX31" fmla="*/ 281045 w 282489"/>
              <a:gd name="connsiteY31" fmla="*/ 145236 h 265585"/>
              <a:gd name="connsiteX32" fmla="*/ 220836 w 282489"/>
              <a:gd name="connsiteY32" fmla="*/ 70108 h 265585"/>
              <a:gd name="connsiteX33" fmla="*/ 245729 w 282489"/>
              <a:gd name="connsiteY33" fmla="*/ 87641 h 265585"/>
              <a:gd name="connsiteX34" fmla="*/ 245729 w 282489"/>
              <a:gd name="connsiteY34" fmla="*/ 157574 h 265585"/>
              <a:gd name="connsiteX35" fmla="*/ 220836 w 282489"/>
              <a:gd name="connsiteY35" fmla="*/ 171826 h 265585"/>
              <a:gd name="connsiteX36" fmla="*/ 220836 w 282489"/>
              <a:gd name="connsiteY36" fmla="*/ 70108 h 265585"/>
              <a:gd name="connsiteX37" fmla="*/ 147707 w 282489"/>
              <a:gd name="connsiteY37" fmla="*/ 18991 h 265585"/>
              <a:gd name="connsiteX38" fmla="*/ 172583 w 282489"/>
              <a:gd name="connsiteY38" fmla="*/ 36524 h 265585"/>
              <a:gd name="connsiteX39" fmla="*/ 172583 w 282489"/>
              <a:gd name="connsiteY39" fmla="*/ 199932 h 265585"/>
              <a:gd name="connsiteX40" fmla="*/ 147707 w 282489"/>
              <a:gd name="connsiteY40" fmla="*/ 210456 h 265585"/>
              <a:gd name="connsiteX41" fmla="*/ 147707 w 282489"/>
              <a:gd name="connsiteY41" fmla="*/ 18991 h 265585"/>
              <a:gd name="connsiteX42" fmla="*/ 75694 w 282489"/>
              <a:gd name="connsiteY42" fmla="*/ 101445 h 265585"/>
              <a:gd name="connsiteX43" fmla="*/ 99870 w 282489"/>
              <a:gd name="connsiteY43" fmla="*/ 118462 h 265585"/>
              <a:gd name="connsiteX44" fmla="*/ 100586 w 282489"/>
              <a:gd name="connsiteY44" fmla="*/ 220429 h 265585"/>
              <a:gd name="connsiteX45" fmla="*/ 75694 w 282489"/>
              <a:gd name="connsiteY45" fmla="*/ 223293 h 265585"/>
              <a:gd name="connsiteX46" fmla="*/ 75694 w 282489"/>
              <a:gd name="connsiteY46" fmla="*/ 101445 h 265585"/>
              <a:gd name="connsiteX47" fmla="*/ 264744 w 282489"/>
              <a:gd name="connsiteY47" fmla="*/ 167081 h 265585"/>
              <a:gd name="connsiteX48" fmla="*/ 243115 w 282489"/>
              <a:gd name="connsiteY48" fmla="*/ 190708 h 265585"/>
              <a:gd name="connsiteX49" fmla="*/ 155899 w 282489"/>
              <a:gd name="connsiteY49" fmla="*/ 235648 h 265585"/>
              <a:gd name="connsiteX50" fmla="*/ 65987 w 282489"/>
              <a:gd name="connsiteY50" fmla="*/ 252015 h 265585"/>
              <a:gd name="connsiteX51" fmla="*/ 59160 w 282489"/>
              <a:gd name="connsiteY51" fmla="*/ 251882 h 265585"/>
              <a:gd name="connsiteX52" fmla="*/ 27690 w 282489"/>
              <a:gd name="connsiteY52" fmla="*/ 245921 h 265585"/>
              <a:gd name="connsiteX53" fmla="*/ 14453 w 282489"/>
              <a:gd name="connsiteY53" fmla="*/ 233899 h 265585"/>
              <a:gd name="connsiteX54" fmla="*/ 27907 w 282489"/>
              <a:gd name="connsiteY54" fmla="*/ 203329 h 265585"/>
              <a:gd name="connsiteX55" fmla="*/ 27907 w 282489"/>
              <a:gd name="connsiteY55" fmla="*/ 222427 h 265585"/>
              <a:gd name="connsiteX56" fmla="*/ 34717 w 282489"/>
              <a:gd name="connsiteY56" fmla="*/ 229254 h 265585"/>
              <a:gd name="connsiteX57" fmla="*/ 41527 w 282489"/>
              <a:gd name="connsiteY57" fmla="*/ 222427 h 265585"/>
              <a:gd name="connsiteX58" fmla="*/ 41527 w 282489"/>
              <a:gd name="connsiteY58" fmla="*/ 118944 h 265585"/>
              <a:gd name="connsiteX59" fmla="*/ 62124 w 282489"/>
              <a:gd name="connsiteY59" fmla="*/ 104125 h 265585"/>
              <a:gd name="connsiteX60" fmla="*/ 62124 w 282489"/>
              <a:gd name="connsiteY60" fmla="*/ 230952 h 265585"/>
              <a:gd name="connsiteX61" fmla="*/ 68867 w 282489"/>
              <a:gd name="connsiteY61" fmla="*/ 237762 h 265585"/>
              <a:gd name="connsiteX62" fmla="*/ 68934 w 282489"/>
              <a:gd name="connsiteY62" fmla="*/ 237762 h 265585"/>
              <a:gd name="connsiteX63" fmla="*/ 69716 w 282489"/>
              <a:gd name="connsiteY63" fmla="*/ 237712 h 265585"/>
              <a:gd name="connsiteX64" fmla="*/ 108212 w 282489"/>
              <a:gd name="connsiteY64" fmla="*/ 233300 h 265585"/>
              <a:gd name="connsiteX65" fmla="*/ 114240 w 282489"/>
              <a:gd name="connsiteY65" fmla="*/ 226523 h 265585"/>
              <a:gd name="connsiteX66" fmla="*/ 113524 w 282489"/>
              <a:gd name="connsiteY66" fmla="*/ 36474 h 265585"/>
              <a:gd name="connsiteX67" fmla="*/ 134120 w 282489"/>
              <a:gd name="connsiteY67" fmla="*/ 21656 h 265585"/>
              <a:gd name="connsiteX68" fmla="*/ 134120 w 282489"/>
              <a:gd name="connsiteY68" fmla="*/ 220712 h 265585"/>
              <a:gd name="connsiteX69" fmla="*/ 137151 w 282489"/>
              <a:gd name="connsiteY69" fmla="*/ 226407 h 265585"/>
              <a:gd name="connsiteX70" fmla="*/ 143578 w 282489"/>
              <a:gd name="connsiteY70" fmla="*/ 226973 h 265585"/>
              <a:gd name="connsiteX71" fmla="*/ 182091 w 282489"/>
              <a:gd name="connsiteY71" fmla="*/ 210705 h 265585"/>
              <a:gd name="connsiteX72" fmla="*/ 186253 w 282489"/>
              <a:gd name="connsiteY72" fmla="*/ 204445 h 265585"/>
              <a:gd name="connsiteX73" fmla="*/ 186253 w 282489"/>
              <a:gd name="connsiteY73" fmla="*/ 193405 h 265585"/>
              <a:gd name="connsiteX74" fmla="*/ 186686 w 282489"/>
              <a:gd name="connsiteY74" fmla="*/ 190991 h 265585"/>
              <a:gd name="connsiteX75" fmla="*/ 186686 w 282489"/>
              <a:gd name="connsiteY75" fmla="*/ 87591 h 265585"/>
              <a:gd name="connsiteX76" fmla="*/ 207283 w 282489"/>
              <a:gd name="connsiteY76" fmla="*/ 72773 h 265585"/>
              <a:gd name="connsiteX77" fmla="*/ 207283 w 282489"/>
              <a:gd name="connsiteY77" fmla="*/ 183565 h 265585"/>
              <a:gd name="connsiteX78" fmla="*/ 214163 w 282489"/>
              <a:gd name="connsiteY78" fmla="*/ 190338 h 265585"/>
              <a:gd name="connsiteX79" fmla="*/ 217490 w 282489"/>
              <a:gd name="connsiteY79" fmla="*/ 189443 h 265585"/>
              <a:gd name="connsiteX80" fmla="*/ 255986 w 282489"/>
              <a:gd name="connsiteY80" fmla="*/ 167381 h 265585"/>
              <a:gd name="connsiteX81" fmla="*/ 259432 w 282489"/>
              <a:gd name="connsiteY81" fmla="*/ 161470 h 265585"/>
              <a:gd name="connsiteX82" fmla="*/ 259432 w 282489"/>
              <a:gd name="connsiteY82" fmla="*/ 139608 h 265585"/>
              <a:gd name="connsiteX83" fmla="*/ 268257 w 282489"/>
              <a:gd name="connsiteY83" fmla="*/ 149481 h 265585"/>
              <a:gd name="connsiteX84" fmla="*/ 264744 w 282489"/>
              <a:gd name="connsiteY84" fmla="*/ 167081 h 26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282489" h="265585">
                <a:moveTo>
                  <a:pt x="281061" y="145219"/>
                </a:moveTo>
                <a:cubicBezTo>
                  <a:pt x="277914" y="135795"/>
                  <a:pt x="270938" y="129184"/>
                  <a:pt x="259332" y="124739"/>
                </a:cubicBezTo>
                <a:lnTo>
                  <a:pt x="259332" y="84095"/>
                </a:lnTo>
                <a:cubicBezTo>
                  <a:pt x="259328" y="81885"/>
                  <a:pt x="258247" y="79815"/>
                  <a:pt x="256435" y="78550"/>
                </a:cubicBezTo>
                <a:lnTo>
                  <a:pt x="219255" y="52342"/>
                </a:lnTo>
                <a:cubicBezTo>
                  <a:pt x="216181" y="50182"/>
                  <a:pt x="211939" y="50911"/>
                  <a:pt x="209764" y="53974"/>
                </a:cubicBezTo>
                <a:lnTo>
                  <a:pt x="209531" y="54307"/>
                </a:lnTo>
                <a:lnTo>
                  <a:pt x="186170" y="71124"/>
                </a:lnTo>
                <a:lnTo>
                  <a:pt x="186170" y="32994"/>
                </a:lnTo>
                <a:cubicBezTo>
                  <a:pt x="186166" y="30784"/>
                  <a:pt x="185085" y="28715"/>
                  <a:pt x="183273" y="27450"/>
                </a:cubicBezTo>
                <a:lnTo>
                  <a:pt x="146109" y="1242"/>
                </a:lnTo>
                <a:cubicBezTo>
                  <a:pt x="143035" y="-918"/>
                  <a:pt x="138794" y="-189"/>
                  <a:pt x="136618" y="2874"/>
                </a:cubicBezTo>
                <a:lnTo>
                  <a:pt x="136368" y="3207"/>
                </a:lnTo>
                <a:lnTo>
                  <a:pt x="102634" y="27483"/>
                </a:lnTo>
                <a:cubicBezTo>
                  <a:pt x="100859" y="28765"/>
                  <a:pt x="99806" y="30821"/>
                  <a:pt x="99804" y="33011"/>
                </a:cubicBezTo>
                <a:lnTo>
                  <a:pt x="99804" y="101811"/>
                </a:lnTo>
                <a:lnTo>
                  <a:pt x="74095" y="83679"/>
                </a:lnTo>
                <a:cubicBezTo>
                  <a:pt x="71022" y="81518"/>
                  <a:pt x="66780" y="82248"/>
                  <a:pt x="64605" y="85310"/>
                </a:cubicBezTo>
                <a:lnTo>
                  <a:pt x="64372" y="85643"/>
                </a:lnTo>
                <a:lnTo>
                  <a:pt x="30621" y="109903"/>
                </a:lnTo>
                <a:cubicBezTo>
                  <a:pt x="28850" y="111182"/>
                  <a:pt x="27798" y="113230"/>
                  <a:pt x="27790" y="115414"/>
                </a:cubicBezTo>
                <a:lnTo>
                  <a:pt x="27790" y="186362"/>
                </a:lnTo>
                <a:cubicBezTo>
                  <a:pt x="26301" y="186509"/>
                  <a:pt x="24899" y="187134"/>
                  <a:pt x="23794" y="188144"/>
                </a:cubicBezTo>
                <a:cubicBezTo>
                  <a:pt x="14736" y="196436"/>
                  <a:pt x="8159" y="204711"/>
                  <a:pt x="4247" y="212653"/>
                </a:cubicBezTo>
                <a:cubicBezTo>
                  <a:pt x="-216" y="221778"/>
                  <a:pt x="-1165" y="230303"/>
                  <a:pt x="1416" y="238145"/>
                </a:cubicBezTo>
                <a:cubicBezTo>
                  <a:pt x="4313" y="246854"/>
                  <a:pt x="11290" y="253664"/>
                  <a:pt x="22179" y="258359"/>
                </a:cubicBezTo>
                <a:cubicBezTo>
                  <a:pt x="31670" y="262455"/>
                  <a:pt x="43908" y="264836"/>
                  <a:pt x="58511" y="265452"/>
                </a:cubicBezTo>
                <a:cubicBezTo>
                  <a:pt x="60925" y="265552"/>
                  <a:pt x="63373" y="265585"/>
                  <a:pt x="65870" y="265585"/>
                </a:cubicBezTo>
                <a:cubicBezTo>
                  <a:pt x="93610" y="265585"/>
                  <a:pt x="126728" y="259591"/>
                  <a:pt x="160112" y="248485"/>
                </a:cubicBezTo>
                <a:cubicBezTo>
                  <a:pt x="196477" y="236414"/>
                  <a:pt x="228995" y="219597"/>
                  <a:pt x="251640" y="201198"/>
                </a:cubicBezTo>
                <a:cubicBezTo>
                  <a:pt x="263012" y="191990"/>
                  <a:pt x="271337" y="182749"/>
                  <a:pt x="276482" y="173808"/>
                </a:cubicBezTo>
                <a:cubicBezTo>
                  <a:pt x="282443" y="163584"/>
                  <a:pt x="283975" y="153960"/>
                  <a:pt x="281045" y="145236"/>
                </a:cubicBezTo>
                <a:close/>
                <a:moveTo>
                  <a:pt x="220836" y="70108"/>
                </a:moveTo>
                <a:lnTo>
                  <a:pt x="245729" y="87641"/>
                </a:lnTo>
                <a:lnTo>
                  <a:pt x="245729" y="157574"/>
                </a:lnTo>
                <a:lnTo>
                  <a:pt x="220836" y="171826"/>
                </a:lnTo>
                <a:lnTo>
                  <a:pt x="220836" y="70108"/>
                </a:lnTo>
                <a:close/>
                <a:moveTo>
                  <a:pt x="147707" y="18991"/>
                </a:moveTo>
                <a:lnTo>
                  <a:pt x="172583" y="36524"/>
                </a:lnTo>
                <a:lnTo>
                  <a:pt x="172583" y="199932"/>
                </a:lnTo>
                <a:lnTo>
                  <a:pt x="147707" y="210456"/>
                </a:lnTo>
                <a:lnTo>
                  <a:pt x="147707" y="18991"/>
                </a:lnTo>
                <a:close/>
                <a:moveTo>
                  <a:pt x="75694" y="101445"/>
                </a:moveTo>
                <a:lnTo>
                  <a:pt x="99870" y="118462"/>
                </a:lnTo>
                <a:lnTo>
                  <a:pt x="100586" y="220429"/>
                </a:lnTo>
                <a:lnTo>
                  <a:pt x="75694" y="223293"/>
                </a:lnTo>
                <a:lnTo>
                  <a:pt x="75694" y="101445"/>
                </a:lnTo>
                <a:close/>
                <a:moveTo>
                  <a:pt x="264744" y="167081"/>
                </a:moveTo>
                <a:cubicBezTo>
                  <a:pt x="260481" y="174474"/>
                  <a:pt x="253022" y="182633"/>
                  <a:pt x="243115" y="190708"/>
                </a:cubicBezTo>
                <a:cubicBezTo>
                  <a:pt x="221752" y="208108"/>
                  <a:pt x="190766" y="224042"/>
                  <a:pt x="155899" y="235648"/>
                </a:cubicBezTo>
                <a:cubicBezTo>
                  <a:pt x="123914" y="246304"/>
                  <a:pt x="92294" y="252015"/>
                  <a:pt x="65987" y="252015"/>
                </a:cubicBezTo>
                <a:cubicBezTo>
                  <a:pt x="63689" y="252015"/>
                  <a:pt x="61374" y="251982"/>
                  <a:pt x="59160" y="251882"/>
                </a:cubicBezTo>
                <a:cubicBezTo>
                  <a:pt x="46389" y="251382"/>
                  <a:pt x="35500" y="249301"/>
                  <a:pt x="27690" y="245921"/>
                </a:cubicBezTo>
                <a:cubicBezTo>
                  <a:pt x="20547" y="242824"/>
                  <a:pt x="16085" y="238761"/>
                  <a:pt x="14453" y="233899"/>
                </a:cubicBezTo>
                <a:cubicBezTo>
                  <a:pt x="11839" y="226007"/>
                  <a:pt x="16701" y="215084"/>
                  <a:pt x="27907" y="203329"/>
                </a:cubicBezTo>
                <a:lnTo>
                  <a:pt x="27907" y="222427"/>
                </a:lnTo>
                <a:cubicBezTo>
                  <a:pt x="27907" y="226191"/>
                  <a:pt x="30953" y="229245"/>
                  <a:pt x="34717" y="229254"/>
                </a:cubicBezTo>
                <a:cubicBezTo>
                  <a:pt x="38481" y="229245"/>
                  <a:pt x="41527" y="226191"/>
                  <a:pt x="41527" y="222427"/>
                </a:cubicBezTo>
                <a:lnTo>
                  <a:pt x="41527" y="118944"/>
                </a:lnTo>
                <a:lnTo>
                  <a:pt x="62124" y="104125"/>
                </a:lnTo>
                <a:lnTo>
                  <a:pt x="62124" y="230952"/>
                </a:lnTo>
                <a:cubicBezTo>
                  <a:pt x="62105" y="234695"/>
                  <a:pt x="65124" y="237744"/>
                  <a:pt x="68867" y="237762"/>
                </a:cubicBezTo>
                <a:cubicBezTo>
                  <a:pt x="68889" y="237762"/>
                  <a:pt x="68912" y="237762"/>
                  <a:pt x="68934" y="237762"/>
                </a:cubicBezTo>
                <a:cubicBezTo>
                  <a:pt x="69200" y="237762"/>
                  <a:pt x="69433" y="237762"/>
                  <a:pt x="69716" y="237712"/>
                </a:cubicBezTo>
                <a:lnTo>
                  <a:pt x="108212" y="233300"/>
                </a:lnTo>
                <a:cubicBezTo>
                  <a:pt x="111649" y="232895"/>
                  <a:pt x="114238" y="229983"/>
                  <a:pt x="114240" y="226523"/>
                </a:cubicBezTo>
                <a:lnTo>
                  <a:pt x="113524" y="36474"/>
                </a:lnTo>
                <a:lnTo>
                  <a:pt x="134120" y="21656"/>
                </a:lnTo>
                <a:lnTo>
                  <a:pt x="134120" y="220712"/>
                </a:lnTo>
                <a:cubicBezTo>
                  <a:pt x="134120" y="222993"/>
                  <a:pt x="135286" y="225141"/>
                  <a:pt x="137151" y="226407"/>
                </a:cubicBezTo>
                <a:cubicBezTo>
                  <a:pt x="139063" y="227660"/>
                  <a:pt x="141476" y="227872"/>
                  <a:pt x="143578" y="226973"/>
                </a:cubicBezTo>
                <a:lnTo>
                  <a:pt x="182091" y="210705"/>
                </a:lnTo>
                <a:cubicBezTo>
                  <a:pt x="184612" y="209646"/>
                  <a:pt x="186252" y="207179"/>
                  <a:pt x="186253" y="204445"/>
                </a:cubicBezTo>
                <a:lnTo>
                  <a:pt x="186253" y="193405"/>
                </a:lnTo>
                <a:cubicBezTo>
                  <a:pt x="186537" y="192632"/>
                  <a:pt x="186683" y="191815"/>
                  <a:pt x="186686" y="190991"/>
                </a:cubicBezTo>
                <a:lnTo>
                  <a:pt x="186686" y="87591"/>
                </a:lnTo>
                <a:lnTo>
                  <a:pt x="207283" y="72773"/>
                </a:lnTo>
                <a:lnTo>
                  <a:pt x="207283" y="183565"/>
                </a:lnTo>
                <a:cubicBezTo>
                  <a:pt x="207312" y="187335"/>
                  <a:pt x="210393" y="190368"/>
                  <a:pt x="214163" y="190338"/>
                </a:cubicBezTo>
                <a:cubicBezTo>
                  <a:pt x="215330" y="190329"/>
                  <a:pt x="216475" y="190021"/>
                  <a:pt x="217490" y="189443"/>
                </a:cubicBezTo>
                <a:lnTo>
                  <a:pt x="255986" y="167381"/>
                </a:lnTo>
                <a:cubicBezTo>
                  <a:pt x="258105" y="166165"/>
                  <a:pt x="259418" y="163913"/>
                  <a:pt x="259432" y="161470"/>
                </a:cubicBezTo>
                <a:lnTo>
                  <a:pt x="259432" y="139608"/>
                </a:lnTo>
                <a:cubicBezTo>
                  <a:pt x="265210" y="142771"/>
                  <a:pt x="267158" y="146268"/>
                  <a:pt x="268257" y="149481"/>
                </a:cubicBezTo>
                <a:cubicBezTo>
                  <a:pt x="269772" y="154377"/>
                  <a:pt x="268623" y="160304"/>
                  <a:pt x="264744" y="167081"/>
                </a:cubicBezTo>
                <a:close/>
              </a:path>
            </a:pathLst>
          </a:custGeom>
          <a:solidFill>
            <a:schemeClr val="bg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FDDC70-7086-3F1B-85C9-5DCAC24EB3A5}"/>
              </a:ext>
            </a:extLst>
          </p:cNvPr>
          <p:cNvSpPr txBox="1"/>
          <p:nvPr/>
        </p:nvSpPr>
        <p:spPr>
          <a:xfrm>
            <a:off x="737882" y="1422665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</a:rPr>
              <a:t>五层监管事实</a:t>
            </a: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704050" y="6158623"/>
            <a:ext cx="9286412" cy="455930"/>
          </a:xfrm>
        </p:spPr>
        <p:txBody>
          <a:bodyPr/>
          <a:lstStyle/>
          <a:p>
            <a:r>
              <a:rPr dirty="0">
                <a:sym typeface="+mn-ea"/>
              </a:rPr>
              <a:t>模型运营覆盖从需求到退役的全生命周期</a:t>
            </a:r>
            <a:endParaRPr lang="zh-CN" altLang="en-US" dirty="0"/>
          </a:p>
        </p:txBody>
      </p:sp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401955" y="928370"/>
            <a:ext cx="11588507" cy="5055413"/>
            <a:chOff x="801" y="1533"/>
            <a:chExt cx="17871" cy="7795"/>
          </a:xfrm>
        </p:grpSpPr>
        <p:grpSp>
          <p:nvGrpSpPr>
            <p:cNvPr id="3" name="组合 2"/>
            <p:cNvGrpSpPr/>
            <p:nvPr>
              <p:custDataLst>
                <p:tags r:id="rId2"/>
              </p:custDataLst>
            </p:nvPr>
          </p:nvGrpSpPr>
          <p:grpSpPr>
            <a:xfrm>
              <a:off x="6850" y="1533"/>
              <a:ext cx="5424" cy="4387"/>
              <a:chOff x="6532" y="1533"/>
              <a:chExt cx="5424" cy="4387"/>
            </a:xfrm>
          </p:grpSpPr>
          <p:sp>
            <p:nvSpPr>
              <p:cNvPr id="4" name="任意多边形: 形状 4"/>
              <p:cNvSpPr/>
              <p:nvPr>
                <p:custDataLst>
                  <p:tags r:id="rId25"/>
                </p:custDataLst>
              </p:nvPr>
            </p:nvSpPr>
            <p:spPr>
              <a:xfrm rot="10800000">
                <a:off x="7293" y="2276"/>
                <a:ext cx="3904" cy="1601"/>
              </a:xfrm>
              <a:custGeom>
                <a:avLst/>
                <a:gdLst>
                  <a:gd name="connsiteX0" fmla="*/ 2666748 w 2666748"/>
                  <a:gd name="connsiteY0" fmla="*/ 4159580 h 4159580"/>
                  <a:gd name="connsiteX1" fmla="*/ 1 w 2666748"/>
                  <a:gd name="connsiteY1" fmla="*/ 4159580 h 4159580"/>
                  <a:gd name="connsiteX2" fmla="*/ 1 w 2666748"/>
                  <a:gd name="connsiteY2" fmla="*/ 253727 h 4159580"/>
                  <a:gd name="connsiteX3" fmla="*/ 0 w 2666748"/>
                  <a:gd name="connsiteY3" fmla="*/ 253723 h 4159580"/>
                  <a:gd name="connsiteX4" fmla="*/ 1 w 2666748"/>
                  <a:gd name="connsiteY4" fmla="*/ 253720 h 4159580"/>
                  <a:gd name="connsiteX5" fmla="*/ 1 w 2666748"/>
                  <a:gd name="connsiteY5" fmla="*/ 224005 h 4159580"/>
                  <a:gd name="connsiteX6" fmla="*/ 9913 w 2666748"/>
                  <a:gd name="connsiteY6" fmla="*/ 224005 h 4159580"/>
                  <a:gd name="connsiteX7" fmla="*/ 27089 w 2666748"/>
                  <a:gd name="connsiteY7" fmla="*/ 202589 h 4159580"/>
                  <a:gd name="connsiteX8" fmla="*/ 1333374 w 2666748"/>
                  <a:gd name="connsiteY8" fmla="*/ 0 h 4159580"/>
                  <a:gd name="connsiteX9" fmla="*/ 2639659 w 2666748"/>
                  <a:gd name="connsiteY9" fmla="*/ 202589 h 4159580"/>
                  <a:gd name="connsiteX10" fmla="*/ 2656835 w 2666748"/>
                  <a:gd name="connsiteY10" fmla="*/ 224005 h 4159580"/>
                  <a:gd name="connsiteX11" fmla="*/ 2666748 w 2666748"/>
                  <a:gd name="connsiteY11" fmla="*/ 224005 h 4159580"/>
                  <a:gd name="connsiteX12" fmla="*/ 2666748 w 2666748"/>
                  <a:gd name="connsiteY12" fmla="*/ 253723 h 4159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66748" h="4159580">
                    <a:moveTo>
                      <a:pt x="2666748" y="4159580"/>
                    </a:moveTo>
                    <a:lnTo>
                      <a:pt x="1" y="4159580"/>
                    </a:lnTo>
                    <a:lnTo>
                      <a:pt x="1" y="253727"/>
                    </a:lnTo>
                    <a:lnTo>
                      <a:pt x="0" y="253723"/>
                    </a:lnTo>
                    <a:lnTo>
                      <a:pt x="1" y="253720"/>
                    </a:lnTo>
                    <a:lnTo>
                      <a:pt x="1" y="224005"/>
                    </a:lnTo>
                    <a:lnTo>
                      <a:pt x="9913" y="224005"/>
                    </a:lnTo>
                    <a:lnTo>
                      <a:pt x="27089" y="202589"/>
                    </a:lnTo>
                    <a:cubicBezTo>
                      <a:pt x="151422" y="86972"/>
                      <a:pt x="689022" y="0"/>
                      <a:pt x="1333374" y="0"/>
                    </a:cubicBezTo>
                    <a:cubicBezTo>
                      <a:pt x="1977726" y="0"/>
                      <a:pt x="2515326" y="86972"/>
                      <a:pt x="2639659" y="202589"/>
                    </a:cubicBezTo>
                    <a:lnTo>
                      <a:pt x="2656835" y="224005"/>
                    </a:lnTo>
                    <a:lnTo>
                      <a:pt x="2666748" y="224005"/>
                    </a:lnTo>
                    <a:lnTo>
                      <a:pt x="2666748" y="253723"/>
                    </a:lnTo>
                    <a:close/>
                  </a:path>
                </a:pathLst>
              </a:custGeom>
              <a:gradFill flip="none" rotWithShape="1">
                <a:gsLst>
                  <a:gs pos="54000">
                    <a:schemeClr val="accent2">
                      <a:alpha val="10000"/>
                    </a:schemeClr>
                  </a:gs>
                  <a:gs pos="0">
                    <a:schemeClr val="accent2">
                      <a:alpha val="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lin ang="5400000" scaled="1"/>
                <a:tileRect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5" name="椭圆 4"/>
              <p:cNvSpPr/>
              <p:nvPr>
                <p:custDataLst>
                  <p:tags r:id="rId26"/>
                </p:custDataLst>
              </p:nvPr>
            </p:nvSpPr>
            <p:spPr>
              <a:xfrm>
                <a:off x="6532" y="3616"/>
                <a:ext cx="5425" cy="1032"/>
              </a:xfrm>
              <a:prstGeom prst="ellipse">
                <a:avLst/>
              </a:prstGeom>
              <a:gradFill>
                <a:gsLst>
                  <a:gs pos="100000">
                    <a:schemeClr val="accent2">
                      <a:alpha val="20000"/>
                    </a:schemeClr>
                  </a:gs>
                  <a:gs pos="0">
                    <a:schemeClr val="accent2">
                      <a:alpha val="1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27"/>
                </p:custDataLst>
              </p:nvPr>
            </p:nvSpPr>
            <p:spPr>
              <a:xfrm>
                <a:off x="6731" y="3344"/>
                <a:ext cx="5028" cy="934"/>
              </a:xfrm>
              <a:prstGeom prst="ellipse">
                <a:avLst/>
              </a:prstGeom>
              <a:noFill/>
              <a:ln>
                <a:gradFill>
                  <a:gsLst>
                    <a:gs pos="26000">
                      <a:schemeClr val="accent2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2">
                        <a:alpha val="57000"/>
                      </a:schemeClr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28"/>
                </p:custDataLst>
              </p:nvPr>
            </p:nvSpPr>
            <p:spPr>
              <a:xfrm>
                <a:off x="7293" y="3186"/>
                <a:ext cx="3904" cy="743"/>
              </a:xfrm>
              <a:prstGeom prst="ellipse">
                <a:avLst/>
              </a:prstGeom>
              <a:gradFill>
                <a:gsLst>
                  <a:gs pos="100000">
                    <a:schemeClr val="accent2">
                      <a:alpha val="20000"/>
                    </a:schemeClr>
                  </a:gs>
                  <a:gs pos="0">
                    <a:schemeClr val="accent2">
                      <a:lumMod val="20000"/>
                      <a:lumOff val="80000"/>
                      <a:alpha val="30000"/>
                    </a:schemeClr>
                  </a:gs>
                </a:gsLst>
                <a:lin ang="5400000" scaled="0"/>
              </a:gradFill>
              <a:ln w="3175">
                <a:noFill/>
              </a:ln>
              <a:effectLst/>
            </p:spPr>
            <p:style>
              <a:lnRef idx="2">
                <a:srgbClr val="376FFF">
                  <a:shade val="50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vertOverflow="overflow" horzOverflow="overflow" vert="horz" wrap="none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Arial" panose="020B0604020202090204" pitchFamily="34" charset="0"/>
                </a:endParaRPr>
              </a:p>
            </p:txBody>
          </p:sp>
          <p:sp>
            <p:nvSpPr>
              <p:cNvPr id="16" name="任意多边形: 形状 10"/>
              <p:cNvSpPr/>
              <p:nvPr>
                <p:custDataLst>
                  <p:tags r:id="rId29"/>
                </p:custDataLst>
              </p:nvPr>
            </p:nvSpPr>
            <p:spPr>
              <a:xfrm>
                <a:off x="6532" y="4072"/>
                <a:ext cx="5425" cy="1848"/>
              </a:xfrm>
              <a:custGeom>
                <a:avLst/>
                <a:gdLst>
                  <a:gd name="connsiteX0" fmla="*/ 0 w 4023360"/>
                  <a:gd name="connsiteY0" fmla="*/ 7761 h 1357052"/>
                  <a:gd name="connsiteX1" fmla="*/ 2011680 w 4023360"/>
                  <a:gd name="connsiteY1" fmla="*/ 410984 h 1357052"/>
                  <a:gd name="connsiteX2" fmla="*/ 4023360 w 4023360"/>
                  <a:gd name="connsiteY2" fmla="*/ 7761 h 1357052"/>
                  <a:gd name="connsiteX3" fmla="*/ 4023360 w 4023360"/>
                  <a:gd name="connsiteY3" fmla="*/ 953829 h 1357052"/>
                  <a:gd name="connsiteX4" fmla="*/ 2011680 w 4023360"/>
                  <a:gd name="connsiteY4" fmla="*/ 1357052 h 1357052"/>
                  <a:gd name="connsiteX5" fmla="*/ 0 w 4023360"/>
                  <a:gd name="connsiteY5" fmla="*/ 953829 h 1357052"/>
                  <a:gd name="connsiteX6" fmla="*/ 4021405 w 4023360"/>
                  <a:gd name="connsiteY6" fmla="*/ 0 h 1357052"/>
                  <a:gd name="connsiteX7" fmla="*/ 4023360 w 4023360"/>
                  <a:gd name="connsiteY7" fmla="*/ 0 h 1357052"/>
                  <a:gd name="connsiteX8" fmla="*/ 4023360 w 4023360"/>
                  <a:gd name="connsiteY8" fmla="*/ 7761 h 1357052"/>
                  <a:gd name="connsiteX9" fmla="*/ 0 w 4023360"/>
                  <a:gd name="connsiteY9" fmla="*/ 0 h 1357052"/>
                  <a:gd name="connsiteX10" fmla="*/ 1955 w 4023360"/>
                  <a:gd name="connsiteY10" fmla="*/ 0 h 1357052"/>
                  <a:gd name="connsiteX11" fmla="*/ 0 w 4023360"/>
                  <a:gd name="connsiteY11" fmla="*/ 7761 h 135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23360" h="1357052">
                    <a:moveTo>
                      <a:pt x="0" y="7761"/>
                    </a:moveTo>
                    <a:cubicBezTo>
                      <a:pt x="0" y="230455"/>
                      <a:pt x="900660" y="410984"/>
                      <a:pt x="2011680" y="410984"/>
                    </a:cubicBezTo>
                    <a:cubicBezTo>
                      <a:pt x="3122700" y="410984"/>
                      <a:pt x="4023360" y="230455"/>
                      <a:pt x="4023360" y="7761"/>
                    </a:cubicBezTo>
                    <a:lnTo>
                      <a:pt x="4023360" y="953829"/>
                    </a:lnTo>
                    <a:cubicBezTo>
                      <a:pt x="4023360" y="1176523"/>
                      <a:pt x="3122700" y="1357052"/>
                      <a:pt x="2011680" y="1357052"/>
                    </a:cubicBezTo>
                    <a:cubicBezTo>
                      <a:pt x="900660" y="1357052"/>
                      <a:pt x="0" y="1176523"/>
                      <a:pt x="0" y="953829"/>
                    </a:cubicBezTo>
                    <a:close/>
                    <a:moveTo>
                      <a:pt x="4021405" y="0"/>
                    </a:moveTo>
                    <a:lnTo>
                      <a:pt x="4023360" y="0"/>
                    </a:lnTo>
                    <a:lnTo>
                      <a:pt x="4023360" y="7761"/>
                    </a:lnTo>
                    <a:close/>
                    <a:moveTo>
                      <a:pt x="0" y="0"/>
                    </a:moveTo>
                    <a:lnTo>
                      <a:pt x="1955" y="0"/>
                    </a:lnTo>
                    <a:lnTo>
                      <a:pt x="0" y="7761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alpha val="45000"/>
                    </a:schemeClr>
                  </a:gs>
                  <a:gs pos="41000">
                    <a:schemeClr val="accent2">
                      <a:alpha val="20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0"/>
                    </a:schemeClr>
                  </a:gs>
                </a:gsLst>
                <a:lin ang="5400000" scaled="1"/>
                <a:tileRect/>
              </a:gradFill>
              <a:ln w="19050">
                <a:noFill/>
              </a:ln>
            </p:spPr>
            <p:style>
              <a:lnRef idx="2">
                <a:srgbClr val="376FFF">
                  <a:shade val="15000"/>
                </a:srgbClr>
              </a:lnRef>
              <a:fillRef idx="1">
                <a:srgbClr val="376FFF"/>
              </a:fillRef>
              <a:effectRef idx="0">
                <a:srgbClr val="376FFF"/>
              </a:effectRef>
              <a:fontRef idx="minor">
                <a:srgbClr val="FFFFFF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lang="zh-CN" altLang="en-US">
                  <a:solidFill>
                    <a:srgbClr val="FFFFFF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微软雅黑" panose="020B0502040204020203" pitchFamily="34" charset="-122"/>
                </a:endParaRPr>
              </a:p>
            </p:txBody>
          </p:sp>
          <p:sp>
            <p:nvSpPr>
              <p:cNvPr id="115" name="椭圆 114"/>
              <p:cNvSpPr/>
              <p:nvPr>
                <p:custDataLst>
                  <p:tags r:id="rId30"/>
                </p:custDataLst>
              </p:nvPr>
            </p:nvSpPr>
            <p:spPr>
              <a:xfrm>
                <a:off x="8204" y="1533"/>
                <a:ext cx="1957" cy="1957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</a:ln>
              <a:effectLst>
                <a:reflection blurRad="6350" stA="52000" endA="300" endPos="3500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  <a:defRPr/>
                </a:pPr>
                <a:r>
                  <a:rPr lang="en-US" altLang="zh-CN" sz="4000" b="1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模型</a:t>
                </a:r>
              </a:p>
            </p:txBody>
          </p:sp>
        </p:grpSp>
        <p:grpSp>
          <p:nvGrpSpPr>
            <p:cNvPr id="10" name="组合 9"/>
            <p:cNvGrpSpPr/>
            <p:nvPr>
              <p:custDataLst>
                <p:tags r:id="rId3"/>
              </p:custDataLst>
            </p:nvPr>
          </p:nvGrpSpPr>
          <p:grpSpPr>
            <a:xfrm>
              <a:off x="1639" y="1913"/>
              <a:ext cx="15562" cy="4623"/>
              <a:chOff x="1237" y="1913"/>
              <a:chExt cx="16533" cy="4911"/>
            </a:xfrm>
          </p:grpSpPr>
          <p:sp>
            <p:nvSpPr>
              <p:cNvPr id="27" name="弧形 26"/>
              <p:cNvSpPr/>
              <p:nvPr>
                <p:custDataLst>
                  <p:tags r:id="rId18"/>
                </p:custDataLst>
              </p:nvPr>
            </p:nvSpPr>
            <p:spPr>
              <a:xfrm rot="21075889">
                <a:off x="1687" y="1913"/>
                <a:ext cx="15478" cy="3944"/>
              </a:xfrm>
              <a:prstGeom prst="arc">
                <a:avLst>
                  <a:gd name="adj1" fmla="val 19423901"/>
                  <a:gd name="adj2" fmla="val 12943440"/>
                </a:avLst>
              </a:prstGeom>
              <a:ln w="15875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1">
                <a:srgbClr val="376FFF"/>
              </a:lnRef>
              <a:fillRef idx="0">
                <a:srgbClr val="376FFF"/>
              </a:fillRef>
              <a:effectRef idx="0">
                <a:srgbClr val="376FFF"/>
              </a:effectRef>
              <a:fontRef idx="minor">
                <a:srgbClr val="000000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endParaRPr>
              </a:p>
            </p:txBody>
          </p:sp>
          <p:sp>
            <p:nvSpPr>
              <p:cNvPr id="61" name="序号"/>
              <p:cNvSpPr/>
              <p:nvPr>
                <p:custDataLst>
                  <p:tags r:id="rId19"/>
                </p:custDataLst>
              </p:nvPr>
            </p:nvSpPr>
            <p:spPr>
              <a:xfrm>
                <a:off x="1237" y="4458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 dirty="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01</a:t>
                </a:r>
              </a:p>
            </p:txBody>
          </p:sp>
          <p:sp>
            <p:nvSpPr>
              <p:cNvPr id="77" name="序号"/>
              <p:cNvSpPr/>
              <p:nvPr>
                <p:custDataLst>
                  <p:tags r:id="rId20"/>
                </p:custDataLst>
              </p:nvPr>
            </p:nvSpPr>
            <p:spPr>
              <a:xfrm>
                <a:off x="7466" y="5397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03</a:t>
                </a:r>
              </a:p>
            </p:txBody>
          </p:sp>
          <p:sp>
            <p:nvSpPr>
              <p:cNvPr id="40" name="序号"/>
              <p:cNvSpPr/>
              <p:nvPr>
                <p:custDataLst>
                  <p:tags r:id="rId21"/>
                </p:custDataLst>
              </p:nvPr>
            </p:nvSpPr>
            <p:spPr>
              <a:xfrm>
                <a:off x="4230" y="5514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微软雅黑" panose="020B0502040204020203" pitchFamily="34" charset="-122"/>
                  </a:rPr>
                  <a:t>02</a:t>
                </a:r>
              </a:p>
            </p:txBody>
          </p:sp>
          <p:sp>
            <p:nvSpPr>
              <p:cNvPr id="43" name="序号"/>
              <p:cNvSpPr/>
              <p:nvPr>
                <p:custDataLst>
                  <p:tags r:id="rId22"/>
                </p:custDataLst>
              </p:nvPr>
            </p:nvSpPr>
            <p:spPr>
              <a:xfrm>
                <a:off x="10768" y="4944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04</a:t>
                </a:r>
              </a:p>
            </p:txBody>
          </p:sp>
          <p:sp>
            <p:nvSpPr>
              <p:cNvPr id="46" name="序号"/>
              <p:cNvSpPr/>
              <p:nvPr>
                <p:custDataLst>
                  <p:tags r:id="rId23"/>
                </p:custDataLst>
              </p:nvPr>
            </p:nvSpPr>
            <p:spPr>
              <a:xfrm>
                <a:off x="13916" y="3930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05</a:t>
                </a:r>
              </a:p>
            </p:txBody>
          </p:sp>
          <p:sp>
            <p:nvSpPr>
              <p:cNvPr id="2" name="序号"/>
              <p:cNvSpPr/>
              <p:nvPr>
                <p:custDataLst>
                  <p:tags r:id="rId24"/>
                </p:custDataLst>
              </p:nvPr>
            </p:nvSpPr>
            <p:spPr>
              <a:xfrm>
                <a:off x="16460" y="2313"/>
                <a:ext cx="1310" cy="1310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zh-CN" altLang="en-US" sz="2000" b="1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rPr>
                  <a:t>06</a:t>
                </a:r>
              </a:p>
            </p:txBody>
          </p:sp>
        </p:grpSp>
        <p:sp>
          <p:nvSpPr>
            <p:cNvPr id="130" name="圆角矩形 74"/>
            <p:cNvSpPr/>
            <p:nvPr>
              <p:custDataLst>
                <p:tags r:id="rId4"/>
              </p:custDataLst>
            </p:nvPr>
          </p:nvSpPr>
          <p:spPr>
            <a:xfrm>
              <a:off x="801" y="8551"/>
              <a:ext cx="17751" cy="777"/>
            </a:xfrm>
            <a:prstGeom prst="roundRect">
              <a:avLst>
                <a:gd name="adj" fmla="val 10623"/>
              </a:avLst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1755" tIns="36195" rIns="71755" bIns="36195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  <a:defRPr/>
              </a:pPr>
              <a:r>
                <a:rPr lang="zh-CN" altLang="en-US" sz="2400" b="1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模型全生命周期运营</a:t>
              </a:r>
            </a:p>
          </p:txBody>
        </p:sp>
        <p:sp>
          <p:nvSpPr>
            <p:cNvPr id="9" name="五边形 8"/>
            <p:cNvSpPr/>
            <p:nvPr>
              <p:custDataLst>
                <p:tags r:id="rId5"/>
              </p:custDataLst>
            </p:nvPr>
          </p:nvSpPr>
          <p:spPr>
            <a:xfrm rot="5400000" flipV="1">
              <a:off x="9301" y="7443"/>
              <a:ext cx="523" cy="1511"/>
            </a:xfrm>
            <a:prstGeom prst="homePlate">
              <a:avLst>
                <a:gd name="adj" fmla="val 10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lin ang="0" scaled="0"/>
            </a:gradFill>
            <a:ln w="9525" cap="flat" cmpd="sng" algn="ctr">
              <a:gradFill flip="none"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  <a:tileRect/>
              </a:gradFill>
              <a:prstDash val="solid"/>
              <a:miter lim="800000"/>
            </a:ln>
            <a:effectLst>
              <a:outerShdw blurRad="475241" sx="107000" sy="107000" algn="ctr" rotWithShape="0">
                <a:srgbClr val="336FFF">
                  <a:alpha val="6000"/>
                </a:srgb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2400" kern="0">
                <a:solidFill>
                  <a:srgbClr val="000000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1" name="矩形 1"/>
            <p:cNvSpPr/>
            <p:nvPr>
              <p:custDataLst>
                <p:tags r:id="rId6"/>
              </p:custDataLst>
            </p:nvPr>
          </p:nvSpPr>
          <p:spPr>
            <a:xfrm>
              <a:off x="976" y="6434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制度条款转为可计算规则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12" name="矩形 2"/>
            <p:cNvSpPr/>
            <p:nvPr>
              <p:custDataLst>
                <p:tags r:id="rId7"/>
              </p:custDataLst>
            </p:nvPr>
          </p:nvSpPr>
          <p:spPr>
            <a:xfrm>
              <a:off x="976" y="5611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需求定义</a:t>
              </a:r>
            </a:p>
          </p:txBody>
        </p:sp>
        <p:sp>
          <p:nvSpPr>
            <p:cNvPr id="19" name="矩形 1"/>
            <p:cNvSpPr/>
            <p:nvPr>
              <p:custDataLst>
                <p:tags r:id="rId8"/>
              </p:custDataLst>
            </p:nvPr>
          </p:nvSpPr>
          <p:spPr>
            <a:xfrm>
              <a:off x="3925" y="7328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确认对象、指标与验证样本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0" name="矩形 2"/>
            <p:cNvSpPr/>
            <p:nvPr>
              <p:custDataLst>
                <p:tags r:id="rId9"/>
              </p:custDataLst>
            </p:nvPr>
          </p:nvSpPr>
          <p:spPr>
            <a:xfrm>
              <a:off x="3925" y="6505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数据准备</a:t>
              </a:r>
            </a:p>
          </p:txBody>
        </p:sp>
        <p:sp>
          <p:nvSpPr>
            <p:cNvPr id="21" name="矩形 1"/>
            <p:cNvSpPr/>
            <p:nvPr>
              <p:custDataLst>
                <p:tags r:id="rId10"/>
              </p:custDataLst>
            </p:nvPr>
          </p:nvSpPr>
          <p:spPr>
            <a:xfrm>
              <a:off x="7085" y="7192"/>
              <a:ext cx="3221" cy="821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构建规则、图谱与智能模型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2" name="矩形 2"/>
            <p:cNvSpPr/>
            <p:nvPr>
              <p:custDataLst>
                <p:tags r:id="rId11"/>
              </p:custDataLst>
            </p:nvPr>
          </p:nvSpPr>
          <p:spPr>
            <a:xfrm>
              <a:off x="7085" y="636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模型开发</a:t>
              </a:r>
            </a:p>
          </p:txBody>
        </p:sp>
        <p:sp>
          <p:nvSpPr>
            <p:cNvPr id="23" name="矩形 1"/>
            <p:cNvSpPr/>
            <p:nvPr>
              <p:custDataLst>
                <p:tags r:id="rId12"/>
              </p:custDataLst>
            </p:nvPr>
          </p:nvSpPr>
          <p:spPr>
            <a:xfrm>
              <a:off x="10145" y="6712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回溯试跑并版本化发布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4" name="矩形 2"/>
            <p:cNvSpPr/>
            <p:nvPr>
              <p:custDataLst>
                <p:tags r:id="rId13"/>
              </p:custDataLst>
            </p:nvPr>
          </p:nvSpPr>
          <p:spPr>
            <a:xfrm>
              <a:off x="10145" y="588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algn="l" defTabSz="264160" hangingPunct="0">
                <a:buClrTx/>
                <a:buSzTx/>
                <a:buFontTx/>
              </a:pPr>
              <a:r>
                <a:rPr lang="zh-CN" altLang="en-US" sz="1800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验证发布</a:t>
              </a:r>
            </a:p>
          </p:txBody>
        </p:sp>
        <p:sp>
          <p:nvSpPr>
            <p:cNvPr id="25" name="矩形 1"/>
            <p:cNvSpPr/>
            <p:nvPr>
              <p:custDataLst>
                <p:tags r:id="rId14"/>
              </p:custDataLst>
            </p:nvPr>
          </p:nvSpPr>
          <p:spPr>
            <a:xfrm>
              <a:off x="13171" y="6064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评估命中率、误报率与效果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28" name="矩形 2"/>
            <p:cNvSpPr/>
            <p:nvPr>
              <p:custDataLst>
                <p:tags r:id="rId15"/>
              </p:custDataLst>
            </p:nvPr>
          </p:nvSpPr>
          <p:spPr>
            <a:xfrm>
              <a:off x="13171" y="5241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lvl="0" algn="l" defTabSz="264160" hangingPunct="0">
                <a:buClrTx/>
                <a:buSzTx/>
                <a:buFontTx/>
              </a:pPr>
              <a:r>
                <a:rPr lang="zh-CN" altLang="en-US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在线监控</a:t>
              </a:r>
            </a:p>
          </p:txBody>
        </p:sp>
        <p:sp>
          <p:nvSpPr>
            <p:cNvPr id="29" name="矩形 1"/>
            <p:cNvSpPr/>
            <p:nvPr>
              <p:custDataLst>
                <p:tags r:id="rId16"/>
              </p:custDataLst>
            </p:nvPr>
          </p:nvSpPr>
          <p:spPr>
            <a:xfrm>
              <a:off x="15451" y="4552"/>
              <a:ext cx="3221" cy="10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t" anchorCtr="0">
              <a:noAutofit/>
            </a:bodyPr>
            <a:lstStyle/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r>
                <a:rPr lang="zh-CN" alt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</a:rPr>
                <a:t>调优阈值并退役失效模型</a:t>
              </a: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  <a:p>
              <a:pPr algn="l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</a:pPr>
              <a:endParaRPr lang="en-US" altLang="zh-CN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sp>
          <p:nvSpPr>
            <p:cNvPr id="30" name="矩形 2"/>
            <p:cNvSpPr/>
            <p:nvPr>
              <p:custDataLst>
                <p:tags r:id="rId17"/>
              </p:custDataLst>
            </p:nvPr>
          </p:nvSpPr>
          <p:spPr>
            <a:xfrm>
              <a:off x="15451" y="3729"/>
              <a:ext cx="3101" cy="833"/>
            </a:xfrm>
            <a:prstGeom prst="rect">
              <a:avLst/>
            </a:prstGeom>
            <a:noFill/>
          </p:spPr>
          <p:txBody>
            <a:bodyPr wrap="square" lIns="72000" tIns="0" rIns="72000" bIns="0" rtlCol="0" anchor="ctr">
              <a:noAutofit/>
            </a:bodyPr>
            <a:lstStyle/>
            <a:p>
              <a:pPr lvl="0" algn="l" defTabSz="264160" hangingPunct="0">
                <a:buClrTx/>
                <a:buSzTx/>
                <a:buFontTx/>
              </a:pPr>
              <a:r>
                <a:rPr lang="zh-CN" altLang="en-US" b="1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迭代退役</a:t>
              </a:r>
            </a:p>
          </p:txBody>
        </p:sp>
      </p:grpSp>
      <p:sp>
        <p:nvSpPr>
          <p:cNvPr id="8" name="标题 3">
            <a:extLst>
              <a:ext uri="{FF2B5EF4-FFF2-40B4-BE49-F238E27FC236}">
                <a16:creationId xmlns:a16="http://schemas.microsoft.com/office/drawing/2014/main" id="{03A2F5A8-FC1F-CF77-53BE-614110968822}"/>
              </a:ext>
            </a:extLst>
          </p:cNvPr>
          <p:cNvSpPr txBox="1">
            <a:spLocks/>
          </p:cNvSpPr>
          <p:nvPr/>
        </p:nvSpPr>
        <p:spPr>
          <a:xfrm>
            <a:off x="396000" y="288000"/>
            <a:ext cx="9286412" cy="455930"/>
          </a:xfrm>
          <a:prstGeom prst="rect">
            <a:avLst/>
          </a:prstGeom>
          <a:noFill/>
        </p:spPr>
        <p:txBody>
          <a:bodyPr wrap="square" tIns="36195" bIns="36195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accent1"/>
                </a:solidFill>
                <a:latin typeface="+mj-ea"/>
                <a:ea typeface="+mj-ea"/>
                <a:cs typeface="Arial" panose="020B0604020202090204" pitchFamily="34" charset="0"/>
              </a:defRPr>
            </a:lvl1pPr>
          </a:lstStyle>
          <a:p>
            <a:r>
              <a:rPr lang="zh-CN" altLang="en-US" dirty="0">
                <a:sym typeface="+mn-lt"/>
              </a:rPr>
              <a:t>核心功能体系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sym typeface="+mn-lt"/>
              </a:rPr>
              <a:t>模型管理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9A2F-0517-0CEA-1F60-3E7776A2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B737BAB-9DA9-EBC3-70BC-4C11485C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930" y="1517371"/>
            <a:ext cx="4217670" cy="3822970"/>
          </a:xfrm>
        </p:spPr>
        <p:txBody>
          <a:bodyPr anchor="ctr" anchorCtr="0">
            <a:spAutoFit/>
          </a:bodyPr>
          <a:lstStyle/>
          <a:p>
            <a:pPr marL="0" indent="0">
              <a:buClrTx/>
              <a:buSzTx/>
              <a:buNone/>
            </a:pPr>
            <a:r>
              <a:rPr lang="en-US" altLang="zh-CN" dirty="0"/>
              <a:t>01  </a:t>
            </a:r>
            <a:r>
              <a:rPr lang="zh-CN" altLang="en-US" dirty="0"/>
              <a:t>监管要求与建设目标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02  </a:t>
            </a:r>
            <a:r>
              <a:rPr lang="zh-CN" altLang="en-US" dirty="0">
                <a:sym typeface="+mn-lt"/>
              </a:rPr>
              <a:t>产品定位与总体方案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03  </a:t>
            </a:r>
            <a:r>
              <a:rPr lang="zh-CN" altLang="en-US" dirty="0">
                <a:sym typeface="+mn-lt"/>
              </a:rPr>
              <a:t>核心功能体系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04  </a:t>
            </a:r>
            <a:r>
              <a:rPr lang="zh-CN" altLang="en-US" dirty="0">
                <a:solidFill>
                  <a:schemeClr val="accent1"/>
                </a:solidFill>
                <a:sym typeface="+mn-lt"/>
              </a:rPr>
              <a:t>典型应用场景</a:t>
            </a:r>
            <a:endParaRPr lang="zh-CN" altLang="en-US" dirty="0">
              <a:solidFill>
                <a:schemeClr val="accent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+mj-ea"/>
                <a:ea typeface="+mj-ea"/>
                <a:cs typeface="+mj-ea"/>
                <a:sym typeface="+mn-ea"/>
              </a:rPr>
              <a:t>05  建设实施与应用价值</a:t>
            </a:r>
          </a:p>
        </p:txBody>
      </p:sp>
    </p:spTree>
    <p:extLst>
      <p:ext uri="{BB962C8B-B14F-4D97-AF65-F5344CB8AC3E}">
        <p14:creationId xmlns:p14="http://schemas.microsoft.com/office/powerpoint/2010/main" val="1536697233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EE891-1D3E-E23E-4E99-B1E1DA54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EB2D6-67C5-4116-E11A-5E1CD1A1C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典型应用场景</a:t>
            </a:r>
            <a:r>
              <a:rPr lang="en-US" altLang="zh-CN" dirty="0">
                <a:sym typeface="+mn-lt"/>
              </a:rPr>
              <a:t>-</a:t>
            </a:r>
            <a:r>
              <a:rPr lang="zh-CN" altLang="en-US" dirty="0"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rPr>
              <a:t>预警事件状态全程可追踪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67" name="TextBox 6">
            <a:extLst>
              <a:ext uri="{FF2B5EF4-FFF2-40B4-BE49-F238E27FC236}">
                <a16:creationId xmlns:a16="http://schemas.microsoft.com/office/drawing/2014/main" id="{729278CD-5FE0-6427-1118-67B91A665CF5}"/>
              </a:ext>
            </a:extLst>
          </p:cNvPr>
          <p:cNvSpPr txBox="1"/>
          <p:nvPr/>
        </p:nvSpPr>
        <p:spPr>
          <a:xfrm>
            <a:off x="595122" y="949642"/>
            <a:ext cx="647456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28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五类场景共享同一套图谱与闭环底座</a:t>
            </a:r>
          </a:p>
        </p:txBody>
      </p:sp>
      <p:grpSp>
        <p:nvGrpSpPr>
          <p:cNvPr id="68" name="Group 13">
            <a:extLst>
              <a:ext uri="{FF2B5EF4-FFF2-40B4-BE49-F238E27FC236}">
                <a16:creationId xmlns:a16="http://schemas.microsoft.com/office/drawing/2014/main" id="{3A51F267-6046-C0E7-1971-39D6EF412356}"/>
              </a:ext>
            </a:extLst>
          </p:cNvPr>
          <p:cNvGrpSpPr/>
          <p:nvPr/>
        </p:nvGrpSpPr>
        <p:grpSpPr>
          <a:xfrm>
            <a:off x="609600" y="1676400"/>
            <a:ext cx="10744200" cy="457200"/>
            <a:chOff x="609600" y="1676400"/>
            <a:chExt cx="10744200" cy="457200"/>
          </a:xfrm>
        </p:grpSpPr>
        <p:sp>
          <p:nvSpPr>
            <p:cNvPr id="69" name="Rectangle 8">
              <a:extLst>
                <a:ext uri="{FF2B5EF4-FFF2-40B4-BE49-F238E27FC236}">
                  <a16:creationId xmlns:a16="http://schemas.microsoft.com/office/drawing/2014/main" id="{A8ECD962-1E6A-16F9-1F42-33BC572120E2}"/>
                </a:ext>
              </a:extLst>
            </p:cNvPr>
            <p:cNvSpPr/>
            <p:nvPr/>
          </p:nvSpPr>
          <p:spPr>
            <a:xfrm>
              <a:off x="609600" y="1676400"/>
              <a:ext cx="10744200" cy="457200"/>
            </a:xfrm>
            <a:prstGeom prst="rect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70" name="TextBox 9">
              <a:extLst>
                <a:ext uri="{FF2B5EF4-FFF2-40B4-BE49-F238E27FC236}">
                  <a16:creationId xmlns:a16="http://schemas.microsoft.com/office/drawing/2014/main" id="{75C5B726-E3F5-B43A-E64E-D4CEE1E27844}"/>
                </a:ext>
              </a:extLst>
            </p:cNvPr>
            <p:cNvSpPr txBox="1"/>
            <p:nvPr/>
          </p:nvSpPr>
          <p:spPr>
            <a:xfrm>
              <a:off x="794004" y="184213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业务域</a:t>
              </a:r>
            </a:p>
          </p:txBody>
        </p:sp>
        <p:sp>
          <p:nvSpPr>
            <p:cNvPr id="71" name="TextBox 10">
              <a:extLst>
                <a:ext uri="{FF2B5EF4-FFF2-40B4-BE49-F238E27FC236}">
                  <a16:creationId xmlns:a16="http://schemas.microsoft.com/office/drawing/2014/main" id="{D12FFA0A-FA66-EEF8-F1B9-AD4C934F10AC}"/>
                </a:ext>
              </a:extLst>
            </p:cNvPr>
            <p:cNvSpPr txBox="1"/>
            <p:nvPr/>
          </p:nvSpPr>
          <p:spPr>
            <a:xfrm>
              <a:off x="2356104" y="18421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目标业务记录</a:t>
              </a:r>
            </a:p>
          </p:txBody>
        </p:sp>
        <p:sp>
          <p:nvSpPr>
            <p:cNvPr id="72" name="TextBox 11">
              <a:extLst>
                <a:ext uri="{FF2B5EF4-FFF2-40B4-BE49-F238E27FC236}">
                  <a16:creationId xmlns:a16="http://schemas.microsoft.com/office/drawing/2014/main" id="{64F9C176-0558-5694-CBB2-6FD38FA6403C}"/>
                </a:ext>
              </a:extLst>
            </p:cNvPr>
            <p:cNvSpPr txBox="1"/>
            <p:nvPr/>
          </p:nvSpPr>
          <p:spPr>
            <a:xfrm>
              <a:off x="4546854" y="18421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关键关系</a:t>
              </a:r>
            </a:p>
          </p:txBody>
        </p:sp>
        <p:sp>
          <p:nvSpPr>
            <p:cNvPr id="73" name="TextBox 12">
              <a:extLst>
                <a:ext uri="{FF2B5EF4-FFF2-40B4-BE49-F238E27FC236}">
                  <a16:creationId xmlns:a16="http://schemas.microsoft.com/office/drawing/2014/main" id="{0E20FC7B-20A7-52AA-DECC-6584F717073F}"/>
                </a:ext>
              </a:extLst>
            </p:cNvPr>
            <p:cNvSpPr txBox="1"/>
            <p:nvPr/>
          </p:nvSpPr>
          <p:spPr>
            <a:xfrm>
              <a:off x="8147304" y="18421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识别结果</a:t>
              </a:r>
            </a:p>
          </p:txBody>
        </p:sp>
      </p:grpSp>
      <p:grpSp>
        <p:nvGrpSpPr>
          <p:cNvPr id="74" name="Group 21">
            <a:extLst>
              <a:ext uri="{FF2B5EF4-FFF2-40B4-BE49-F238E27FC236}">
                <a16:creationId xmlns:a16="http://schemas.microsoft.com/office/drawing/2014/main" id="{6C3D25CA-5897-4AFA-5F68-91719EAE8B58}"/>
              </a:ext>
            </a:extLst>
          </p:cNvPr>
          <p:cNvGrpSpPr/>
          <p:nvPr/>
        </p:nvGrpSpPr>
        <p:grpSpPr>
          <a:xfrm>
            <a:off x="609600" y="2133600"/>
            <a:ext cx="10744200" cy="685800"/>
            <a:chOff x="609600" y="2133600"/>
            <a:chExt cx="10744200" cy="685800"/>
          </a:xfrm>
        </p:grpSpPr>
        <p:sp>
          <p:nvSpPr>
            <p:cNvPr id="75" name="Rectangle 14">
              <a:extLst>
                <a:ext uri="{FF2B5EF4-FFF2-40B4-BE49-F238E27FC236}">
                  <a16:creationId xmlns:a16="http://schemas.microsoft.com/office/drawing/2014/main" id="{61CE4243-284F-4E57-A449-7390AF90AEB8}"/>
                </a:ext>
              </a:extLst>
            </p:cNvPr>
            <p:cNvSpPr/>
            <p:nvPr/>
          </p:nvSpPr>
          <p:spPr>
            <a:xfrm>
              <a:off x="609600" y="2133600"/>
              <a:ext cx="10744200" cy="68580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76" name="Rectangle 15">
              <a:extLst>
                <a:ext uri="{FF2B5EF4-FFF2-40B4-BE49-F238E27FC236}">
                  <a16:creationId xmlns:a16="http://schemas.microsoft.com/office/drawing/2014/main" id="{6CACE240-B1C1-59E1-FC4D-2E940D3F1554}"/>
                </a:ext>
              </a:extLst>
            </p:cNvPr>
            <p:cNvSpPr/>
            <p:nvPr/>
          </p:nvSpPr>
          <p:spPr>
            <a:xfrm>
              <a:off x="609600" y="2133600"/>
              <a:ext cx="76200" cy="685800"/>
            </a:xfrm>
            <a:prstGeom prst="rect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77" name="TextBox 16">
              <a:extLst>
                <a:ext uri="{FF2B5EF4-FFF2-40B4-BE49-F238E27FC236}">
                  <a16:creationId xmlns:a16="http://schemas.microsoft.com/office/drawing/2014/main" id="{1DD1388F-85B4-C99E-A6E0-4A15836B7BA1}"/>
                </a:ext>
              </a:extLst>
            </p:cNvPr>
            <p:cNvSpPr txBox="1"/>
            <p:nvPr/>
          </p:nvSpPr>
          <p:spPr>
            <a:xfrm>
              <a:off x="792480" y="23907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采购</a:t>
              </a:r>
            </a:p>
          </p:txBody>
        </p:sp>
        <p:sp>
          <p:nvSpPr>
            <p:cNvPr id="78" name="TextBox 17">
              <a:extLst>
                <a:ext uri="{FF2B5EF4-FFF2-40B4-BE49-F238E27FC236}">
                  <a16:creationId xmlns:a16="http://schemas.microsoft.com/office/drawing/2014/main" id="{0B9AF2FE-696B-4205-E78F-991CE0D87F63}"/>
                </a:ext>
              </a:extLst>
            </p:cNvPr>
            <p:cNvSpPr txBox="1"/>
            <p:nvPr/>
          </p:nvSpPr>
          <p:spPr>
            <a:xfrm>
              <a:off x="2356104" y="2289810"/>
              <a:ext cx="1394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供应商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中标记录</a:t>
              </a:r>
            </a:p>
          </p:txBody>
        </p:sp>
        <p:sp>
          <p:nvSpPr>
            <p:cNvPr id="79" name="TextBox 18">
              <a:extLst>
                <a:ext uri="{FF2B5EF4-FFF2-40B4-BE49-F238E27FC236}">
                  <a16:creationId xmlns:a16="http://schemas.microsoft.com/office/drawing/2014/main" id="{50AF86F3-DC37-8FA3-2754-54DD838C816B}"/>
                </a:ext>
              </a:extLst>
            </p:cNvPr>
            <p:cNvSpPr txBox="1"/>
            <p:nvPr/>
          </p:nvSpPr>
          <p:spPr>
            <a:xfrm>
              <a:off x="2356866" y="2553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首批示例</a:t>
              </a:r>
            </a:p>
          </p:txBody>
        </p:sp>
        <p:sp>
          <p:nvSpPr>
            <p:cNvPr id="80" name="TextBox 19">
              <a:extLst>
                <a:ext uri="{FF2B5EF4-FFF2-40B4-BE49-F238E27FC236}">
                  <a16:creationId xmlns:a16="http://schemas.microsoft.com/office/drawing/2014/main" id="{530E3627-2911-02DC-0F58-D81BFC9CCA88}"/>
                </a:ext>
              </a:extLst>
            </p:cNvPr>
            <p:cNvSpPr txBox="1"/>
            <p:nvPr/>
          </p:nvSpPr>
          <p:spPr>
            <a:xfrm>
              <a:off x="4546854" y="2423160"/>
              <a:ext cx="2378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供应商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人员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历史项目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交易协同</a:t>
              </a:r>
            </a:p>
          </p:txBody>
        </p:sp>
        <p:sp>
          <p:nvSpPr>
            <p:cNvPr id="81" name="TextBox 20">
              <a:extLst>
                <a:ext uri="{FF2B5EF4-FFF2-40B4-BE49-F238E27FC236}">
                  <a16:creationId xmlns:a16="http://schemas.microsoft.com/office/drawing/2014/main" id="{97129C84-F0B4-B75D-333E-38D3D283FE74}"/>
                </a:ext>
              </a:extLst>
            </p:cNvPr>
            <p:cNvSpPr txBox="1"/>
            <p:nvPr/>
          </p:nvSpPr>
          <p:spPr>
            <a:xfrm>
              <a:off x="8147304" y="24231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异常关联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围串标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采购方式风险</a:t>
              </a:r>
            </a:p>
          </p:txBody>
        </p:sp>
      </p:grpSp>
      <p:grpSp>
        <p:nvGrpSpPr>
          <p:cNvPr id="82" name="Group 30">
            <a:extLst>
              <a:ext uri="{FF2B5EF4-FFF2-40B4-BE49-F238E27FC236}">
                <a16:creationId xmlns:a16="http://schemas.microsoft.com/office/drawing/2014/main" id="{6252F4F0-6BAB-E2A1-11DB-8E88A0CF691C}"/>
              </a:ext>
            </a:extLst>
          </p:cNvPr>
          <p:cNvGrpSpPr/>
          <p:nvPr/>
        </p:nvGrpSpPr>
        <p:grpSpPr>
          <a:xfrm>
            <a:off x="609600" y="2819400"/>
            <a:ext cx="10744200" cy="685800"/>
            <a:chOff x="609600" y="2819400"/>
            <a:chExt cx="10744200" cy="685800"/>
          </a:xfrm>
        </p:grpSpPr>
        <p:sp>
          <p:nvSpPr>
            <p:cNvPr id="83" name="Rectangle 22">
              <a:extLst>
                <a:ext uri="{FF2B5EF4-FFF2-40B4-BE49-F238E27FC236}">
                  <a16:creationId xmlns:a16="http://schemas.microsoft.com/office/drawing/2014/main" id="{F5B94588-4708-4DE8-938C-4A20A38B0EEC}"/>
                </a:ext>
              </a:extLst>
            </p:cNvPr>
            <p:cNvSpPr/>
            <p:nvPr/>
          </p:nvSpPr>
          <p:spPr>
            <a:xfrm>
              <a:off x="609600" y="2819400"/>
              <a:ext cx="107442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Rectangle 23">
              <a:extLst>
                <a:ext uri="{FF2B5EF4-FFF2-40B4-BE49-F238E27FC236}">
                  <a16:creationId xmlns:a16="http://schemas.microsoft.com/office/drawing/2014/main" id="{BC4F7922-F159-51CD-E805-EE5A80FBA8C6}"/>
                </a:ext>
              </a:extLst>
            </p:cNvPr>
            <p:cNvSpPr/>
            <p:nvPr/>
          </p:nvSpPr>
          <p:spPr>
            <a:xfrm>
              <a:off x="609600" y="2819400"/>
              <a:ext cx="76200" cy="685800"/>
            </a:xfrm>
            <a:prstGeom prst="rect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85" name="Line 24">
              <a:extLst>
                <a:ext uri="{FF2B5EF4-FFF2-40B4-BE49-F238E27FC236}">
                  <a16:creationId xmlns:a16="http://schemas.microsoft.com/office/drawing/2014/main" id="{43B711AB-C35E-44BE-5CE1-8D655231C2A6}"/>
                </a:ext>
              </a:extLst>
            </p:cNvPr>
            <p:cNvSpPr/>
            <p:nvPr/>
          </p:nvSpPr>
          <p:spPr>
            <a:xfrm>
              <a:off x="609600" y="28194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86" name="TextBox 25">
              <a:extLst>
                <a:ext uri="{FF2B5EF4-FFF2-40B4-BE49-F238E27FC236}">
                  <a16:creationId xmlns:a16="http://schemas.microsoft.com/office/drawing/2014/main" id="{64193F2F-7E7F-54B1-05C9-F852CA68E440}"/>
                </a:ext>
              </a:extLst>
            </p:cNvPr>
            <p:cNvSpPr txBox="1"/>
            <p:nvPr/>
          </p:nvSpPr>
          <p:spPr>
            <a:xfrm>
              <a:off x="792480" y="30765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</a:t>
              </a:r>
            </a:p>
          </p:txBody>
        </p:sp>
        <p:sp>
          <p:nvSpPr>
            <p:cNvPr id="87" name="TextBox 26">
              <a:extLst>
                <a:ext uri="{FF2B5EF4-FFF2-40B4-BE49-F238E27FC236}">
                  <a16:creationId xmlns:a16="http://schemas.microsoft.com/office/drawing/2014/main" id="{62C46A59-DB03-AABC-A77D-55AB65B710A1}"/>
                </a:ext>
              </a:extLst>
            </p:cNvPr>
            <p:cNvSpPr txBox="1"/>
            <p:nvPr/>
          </p:nvSpPr>
          <p:spPr>
            <a:xfrm>
              <a:off x="2356104" y="2975610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付款记录</a:t>
              </a:r>
            </a:p>
          </p:txBody>
        </p:sp>
        <p:sp>
          <p:nvSpPr>
            <p:cNvPr id="88" name="TextBox 27">
              <a:extLst>
                <a:ext uri="{FF2B5EF4-FFF2-40B4-BE49-F238E27FC236}">
                  <a16:creationId xmlns:a16="http://schemas.microsoft.com/office/drawing/2014/main" id="{E34DFADD-B7D7-BCAB-7925-06465ECD6050}"/>
                </a:ext>
              </a:extLst>
            </p:cNvPr>
            <p:cNvSpPr txBox="1"/>
            <p:nvPr/>
          </p:nvSpPr>
          <p:spPr>
            <a:xfrm>
              <a:off x="2356866" y="3239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首批示例</a:t>
              </a:r>
            </a:p>
          </p:txBody>
        </p:sp>
        <p:sp>
          <p:nvSpPr>
            <p:cNvPr id="89" name="TextBox 28">
              <a:extLst>
                <a:ext uri="{FF2B5EF4-FFF2-40B4-BE49-F238E27FC236}">
                  <a16:creationId xmlns:a16="http://schemas.microsoft.com/office/drawing/2014/main" id="{2BD8CF50-FFC1-398F-D880-FED31DE58CFF}"/>
                </a:ext>
              </a:extLst>
            </p:cNvPr>
            <p:cNvSpPr txBox="1"/>
            <p:nvPr/>
          </p:nvSpPr>
          <p:spPr>
            <a:xfrm>
              <a:off x="4546854" y="310896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验收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发票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账户</a:t>
              </a:r>
            </a:p>
          </p:txBody>
        </p:sp>
        <p:sp>
          <p:nvSpPr>
            <p:cNvPr id="90" name="TextBox 29">
              <a:extLst>
                <a:ext uri="{FF2B5EF4-FFF2-40B4-BE49-F238E27FC236}">
                  <a16:creationId xmlns:a16="http://schemas.microsoft.com/office/drawing/2014/main" id="{D576CA5F-0CFC-6B13-7ABB-D058E30F5DBE}"/>
                </a:ext>
              </a:extLst>
            </p:cNvPr>
            <p:cNvSpPr txBox="1"/>
            <p:nvPr/>
          </p:nvSpPr>
          <p:spPr>
            <a:xfrm>
              <a:off x="8147304" y="31089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签订审批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履约异常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付款不一致</a:t>
              </a:r>
            </a:p>
          </p:txBody>
        </p:sp>
      </p:grpSp>
      <p:grpSp>
        <p:nvGrpSpPr>
          <p:cNvPr id="91" name="Group 37">
            <a:extLst>
              <a:ext uri="{FF2B5EF4-FFF2-40B4-BE49-F238E27FC236}">
                <a16:creationId xmlns:a16="http://schemas.microsoft.com/office/drawing/2014/main" id="{4D37AC43-3C73-0A2F-EB01-C30F7F16F93B}"/>
              </a:ext>
            </a:extLst>
          </p:cNvPr>
          <p:cNvGrpSpPr/>
          <p:nvPr/>
        </p:nvGrpSpPr>
        <p:grpSpPr>
          <a:xfrm>
            <a:off x="609600" y="3505200"/>
            <a:ext cx="10744200" cy="685800"/>
            <a:chOff x="609600" y="3505200"/>
            <a:chExt cx="10744200" cy="685800"/>
          </a:xfrm>
        </p:grpSpPr>
        <p:sp>
          <p:nvSpPr>
            <p:cNvPr id="92" name="Rectangle 31">
              <a:extLst>
                <a:ext uri="{FF2B5EF4-FFF2-40B4-BE49-F238E27FC236}">
                  <a16:creationId xmlns:a16="http://schemas.microsoft.com/office/drawing/2014/main" id="{1007FE08-4E8C-434E-8B13-DFC88AAD0BA4}"/>
                </a:ext>
              </a:extLst>
            </p:cNvPr>
            <p:cNvSpPr/>
            <p:nvPr/>
          </p:nvSpPr>
          <p:spPr>
            <a:xfrm>
              <a:off x="609600" y="3505200"/>
              <a:ext cx="10744200" cy="68580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93" name="Line 32">
              <a:extLst>
                <a:ext uri="{FF2B5EF4-FFF2-40B4-BE49-F238E27FC236}">
                  <a16:creationId xmlns:a16="http://schemas.microsoft.com/office/drawing/2014/main" id="{3E52C42E-3CC3-FCF8-DCF1-0A0E4D5EC77F}"/>
                </a:ext>
              </a:extLst>
            </p:cNvPr>
            <p:cNvSpPr/>
            <p:nvPr/>
          </p:nvSpPr>
          <p:spPr>
            <a:xfrm>
              <a:off x="609600" y="35052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94" name="TextBox 33">
              <a:extLst>
                <a:ext uri="{FF2B5EF4-FFF2-40B4-BE49-F238E27FC236}">
                  <a16:creationId xmlns:a16="http://schemas.microsoft.com/office/drawing/2014/main" id="{8A13D73D-3F88-EB35-6F41-C14043F92632}"/>
                </a:ext>
              </a:extLst>
            </p:cNvPr>
            <p:cNvSpPr txBox="1"/>
            <p:nvPr/>
          </p:nvSpPr>
          <p:spPr>
            <a:xfrm>
              <a:off x="792480" y="3762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财务司库</a:t>
              </a:r>
            </a:p>
          </p:txBody>
        </p:sp>
        <p:sp>
          <p:nvSpPr>
            <p:cNvPr id="95" name="TextBox 34">
              <a:extLst>
                <a:ext uri="{FF2B5EF4-FFF2-40B4-BE49-F238E27FC236}">
                  <a16:creationId xmlns:a16="http://schemas.microsoft.com/office/drawing/2014/main" id="{02AD73A4-16F1-7B8A-0B0B-1A1B553D339C}"/>
                </a:ext>
              </a:extLst>
            </p:cNvPr>
            <p:cNvSpPr txBox="1"/>
            <p:nvPr/>
          </p:nvSpPr>
          <p:spPr>
            <a:xfrm>
              <a:off x="2356104" y="37947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账户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资金执行记录</a:t>
              </a:r>
            </a:p>
          </p:txBody>
        </p:sp>
        <p:sp>
          <p:nvSpPr>
            <p:cNvPr id="96" name="TextBox 35">
              <a:extLst>
                <a:ext uri="{FF2B5EF4-FFF2-40B4-BE49-F238E27FC236}">
                  <a16:creationId xmlns:a16="http://schemas.microsoft.com/office/drawing/2014/main" id="{6F6A50ED-43D4-DD92-3C48-63D6F7895F76}"/>
                </a:ext>
              </a:extLst>
            </p:cNvPr>
            <p:cNvSpPr txBox="1"/>
            <p:nvPr/>
          </p:nvSpPr>
          <p:spPr>
            <a:xfrm>
              <a:off x="4546854" y="3794760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账户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主体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资金流水</a:t>
              </a:r>
            </a:p>
          </p:txBody>
        </p:sp>
        <p:sp>
          <p:nvSpPr>
            <p:cNvPr id="97" name="TextBox 36">
              <a:extLst>
                <a:ext uri="{FF2B5EF4-FFF2-40B4-BE49-F238E27FC236}">
                  <a16:creationId xmlns:a16="http://schemas.microsoft.com/office/drawing/2014/main" id="{0FD90F16-A99D-70AF-D27A-E8E7A68F1289}"/>
                </a:ext>
              </a:extLst>
            </p:cNvPr>
            <p:cNvSpPr txBox="1"/>
            <p:nvPr/>
          </p:nvSpPr>
          <p:spPr>
            <a:xfrm>
              <a:off x="8147304" y="3794760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账户异常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资金沉淀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付款执行风险</a:t>
              </a:r>
            </a:p>
          </p:txBody>
        </p:sp>
      </p:grpSp>
      <p:grpSp>
        <p:nvGrpSpPr>
          <p:cNvPr id="98" name="Group 46">
            <a:extLst>
              <a:ext uri="{FF2B5EF4-FFF2-40B4-BE49-F238E27FC236}">
                <a16:creationId xmlns:a16="http://schemas.microsoft.com/office/drawing/2014/main" id="{7690283F-CEDC-8B86-2CCD-144473E85E44}"/>
              </a:ext>
            </a:extLst>
          </p:cNvPr>
          <p:cNvGrpSpPr/>
          <p:nvPr/>
        </p:nvGrpSpPr>
        <p:grpSpPr>
          <a:xfrm>
            <a:off x="609600" y="4191000"/>
            <a:ext cx="10744200" cy="685800"/>
            <a:chOff x="609600" y="4191000"/>
            <a:chExt cx="10744200" cy="685800"/>
          </a:xfrm>
        </p:grpSpPr>
        <p:sp>
          <p:nvSpPr>
            <p:cNvPr id="99" name="Rectangle 38">
              <a:extLst>
                <a:ext uri="{FF2B5EF4-FFF2-40B4-BE49-F238E27FC236}">
                  <a16:creationId xmlns:a16="http://schemas.microsoft.com/office/drawing/2014/main" id="{1CE17C77-9ED0-AA37-677B-FBC9F5C68349}"/>
                </a:ext>
              </a:extLst>
            </p:cNvPr>
            <p:cNvSpPr/>
            <p:nvPr/>
          </p:nvSpPr>
          <p:spPr>
            <a:xfrm>
              <a:off x="609600" y="4191000"/>
              <a:ext cx="1074420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Rectangle 39">
              <a:extLst>
                <a:ext uri="{FF2B5EF4-FFF2-40B4-BE49-F238E27FC236}">
                  <a16:creationId xmlns:a16="http://schemas.microsoft.com/office/drawing/2014/main" id="{68ADE96A-A15E-2258-6E8F-487E23EE799B}"/>
                </a:ext>
              </a:extLst>
            </p:cNvPr>
            <p:cNvSpPr/>
            <p:nvPr/>
          </p:nvSpPr>
          <p:spPr>
            <a:xfrm>
              <a:off x="609600" y="4191000"/>
              <a:ext cx="76200" cy="685800"/>
            </a:xfrm>
            <a:prstGeom prst="rect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101" name="Line 40">
              <a:extLst>
                <a:ext uri="{FF2B5EF4-FFF2-40B4-BE49-F238E27FC236}">
                  <a16:creationId xmlns:a16="http://schemas.microsoft.com/office/drawing/2014/main" id="{5D86D034-A53D-D625-C4A0-FAB5333D1468}"/>
                </a:ext>
              </a:extLst>
            </p:cNvPr>
            <p:cNvSpPr/>
            <p:nvPr/>
          </p:nvSpPr>
          <p:spPr>
            <a:xfrm>
              <a:off x="609600" y="41910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102" name="TextBox 41">
              <a:extLst>
                <a:ext uri="{FF2B5EF4-FFF2-40B4-BE49-F238E27FC236}">
                  <a16:creationId xmlns:a16="http://schemas.microsoft.com/office/drawing/2014/main" id="{1992B5EE-0F11-C827-A47D-21D7E242564C}"/>
                </a:ext>
              </a:extLst>
            </p:cNvPr>
            <p:cNvSpPr txBox="1"/>
            <p:nvPr/>
          </p:nvSpPr>
          <p:spPr>
            <a:xfrm>
              <a:off x="792480" y="44481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投资资产</a:t>
              </a:r>
            </a:p>
          </p:txBody>
        </p:sp>
        <p:sp>
          <p:nvSpPr>
            <p:cNvPr id="103" name="TextBox 42">
              <a:extLst>
                <a:ext uri="{FF2B5EF4-FFF2-40B4-BE49-F238E27FC236}">
                  <a16:creationId xmlns:a16="http://schemas.microsoft.com/office/drawing/2014/main" id="{083CA275-880E-5B33-6766-73AE8F5D92D6}"/>
                </a:ext>
              </a:extLst>
            </p:cNvPr>
            <p:cNvSpPr txBox="1"/>
            <p:nvPr/>
          </p:nvSpPr>
          <p:spPr>
            <a:xfrm>
              <a:off x="2356104" y="434721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投资立项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审批记录</a:t>
              </a:r>
            </a:p>
          </p:txBody>
        </p:sp>
        <p:sp>
          <p:nvSpPr>
            <p:cNvPr id="104" name="TextBox 43">
              <a:extLst>
                <a:ext uri="{FF2B5EF4-FFF2-40B4-BE49-F238E27FC236}">
                  <a16:creationId xmlns:a16="http://schemas.microsoft.com/office/drawing/2014/main" id="{933F1339-CA71-3DD1-05E2-F8A15E7AF0E3}"/>
                </a:ext>
              </a:extLst>
            </p:cNvPr>
            <p:cNvSpPr txBox="1"/>
            <p:nvPr/>
          </p:nvSpPr>
          <p:spPr>
            <a:xfrm>
              <a:off x="2356866" y="4611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首批示例</a:t>
              </a:r>
            </a:p>
          </p:txBody>
        </p:sp>
        <p:sp>
          <p:nvSpPr>
            <p:cNvPr id="105" name="TextBox 44">
              <a:extLst>
                <a:ext uri="{FF2B5EF4-FFF2-40B4-BE49-F238E27FC236}">
                  <a16:creationId xmlns:a16="http://schemas.microsoft.com/office/drawing/2014/main" id="{EDB95F3C-B3FC-40C1-3B87-E105302C8DC9}"/>
                </a:ext>
              </a:extLst>
            </p:cNvPr>
            <p:cNvSpPr txBox="1"/>
            <p:nvPr/>
          </p:nvSpPr>
          <p:spPr>
            <a:xfrm>
              <a:off x="4546854" y="4480560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授权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会议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主业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资产</a:t>
              </a:r>
            </a:p>
          </p:txBody>
        </p:sp>
        <p:sp>
          <p:nvSpPr>
            <p:cNvPr id="106" name="TextBox 45">
              <a:extLst>
                <a:ext uri="{FF2B5EF4-FFF2-40B4-BE49-F238E27FC236}">
                  <a16:creationId xmlns:a16="http://schemas.microsoft.com/office/drawing/2014/main" id="{9048DF91-EC90-A8B2-A6F9-FDD2E40A9229}"/>
                </a:ext>
              </a:extLst>
            </p:cNvPr>
            <p:cNvSpPr txBox="1"/>
            <p:nvPr/>
          </p:nvSpPr>
          <p:spPr>
            <a:xfrm>
              <a:off x="8147304" y="44805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决策合规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担保链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产权与闲置</a:t>
              </a:r>
            </a:p>
          </p:txBody>
        </p:sp>
      </p:grpSp>
      <p:grpSp>
        <p:nvGrpSpPr>
          <p:cNvPr id="107" name="Group 53">
            <a:extLst>
              <a:ext uri="{FF2B5EF4-FFF2-40B4-BE49-F238E27FC236}">
                <a16:creationId xmlns:a16="http://schemas.microsoft.com/office/drawing/2014/main" id="{8FDE89A4-7D01-3FFC-46EA-02ADF2FB30E3}"/>
              </a:ext>
            </a:extLst>
          </p:cNvPr>
          <p:cNvGrpSpPr/>
          <p:nvPr/>
        </p:nvGrpSpPr>
        <p:grpSpPr>
          <a:xfrm>
            <a:off x="609600" y="4876800"/>
            <a:ext cx="10744200" cy="685800"/>
            <a:chOff x="609600" y="4876800"/>
            <a:chExt cx="10744200" cy="685800"/>
          </a:xfrm>
        </p:grpSpPr>
        <p:sp>
          <p:nvSpPr>
            <p:cNvPr id="108" name="Rectangle 47">
              <a:extLst>
                <a:ext uri="{FF2B5EF4-FFF2-40B4-BE49-F238E27FC236}">
                  <a16:creationId xmlns:a16="http://schemas.microsoft.com/office/drawing/2014/main" id="{CCDE5AB6-8B03-8CCB-9C76-4133B4A10C82}"/>
                </a:ext>
              </a:extLst>
            </p:cNvPr>
            <p:cNvSpPr/>
            <p:nvPr/>
          </p:nvSpPr>
          <p:spPr>
            <a:xfrm>
              <a:off x="609600" y="4876800"/>
              <a:ext cx="10744200" cy="68580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109" name="Line 48">
              <a:extLst>
                <a:ext uri="{FF2B5EF4-FFF2-40B4-BE49-F238E27FC236}">
                  <a16:creationId xmlns:a16="http://schemas.microsoft.com/office/drawing/2014/main" id="{2607E9C7-A660-5053-6472-88F087903276}"/>
                </a:ext>
              </a:extLst>
            </p:cNvPr>
            <p:cNvSpPr/>
            <p:nvPr/>
          </p:nvSpPr>
          <p:spPr>
            <a:xfrm>
              <a:off x="609600" y="487680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110" name="TextBox 49">
              <a:extLst>
                <a:ext uri="{FF2B5EF4-FFF2-40B4-BE49-F238E27FC236}">
                  <a16:creationId xmlns:a16="http://schemas.microsoft.com/office/drawing/2014/main" id="{486ACC59-8526-B9DE-4981-252A54793EE4}"/>
                </a:ext>
              </a:extLst>
            </p:cNvPr>
            <p:cNvSpPr txBox="1"/>
            <p:nvPr/>
          </p:nvSpPr>
          <p:spPr>
            <a:xfrm>
              <a:off x="792480" y="5133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人事关联</a:t>
              </a:r>
            </a:p>
          </p:txBody>
        </p:sp>
        <p:sp>
          <p:nvSpPr>
            <p:cNvPr id="111" name="TextBox 50">
              <a:extLst>
                <a:ext uri="{FF2B5EF4-FFF2-40B4-BE49-F238E27FC236}">
                  <a16:creationId xmlns:a16="http://schemas.microsoft.com/office/drawing/2014/main" id="{830BE149-CABD-B5AE-060C-B971B1F302D5}"/>
                </a:ext>
              </a:extLst>
            </p:cNvPr>
            <p:cNvSpPr txBox="1"/>
            <p:nvPr/>
          </p:nvSpPr>
          <p:spPr>
            <a:xfrm>
              <a:off x="2356104" y="51663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任职 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关键岗位记录</a:t>
              </a:r>
            </a:p>
          </p:txBody>
        </p:sp>
        <p:sp>
          <p:nvSpPr>
            <p:cNvPr id="112" name="TextBox 51">
              <a:extLst>
                <a:ext uri="{FF2B5EF4-FFF2-40B4-BE49-F238E27FC236}">
                  <a16:creationId xmlns:a16="http://schemas.microsoft.com/office/drawing/2014/main" id="{420ED2F5-7EBE-D2A1-EB23-2EACF86DA068}"/>
                </a:ext>
              </a:extLst>
            </p:cNvPr>
            <p:cNvSpPr txBox="1"/>
            <p:nvPr/>
          </p:nvSpPr>
          <p:spPr>
            <a:xfrm>
              <a:off x="4546854" y="5166360"/>
              <a:ext cx="17326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人员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组织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岗位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—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供应商</a:t>
              </a:r>
            </a:p>
          </p:txBody>
        </p:sp>
        <p:sp>
          <p:nvSpPr>
            <p:cNvPr id="113" name="TextBox 52">
              <a:extLst>
                <a:ext uri="{FF2B5EF4-FFF2-40B4-BE49-F238E27FC236}">
                  <a16:creationId xmlns:a16="http://schemas.microsoft.com/office/drawing/2014/main" id="{C86EEFEE-7DD9-DE0A-A142-BDE921076A52}"/>
                </a:ext>
              </a:extLst>
            </p:cNvPr>
            <p:cNvSpPr txBox="1"/>
            <p:nvPr/>
          </p:nvSpPr>
          <p:spPr>
            <a:xfrm>
              <a:off x="8147304" y="51663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任职回避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关键岗位 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· 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关联关系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9791867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6E5F-2D85-1203-CA6D-E64DC5FB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BF103-4390-7346-FD03-1D32FD44F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lt"/>
              </a:rPr>
              <a:t>典型应用场景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54" name="TextBox 6">
            <a:extLst>
              <a:ext uri="{FF2B5EF4-FFF2-40B4-BE49-F238E27FC236}">
                <a16:creationId xmlns:a16="http://schemas.microsoft.com/office/drawing/2014/main" id="{2BC7CE39-090C-5D70-B1A7-8A98DCACDE6E}"/>
              </a:ext>
            </a:extLst>
          </p:cNvPr>
          <p:cNvSpPr txBox="1"/>
          <p:nvPr/>
        </p:nvSpPr>
        <p:spPr>
          <a:xfrm>
            <a:off x="595122" y="949642"/>
            <a:ext cx="889166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28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供应商异常关联：沿主体关系形成可解释风险路径</a:t>
            </a:r>
          </a:p>
        </p:txBody>
      </p:sp>
      <p:grpSp>
        <p:nvGrpSpPr>
          <p:cNvPr id="55" name="Group 22">
            <a:extLst>
              <a:ext uri="{FF2B5EF4-FFF2-40B4-BE49-F238E27FC236}">
                <a16:creationId xmlns:a16="http://schemas.microsoft.com/office/drawing/2014/main" id="{67F2BA7F-589D-A6C8-C72B-CBBEE7B13B78}"/>
              </a:ext>
            </a:extLst>
          </p:cNvPr>
          <p:cNvGrpSpPr/>
          <p:nvPr/>
        </p:nvGrpSpPr>
        <p:grpSpPr>
          <a:xfrm>
            <a:off x="603504" y="1832610"/>
            <a:ext cx="1672247" cy="3486341"/>
            <a:chOff x="603504" y="1832610"/>
            <a:chExt cx="1672247" cy="3486341"/>
          </a:xfrm>
        </p:grpSpPr>
        <p:sp>
          <p:nvSpPr>
            <p:cNvPr id="56" name="TextBox 8">
              <a:extLst>
                <a:ext uri="{FF2B5EF4-FFF2-40B4-BE49-F238E27FC236}">
                  <a16:creationId xmlns:a16="http://schemas.microsoft.com/office/drawing/2014/main" id="{2DF96DC6-8D95-B1FC-D996-0389DEB2D8E2}"/>
                </a:ext>
              </a:extLst>
            </p:cNvPr>
            <p:cNvSpPr txBox="1"/>
            <p:nvPr/>
          </p:nvSpPr>
          <p:spPr>
            <a:xfrm>
              <a:off x="603504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场景故事</a:t>
              </a:r>
            </a:p>
          </p:txBody>
        </p:sp>
        <p:sp>
          <p:nvSpPr>
            <p:cNvPr id="57" name="Line 9">
              <a:extLst>
                <a:ext uri="{FF2B5EF4-FFF2-40B4-BE49-F238E27FC236}">
                  <a16:creationId xmlns:a16="http://schemas.microsoft.com/office/drawing/2014/main" id="{BC28D6DA-51BE-D47D-6DAC-84E97360000F}"/>
                </a:ext>
              </a:extLst>
            </p:cNvPr>
            <p:cNvSpPr/>
            <p:nvPr/>
          </p:nvSpPr>
          <p:spPr>
            <a:xfrm>
              <a:off x="838200" y="234315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58" name="Ellipse 10">
              <a:extLst>
                <a:ext uri="{FF2B5EF4-FFF2-40B4-BE49-F238E27FC236}">
                  <a16:creationId xmlns:a16="http://schemas.microsoft.com/office/drawing/2014/main" id="{E7C3301B-08CE-3DBB-5FE7-C67194A33034}"/>
                </a:ext>
              </a:extLst>
            </p:cNvPr>
            <p:cNvSpPr/>
            <p:nvPr/>
          </p:nvSpPr>
          <p:spPr>
            <a:xfrm>
              <a:off x="685800" y="2228850"/>
              <a:ext cx="304800" cy="3048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59" name="TextBox 11">
              <a:extLst>
                <a:ext uri="{FF2B5EF4-FFF2-40B4-BE49-F238E27FC236}">
                  <a16:creationId xmlns:a16="http://schemas.microsoft.com/office/drawing/2014/main" id="{DB5AC549-B65A-E4BF-6626-F25DF71C8B5A}"/>
                </a:ext>
              </a:extLst>
            </p:cNvPr>
            <p:cNvSpPr txBox="1"/>
            <p:nvPr/>
          </p:nvSpPr>
          <p:spPr>
            <a:xfrm>
              <a:off x="1117092" y="22926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中标记录触发</a:t>
              </a:r>
            </a:p>
          </p:txBody>
        </p:sp>
        <p:sp>
          <p:nvSpPr>
            <p:cNvPr id="60" name="Ellipse 12">
              <a:extLst>
                <a:ext uri="{FF2B5EF4-FFF2-40B4-BE49-F238E27FC236}">
                  <a16:creationId xmlns:a16="http://schemas.microsoft.com/office/drawing/2014/main" id="{5A5BA31C-7EBB-EEFE-C01E-107F6C1A0B1A}"/>
                </a:ext>
              </a:extLst>
            </p:cNvPr>
            <p:cNvSpPr/>
            <p:nvPr/>
          </p:nvSpPr>
          <p:spPr>
            <a:xfrm>
              <a:off x="685800" y="2781300"/>
              <a:ext cx="304800" cy="3048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61" name="TextBox 13">
              <a:extLst>
                <a:ext uri="{FF2B5EF4-FFF2-40B4-BE49-F238E27FC236}">
                  <a16:creationId xmlns:a16="http://schemas.microsoft.com/office/drawing/2014/main" id="{A6AF21F2-6CCF-F909-98D3-F3203F328CD9}"/>
                </a:ext>
              </a:extLst>
            </p:cNvPr>
            <p:cNvSpPr txBox="1"/>
            <p:nvPr/>
          </p:nvSpPr>
          <p:spPr>
            <a:xfrm>
              <a:off x="1117092" y="28451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主标识对齐</a:t>
              </a:r>
            </a:p>
          </p:txBody>
        </p:sp>
        <p:sp>
          <p:nvSpPr>
            <p:cNvPr id="62" name="Ellipse 14">
              <a:extLst>
                <a:ext uri="{FF2B5EF4-FFF2-40B4-BE49-F238E27FC236}">
                  <a16:creationId xmlns:a16="http://schemas.microsoft.com/office/drawing/2014/main" id="{55226D71-C8E0-DC40-74B0-B53AF08C6CA4}"/>
                </a:ext>
              </a:extLst>
            </p:cNvPr>
            <p:cNvSpPr/>
            <p:nvPr/>
          </p:nvSpPr>
          <p:spPr>
            <a:xfrm>
              <a:off x="685800" y="3333750"/>
              <a:ext cx="304800" cy="3048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63" name="TextBox 15">
              <a:extLst>
                <a:ext uri="{FF2B5EF4-FFF2-40B4-BE49-F238E27FC236}">
                  <a16:creationId xmlns:a16="http://schemas.microsoft.com/office/drawing/2014/main" id="{87DEA009-F440-5DC0-E715-30E171C6E5D0}"/>
                </a:ext>
              </a:extLst>
            </p:cNvPr>
            <p:cNvSpPr txBox="1"/>
            <p:nvPr/>
          </p:nvSpPr>
          <p:spPr>
            <a:xfrm>
              <a:off x="1117092" y="33975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关系路径识别</a:t>
              </a:r>
            </a:p>
          </p:txBody>
        </p:sp>
        <p:sp>
          <p:nvSpPr>
            <p:cNvPr id="64" name="Ellipse 16">
              <a:extLst>
                <a:ext uri="{FF2B5EF4-FFF2-40B4-BE49-F238E27FC236}">
                  <a16:creationId xmlns:a16="http://schemas.microsoft.com/office/drawing/2014/main" id="{DC39583D-6777-0FCC-E2A5-E7D2E3EA4C00}"/>
                </a:ext>
              </a:extLst>
            </p:cNvPr>
            <p:cNvSpPr/>
            <p:nvPr/>
          </p:nvSpPr>
          <p:spPr>
            <a:xfrm>
              <a:off x="685800" y="3886200"/>
              <a:ext cx="304800" cy="30480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65" name="TextBox 17">
              <a:extLst>
                <a:ext uri="{FF2B5EF4-FFF2-40B4-BE49-F238E27FC236}">
                  <a16:creationId xmlns:a16="http://schemas.microsoft.com/office/drawing/2014/main" id="{0B25F557-B6B1-D340-9B09-D37012616128}"/>
                </a:ext>
              </a:extLst>
            </p:cNvPr>
            <p:cNvSpPr txBox="1"/>
            <p:nvPr/>
          </p:nvSpPr>
          <p:spPr>
            <a:xfrm>
              <a:off x="1117092" y="39500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证据快照冻结</a:t>
              </a:r>
            </a:p>
          </p:txBody>
        </p:sp>
        <p:sp>
          <p:nvSpPr>
            <p:cNvPr id="66" name="Ellipse 18">
              <a:extLst>
                <a:ext uri="{FF2B5EF4-FFF2-40B4-BE49-F238E27FC236}">
                  <a16:creationId xmlns:a16="http://schemas.microsoft.com/office/drawing/2014/main" id="{8D7F6CEA-40D6-09A3-07C6-EAAF0CD02FE1}"/>
                </a:ext>
              </a:extLst>
            </p:cNvPr>
            <p:cNvSpPr/>
            <p:nvPr/>
          </p:nvSpPr>
          <p:spPr>
            <a:xfrm>
              <a:off x="685800" y="4438650"/>
              <a:ext cx="304800" cy="3048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67" name="TextBox 19">
              <a:extLst>
                <a:ext uri="{FF2B5EF4-FFF2-40B4-BE49-F238E27FC236}">
                  <a16:creationId xmlns:a16="http://schemas.microsoft.com/office/drawing/2014/main" id="{FA883236-CDCA-5013-468E-D6F26CE47539}"/>
                </a:ext>
              </a:extLst>
            </p:cNvPr>
            <p:cNvSpPr txBox="1"/>
            <p:nvPr/>
          </p:nvSpPr>
          <p:spPr>
            <a:xfrm>
              <a:off x="1117092" y="4502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研判整改复核</a:t>
              </a:r>
            </a:p>
          </p:txBody>
        </p:sp>
        <p:sp>
          <p:nvSpPr>
            <p:cNvPr id="68" name="Ellipse 20">
              <a:extLst>
                <a:ext uri="{FF2B5EF4-FFF2-40B4-BE49-F238E27FC236}">
                  <a16:creationId xmlns:a16="http://schemas.microsoft.com/office/drawing/2014/main" id="{D030CAB2-E086-9D9F-F14C-AC814723F593}"/>
                </a:ext>
              </a:extLst>
            </p:cNvPr>
            <p:cNvSpPr/>
            <p:nvPr/>
          </p:nvSpPr>
          <p:spPr>
            <a:xfrm>
              <a:off x="685800" y="499110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B63F6"/>
              </a:solidFill>
            </a:ln>
          </p:spPr>
        </p:sp>
        <p:sp>
          <p:nvSpPr>
            <p:cNvPr id="69" name="TextBox 21">
              <a:extLst>
                <a:ext uri="{FF2B5EF4-FFF2-40B4-BE49-F238E27FC236}">
                  <a16:creationId xmlns:a16="http://schemas.microsoft.com/office/drawing/2014/main" id="{D1551579-1BF1-8A20-2678-2E8F105EA6A0}"/>
                </a:ext>
              </a:extLst>
            </p:cNvPr>
            <p:cNvSpPr txBox="1"/>
            <p:nvPr/>
          </p:nvSpPr>
          <p:spPr>
            <a:xfrm>
              <a:off x="1117092" y="50549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效果样本回流</a:t>
              </a:r>
            </a:p>
          </p:txBody>
        </p:sp>
      </p:grpSp>
      <p:grpSp>
        <p:nvGrpSpPr>
          <p:cNvPr id="70" name="Group 42">
            <a:extLst>
              <a:ext uri="{FF2B5EF4-FFF2-40B4-BE49-F238E27FC236}">
                <a16:creationId xmlns:a16="http://schemas.microsoft.com/office/drawing/2014/main" id="{0D6D0F85-5B13-B27A-A0A6-D2641913705F}"/>
              </a:ext>
            </a:extLst>
          </p:cNvPr>
          <p:cNvGrpSpPr/>
          <p:nvPr/>
        </p:nvGrpSpPr>
        <p:grpSpPr>
          <a:xfrm>
            <a:off x="3371850" y="1752600"/>
            <a:ext cx="4457700" cy="3638550"/>
            <a:chOff x="3371850" y="1752600"/>
            <a:chExt cx="4457700" cy="3638550"/>
          </a:xfrm>
        </p:grpSpPr>
        <p:sp>
          <p:nvSpPr>
            <p:cNvPr id="71" name="Rectangle 23">
              <a:extLst>
                <a:ext uri="{FF2B5EF4-FFF2-40B4-BE49-F238E27FC236}">
                  <a16:creationId xmlns:a16="http://schemas.microsoft.com/office/drawing/2014/main" id="{99E265D2-5A68-CAED-2D19-89E71A4E3929}"/>
                </a:ext>
              </a:extLst>
            </p:cNvPr>
            <p:cNvSpPr/>
            <p:nvPr/>
          </p:nvSpPr>
          <p:spPr>
            <a:xfrm>
              <a:off x="3371850" y="1752600"/>
              <a:ext cx="4457700" cy="363855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72" name="TextBox 24">
              <a:extLst>
                <a:ext uri="{FF2B5EF4-FFF2-40B4-BE49-F238E27FC236}">
                  <a16:creationId xmlns:a16="http://schemas.microsoft.com/office/drawing/2014/main" id="{17A08D2A-B00E-6DD4-0F8D-8B01A1FB1F10}"/>
                </a:ext>
              </a:extLst>
            </p:cNvPr>
            <p:cNvSpPr txBox="1"/>
            <p:nvPr/>
          </p:nvSpPr>
          <p:spPr>
            <a:xfrm>
              <a:off x="3594354" y="19278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实体关系证据</a:t>
              </a:r>
            </a:p>
          </p:txBody>
        </p:sp>
        <p:sp>
          <p:nvSpPr>
            <p:cNvPr id="73" name="Line 25">
              <a:extLst>
                <a:ext uri="{FF2B5EF4-FFF2-40B4-BE49-F238E27FC236}">
                  <a16:creationId xmlns:a16="http://schemas.microsoft.com/office/drawing/2014/main" id="{958792EE-4F9D-B031-BE84-699F54C0281F}"/>
                </a:ext>
              </a:extLst>
            </p:cNvPr>
            <p:cNvSpPr/>
            <p:nvPr/>
          </p:nvSpPr>
          <p:spPr>
            <a:xfrm>
              <a:off x="4171950" y="2628900"/>
              <a:ext cx="1409700" cy="838200"/>
            </a:xfrm>
            <a:custGeom>
              <a:avLst/>
              <a:gdLst/>
              <a:ahLst/>
              <a:cxnLst/>
              <a:rect l="l" t="t" r="r" b="b"/>
              <a:pathLst>
                <a:path w="1409700" h="838200">
                  <a:moveTo>
                    <a:pt x="1409700" y="838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74" name="Line 26">
              <a:extLst>
                <a:ext uri="{FF2B5EF4-FFF2-40B4-BE49-F238E27FC236}">
                  <a16:creationId xmlns:a16="http://schemas.microsoft.com/office/drawing/2014/main" id="{A2545253-8BCF-86B1-321C-38159BF18E4E}"/>
                </a:ext>
              </a:extLst>
            </p:cNvPr>
            <p:cNvSpPr/>
            <p:nvPr/>
          </p:nvSpPr>
          <p:spPr>
            <a:xfrm>
              <a:off x="5581650" y="2628900"/>
              <a:ext cx="1409700" cy="838200"/>
            </a:xfrm>
            <a:custGeom>
              <a:avLst/>
              <a:gdLst/>
              <a:ahLst/>
              <a:cxnLst/>
              <a:rect l="l" t="t" r="r" b="b"/>
              <a:pathLst>
                <a:path w="1409700" h="838200">
                  <a:moveTo>
                    <a:pt x="0" y="838200"/>
                  </a:moveTo>
                  <a:lnTo>
                    <a:pt x="1409700" y="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75" name="Line 27">
              <a:extLst>
                <a:ext uri="{FF2B5EF4-FFF2-40B4-BE49-F238E27FC236}">
                  <a16:creationId xmlns:a16="http://schemas.microsoft.com/office/drawing/2014/main" id="{90310AA3-4189-D621-EC6A-5A033DDC8B61}"/>
                </a:ext>
              </a:extLst>
            </p:cNvPr>
            <p:cNvSpPr/>
            <p:nvPr/>
          </p:nvSpPr>
          <p:spPr>
            <a:xfrm>
              <a:off x="4171950" y="3467100"/>
              <a:ext cx="1409700" cy="1009650"/>
            </a:xfrm>
            <a:custGeom>
              <a:avLst/>
              <a:gdLst/>
              <a:ahLst/>
              <a:cxnLst/>
              <a:rect l="l" t="t" r="r" b="b"/>
              <a:pathLst>
                <a:path w="1409700" h="1009650">
                  <a:moveTo>
                    <a:pt x="1409700" y="0"/>
                  </a:moveTo>
                  <a:lnTo>
                    <a:pt x="0" y="100965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76" name="Line 28">
              <a:extLst>
                <a:ext uri="{FF2B5EF4-FFF2-40B4-BE49-F238E27FC236}">
                  <a16:creationId xmlns:a16="http://schemas.microsoft.com/office/drawing/2014/main" id="{015CC3F6-B3CD-81E5-4EC4-A0577BDEAAFF}"/>
                </a:ext>
              </a:extLst>
            </p:cNvPr>
            <p:cNvSpPr/>
            <p:nvPr/>
          </p:nvSpPr>
          <p:spPr>
            <a:xfrm>
              <a:off x="5581650" y="3467100"/>
              <a:ext cx="1409700" cy="1009650"/>
            </a:xfrm>
            <a:custGeom>
              <a:avLst/>
              <a:gdLst/>
              <a:ahLst/>
              <a:cxnLst/>
              <a:rect l="l" t="t" r="r" b="b"/>
              <a:pathLst>
                <a:path w="1409700" h="1009650">
                  <a:moveTo>
                    <a:pt x="0" y="0"/>
                  </a:moveTo>
                  <a:lnTo>
                    <a:pt x="1409700" y="1009650"/>
                  </a:lnTo>
                </a:path>
              </a:pathLst>
            </a:custGeom>
            <a:noFill/>
            <a:ln w="19050">
              <a:solidFill>
                <a:srgbClr val="A9C7F5"/>
              </a:solidFill>
            </a:ln>
          </p:spPr>
        </p:sp>
        <p:sp>
          <p:nvSpPr>
            <p:cNvPr id="77" name="Line 29">
              <a:extLst>
                <a:ext uri="{FF2B5EF4-FFF2-40B4-BE49-F238E27FC236}">
                  <a16:creationId xmlns:a16="http://schemas.microsoft.com/office/drawing/2014/main" id="{86F68A39-7F37-8F2C-5213-D29901B0C86A}"/>
                </a:ext>
              </a:extLst>
            </p:cNvPr>
            <p:cNvSpPr/>
            <p:nvPr/>
          </p:nvSpPr>
          <p:spPr>
            <a:xfrm>
              <a:off x="4171950" y="2628900"/>
              <a:ext cx="2819400" cy="1847850"/>
            </a:xfrm>
            <a:custGeom>
              <a:avLst/>
              <a:gdLst/>
              <a:ahLst/>
              <a:cxnLst/>
              <a:rect l="l" t="t" r="r" b="b"/>
              <a:pathLst>
                <a:path w="2819400" h="1847850">
                  <a:moveTo>
                    <a:pt x="0" y="0"/>
                  </a:moveTo>
                  <a:lnTo>
                    <a:pt x="2819400" y="1847850"/>
                  </a:lnTo>
                </a:path>
              </a:pathLst>
            </a:custGeom>
            <a:noFill/>
            <a:ln w="9525">
              <a:solidFill>
                <a:srgbClr val="D2E1F7"/>
              </a:solidFill>
            </a:ln>
          </p:spPr>
        </p:sp>
        <p:sp>
          <p:nvSpPr>
            <p:cNvPr id="78" name="Ellipse 30">
              <a:extLst>
                <a:ext uri="{FF2B5EF4-FFF2-40B4-BE49-F238E27FC236}">
                  <a16:creationId xmlns:a16="http://schemas.microsoft.com/office/drawing/2014/main" id="{61642322-A33C-E35C-48F6-586DF6B3D608}"/>
                </a:ext>
              </a:extLst>
            </p:cNvPr>
            <p:cNvSpPr/>
            <p:nvPr/>
          </p:nvSpPr>
          <p:spPr>
            <a:xfrm>
              <a:off x="5048250" y="2933700"/>
              <a:ext cx="1066800" cy="10668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79" name="TextBox 31">
              <a:extLst>
                <a:ext uri="{FF2B5EF4-FFF2-40B4-BE49-F238E27FC236}">
                  <a16:creationId xmlns:a16="http://schemas.microsoft.com/office/drawing/2014/main" id="{3A830333-C30F-64E7-5052-CCCC50B6FB83}"/>
                </a:ext>
              </a:extLst>
            </p:cNvPr>
            <p:cNvSpPr txBox="1"/>
            <p:nvPr/>
          </p:nvSpPr>
          <p:spPr>
            <a:xfrm>
              <a:off x="5255990" y="32480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供应商</a:t>
              </a:r>
            </a:p>
          </p:txBody>
        </p:sp>
        <p:sp>
          <p:nvSpPr>
            <p:cNvPr id="80" name="TextBox 32">
              <a:extLst>
                <a:ext uri="{FF2B5EF4-FFF2-40B4-BE49-F238E27FC236}">
                  <a16:creationId xmlns:a16="http://schemas.microsoft.com/office/drawing/2014/main" id="{F965DAF6-566C-75E7-AFA2-06EEA57EA90F}"/>
                </a:ext>
              </a:extLst>
            </p:cNvPr>
            <p:cNvSpPr txBox="1"/>
            <p:nvPr/>
          </p:nvSpPr>
          <p:spPr>
            <a:xfrm>
              <a:off x="5364290" y="35442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主标识</a:t>
              </a:r>
            </a:p>
          </p:txBody>
        </p:sp>
        <p:sp>
          <p:nvSpPr>
            <p:cNvPr id="81" name="Ellipse 33">
              <a:extLst>
                <a:ext uri="{FF2B5EF4-FFF2-40B4-BE49-F238E27FC236}">
                  <a16:creationId xmlns:a16="http://schemas.microsoft.com/office/drawing/2014/main" id="{57F25457-9BAF-88D5-AE77-A649E4B79D55}"/>
                </a:ext>
              </a:extLst>
            </p:cNvPr>
            <p:cNvSpPr/>
            <p:nvPr/>
          </p:nvSpPr>
          <p:spPr>
            <a:xfrm>
              <a:off x="3771900" y="2228850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8CFF"/>
              </a:solidFill>
            </a:ln>
          </p:spPr>
        </p:sp>
        <p:sp>
          <p:nvSpPr>
            <p:cNvPr id="82" name="TextBox 34">
              <a:extLst>
                <a:ext uri="{FF2B5EF4-FFF2-40B4-BE49-F238E27FC236}">
                  <a16:creationId xmlns:a16="http://schemas.microsoft.com/office/drawing/2014/main" id="{0DAFEF97-2582-2ECD-970B-B044642C28C5}"/>
                </a:ext>
              </a:extLst>
            </p:cNvPr>
            <p:cNvSpPr txBox="1"/>
            <p:nvPr/>
          </p:nvSpPr>
          <p:spPr>
            <a:xfrm>
              <a:off x="3609115" y="2567464"/>
              <a:ext cx="11256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股东 </a:t>
              </a:r>
              <a:r>
                <a:rPr kumimoji="0" lang="en-US" altLang="zh-CN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控制人</a:t>
              </a:r>
            </a:p>
          </p:txBody>
        </p:sp>
        <p:sp>
          <p:nvSpPr>
            <p:cNvPr id="83" name="Ellipse 35">
              <a:extLst>
                <a:ext uri="{FF2B5EF4-FFF2-40B4-BE49-F238E27FC236}">
                  <a16:creationId xmlns:a16="http://schemas.microsoft.com/office/drawing/2014/main" id="{6DF7B170-48FC-C72B-A7A0-D2C92C8C0002}"/>
                </a:ext>
              </a:extLst>
            </p:cNvPr>
            <p:cNvSpPr/>
            <p:nvPr/>
          </p:nvSpPr>
          <p:spPr>
            <a:xfrm>
              <a:off x="6591300" y="2228850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F8CFF"/>
              </a:solidFill>
            </a:ln>
          </p:spPr>
        </p:sp>
        <p:sp>
          <p:nvSpPr>
            <p:cNvPr id="84" name="TextBox 36">
              <a:extLst>
                <a:ext uri="{FF2B5EF4-FFF2-40B4-BE49-F238E27FC236}">
                  <a16:creationId xmlns:a16="http://schemas.microsoft.com/office/drawing/2014/main" id="{6EDC12E2-0634-6179-4D9B-D143BD9BD5EB}"/>
                </a:ext>
              </a:extLst>
            </p:cNvPr>
            <p:cNvSpPr txBox="1"/>
            <p:nvPr/>
          </p:nvSpPr>
          <p:spPr>
            <a:xfrm>
              <a:off x="6713479" y="2567464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联系人</a:t>
              </a:r>
            </a:p>
          </p:txBody>
        </p:sp>
        <p:sp>
          <p:nvSpPr>
            <p:cNvPr id="85" name="Ellipse 37">
              <a:extLst>
                <a:ext uri="{FF2B5EF4-FFF2-40B4-BE49-F238E27FC236}">
                  <a16:creationId xmlns:a16="http://schemas.microsoft.com/office/drawing/2014/main" id="{396B62F5-CD30-35A5-1EF2-773D3F8C8846}"/>
                </a:ext>
              </a:extLst>
            </p:cNvPr>
            <p:cNvSpPr/>
            <p:nvPr/>
          </p:nvSpPr>
          <p:spPr>
            <a:xfrm>
              <a:off x="3771900" y="40767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2B573"/>
              </a:solidFill>
            </a:ln>
          </p:spPr>
        </p:sp>
        <p:sp>
          <p:nvSpPr>
            <p:cNvPr id="86" name="TextBox 38">
              <a:extLst>
                <a:ext uri="{FF2B5EF4-FFF2-40B4-BE49-F238E27FC236}">
                  <a16:creationId xmlns:a16="http://schemas.microsoft.com/office/drawing/2014/main" id="{DB5EBC44-A280-FAE2-EB40-6F60B0B9751B}"/>
                </a:ext>
              </a:extLst>
            </p:cNvPr>
            <p:cNvSpPr txBox="1"/>
            <p:nvPr/>
          </p:nvSpPr>
          <p:spPr>
            <a:xfrm>
              <a:off x="3699580" y="4415314"/>
              <a:ext cx="944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员工 </a:t>
              </a:r>
              <a:r>
                <a:rPr kumimoji="0" lang="en-US" altLang="zh-CN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专家</a:t>
              </a:r>
            </a:p>
          </p:txBody>
        </p:sp>
        <p:sp>
          <p:nvSpPr>
            <p:cNvPr id="87" name="Ellipse 39">
              <a:extLst>
                <a:ext uri="{FF2B5EF4-FFF2-40B4-BE49-F238E27FC236}">
                  <a16:creationId xmlns:a16="http://schemas.microsoft.com/office/drawing/2014/main" id="{896A9821-F990-C377-9804-CFAFCAD89591}"/>
                </a:ext>
              </a:extLst>
            </p:cNvPr>
            <p:cNvSpPr/>
            <p:nvPr/>
          </p:nvSpPr>
          <p:spPr>
            <a:xfrm>
              <a:off x="6591300" y="40767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2B573"/>
              </a:solidFill>
            </a:ln>
          </p:spPr>
        </p:sp>
        <p:sp>
          <p:nvSpPr>
            <p:cNvPr id="88" name="TextBox 40">
              <a:extLst>
                <a:ext uri="{FF2B5EF4-FFF2-40B4-BE49-F238E27FC236}">
                  <a16:creationId xmlns:a16="http://schemas.microsoft.com/office/drawing/2014/main" id="{6FDBB3AC-B5E5-0902-C7E9-9E7CDB79656C}"/>
                </a:ext>
              </a:extLst>
            </p:cNvPr>
            <p:cNvSpPr txBox="1"/>
            <p:nvPr/>
          </p:nvSpPr>
          <p:spPr>
            <a:xfrm>
              <a:off x="6623014" y="44153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历史项目</a:t>
              </a:r>
            </a:p>
          </p:txBody>
        </p:sp>
        <p:sp>
          <p:nvSpPr>
            <p:cNvPr id="89" name="TextBox 41">
              <a:extLst>
                <a:ext uri="{FF2B5EF4-FFF2-40B4-BE49-F238E27FC236}">
                  <a16:creationId xmlns:a16="http://schemas.microsoft.com/office/drawing/2014/main" id="{AFF0B1D9-8F3A-5BF3-583E-0AB298BA24F6}"/>
                </a:ext>
              </a:extLst>
            </p:cNvPr>
            <p:cNvSpPr txBox="1"/>
            <p:nvPr/>
          </p:nvSpPr>
          <p:spPr>
            <a:xfrm>
              <a:off x="4855610" y="5022056"/>
              <a:ext cx="14520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先回答“谁与谁有关”</a:t>
              </a:r>
            </a:p>
          </p:txBody>
        </p:sp>
      </p:grpSp>
      <p:grpSp>
        <p:nvGrpSpPr>
          <p:cNvPr id="90" name="Group 54">
            <a:extLst>
              <a:ext uri="{FF2B5EF4-FFF2-40B4-BE49-F238E27FC236}">
                <a16:creationId xmlns:a16="http://schemas.microsoft.com/office/drawing/2014/main" id="{ED04A35D-7699-3875-C29D-E7AB53B64C6F}"/>
              </a:ext>
            </a:extLst>
          </p:cNvPr>
          <p:cNvGrpSpPr/>
          <p:nvPr/>
        </p:nvGrpSpPr>
        <p:grpSpPr>
          <a:xfrm>
            <a:off x="8203692" y="1832610"/>
            <a:ext cx="3150108" cy="3486341"/>
            <a:chOff x="8203692" y="1832610"/>
            <a:chExt cx="3150108" cy="3486341"/>
          </a:xfrm>
        </p:grpSpPr>
        <p:sp>
          <p:nvSpPr>
            <p:cNvPr id="91" name="TextBox 43">
              <a:extLst>
                <a:ext uri="{FF2B5EF4-FFF2-40B4-BE49-F238E27FC236}">
                  <a16:creationId xmlns:a16="http://schemas.microsoft.com/office/drawing/2014/main" id="{7CC04A10-6DFA-FD02-1F89-245C94F3011B}"/>
                </a:ext>
              </a:extLst>
            </p:cNvPr>
            <p:cNvSpPr txBox="1"/>
            <p:nvPr/>
          </p:nvSpPr>
          <p:spPr>
            <a:xfrm>
              <a:off x="8204454" y="18326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200" b="1" dirty="0">
                  <a:solidFill>
                    <a:srgbClr val="0B63F6"/>
                  </a:solidFill>
                  <a:ea typeface="Microsoft YaHei" panose="020B0503020204020204" pitchFamily="34" charset="-122"/>
                  <a:cs typeface="Arial"/>
                </a:rPr>
                <a:t>规则命中</a:t>
              </a:r>
            </a:p>
          </p:txBody>
        </p:sp>
        <p:sp>
          <p:nvSpPr>
            <p:cNvPr id="92" name="Line 44">
              <a:extLst>
                <a:ext uri="{FF2B5EF4-FFF2-40B4-BE49-F238E27FC236}">
                  <a16:creationId xmlns:a16="http://schemas.microsoft.com/office/drawing/2014/main" id="{9460B865-FEAA-D075-5EA0-7CDE90A9A101}"/>
                </a:ext>
              </a:extLst>
            </p:cNvPr>
            <p:cNvSpPr/>
            <p:nvPr/>
          </p:nvSpPr>
          <p:spPr>
            <a:xfrm>
              <a:off x="8210550" y="21336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93" name="TextBox 45">
              <a:extLst>
                <a:ext uri="{FF2B5EF4-FFF2-40B4-BE49-F238E27FC236}">
                  <a16:creationId xmlns:a16="http://schemas.microsoft.com/office/drawing/2014/main" id="{E9A60DAE-DC49-AB3C-34E1-EEE5ED0853C2}"/>
                </a:ext>
              </a:extLst>
            </p:cNvPr>
            <p:cNvSpPr txBox="1"/>
            <p:nvPr/>
          </p:nvSpPr>
          <p:spPr>
            <a:xfrm>
              <a:off x="8203692" y="2368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异常共址</a:t>
              </a:r>
            </a:p>
          </p:txBody>
        </p:sp>
        <p:sp>
          <p:nvSpPr>
            <p:cNvPr id="94" name="TextBox 46">
              <a:extLst>
                <a:ext uri="{FF2B5EF4-FFF2-40B4-BE49-F238E27FC236}">
                  <a16:creationId xmlns:a16="http://schemas.microsoft.com/office/drawing/2014/main" id="{1B819819-2353-E236-0D17-692B7F41144B}"/>
                </a:ext>
              </a:extLst>
            </p:cNvPr>
            <p:cNvSpPr txBox="1"/>
            <p:nvPr/>
          </p:nvSpPr>
          <p:spPr>
            <a:xfrm>
              <a:off x="8203692" y="269271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任职 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/ 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股权路径</a:t>
              </a:r>
            </a:p>
          </p:txBody>
        </p:sp>
        <p:sp>
          <p:nvSpPr>
            <p:cNvPr id="95" name="TextBox 47">
              <a:extLst>
                <a:ext uri="{FF2B5EF4-FFF2-40B4-BE49-F238E27FC236}">
                  <a16:creationId xmlns:a16="http://schemas.microsoft.com/office/drawing/2014/main" id="{4E3691FD-CB31-CC01-E98F-546F0C300A1E}"/>
                </a:ext>
              </a:extLst>
            </p:cNvPr>
            <p:cNvSpPr txBox="1"/>
            <p:nvPr/>
          </p:nvSpPr>
          <p:spPr>
            <a:xfrm>
              <a:off x="8203692" y="30165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交易协同信号</a:t>
              </a:r>
            </a:p>
          </p:txBody>
        </p:sp>
        <p:sp>
          <p:nvSpPr>
            <p:cNvPr id="96" name="TextBox 48">
              <a:extLst>
                <a:ext uri="{FF2B5EF4-FFF2-40B4-BE49-F238E27FC236}">
                  <a16:creationId xmlns:a16="http://schemas.microsoft.com/office/drawing/2014/main" id="{39D9EF76-19CA-39BD-A72C-DD4AC4095A8D}"/>
                </a:ext>
              </a:extLst>
            </p:cNvPr>
            <p:cNvSpPr txBox="1"/>
            <p:nvPr/>
          </p:nvSpPr>
          <p:spPr>
            <a:xfrm>
              <a:off x="8204454" y="35090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200" b="1" dirty="0">
                  <a:solidFill>
                    <a:srgbClr val="0B63F6"/>
                  </a:solidFill>
                  <a:ea typeface="Microsoft YaHei" panose="020B0503020204020204" pitchFamily="34" charset="-122"/>
                  <a:cs typeface="Arial"/>
                </a:rPr>
                <a:t>处置路径</a:t>
              </a:r>
            </a:p>
          </p:txBody>
        </p:sp>
        <p:sp>
          <p:nvSpPr>
            <p:cNvPr id="97" name="Line 49">
              <a:extLst>
                <a:ext uri="{FF2B5EF4-FFF2-40B4-BE49-F238E27FC236}">
                  <a16:creationId xmlns:a16="http://schemas.microsoft.com/office/drawing/2014/main" id="{52974F38-F85B-19EE-5939-4049D12DD855}"/>
                </a:ext>
              </a:extLst>
            </p:cNvPr>
            <p:cNvSpPr/>
            <p:nvPr/>
          </p:nvSpPr>
          <p:spPr>
            <a:xfrm>
              <a:off x="8210550" y="38100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98" name="TextBox 50">
              <a:extLst>
                <a:ext uri="{FF2B5EF4-FFF2-40B4-BE49-F238E27FC236}">
                  <a16:creationId xmlns:a16="http://schemas.microsoft.com/office/drawing/2014/main" id="{6BEC752F-1347-BFD7-A1FC-BA6210BBB9B5}"/>
                </a:ext>
              </a:extLst>
            </p:cNvPr>
            <p:cNvSpPr txBox="1"/>
            <p:nvPr/>
          </p:nvSpPr>
          <p:spPr>
            <a:xfrm>
              <a:off x="8203692" y="4026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领域专员研判</a:t>
              </a:r>
            </a:p>
          </p:txBody>
        </p:sp>
        <p:sp>
          <p:nvSpPr>
            <p:cNvPr id="99" name="TextBox 51">
              <a:extLst>
                <a:ext uri="{FF2B5EF4-FFF2-40B4-BE49-F238E27FC236}">
                  <a16:creationId xmlns:a16="http://schemas.microsoft.com/office/drawing/2014/main" id="{E1DEBB75-9744-43D3-3074-C20CAABF4877}"/>
                </a:ext>
              </a:extLst>
            </p:cNvPr>
            <p:cNvSpPr txBox="1"/>
            <p:nvPr/>
          </p:nvSpPr>
          <p:spPr>
            <a:xfrm>
              <a:off x="8203692" y="43691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解除 </a:t>
              </a:r>
              <a:r>
                <a:rPr lang="en-US" altLang="zh-CN" sz="1350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/ </a:t>
              </a:r>
              <a:r>
                <a:rPr lang="zh-CN" altLang="en-US" sz="1350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升级事件</a:t>
              </a:r>
            </a:p>
          </p:txBody>
        </p:sp>
        <p:sp>
          <p:nvSpPr>
            <p:cNvPr id="100" name="TextBox 52">
              <a:extLst>
                <a:ext uri="{FF2B5EF4-FFF2-40B4-BE49-F238E27FC236}">
                  <a16:creationId xmlns:a16="http://schemas.microsoft.com/office/drawing/2014/main" id="{C4AB812F-45B3-147A-EBF2-02ADB2B0F52C}"/>
                </a:ext>
              </a:extLst>
            </p:cNvPr>
            <p:cNvSpPr txBox="1"/>
            <p:nvPr/>
          </p:nvSpPr>
          <p:spPr>
            <a:xfrm>
              <a:off x="8203692" y="47120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责任单位整改举证</a:t>
              </a:r>
            </a:p>
          </p:txBody>
        </p:sp>
        <p:sp>
          <p:nvSpPr>
            <p:cNvPr id="101" name="TextBox 53">
              <a:extLst>
                <a:ext uri="{FF2B5EF4-FFF2-40B4-BE49-F238E27FC236}">
                  <a16:creationId xmlns:a16="http://schemas.microsoft.com/office/drawing/2014/main" id="{99D057E2-6C04-D84E-35EE-77D7A4D61437}"/>
                </a:ext>
              </a:extLst>
            </p:cNvPr>
            <p:cNvSpPr txBox="1"/>
            <p:nvPr/>
          </p:nvSpPr>
          <p:spPr>
            <a:xfrm>
              <a:off x="8203692" y="5054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监管复核关闭</a:t>
              </a:r>
            </a:p>
          </p:txBody>
        </p:sp>
      </p:grpSp>
      <p:grpSp>
        <p:nvGrpSpPr>
          <p:cNvPr id="102" name="Group 57">
            <a:extLst>
              <a:ext uri="{FF2B5EF4-FFF2-40B4-BE49-F238E27FC236}">
                <a16:creationId xmlns:a16="http://schemas.microsoft.com/office/drawing/2014/main" id="{F1E3C5CB-4AA8-6AEC-0396-5AAA5BC12DC3}"/>
              </a:ext>
            </a:extLst>
          </p:cNvPr>
          <p:cNvGrpSpPr/>
          <p:nvPr/>
        </p:nvGrpSpPr>
        <p:grpSpPr>
          <a:xfrm>
            <a:off x="603123" y="5772150"/>
            <a:ext cx="10750677" cy="416528"/>
            <a:chOff x="603123" y="5772150"/>
            <a:chExt cx="10750677" cy="416528"/>
          </a:xfrm>
        </p:grpSpPr>
        <p:sp>
          <p:nvSpPr>
            <p:cNvPr id="103" name="Line 55">
              <a:extLst>
                <a:ext uri="{FF2B5EF4-FFF2-40B4-BE49-F238E27FC236}">
                  <a16:creationId xmlns:a16="http://schemas.microsoft.com/office/drawing/2014/main" id="{9EEBC119-9838-6785-A302-834C1B1CC041}"/>
                </a:ext>
              </a:extLst>
            </p:cNvPr>
            <p:cNvSpPr/>
            <p:nvPr/>
          </p:nvSpPr>
          <p:spPr>
            <a:xfrm>
              <a:off x="609600" y="57721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19050">
              <a:solidFill>
                <a:srgbClr val="0B63F6"/>
              </a:solidFill>
            </a:ln>
          </p:spPr>
        </p:sp>
        <p:sp>
          <p:nvSpPr>
            <p:cNvPr id="104" name="TextBox 56">
              <a:extLst>
                <a:ext uri="{FF2B5EF4-FFF2-40B4-BE49-F238E27FC236}">
                  <a16:creationId xmlns:a16="http://schemas.microsoft.com/office/drawing/2014/main" id="{FD88E220-969E-F549-9016-73341245DA84}"/>
                </a:ext>
              </a:extLst>
            </p:cNvPr>
            <p:cNvSpPr txBox="1"/>
            <p:nvPr/>
          </p:nvSpPr>
          <p:spPr>
            <a:xfrm>
              <a:off x="603123" y="5939314"/>
              <a:ext cx="5802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情景示例：图谱回答关系，规则判断风险；示例链路不代表客户监管结论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1254528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7C8A-A222-8EF3-D8F7-5A4EE3E3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6">
            <a:extLst>
              <a:ext uri="{FF2B5EF4-FFF2-40B4-BE49-F238E27FC236}">
                <a16:creationId xmlns:a16="http://schemas.microsoft.com/office/drawing/2014/main" id="{CF1BC129-C840-90AB-2441-7275478255A1}"/>
              </a:ext>
            </a:extLst>
          </p:cNvPr>
          <p:cNvSpPr txBox="1"/>
          <p:nvPr/>
        </p:nvSpPr>
        <p:spPr>
          <a:xfrm>
            <a:off x="595122" y="949642"/>
            <a:ext cx="969736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28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合同履约与付款不一致：把执行事实放在同一证据链上</a:t>
            </a:r>
          </a:p>
        </p:txBody>
      </p:sp>
      <p:grpSp>
        <p:nvGrpSpPr>
          <p:cNvPr id="60" name="Group 15">
            <a:extLst>
              <a:ext uri="{FF2B5EF4-FFF2-40B4-BE49-F238E27FC236}">
                <a16:creationId xmlns:a16="http://schemas.microsoft.com/office/drawing/2014/main" id="{55C568A2-3E67-F10B-6719-76AF2EA20A97}"/>
              </a:ext>
            </a:extLst>
          </p:cNvPr>
          <p:cNvGrpSpPr/>
          <p:nvPr/>
        </p:nvGrpSpPr>
        <p:grpSpPr>
          <a:xfrm>
            <a:off x="609600" y="1790700"/>
            <a:ext cx="2324100" cy="2286000"/>
            <a:chOff x="609600" y="1790700"/>
            <a:chExt cx="2324100" cy="2286000"/>
          </a:xfrm>
        </p:grpSpPr>
        <p:sp>
          <p:nvSpPr>
            <p:cNvPr id="61" name="Rectangle 8">
              <a:extLst>
                <a:ext uri="{FF2B5EF4-FFF2-40B4-BE49-F238E27FC236}">
                  <a16:creationId xmlns:a16="http://schemas.microsoft.com/office/drawing/2014/main" id="{3C4599CF-9EFC-9716-7553-B9F93753D868}"/>
                </a:ext>
              </a:extLst>
            </p:cNvPr>
            <p:cNvSpPr/>
            <p:nvPr/>
          </p:nvSpPr>
          <p:spPr>
            <a:xfrm>
              <a:off x="609600" y="1790700"/>
              <a:ext cx="2324100" cy="228600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62" name="Rectangle 9">
              <a:extLst>
                <a:ext uri="{FF2B5EF4-FFF2-40B4-BE49-F238E27FC236}">
                  <a16:creationId xmlns:a16="http://schemas.microsoft.com/office/drawing/2014/main" id="{EECF5BFC-451A-198C-2692-320ABF6B3ACB}"/>
                </a:ext>
              </a:extLst>
            </p:cNvPr>
            <p:cNvSpPr/>
            <p:nvPr/>
          </p:nvSpPr>
          <p:spPr>
            <a:xfrm>
              <a:off x="609600" y="1790700"/>
              <a:ext cx="2324100" cy="76200"/>
            </a:xfrm>
            <a:prstGeom prst="rect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63" name="TextBox 10">
              <a:extLst>
                <a:ext uri="{FF2B5EF4-FFF2-40B4-BE49-F238E27FC236}">
                  <a16:creationId xmlns:a16="http://schemas.microsoft.com/office/drawing/2014/main" id="{86ADD06D-ABD2-4B66-2C5A-EE3608F250DA}"/>
                </a:ext>
              </a:extLst>
            </p:cNvPr>
            <p:cNvSpPr txBox="1"/>
            <p:nvPr/>
          </p:nvSpPr>
          <p:spPr>
            <a:xfrm>
              <a:off x="828294" y="19992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</a:t>
              </a:r>
            </a:p>
          </p:txBody>
        </p:sp>
        <p:sp>
          <p:nvSpPr>
            <p:cNvPr id="64" name="TextBox 11">
              <a:extLst>
                <a:ext uri="{FF2B5EF4-FFF2-40B4-BE49-F238E27FC236}">
                  <a16:creationId xmlns:a16="http://schemas.microsoft.com/office/drawing/2014/main" id="{76A9BC9C-B333-1F0E-B046-5A0A0C204EB9}"/>
                </a:ext>
              </a:extLst>
            </p:cNvPr>
            <p:cNvSpPr txBox="1"/>
            <p:nvPr/>
          </p:nvSpPr>
          <p:spPr>
            <a:xfrm>
              <a:off x="831723" y="24341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合同版本与审批链</a:t>
              </a:r>
            </a:p>
          </p:txBody>
        </p:sp>
        <p:sp>
          <p:nvSpPr>
            <p:cNvPr id="65" name="TextBox 12">
              <a:extLst>
                <a:ext uri="{FF2B5EF4-FFF2-40B4-BE49-F238E27FC236}">
                  <a16:creationId xmlns:a16="http://schemas.microsoft.com/office/drawing/2014/main" id="{0367DB96-D4EA-E331-A3CB-46446F1661D0}"/>
                </a:ext>
              </a:extLst>
            </p:cNvPr>
            <p:cNvSpPr txBox="1"/>
            <p:nvPr/>
          </p:nvSpPr>
          <p:spPr>
            <a:xfrm>
              <a:off x="831723" y="2757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付款计划与约定条件</a:t>
              </a:r>
            </a:p>
          </p:txBody>
        </p:sp>
        <p:sp>
          <p:nvSpPr>
            <p:cNvPr id="66" name="Line 13">
              <a:extLst>
                <a:ext uri="{FF2B5EF4-FFF2-40B4-BE49-F238E27FC236}">
                  <a16:creationId xmlns:a16="http://schemas.microsoft.com/office/drawing/2014/main" id="{5045951A-C6BB-CFAA-3C82-35F18FC2A671}"/>
                </a:ext>
              </a:extLst>
            </p:cNvPr>
            <p:cNvSpPr/>
            <p:nvPr/>
          </p:nvSpPr>
          <p:spPr>
            <a:xfrm>
              <a:off x="838200" y="321945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67" name="TextBox 14">
              <a:extLst>
                <a:ext uri="{FF2B5EF4-FFF2-40B4-BE49-F238E27FC236}">
                  <a16:creationId xmlns:a16="http://schemas.microsoft.com/office/drawing/2014/main" id="{8049A4FF-A03F-85CA-920E-7A67BA9453FA}"/>
                </a:ext>
              </a:extLst>
            </p:cNvPr>
            <p:cNvSpPr txBox="1"/>
            <p:nvPr/>
          </p:nvSpPr>
          <p:spPr>
            <a:xfrm>
              <a:off x="832104" y="34709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应当如何履行</a:t>
              </a:r>
            </a:p>
          </p:txBody>
        </p:sp>
      </p:grpSp>
      <p:grpSp>
        <p:nvGrpSpPr>
          <p:cNvPr id="68" name="Group 23">
            <a:extLst>
              <a:ext uri="{FF2B5EF4-FFF2-40B4-BE49-F238E27FC236}">
                <a16:creationId xmlns:a16="http://schemas.microsoft.com/office/drawing/2014/main" id="{450BBB19-E09E-99C4-CD7E-7D69F753E70E}"/>
              </a:ext>
            </a:extLst>
          </p:cNvPr>
          <p:cNvGrpSpPr/>
          <p:nvPr/>
        </p:nvGrpSpPr>
        <p:grpSpPr>
          <a:xfrm>
            <a:off x="3352800" y="1790700"/>
            <a:ext cx="2324100" cy="2286000"/>
            <a:chOff x="3352800" y="1790700"/>
            <a:chExt cx="2324100" cy="2286000"/>
          </a:xfrm>
        </p:grpSpPr>
        <p:sp>
          <p:nvSpPr>
            <p:cNvPr id="69" name="Rectangle 16">
              <a:extLst>
                <a:ext uri="{FF2B5EF4-FFF2-40B4-BE49-F238E27FC236}">
                  <a16:creationId xmlns:a16="http://schemas.microsoft.com/office/drawing/2014/main" id="{3ED1F263-030C-C3C6-5C73-245E36B1B955}"/>
                </a:ext>
              </a:extLst>
            </p:cNvPr>
            <p:cNvSpPr/>
            <p:nvPr/>
          </p:nvSpPr>
          <p:spPr>
            <a:xfrm>
              <a:off x="3352800" y="1790700"/>
              <a:ext cx="2324100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9D3FF"/>
              </a:solidFill>
            </a:ln>
          </p:spPr>
        </p:sp>
        <p:sp>
          <p:nvSpPr>
            <p:cNvPr id="70" name="Rectangle 17">
              <a:extLst>
                <a:ext uri="{FF2B5EF4-FFF2-40B4-BE49-F238E27FC236}">
                  <a16:creationId xmlns:a16="http://schemas.microsoft.com/office/drawing/2014/main" id="{E446F07B-CF42-F0AA-CD63-034F00CE2240}"/>
                </a:ext>
              </a:extLst>
            </p:cNvPr>
            <p:cNvSpPr/>
            <p:nvPr/>
          </p:nvSpPr>
          <p:spPr>
            <a:xfrm>
              <a:off x="3352800" y="1790700"/>
              <a:ext cx="2324100" cy="76200"/>
            </a:xfrm>
            <a:prstGeom prst="rect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71" name="TextBox 18">
              <a:extLst>
                <a:ext uri="{FF2B5EF4-FFF2-40B4-BE49-F238E27FC236}">
                  <a16:creationId xmlns:a16="http://schemas.microsoft.com/office/drawing/2014/main" id="{FA413E5D-714B-8FBC-1122-B5509F5D3CD0}"/>
                </a:ext>
              </a:extLst>
            </p:cNvPr>
            <p:cNvSpPr txBox="1"/>
            <p:nvPr/>
          </p:nvSpPr>
          <p:spPr>
            <a:xfrm>
              <a:off x="3571494" y="1999298"/>
              <a:ext cx="14393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验收 </a:t>
              </a:r>
              <a:r>
                <a:rPr kumimoji="0" lang="en-US" altLang="zh-CN" sz="19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9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入库</a:t>
              </a:r>
            </a:p>
          </p:txBody>
        </p:sp>
        <p:sp>
          <p:nvSpPr>
            <p:cNvPr id="72" name="TextBox 19">
              <a:extLst>
                <a:ext uri="{FF2B5EF4-FFF2-40B4-BE49-F238E27FC236}">
                  <a16:creationId xmlns:a16="http://schemas.microsoft.com/office/drawing/2014/main" id="{C919A31D-76FC-0796-2AA3-824DDEDDF6C9}"/>
                </a:ext>
              </a:extLst>
            </p:cNvPr>
            <p:cNvSpPr txBox="1"/>
            <p:nvPr/>
          </p:nvSpPr>
          <p:spPr>
            <a:xfrm>
              <a:off x="3574923" y="24341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履约进度与验收事实</a:t>
              </a:r>
            </a:p>
          </p:txBody>
        </p:sp>
        <p:sp>
          <p:nvSpPr>
            <p:cNvPr id="73" name="TextBox 20">
              <a:extLst>
                <a:ext uri="{FF2B5EF4-FFF2-40B4-BE49-F238E27FC236}">
                  <a16:creationId xmlns:a16="http://schemas.microsoft.com/office/drawing/2014/main" id="{683F3861-2833-E6FC-1052-B159982CF54C}"/>
                </a:ext>
              </a:extLst>
            </p:cNvPr>
            <p:cNvSpPr txBox="1"/>
            <p:nvPr/>
          </p:nvSpPr>
          <p:spPr>
            <a:xfrm>
              <a:off x="3574923" y="27579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审批、签收与时间记录</a:t>
              </a:r>
            </a:p>
          </p:txBody>
        </p:sp>
        <p:sp>
          <p:nvSpPr>
            <p:cNvPr id="74" name="Line 21">
              <a:extLst>
                <a:ext uri="{FF2B5EF4-FFF2-40B4-BE49-F238E27FC236}">
                  <a16:creationId xmlns:a16="http://schemas.microsoft.com/office/drawing/2014/main" id="{7F8528DA-7BC8-2817-28DD-CC47BB3B9800}"/>
                </a:ext>
              </a:extLst>
            </p:cNvPr>
            <p:cNvSpPr/>
            <p:nvPr/>
          </p:nvSpPr>
          <p:spPr>
            <a:xfrm>
              <a:off x="3581400" y="321945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75" name="TextBox 22">
              <a:extLst>
                <a:ext uri="{FF2B5EF4-FFF2-40B4-BE49-F238E27FC236}">
                  <a16:creationId xmlns:a16="http://schemas.microsoft.com/office/drawing/2014/main" id="{DCBB3525-34FA-C543-91A0-9BE99BAB0EFF}"/>
                </a:ext>
              </a:extLst>
            </p:cNvPr>
            <p:cNvSpPr txBox="1"/>
            <p:nvPr/>
          </p:nvSpPr>
          <p:spPr>
            <a:xfrm>
              <a:off x="3575304" y="34709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实际完成了什么</a:t>
              </a:r>
            </a:p>
          </p:txBody>
        </p:sp>
      </p:grpSp>
      <p:grpSp>
        <p:nvGrpSpPr>
          <p:cNvPr id="76" name="Group 31">
            <a:extLst>
              <a:ext uri="{FF2B5EF4-FFF2-40B4-BE49-F238E27FC236}">
                <a16:creationId xmlns:a16="http://schemas.microsoft.com/office/drawing/2014/main" id="{07F44104-9753-B0FA-9184-9E11FC637ED9}"/>
              </a:ext>
            </a:extLst>
          </p:cNvPr>
          <p:cNvGrpSpPr/>
          <p:nvPr/>
        </p:nvGrpSpPr>
        <p:grpSpPr>
          <a:xfrm>
            <a:off x="6096000" y="1790700"/>
            <a:ext cx="2324100" cy="2286000"/>
            <a:chOff x="6096000" y="1790700"/>
            <a:chExt cx="2324100" cy="2286000"/>
          </a:xfrm>
        </p:grpSpPr>
        <p:sp>
          <p:nvSpPr>
            <p:cNvPr id="77" name="Rectangle 24">
              <a:extLst>
                <a:ext uri="{FF2B5EF4-FFF2-40B4-BE49-F238E27FC236}">
                  <a16:creationId xmlns:a16="http://schemas.microsoft.com/office/drawing/2014/main" id="{3B4F02C5-247D-7827-EBE2-77B8E48AA25C}"/>
                </a:ext>
              </a:extLst>
            </p:cNvPr>
            <p:cNvSpPr/>
            <p:nvPr/>
          </p:nvSpPr>
          <p:spPr>
            <a:xfrm>
              <a:off x="6096000" y="1790700"/>
              <a:ext cx="2324100" cy="228600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78" name="Rectangle 25">
              <a:extLst>
                <a:ext uri="{FF2B5EF4-FFF2-40B4-BE49-F238E27FC236}">
                  <a16:creationId xmlns:a16="http://schemas.microsoft.com/office/drawing/2014/main" id="{219A3420-94CB-261F-37C4-3A1386EFF09F}"/>
                </a:ext>
              </a:extLst>
            </p:cNvPr>
            <p:cNvSpPr/>
            <p:nvPr/>
          </p:nvSpPr>
          <p:spPr>
            <a:xfrm>
              <a:off x="6096000" y="1790700"/>
              <a:ext cx="2324100" cy="76200"/>
            </a:xfrm>
            <a:prstGeom prst="rect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79" name="TextBox 26">
              <a:extLst>
                <a:ext uri="{FF2B5EF4-FFF2-40B4-BE49-F238E27FC236}">
                  <a16:creationId xmlns:a16="http://schemas.microsoft.com/office/drawing/2014/main" id="{E7077C74-4FCA-0659-7C2C-396D8417BCD9}"/>
                </a:ext>
              </a:extLst>
            </p:cNvPr>
            <p:cNvSpPr txBox="1"/>
            <p:nvPr/>
          </p:nvSpPr>
          <p:spPr>
            <a:xfrm>
              <a:off x="6314694" y="19992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发票</a:t>
              </a:r>
            </a:p>
          </p:txBody>
        </p:sp>
        <p:sp>
          <p:nvSpPr>
            <p:cNvPr id="80" name="TextBox 27">
              <a:extLst>
                <a:ext uri="{FF2B5EF4-FFF2-40B4-BE49-F238E27FC236}">
                  <a16:creationId xmlns:a16="http://schemas.microsoft.com/office/drawing/2014/main" id="{768EA7A8-BE3A-4696-D1DF-C4D90617BE36}"/>
                </a:ext>
              </a:extLst>
            </p:cNvPr>
            <p:cNvSpPr txBox="1"/>
            <p:nvPr/>
          </p:nvSpPr>
          <p:spPr>
            <a:xfrm>
              <a:off x="6318123" y="24341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开票金额与收款主体</a:t>
              </a:r>
            </a:p>
          </p:txBody>
        </p:sp>
        <p:sp>
          <p:nvSpPr>
            <p:cNvPr id="81" name="TextBox 28">
              <a:extLst>
                <a:ext uri="{FF2B5EF4-FFF2-40B4-BE49-F238E27FC236}">
                  <a16:creationId xmlns:a16="http://schemas.microsoft.com/office/drawing/2014/main" id="{A254BCD7-2E8E-D9EC-6F9B-5AA42C4E4A53}"/>
                </a:ext>
              </a:extLst>
            </p:cNvPr>
            <p:cNvSpPr txBox="1"/>
            <p:nvPr/>
          </p:nvSpPr>
          <p:spPr>
            <a:xfrm>
              <a:off x="6318123" y="2757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发票状态与关联合同</a:t>
              </a:r>
            </a:p>
          </p:txBody>
        </p:sp>
        <p:sp>
          <p:nvSpPr>
            <p:cNvPr id="82" name="Line 29">
              <a:extLst>
                <a:ext uri="{FF2B5EF4-FFF2-40B4-BE49-F238E27FC236}">
                  <a16:creationId xmlns:a16="http://schemas.microsoft.com/office/drawing/2014/main" id="{0EB784F8-A6F9-AE34-4663-8BE3C6C4FF5D}"/>
                </a:ext>
              </a:extLst>
            </p:cNvPr>
            <p:cNvSpPr/>
            <p:nvPr/>
          </p:nvSpPr>
          <p:spPr>
            <a:xfrm>
              <a:off x="6324600" y="321945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83" name="TextBox 30">
              <a:extLst>
                <a:ext uri="{FF2B5EF4-FFF2-40B4-BE49-F238E27FC236}">
                  <a16:creationId xmlns:a16="http://schemas.microsoft.com/office/drawing/2014/main" id="{B501BA9E-0AE5-992B-1E5A-6C928F8D37C7}"/>
                </a:ext>
              </a:extLst>
            </p:cNvPr>
            <p:cNvSpPr txBox="1"/>
            <p:nvPr/>
          </p:nvSpPr>
          <p:spPr>
            <a:xfrm>
              <a:off x="6318504" y="34709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凭证是否匹配</a:t>
              </a:r>
            </a:p>
          </p:txBody>
        </p:sp>
      </p:grpSp>
      <p:grpSp>
        <p:nvGrpSpPr>
          <p:cNvPr id="84" name="Group 39">
            <a:extLst>
              <a:ext uri="{FF2B5EF4-FFF2-40B4-BE49-F238E27FC236}">
                <a16:creationId xmlns:a16="http://schemas.microsoft.com/office/drawing/2014/main" id="{5CCECFCC-8D65-9942-5A0F-937BEFF00703}"/>
              </a:ext>
            </a:extLst>
          </p:cNvPr>
          <p:cNvGrpSpPr/>
          <p:nvPr/>
        </p:nvGrpSpPr>
        <p:grpSpPr>
          <a:xfrm>
            <a:off x="8839200" y="1790700"/>
            <a:ext cx="2514600" cy="2286000"/>
            <a:chOff x="8839200" y="1790700"/>
            <a:chExt cx="2514600" cy="2286000"/>
          </a:xfrm>
        </p:grpSpPr>
        <p:sp>
          <p:nvSpPr>
            <p:cNvPr id="85" name="Rectangle 32">
              <a:extLst>
                <a:ext uri="{FF2B5EF4-FFF2-40B4-BE49-F238E27FC236}">
                  <a16:creationId xmlns:a16="http://schemas.microsoft.com/office/drawing/2014/main" id="{FF91596E-1E06-1EC8-CBF5-E5232E32D6C5}"/>
                </a:ext>
              </a:extLst>
            </p:cNvPr>
            <p:cNvSpPr/>
            <p:nvPr/>
          </p:nvSpPr>
          <p:spPr>
            <a:xfrm>
              <a:off x="8839200" y="1790700"/>
              <a:ext cx="2514600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9D3FF"/>
              </a:solidFill>
            </a:ln>
          </p:spPr>
        </p:sp>
        <p:sp>
          <p:nvSpPr>
            <p:cNvPr id="86" name="Rectangle 33">
              <a:extLst>
                <a:ext uri="{FF2B5EF4-FFF2-40B4-BE49-F238E27FC236}">
                  <a16:creationId xmlns:a16="http://schemas.microsoft.com/office/drawing/2014/main" id="{DEB3D9BA-D145-0AD5-9412-01318488D9ED}"/>
                </a:ext>
              </a:extLst>
            </p:cNvPr>
            <p:cNvSpPr/>
            <p:nvPr/>
          </p:nvSpPr>
          <p:spPr>
            <a:xfrm>
              <a:off x="8839200" y="1790700"/>
              <a:ext cx="2514600" cy="76200"/>
            </a:xfrm>
            <a:prstGeom prst="rect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87" name="TextBox 34">
              <a:extLst>
                <a:ext uri="{FF2B5EF4-FFF2-40B4-BE49-F238E27FC236}">
                  <a16:creationId xmlns:a16="http://schemas.microsoft.com/office/drawing/2014/main" id="{BF036285-A536-121F-2FA5-08AF938D29A8}"/>
                </a:ext>
              </a:extLst>
            </p:cNvPr>
            <p:cNvSpPr txBox="1"/>
            <p:nvPr/>
          </p:nvSpPr>
          <p:spPr>
            <a:xfrm>
              <a:off x="9057894" y="19992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9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</a:t>
              </a:r>
            </a:p>
          </p:txBody>
        </p:sp>
        <p:sp>
          <p:nvSpPr>
            <p:cNvPr id="88" name="TextBox 35">
              <a:extLst>
                <a:ext uri="{FF2B5EF4-FFF2-40B4-BE49-F238E27FC236}">
                  <a16:creationId xmlns:a16="http://schemas.microsoft.com/office/drawing/2014/main" id="{135E422C-4562-5B11-DC8F-6A69F5F2A6DE}"/>
                </a:ext>
              </a:extLst>
            </p:cNvPr>
            <p:cNvSpPr txBox="1"/>
            <p:nvPr/>
          </p:nvSpPr>
          <p:spPr>
            <a:xfrm>
              <a:off x="9061323" y="24341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付款金额、时间与流水</a:t>
              </a:r>
            </a:p>
          </p:txBody>
        </p:sp>
        <p:sp>
          <p:nvSpPr>
            <p:cNvPr id="89" name="TextBox 36">
              <a:extLst>
                <a:ext uri="{FF2B5EF4-FFF2-40B4-BE49-F238E27FC236}">
                  <a16:creationId xmlns:a16="http://schemas.microsoft.com/office/drawing/2014/main" id="{DFA9007C-2605-F16C-E3EE-11FE69D4166D}"/>
                </a:ext>
              </a:extLst>
            </p:cNvPr>
            <p:cNvSpPr txBox="1"/>
            <p:nvPr/>
          </p:nvSpPr>
          <p:spPr>
            <a:xfrm>
              <a:off x="9061323" y="27579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收款账户与主体主数据</a:t>
              </a:r>
            </a:p>
          </p:txBody>
        </p:sp>
        <p:sp>
          <p:nvSpPr>
            <p:cNvPr id="90" name="Line 37">
              <a:extLst>
                <a:ext uri="{FF2B5EF4-FFF2-40B4-BE49-F238E27FC236}">
                  <a16:creationId xmlns:a16="http://schemas.microsoft.com/office/drawing/2014/main" id="{E10F4399-E789-5F11-53B4-E992C297D70E}"/>
                </a:ext>
              </a:extLst>
            </p:cNvPr>
            <p:cNvSpPr/>
            <p:nvPr/>
          </p:nvSpPr>
          <p:spPr>
            <a:xfrm>
              <a:off x="9067800" y="32194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rgbClr val="B9D3FF"/>
              </a:solidFill>
            </a:ln>
          </p:spPr>
        </p:sp>
        <p:sp>
          <p:nvSpPr>
            <p:cNvPr id="91" name="TextBox 38">
              <a:extLst>
                <a:ext uri="{FF2B5EF4-FFF2-40B4-BE49-F238E27FC236}">
                  <a16:creationId xmlns:a16="http://schemas.microsoft.com/office/drawing/2014/main" id="{D5FEDA63-DF0B-A2FC-F860-BEFBF8494D66}"/>
                </a:ext>
              </a:extLst>
            </p:cNvPr>
            <p:cNvSpPr txBox="1"/>
            <p:nvPr/>
          </p:nvSpPr>
          <p:spPr>
            <a:xfrm>
              <a:off x="9061704" y="34709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资金如何执行</a:t>
              </a:r>
            </a:p>
          </p:txBody>
        </p:sp>
      </p:grpSp>
      <p:grpSp>
        <p:nvGrpSpPr>
          <p:cNvPr id="92" name="Group 47">
            <a:extLst>
              <a:ext uri="{FF2B5EF4-FFF2-40B4-BE49-F238E27FC236}">
                <a16:creationId xmlns:a16="http://schemas.microsoft.com/office/drawing/2014/main" id="{8CCAB696-9B14-A4CD-3736-0329BB98C952}"/>
              </a:ext>
            </a:extLst>
          </p:cNvPr>
          <p:cNvGrpSpPr/>
          <p:nvPr/>
        </p:nvGrpSpPr>
        <p:grpSpPr>
          <a:xfrm>
            <a:off x="2933700" y="2876550"/>
            <a:ext cx="5905500" cy="356425"/>
            <a:chOff x="2933700" y="2876550"/>
            <a:chExt cx="5905500" cy="356425"/>
          </a:xfrm>
        </p:grpSpPr>
        <p:sp>
          <p:nvSpPr>
            <p:cNvPr id="93" name="Line 40">
              <a:extLst>
                <a:ext uri="{FF2B5EF4-FFF2-40B4-BE49-F238E27FC236}">
                  <a16:creationId xmlns:a16="http://schemas.microsoft.com/office/drawing/2014/main" id="{D325AB78-803E-07B0-19BD-521D0B6B0CF2}"/>
                </a:ext>
              </a:extLst>
            </p:cNvPr>
            <p:cNvSpPr/>
            <p:nvPr/>
          </p:nvSpPr>
          <p:spPr>
            <a:xfrm>
              <a:off x="2933700" y="30480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94" name="Line 41">
              <a:extLst>
                <a:ext uri="{FF2B5EF4-FFF2-40B4-BE49-F238E27FC236}">
                  <a16:creationId xmlns:a16="http://schemas.microsoft.com/office/drawing/2014/main" id="{36C9C8A0-E1CB-D734-4A50-BD4B13EC33DC}"/>
                </a:ext>
              </a:extLst>
            </p:cNvPr>
            <p:cNvSpPr/>
            <p:nvPr/>
          </p:nvSpPr>
          <p:spPr>
            <a:xfrm>
              <a:off x="5676900" y="30480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E45757"/>
              </a:solidFill>
            </a:ln>
          </p:spPr>
        </p:sp>
        <p:sp>
          <p:nvSpPr>
            <p:cNvPr id="95" name="Ellipse 42">
              <a:extLst>
                <a:ext uri="{FF2B5EF4-FFF2-40B4-BE49-F238E27FC236}">
                  <a16:creationId xmlns:a16="http://schemas.microsoft.com/office/drawing/2014/main" id="{F52F018F-02AA-B2F3-3005-C4184980E24E}"/>
                </a:ext>
              </a:extLst>
            </p:cNvPr>
            <p:cNvSpPr/>
            <p:nvPr/>
          </p:nvSpPr>
          <p:spPr>
            <a:xfrm>
              <a:off x="5715000" y="2876550"/>
              <a:ext cx="342900" cy="342900"/>
            </a:xfrm>
            <a:prstGeom prst="ellipse">
              <a:avLst/>
            </a:prstGeom>
            <a:solidFill>
              <a:srgbClr val="E45757"/>
            </a:solidFill>
            <a:ln>
              <a:noFill/>
            </a:ln>
          </p:spPr>
        </p:sp>
        <p:sp>
          <p:nvSpPr>
            <p:cNvPr id="96" name="TextBox 43">
              <a:extLst>
                <a:ext uri="{FF2B5EF4-FFF2-40B4-BE49-F238E27FC236}">
                  <a16:creationId xmlns:a16="http://schemas.microsoft.com/office/drawing/2014/main" id="{48DD7587-13CE-4FAD-FBAB-8C1EB891E303}"/>
                </a:ext>
              </a:extLst>
            </p:cNvPr>
            <p:cNvSpPr txBox="1"/>
            <p:nvPr/>
          </p:nvSpPr>
          <p:spPr>
            <a:xfrm>
              <a:off x="5850968" y="2968942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defTabSz="457200"/>
              <a:r>
                <a:rPr lang="en-US" sz="1350" b="1" dirty="0">
                  <a:solidFill>
                    <a:srgbClr val="FFFFFF"/>
                  </a:solidFill>
                  <a:ea typeface="Microsoft YaHei"/>
                  <a:cs typeface="Arial"/>
                </a:rPr>
                <a:t>!</a:t>
              </a:r>
            </a:p>
          </p:txBody>
        </p:sp>
        <p:sp>
          <p:nvSpPr>
            <p:cNvPr id="97" name="Line 44">
              <a:extLst>
                <a:ext uri="{FF2B5EF4-FFF2-40B4-BE49-F238E27FC236}">
                  <a16:creationId xmlns:a16="http://schemas.microsoft.com/office/drawing/2014/main" id="{79046DA5-6AE4-E8D2-C6DC-096CF4BDFEF9}"/>
                </a:ext>
              </a:extLst>
            </p:cNvPr>
            <p:cNvSpPr/>
            <p:nvPr/>
          </p:nvSpPr>
          <p:spPr>
            <a:xfrm>
              <a:off x="8420100" y="30480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rgbClr val="E45757"/>
              </a:solidFill>
            </a:ln>
          </p:spPr>
        </p:sp>
        <p:sp>
          <p:nvSpPr>
            <p:cNvPr id="98" name="Ellipse 45">
              <a:extLst>
                <a:ext uri="{FF2B5EF4-FFF2-40B4-BE49-F238E27FC236}">
                  <a16:creationId xmlns:a16="http://schemas.microsoft.com/office/drawing/2014/main" id="{2FBB0AB3-6375-6A3E-5666-9D52145AC155}"/>
                </a:ext>
              </a:extLst>
            </p:cNvPr>
            <p:cNvSpPr/>
            <p:nvPr/>
          </p:nvSpPr>
          <p:spPr>
            <a:xfrm>
              <a:off x="8458200" y="2876550"/>
              <a:ext cx="342900" cy="342900"/>
            </a:xfrm>
            <a:prstGeom prst="ellipse">
              <a:avLst/>
            </a:prstGeom>
            <a:solidFill>
              <a:srgbClr val="E45757"/>
            </a:solidFill>
            <a:ln>
              <a:noFill/>
            </a:ln>
          </p:spPr>
        </p:sp>
        <p:sp>
          <p:nvSpPr>
            <p:cNvPr id="99" name="TextBox 46">
              <a:extLst>
                <a:ext uri="{FF2B5EF4-FFF2-40B4-BE49-F238E27FC236}">
                  <a16:creationId xmlns:a16="http://schemas.microsoft.com/office/drawing/2014/main" id="{E685B2E9-DEE5-FD4F-D6ED-6F18F10074B3}"/>
                </a:ext>
              </a:extLst>
            </p:cNvPr>
            <p:cNvSpPr txBox="1"/>
            <p:nvPr/>
          </p:nvSpPr>
          <p:spPr>
            <a:xfrm>
              <a:off x="8594168" y="2968942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defTabSz="457200"/>
              <a:r>
                <a:rPr lang="en-US" sz="1350" b="1" dirty="0">
                  <a:solidFill>
                    <a:srgbClr val="FFFFFF"/>
                  </a:solidFill>
                  <a:ea typeface="Microsoft YaHei"/>
                  <a:cs typeface="Arial"/>
                </a:rPr>
                <a:t>!</a:t>
              </a:r>
            </a:p>
          </p:txBody>
        </p:sp>
      </p:grpSp>
      <p:grpSp>
        <p:nvGrpSpPr>
          <p:cNvPr id="100" name="Group 50">
            <a:extLst>
              <a:ext uri="{FF2B5EF4-FFF2-40B4-BE49-F238E27FC236}">
                <a16:creationId xmlns:a16="http://schemas.microsoft.com/office/drawing/2014/main" id="{49ADB50C-94BF-013A-D0C9-24F3EEE92738}"/>
              </a:ext>
            </a:extLst>
          </p:cNvPr>
          <p:cNvGrpSpPr/>
          <p:nvPr/>
        </p:nvGrpSpPr>
        <p:grpSpPr>
          <a:xfrm>
            <a:off x="602742" y="4518660"/>
            <a:ext cx="7579882" cy="552641"/>
            <a:chOff x="602742" y="4518660"/>
            <a:chExt cx="7579882" cy="552641"/>
          </a:xfrm>
        </p:grpSpPr>
        <p:sp>
          <p:nvSpPr>
            <p:cNvPr id="101" name="TextBox 48">
              <a:extLst>
                <a:ext uri="{FF2B5EF4-FFF2-40B4-BE49-F238E27FC236}">
                  <a16:creationId xmlns:a16="http://schemas.microsoft.com/office/drawing/2014/main" id="{BBC3DA9E-0DCB-D060-8C96-D058B68D280F}"/>
                </a:ext>
              </a:extLst>
            </p:cNvPr>
            <p:cNvSpPr txBox="1"/>
            <p:nvPr/>
          </p:nvSpPr>
          <p:spPr>
            <a:xfrm>
              <a:off x="603504" y="45186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200" b="1" dirty="0">
                  <a:solidFill>
                    <a:srgbClr val="0B63F6"/>
                  </a:solidFill>
                  <a:ea typeface="Microsoft YaHei" panose="020B0503020204020204" pitchFamily="34" charset="-122"/>
                  <a:cs typeface="Arial"/>
                </a:rPr>
                <a:t>识别信号</a:t>
              </a:r>
            </a:p>
          </p:txBody>
        </p:sp>
        <p:sp>
          <p:nvSpPr>
            <p:cNvPr id="102" name="TextBox 49">
              <a:extLst>
                <a:ext uri="{FF2B5EF4-FFF2-40B4-BE49-F238E27FC236}">
                  <a16:creationId xmlns:a16="http://schemas.microsoft.com/office/drawing/2014/main" id="{2A7A8B29-3D0A-B13D-A6B7-F4F518CFFFAA}"/>
                </a:ext>
              </a:extLst>
            </p:cNvPr>
            <p:cNvSpPr txBox="1"/>
            <p:nvPr/>
          </p:nvSpPr>
          <p:spPr>
            <a:xfrm>
              <a:off x="602742" y="4807268"/>
              <a:ext cx="7579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付款无验收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累计付款超约定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付款进度与履约不一致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账户与合同主体不一致</a:t>
              </a:r>
            </a:p>
          </p:txBody>
        </p:sp>
      </p:grpSp>
      <p:grpSp>
        <p:nvGrpSpPr>
          <p:cNvPr id="103" name="Group 60">
            <a:extLst>
              <a:ext uri="{FF2B5EF4-FFF2-40B4-BE49-F238E27FC236}">
                <a16:creationId xmlns:a16="http://schemas.microsoft.com/office/drawing/2014/main" id="{92685918-CCBB-5E09-9D9B-73388304CA17}"/>
              </a:ext>
            </a:extLst>
          </p:cNvPr>
          <p:cNvGrpSpPr/>
          <p:nvPr/>
        </p:nvGrpSpPr>
        <p:grpSpPr>
          <a:xfrm>
            <a:off x="609600" y="5353050"/>
            <a:ext cx="10744200" cy="330803"/>
            <a:chOff x="609600" y="5353050"/>
            <a:chExt cx="10744200" cy="330803"/>
          </a:xfrm>
        </p:grpSpPr>
        <p:sp>
          <p:nvSpPr>
            <p:cNvPr id="104" name="Line 51">
              <a:extLst>
                <a:ext uri="{FF2B5EF4-FFF2-40B4-BE49-F238E27FC236}">
                  <a16:creationId xmlns:a16="http://schemas.microsoft.com/office/drawing/2014/main" id="{1A6AB8BF-4742-0A28-0602-8BD10D781F00}"/>
                </a:ext>
              </a:extLst>
            </p:cNvPr>
            <p:cNvSpPr/>
            <p:nvPr/>
          </p:nvSpPr>
          <p:spPr>
            <a:xfrm>
              <a:off x="609600" y="55054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105" name="Ellipse 52">
              <a:extLst>
                <a:ext uri="{FF2B5EF4-FFF2-40B4-BE49-F238E27FC236}">
                  <a16:creationId xmlns:a16="http://schemas.microsoft.com/office/drawing/2014/main" id="{A948DB88-53E6-D176-9AEA-E1A8DD35C6CC}"/>
                </a:ext>
              </a:extLst>
            </p:cNvPr>
            <p:cNvSpPr/>
            <p:nvPr/>
          </p:nvSpPr>
          <p:spPr>
            <a:xfrm>
              <a:off x="876300" y="5353050"/>
              <a:ext cx="304800" cy="3048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106" name="TextBox 53">
              <a:extLst>
                <a:ext uri="{FF2B5EF4-FFF2-40B4-BE49-F238E27FC236}">
                  <a16:creationId xmlns:a16="http://schemas.microsoft.com/office/drawing/2014/main" id="{2AC59F14-9CE2-7C91-006D-665F2491779C}"/>
                </a:ext>
              </a:extLst>
            </p:cNvPr>
            <p:cNvSpPr txBox="1"/>
            <p:nvPr/>
          </p:nvSpPr>
          <p:spPr>
            <a:xfrm>
              <a:off x="1288923" y="5434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预警研判</a:t>
              </a:r>
            </a:p>
          </p:txBody>
        </p:sp>
        <p:sp>
          <p:nvSpPr>
            <p:cNvPr id="107" name="Ellipse 54">
              <a:extLst>
                <a:ext uri="{FF2B5EF4-FFF2-40B4-BE49-F238E27FC236}">
                  <a16:creationId xmlns:a16="http://schemas.microsoft.com/office/drawing/2014/main" id="{1C4CF77E-7200-82CC-F414-5F5FBD1AE9EB}"/>
                </a:ext>
              </a:extLst>
            </p:cNvPr>
            <p:cNvSpPr/>
            <p:nvPr/>
          </p:nvSpPr>
          <p:spPr>
            <a:xfrm>
              <a:off x="3486150" y="5353050"/>
              <a:ext cx="304800" cy="3048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108" name="TextBox 55">
              <a:extLst>
                <a:ext uri="{FF2B5EF4-FFF2-40B4-BE49-F238E27FC236}">
                  <a16:creationId xmlns:a16="http://schemas.microsoft.com/office/drawing/2014/main" id="{B4730B98-42F5-04B5-C7F9-E3645A48EB49}"/>
                </a:ext>
              </a:extLst>
            </p:cNvPr>
            <p:cNvSpPr txBox="1"/>
            <p:nvPr/>
          </p:nvSpPr>
          <p:spPr>
            <a:xfrm>
              <a:off x="3898773" y="5434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升级事件</a:t>
              </a:r>
            </a:p>
          </p:txBody>
        </p:sp>
        <p:sp>
          <p:nvSpPr>
            <p:cNvPr id="109" name="Ellipse 56">
              <a:extLst>
                <a:ext uri="{FF2B5EF4-FFF2-40B4-BE49-F238E27FC236}">
                  <a16:creationId xmlns:a16="http://schemas.microsoft.com/office/drawing/2014/main" id="{A1962839-F31F-5E59-B687-B25B8A2B6370}"/>
                </a:ext>
              </a:extLst>
            </p:cNvPr>
            <p:cNvSpPr/>
            <p:nvPr/>
          </p:nvSpPr>
          <p:spPr>
            <a:xfrm>
              <a:off x="6057900" y="5353050"/>
              <a:ext cx="304800" cy="3048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110" name="TextBox 57">
              <a:extLst>
                <a:ext uri="{FF2B5EF4-FFF2-40B4-BE49-F238E27FC236}">
                  <a16:creationId xmlns:a16="http://schemas.microsoft.com/office/drawing/2014/main" id="{BA656389-F61E-2567-C25A-1429E94C3D1D}"/>
                </a:ext>
              </a:extLst>
            </p:cNvPr>
            <p:cNvSpPr txBox="1"/>
            <p:nvPr/>
          </p:nvSpPr>
          <p:spPr>
            <a:xfrm>
              <a:off x="6470523" y="543448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补充材料 </a:t>
              </a:r>
              <a:r>
                <a:rPr kumimoji="0" lang="en-US" altLang="zh-CN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纠正付款</a:t>
              </a:r>
            </a:p>
          </p:txBody>
        </p:sp>
        <p:sp>
          <p:nvSpPr>
            <p:cNvPr id="111" name="Ellipse 58">
              <a:extLst>
                <a:ext uri="{FF2B5EF4-FFF2-40B4-BE49-F238E27FC236}">
                  <a16:creationId xmlns:a16="http://schemas.microsoft.com/office/drawing/2014/main" id="{9BA10C8D-E7DD-1865-054B-32D5BC3B4C60}"/>
                </a:ext>
              </a:extLst>
            </p:cNvPr>
            <p:cNvSpPr/>
            <p:nvPr/>
          </p:nvSpPr>
          <p:spPr>
            <a:xfrm>
              <a:off x="9925050" y="5353050"/>
              <a:ext cx="304800" cy="30480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112" name="TextBox 59">
              <a:extLst>
                <a:ext uri="{FF2B5EF4-FFF2-40B4-BE49-F238E27FC236}">
                  <a16:creationId xmlns:a16="http://schemas.microsoft.com/office/drawing/2014/main" id="{BC82A812-9D1D-2D27-823C-E39A602A5B2D}"/>
                </a:ext>
              </a:extLst>
            </p:cNvPr>
            <p:cNvSpPr txBox="1"/>
            <p:nvPr/>
          </p:nvSpPr>
          <p:spPr>
            <a:xfrm>
              <a:off x="10337673" y="5434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复核关闭</a:t>
              </a:r>
            </a:p>
          </p:txBody>
        </p:sp>
      </p:grpSp>
      <p:grpSp>
        <p:nvGrpSpPr>
          <p:cNvPr id="113" name="Group 62">
            <a:extLst>
              <a:ext uri="{FF2B5EF4-FFF2-40B4-BE49-F238E27FC236}">
                <a16:creationId xmlns:a16="http://schemas.microsoft.com/office/drawing/2014/main" id="{4BB149C8-1A67-4FC2-FB53-007D9F2022F4}"/>
              </a:ext>
            </a:extLst>
          </p:cNvPr>
          <p:cNvGrpSpPr/>
          <p:nvPr/>
        </p:nvGrpSpPr>
        <p:grpSpPr>
          <a:xfrm>
            <a:off x="603504" y="5985510"/>
            <a:ext cx="6118555" cy="234696"/>
            <a:chOff x="603504" y="5985510"/>
            <a:chExt cx="6118555" cy="234696"/>
          </a:xfrm>
        </p:grpSpPr>
        <p:sp>
          <p:nvSpPr>
            <p:cNvPr id="114" name="TextBox 61">
              <a:extLst>
                <a:ext uri="{FF2B5EF4-FFF2-40B4-BE49-F238E27FC236}">
                  <a16:creationId xmlns:a16="http://schemas.microsoft.com/office/drawing/2014/main" id="{52B1D854-DC88-CB88-19BD-6CF5E4DE795D}"/>
                </a:ext>
              </a:extLst>
            </p:cNvPr>
            <p:cNvSpPr txBox="1"/>
            <p:nvPr/>
          </p:nvSpPr>
          <p:spPr>
            <a:xfrm>
              <a:off x="603504" y="5985510"/>
              <a:ext cx="6118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200" b="1" dirty="0">
                  <a:solidFill>
                    <a:srgbClr val="596579"/>
                  </a:solidFill>
                  <a:ea typeface="Microsoft YaHei" panose="020B0503020204020204" pitchFamily="34" charset="-122"/>
                  <a:cs typeface="Arial"/>
                </a:rPr>
                <a:t>情景示例：付款执行记录触发；合同、验收、发票、付款与账户快照共同构成证据</a:t>
              </a:r>
            </a:p>
          </p:txBody>
        </p:sp>
      </p:grpSp>
      <p:sp>
        <p:nvSpPr>
          <p:cNvPr id="118" name="标题 1">
            <a:extLst>
              <a:ext uri="{FF2B5EF4-FFF2-40B4-BE49-F238E27FC236}">
                <a16:creationId xmlns:a16="http://schemas.microsoft.com/office/drawing/2014/main" id="{77EE352D-2ADC-BEF3-1AEA-5C855C07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88000"/>
            <a:ext cx="9286412" cy="455930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典型应用场景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614034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6">
            <a:extLst>
              <a:ext uri="{FF2B5EF4-FFF2-40B4-BE49-F238E27FC236}">
                <a16:creationId xmlns:a16="http://schemas.microsoft.com/office/drawing/2014/main" id="{AE2FDD51-08C7-43D9-FD85-699ECE5DCB3D}"/>
              </a:ext>
            </a:extLst>
          </p:cNvPr>
          <p:cNvSpPr txBox="1"/>
          <p:nvPr/>
        </p:nvSpPr>
        <p:spPr>
          <a:xfrm>
            <a:off x="595122" y="949642"/>
            <a:ext cx="848881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defTabSz="457200"/>
            <a:r>
              <a:rPr lang="zh-CN" altLang="en-US" sz="2850" b="1" dirty="0">
                <a:solidFill>
                  <a:srgbClr val="2D3748"/>
                </a:solidFill>
                <a:ea typeface="Microsoft YaHei" panose="020B0503020204020204" pitchFamily="34" charset="-122"/>
                <a:cs typeface="Arial"/>
              </a:rPr>
              <a:t>投资决策合规：以授权边界校验立项审批全过程</a:t>
            </a:r>
          </a:p>
        </p:txBody>
      </p:sp>
      <p:grpSp>
        <p:nvGrpSpPr>
          <p:cNvPr id="76" name="Group 30">
            <a:extLst>
              <a:ext uri="{FF2B5EF4-FFF2-40B4-BE49-F238E27FC236}">
                <a16:creationId xmlns:a16="http://schemas.microsoft.com/office/drawing/2014/main" id="{70EBC221-D92D-30EA-D59D-1645015FA1E9}"/>
              </a:ext>
            </a:extLst>
          </p:cNvPr>
          <p:cNvGrpSpPr/>
          <p:nvPr/>
        </p:nvGrpSpPr>
        <p:grpSpPr>
          <a:xfrm>
            <a:off x="603504" y="1832610"/>
            <a:ext cx="6483096" cy="2082546"/>
            <a:chOff x="603504" y="1832610"/>
            <a:chExt cx="6483096" cy="2082546"/>
          </a:xfrm>
        </p:grpSpPr>
        <p:sp>
          <p:nvSpPr>
            <p:cNvPr id="77" name="TextBox 8">
              <a:extLst>
                <a:ext uri="{FF2B5EF4-FFF2-40B4-BE49-F238E27FC236}">
                  <a16:creationId xmlns:a16="http://schemas.microsoft.com/office/drawing/2014/main" id="{6F24FB6E-E938-2E0D-9A0C-E8C7F9583F88}"/>
                </a:ext>
              </a:extLst>
            </p:cNvPr>
            <p:cNvSpPr txBox="1"/>
            <p:nvPr/>
          </p:nvSpPr>
          <p:spPr>
            <a:xfrm>
              <a:off x="603504" y="18326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四阶段门控</a:t>
              </a:r>
            </a:p>
          </p:txBody>
        </p:sp>
        <p:sp>
          <p:nvSpPr>
            <p:cNvPr id="78" name="Line 9">
              <a:extLst>
                <a:ext uri="{FF2B5EF4-FFF2-40B4-BE49-F238E27FC236}">
                  <a16:creationId xmlns:a16="http://schemas.microsoft.com/office/drawing/2014/main" id="{9D32CEF0-C2A3-0148-9DB7-6A7EE1BA7D91}"/>
                </a:ext>
              </a:extLst>
            </p:cNvPr>
            <p:cNvSpPr/>
            <p:nvPr/>
          </p:nvSpPr>
          <p:spPr>
            <a:xfrm>
              <a:off x="1066800" y="2952750"/>
              <a:ext cx="5657850" cy="9525"/>
            </a:xfrm>
            <a:custGeom>
              <a:avLst/>
              <a:gdLst/>
              <a:ahLst/>
              <a:cxnLst/>
              <a:rect l="l" t="t" r="r" b="b"/>
              <a:pathLst>
                <a:path w="5657850" h="9525">
                  <a:moveTo>
                    <a:pt x="0" y="0"/>
                  </a:moveTo>
                  <a:lnTo>
                    <a:pt x="5657850" y="0"/>
                  </a:lnTo>
                </a:path>
              </a:pathLst>
            </a:custGeom>
            <a:noFill/>
            <a:ln w="38100">
              <a:solidFill>
                <a:srgbClr val="B9D3FF"/>
              </a:solidFill>
            </a:ln>
          </p:spPr>
        </p:sp>
        <p:sp>
          <p:nvSpPr>
            <p:cNvPr id="79" name="Ellipse 10">
              <a:extLst>
                <a:ext uri="{FF2B5EF4-FFF2-40B4-BE49-F238E27FC236}">
                  <a16:creationId xmlns:a16="http://schemas.microsoft.com/office/drawing/2014/main" id="{773EEE4E-A656-FA58-EDB6-267E949C5AE8}"/>
                </a:ext>
              </a:extLst>
            </p:cNvPr>
            <p:cNvSpPr/>
            <p:nvPr/>
          </p:nvSpPr>
          <p:spPr>
            <a:xfrm>
              <a:off x="704850" y="2590800"/>
              <a:ext cx="723900" cy="7239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80" name="TextBox 11">
              <a:extLst>
                <a:ext uri="{FF2B5EF4-FFF2-40B4-BE49-F238E27FC236}">
                  <a16:creationId xmlns:a16="http://schemas.microsoft.com/office/drawing/2014/main" id="{CD1F7150-4D25-52A1-FACC-89033F349C9B}"/>
                </a:ext>
              </a:extLst>
            </p:cNvPr>
            <p:cNvSpPr txBox="1"/>
            <p:nvPr/>
          </p:nvSpPr>
          <p:spPr>
            <a:xfrm>
              <a:off x="917719" y="2853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81" name="TextBox 12">
              <a:extLst>
                <a:ext uri="{FF2B5EF4-FFF2-40B4-BE49-F238E27FC236}">
                  <a16:creationId xmlns:a16="http://schemas.microsoft.com/office/drawing/2014/main" id="{B03BD451-6005-1D0E-1D11-A050408F3D4A}"/>
                </a:ext>
              </a:extLst>
            </p:cNvPr>
            <p:cNvSpPr txBox="1"/>
            <p:nvPr/>
          </p:nvSpPr>
          <p:spPr>
            <a:xfrm>
              <a:off x="825189" y="2203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立项</a:t>
              </a:r>
            </a:p>
          </p:txBody>
        </p:sp>
        <p:sp>
          <p:nvSpPr>
            <p:cNvPr id="82" name="TextBox 13">
              <a:extLst>
                <a:ext uri="{FF2B5EF4-FFF2-40B4-BE49-F238E27FC236}">
                  <a16:creationId xmlns:a16="http://schemas.microsoft.com/office/drawing/2014/main" id="{46907167-12C9-EF38-ACD2-76CB2405A4E2}"/>
                </a:ext>
              </a:extLst>
            </p:cNvPr>
            <p:cNvSpPr txBox="1"/>
            <p:nvPr/>
          </p:nvSpPr>
          <p:spPr>
            <a:xfrm>
              <a:off x="737616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项目主体</a:t>
              </a:r>
            </a:p>
          </p:txBody>
        </p:sp>
        <p:sp>
          <p:nvSpPr>
            <p:cNvPr id="83" name="TextBox 14">
              <a:extLst>
                <a:ext uri="{FF2B5EF4-FFF2-40B4-BE49-F238E27FC236}">
                  <a16:creationId xmlns:a16="http://schemas.microsoft.com/office/drawing/2014/main" id="{F38C56FE-9A81-C347-6C6D-3F5E0672BD3E}"/>
                </a:ext>
              </a:extLst>
            </p:cNvPr>
            <p:cNvSpPr txBox="1"/>
            <p:nvPr/>
          </p:nvSpPr>
          <p:spPr>
            <a:xfrm>
              <a:off x="7376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主业分类</a:t>
              </a:r>
            </a:p>
          </p:txBody>
        </p:sp>
        <p:sp>
          <p:nvSpPr>
            <p:cNvPr id="84" name="Ellipse 15">
              <a:extLst>
                <a:ext uri="{FF2B5EF4-FFF2-40B4-BE49-F238E27FC236}">
                  <a16:creationId xmlns:a16="http://schemas.microsoft.com/office/drawing/2014/main" id="{AB749B33-D2F9-892F-E852-CB0710C74D9F}"/>
                </a:ext>
              </a:extLst>
            </p:cNvPr>
            <p:cNvSpPr/>
            <p:nvPr/>
          </p:nvSpPr>
          <p:spPr>
            <a:xfrm>
              <a:off x="2590800" y="2590800"/>
              <a:ext cx="723900" cy="7239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85" name="TextBox 16">
              <a:extLst>
                <a:ext uri="{FF2B5EF4-FFF2-40B4-BE49-F238E27FC236}">
                  <a16:creationId xmlns:a16="http://schemas.microsoft.com/office/drawing/2014/main" id="{FD1341CD-E4E8-305B-5A87-DCF23C3CE1CF}"/>
                </a:ext>
              </a:extLst>
            </p:cNvPr>
            <p:cNvSpPr txBox="1"/>
            <p:nvPr/>
          </p:nvSpPr>
          <p:spPr>
            <a:xfrm>
              <a:off x="2803669" y="2853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86" name="TextBox 17">
              <a:extLst>
                <a:ext uri="{FF2B5EF4-FFF2-40B4-BE49-F238E27FC236}">
                  <a16:creationId xmlns:a16="http://schemas.microsoft.com/office/drawing/2014/main" id="{E9D11030-6F21-C770-795B-CC353296091D}"/>
                </a:ext>
              </a:extLst>
            </p:cNvPr>
            <p:cNvSpPr txBox="1"/>
            <p:nvPr/>
          </p:nvSpPr>
          <p:spPr>
            <a:xfrm>
              <a:off x="2711139" y="2203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论证</a:t>
              </a:r>
            </a:p>
          </p:txBody>
        </p:sp>
        <p:sp>
          <p:nvSpPr>
            <p:cNvPr id="87" name="TextBox 18">
              <a:extLst>
                <a:ext uri="{FF2B5EF4-FFF2-40B4-BE49-F238E27FC236}">
                  <a16:creationId xmlns:a16="http://schemas.microsoft.com/office/drawing/2014/main" id="{5CF3D793-8EC4-D891-50E4-C726CFF898D7}"/>
                </a:ext>
              </a:extLst>
            </p:cNvPr>
            <p:cNvSpPr txBox="1"/>
            <p:nvPr/>
          </p:nvSpPr>
          <p:spPr>
            <a:xfrm>
              <a:off x="2623566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尽调评估</a:t>
              </a:r>
            </a:p>
          </p:txBody>
        </p:sp>
        <p:sp>
          <p:nvSpPr>
            <p:cNvPr id="88" name="TextBox 19">
              <a:extLst>
                <a:ext uri="{FF2B5EF4-FFF2-40B4-BE49-F238E27FC236}">
                  <a16:creationId xmlns:a16="http://schemas.microsoft.com/office/drawing/2014/main" id="{F236A79F-DEE3-4F1D-C514-44711A3D2092}"/>
                </a:ext>
              </a:extLst>
            </p:cNvPr>
            <p:cNvSpPr txBox="1"/>
            <p:nvPr/>
          </p:nvSpPr>
          <p:spPr>
            <a:xfrm>
              <a:off x="262356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关键材料</a:t>
              </a:r>
            </a:p>
          </p:txBody>
        </p:sp>
        <p:sp>
          <p:nvSpPr>
            <p:cNvPr id="89" name="Ellipse 20">
              <a:extLst>
                <a:ext uri="{FF2B5EF4-FFF2-40B4-BE49-F238E27FC236}">
                  <a16:creationId xmlns:a16="http://schemas.microsoft.com/office/drawing/2014/main" id="{763F5266-915D-9DA4-7391-7144E71D8BEB}"/>
                </a:ext>
              </a:extLst>
            </p:cNvPr>
            <p:cNvSpPr/>
            <p:nvPr/>
          </p:nvSpPr>
          <p:spPr>
            <a:xfrm>
              <a:off x="4476750" y="2590800"/>
              <a:ext cx="723900" cy="7239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90" name="TextBox 21">
              <a:extLst>
                <a:ext uri="{FF2B5EF4-FFF2-40B4-BE49-F238E27FC236}">
                  <a16:creationId xmlns:a16="http://schemas.microsoft.com/office/drawing/2014/main" id="{9794EF1A-0CB1-BAA1-D0CE-422DAAC2577F}"/>
                </a:ext>
              </a:extLst>
            </p:cNvPr>
            <p:cNvSpPr txBox="1"/>
            <p:nvPr/>
          </p:nvSpPr>
          <p:spPr>
            <a:xfrm>
              <a:off x="4689619" y="2853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91" name="TextBox 22">
              <a:extLst>
                <a:ext uri="{FF2B5EF4-FFF2-40B4-BE49-F238E27FC236}">
                  <a16:creationId xmlns:a16="http://schemas.microsoft.com/office/drawing/2014/main" id="{4B3CEBA8-0E28-7945-3FB7-7DF44EBEE03A}"/>
                </a:ext>
              </a:extLst>
            </p:cNvPr>
            <p:cNvSpPr txBox="1"/>
            <p:nvPr/>
          </p:nvSpPr>
          <p:spPr>
            <a:xfrm>
              <a:off x="4597089" y="2203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审批</a:t>
              </a:r>
            </a:p>
          </p:txBody>
        </p:sp>
        <p:sp>
          <p:nvSpPr>
            <p:cNvPr id="92" name="TextBox 23">
              <a:extLst>
                <a:ext uri="{FF2B5EF4-FFF2-40B4-BE49-F238E27FC236}">
                  <a16:creationId xmlns:a16="http://schemas.microsoft.com/office/drawing/2014/main" id="{9C081E97-85DF-8CB4-3ABD-64C6FCD8F7FB}"/>
                </a:ext>
              </a:extLst>
            </p:cNvPr>
            <p:cNvSpPr txBox="1"/>
            <p:nvPr/>
          </p:nvSpPr>
          <p:spPr>
            <a:xfrm>
              <a:off x="4509516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授权边界</a:t>
              </a:r>
            </a:p>
          </p:txBody>
        </p:sp>
        <p:sp>
          <p:nvSpPr>
            <p:cNvPr id="93" name="TextBox 24">
              <a:extLst>
                <a:ext uri="{FF2B5EF4-FFF2-40B4-BE49-F238E27FC236}">
                  <a16:creationId xmlns:a16="http://schemas.microsoft.com/office/drawing/2014/main" id="{83825308-31B0-789C-8646-C142120421B1}"/>
                </a:ext>
              </a:extLst>
            </p:cNvPr>
            <p:cNvSpPr txBox="1"/>
            <p:nvPr/>
          </p:nvSpPr>
          <p:spPr>
            <a:xfrm>
              <a:off x="45095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会议决策</a:t>
              </a:r>
            </a:p>
          </p:txBody>
        </p:sp>
        <p:sp>
          <p:nvSpPr>
            <p:cNvPr id="94" name="Ellipse 25">
              <a:extLst>
                <a:ext uri="{FF2B5EF4-FFF2-40B4-BE49-F238E27FC236}">
                  <a16:creationId xmlns:a16="http://schemas.microsoft.com/office/drawing/2014/main" id="{BF581B25-7DAE-3F36-7175-0E304BD95EDE}"/>
                </a:ext>
              </a:extLst>
            </p:cNvPr>
            <p:cNvSpPr/>
            <p:nvPr/>
          </p:nvSpPr>
          <p:spPr>
            <a:xfrm>
              <a:off x="6362700" y="2590800"/>
              <a:ext cx="723900" cy="72390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95" name="TextBox 26">
              <a:extLst>
                <a:ext uri="{FF2B5EF4-FFF2-40B4-BE49-F238E27FC236}">
                  <a16:creationId xmlns:a16="http://schemas.microsoft.com/office/drawing/2014/main" id="{BFCAD34F-0608-3088-16F3-B9F7BBAA1E06}"/>
                </a:ext>
              </a:extLst>
            </p:cNvPr>
            <p:cNvSpPr txBox="1"/>
            <p:nvPr/>
          </p:nvSpPr>
          <p:spPr>
            <a:xfrm>
              <a:off x="6575569" y="28536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96" name="TextBox 27">
              <a:extLst>
                <a:ext uri="{FF2B5EF4-FFF2-40B4-BE49-F238E27FC236}">
                  <a16:creationId xmlns:a16="http://schemas.microsoft.com/office/drawing/2014/main" id="{008C58C5-700D-DE6A-E755-C4B771438E62}"/>
                </a:ext>
              </a:extLst>
            </p:cNvPr>
            <p:cNvSpPr txBox="1"/>
            <p:nvPr/>
          </p:nvSpPr>
          <p:spPr>
            <a:xfrm>
              <a:off x="6483039" y="2203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执行</a:t>
              </a:r>
            </a:p>
          </p:txBody>
        </p:sp>
        <p:sp>
          <p:nvSpPr>
            <p:cNvPr id="97" name="TextBox 28">
              <a:extLst>
                <a:ext uri="{FF2B5EF4-FFF2-40B4-BE49-F238E27FC236}">
                  <a16:creationId xmlns:a16="http://schemas.microsoft.com/office/drawing/2014/main" id="{5A7AF4D4-04D3-9BFE-6A33-100B7CA6A5C8}"/>
                </a:ext>
              </a:extLst>
            </p:cNvPr>
            <p:cNvSpPr txBox="1"/>
            <p:nvPr/>
          </p:nvSpPr>
          <p:spPr>
            <a:xfrm>
              <a:off x="6395466" y="3432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预算安排</a:t>
              </a:r>
            </a:p>
          </p:txBody>
        </p:sp>
        <p:sp>
          <p:nvSpPr>
            <p:cNvPr id="98" name="TextBox 29">
              <a:extLst>
                <a:ext uri="{FF2B5EF4-FFF2-40B4-BE49-F238E27FC236}">
                  <a16:creationId xmlns:a16="http://schemas.microsoft.com/office/drawing/2014/main" id="{B85942A6-44DA-2EFC-CAA6-FAF87A578CB8}"/>
                </a:ext>
              </a:extLst>
            </p:cNvPr>
            <p:cNvSpPr txBox="1"/>
            <p:nvPr/>
          </p:nvSpPr>
          <p:spPr>
            <a:xfrm>
              <a:off x="639546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资金执行</a:t>
              </a: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F86B430B-CC64-0F29-CB94-0ED9B3ADA2E7}"/>
              </a:ext>
            </a:extLst>
          </p:cNvPr>
          <p:cNvGrpSpPr/>
          <p:nvPr/>
        </p:nvGrpSpPr>
        <p:grpSpPr>
          <a:xfrm>
            <a:off x="7677150" y="1752600"/>
            <a:ext cx="3676650" cy="2686050"/>
            <a:chOff x="7677150" y="1752600"/>
            <a:chExt cx="3676650" cy="2686050"/>
          </a:xfrm>
        </p:grpSpPr>
        <p:sp>
          <p:nvSpPr>
            <p:cNvPr id="100" name="Rectangle 31">
              <a:extLst>
                <a:ext uri="{FF2B5EF4-FFF2-40B4-BE49-F238E27FC236}">
                  <a16:creationId xmlns:a16="http://schemas.microsoft.com/office/drawing/2014/main" id="{F6B31C62-E2A0-FEF7-230B-07FCD6FA4359}"/>
                </a:ext>
              </a:extLst>
            </p:cNvPr>
            <p:cNvSpPr/>
            <p:nvPr/>
          </p:nvSpPr>
          <p:spPr>
            <a:xfrm>
              <a:off x="7677150" y="1752600"/>
              <a:ext cx="3676650" cy="268605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101" name="TextBox 32">
              <a:extLst>
                <a:ext uri="{FF2B5EF4-FFF2-40B4-BE49-F238E27FC236}">
                  <a16:creationId xmlns:a16="http://schemas.microsoft.com/office/drawing/2014/main" id="{6DDEF864-CEB7-070D-9B58-B1DA1942FE39}"/>
                </a:ext>
              </a:extLst>
            </p:cNvPr>
            <p:cNvSpPr txBox="1"/>
            <p:nvPr/>
          </p:nvSpPr>
          <p:spPr>
            <a:xfrm>
              <a:off x="7899654" y="19278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跨域证据叠加</a:t>
              </a:r>
            </a:p>
          </p:txBody>
        </p:sp>
        <p:sp>
          <p:nvSpPr>
            <p:cNvPr id="102" name="TextBox 33">
              <a:extLst>
                <a:ext uri="{FF2B5EF4-FFF2-40B4-BE49-F238E27FC236}">
                  <a16:creationId xmlns:a16="http://schemas.microsoft.com/office/drawing/2014/main" id="{CC491724-CE19-410F-7B5A-F15184A4C23C}"/>
                </a:ext>
              </a:extLst>
            </p:cNvPr>
            <p:cNvSpPr txBox="1"/>
            <p:nvPr/>
          </p:nvSpPr>
          <p:spPr>
            <a:xfrm>
              <a:off x="7897368" y="23174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授权</a:t>
              </a:r>
            </a:p>
          </p:txBody>
        </p:sp>
        <p:sp>
          <p:nvSpPr>
            <p:cNvPr id="103" name="TextBox 34">
              <a:extLst>
                <a:ext uri="{FF2B5EF4-FFF2-40B4-BE49-F238E27FC236}">
                  <a16:creationId xmlns:a16="http://schemas.microsoft.com/office/drawing/2014/main" id="{FA6485C2-D01E-FA35-D3CD-5FDE00547559}"/>
                </a:ext>
              </a:extLst>
            </p:cNvPr>
            <p:cNvSpPr txBox="1"/>
            <p:nvPr/>
          </p:nvSpPr>
          <p:spPr>
            <a:xfrm>
              <a:off x="8851773" y="23579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组织授权清单与版本</a:t>
              </a:r>
            </a:p>
          </p:txBody>
        </p:sp>
        <p:sp>
          <p:nvSpPr>
            <p:cNvPr id="104" name="Line 35">
              <a:extLst>
                <a:ext uri="{FF2B5EF4-FFF2-40B4-BE49-F238E27FC236}">
                  <a16:creationId xmlns:a16="http://schemas.microsoft.com/office/drawing/2014/main" id="{D64BFA6F-A9EA-2008-3890-87F76621EAFE}"/>
                </a:ext>
              </a:extLst>
            </p:cNvPr>
            <p:cNvSpPr/>
            <p:nvPr/>
          </p:nvSpPr>
          <p:spPr>
            <a:xfrm>
              <a:off x="7905750" y="26860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105" name="TextBox 36">
              <a:extLst>
                <a:ext uri="{FF2B5EF4-FFF2-40B4-BE49-F238E27FC236}">
                  <a16:creationId xmlns:a16="http://schemas.microsoft.com/office/drawing/2014/main" id="{DD79C557-5EE3-47FD-0F32-B023F5955F60}"/>
                </a:ext>
              </a:extLst>
            </p:cNvPr>
            <p:cNvSpPr txBox="1"/>
            <p:nvPr/>
          </p:nvSpPr>
          <p:spPr>
            <a:xfrm>
              <a:off x="7897368" y="28698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会议</a:t>
              </a:r>
            </a:p>
          </p:txBody>
        </p:sp>
        <p:sp>
          <p:nvSpPr>
            <p:cNvPr id="106" name="TextBox 37">
              <a:extLst>
                <a:ext uri="{FF2B5EF4-FFF2-40B4-BE49-F238E27FC236}">
                  <a16:creationId xmlns:a16="http://schemas.microsoft.com/office/drawing/2014/main" id="{26AF0C96-A870-2111-9D68-0D6E1195C69A}"/>
                </a:ext>
              </a:extLst>
            </p:cNvPr>
            <p:cNvSpPr txBox="1"/>
            <p:nvPr/>
          </p:nvSpPr>
          <p:spPr>
            <a:xfrm>
              <a:off x="8851773" y="29103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纪要、议题与审批链</a:t>
              </a:r>
            </a:p>
          </p:txBody>
        </p:sp>
        <p:sp>
          <p:nvSpPr>
            <p:cNvPr id="107" name="Line 38">
              <a:extLst>
                <a:ext uri="{FF2B5EF4-FFF2-40B4-BE49-F238E27FC236}">
                  <a16:creationId xmlns:a16="http://schemas.microsoft.com/office/drawing/2014/main" id="{7366A01B-4B51-66CA-E037-D19AA9215740}"/>
                </a:ext>
              </a:extLst>
            </p:cNvPr>
            <p:cNvSpPr/>
            <p:nvPr/>
          </p:nvSpPr>
          <p:spPr>
            <a:xfrm>
              <a:off x="7905750" y="323850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108" name="TextBox 39">
              <a:extLst>
                <a:ext uri="{FF2B5EF4-FFF2-40B4-BE49-F238E27FC236}">
                  <a16:creationId xmlns:a16="http://schemas.microsoft.com/office/drawing/2014/main" id="{1DDD2A1A-7FFB-44B4-E970-DA9B2AD0D580}"/>
                </a:ext>
              </a:extLst>
            </p:cNvPr>
            <p:cNvSpPr txBox="1"/>
            <p:nvPr/>
          </p:nvSpPr>
          <p:spPr>
            <a:xfrm>
              <a:off x="7897368" y="3422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主业</a:t>
              </a:r>
            </a:p>
          </p:txBody>
        </p:sp>
        <p:sp>
          <p:nvSpPr>
            <p:cNvPr id="109" name="TextBox 40">
              <a:extLst>
                <a:ext uri="{FF2B5EF4-FFF2-40B4-BE49-F238E27FC236}">
                  <a16:creationId xmlns:a16="http://schemas.microsoft.com/office/drawing/2014/main" id="{B0BA931D-37D0-66FE-8508-D1A449F35A7F}"/>
                </a:ext>
              </a:extLst>
            </p:cNvPr>
            <p:cNvSpPr txBox="1"/>
            <p:nvPr/>
          </p:nvSpPr>
          <p:spPr>
            <a:xfrm>
              <a:off x="8851773" y="34628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分类、项目主体与关联方</a:t>
              </a:r>
            </a:p>
          </p:txBody>
        </p:sp>
        <p:sp>
          <p:nvSpPr>
            <p:cNvPr id="110" name="Line 41">
              <a:extLst>
                <a:ext uri="{FF2B5EF4-FFF2-40B4-BE49-F238E27FC236}">
                  <a16:creationId xmlns:a16="http://schemas.microsoft.com/office/drawing/2014/main" id="{88A4916E-C7F2-F4A4-4DDC-CB07C0736A03}"/>
                </a:ext>
              </a:extLst>
            </p:cNvPr>
            <p:cNvSpPr/>
            <p:nvPr/>
          </p:nvSpPr>
          <p:spPr>
            <a:xfrm>
              <a:off x="7905750" y="3790950"/>
              <a:ext cx="3219450" cy="9525"/>
            </a:xfrm>
            <a:custGeom>
              <a:avLst/>
              <a:gdLst/>
              <a:ahLst/>
              <a:cxnLst/>
              <a:rect l="l" t="t" r="r" b="b"/>
              <a:pathLst>
                <a:path w="3219450" h="9525">
                  <a:moveTo>
                    <a:pt x="0" y="0"/>
                  </a:moveTo>
                  <a:lnTo>
                    <a:pt x="3219450" y="0"/>
                  </a:lnTo>
                </a:path>
              </a:pathLst>
            </a:custGeom>
            <a:noFill/>
            <a:ln w="9525">
              <a:solidFill>
                <a:srgbClr val="DCE8FA"/>
              </a:solidFill>
            </a:ln>
          </p:spPr>
        </p:sp>
        <p:sp>
          <p:nvSpPr>
            <p:cNvPr id="111" name="TextBox 42">
              <a:extLst>
                <a:ext uri="{FF2B5EF4-FFF2-40B4-BE49-F238E27FC236}">
                  <a16:creationId xmlns:a16="http://schemas.microsoft.com/office/drawing/2014/main" id="{105A51B2-B68C-8A35-3EAE-9131768C038D}"/>
                </a:ext>
              </a:extLst>
            </p:cNvPr>
            <p:cNvSpPr txBox="1"/>
            <p:nvPr/>
          </p:nvSpPr>
          <p:spPr>
            <a:xfrm>
              <a:off x="7897368" y="39747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资金</a:t>
              </a:r>
            </a:p>
          </p:txBody>
        </p:sp>
        <p:sp>
          <p:nvSpPr>
            <p:cNvPr id="112" name="TextBox 43">
              <a:extLst>
                <a:ext uri="{FF2B5EF4-FFF2-40B4-BE49-F238E27FC236}">
                  <a16:creationId xmlns:a16="http://schemas.microsoft.com/office/drawing/2014/main" id="{D500B109-3E6B-C8FF-BB86-8C7D1A9EED76}"/>
                </a:ext>
              </a:extLst>
            </p:cNvPr>
            <p:cNvSpPr txBox="1"/>
            <p:nvPr/>
          </p:nvSpPr>
          <p:spPr>
            <a:xfrm>
              <a:off x="8851773" y="40152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预算、安排与执行记录</a:t>
              </a:r>
            </a:p>
          </p:txBody>
        </p:sp>
      </p:grpSp>
      <p:grpSp>
        <p:nvGrpSpPr>
          <p:cNvPr id="113" name="Group 47">
            <a:extLst>
              <a:ext uri="{FF2B5EF4-FFF2-40B4-BE49-F238E27FC236}">
                <a16:creationId xmlns:a16="http://schemas.microsoft.com/office/drawing/2014/main" id="{7E9FDF5C-99D0-6518-5EBF-4583DBBEDB61}"/>
              </a:ext>
            </a:extLst>
          </p:cNvPr>
          <p:cNvGrpSpPr/>
          <p:nvPr/>
        </p:nvGrpSpPr>
        <p:grpSpPr>
          <a:xfrm>
            <a:off x="602742" y="4747260"/>
            <a:ext cx="6730716" cy="533591"/>
            <a:chOff x="602742" y="4747260"/>
            <a:chExt cx="6730716" cy="533591"/>
          </a:xfrm>
        </p:grpSpPr>
        <p:sp>
          <p:nvSpPr>
            <p:cNvPr id="114" name="TextBox 45">
              <a:extLst>
                <a:ext uri="{FF2B5EF4-FFF2-40B4-BE49-F238E27FC236}">
                  <a16:creationId xmlns:a16="http://schemas.microsoft.com/office/drawing/2014/main" id="{EB6881CA-E92A-03ED-6F85-B0E044734562}"/>
                </a:ext>
              </a:extLst>
            </p:cNvPr>
            <p:cNvSpPr txBox="1"/>
            <p:nvPr/>
          </p:nvSpPr>
          <p:spPr>
            <a:xfrm>
              <a:off x="603504" y="4747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200" b="1" dirty="0">
                  <a:solidFill>
                    <a:srgbClr val="0B63F6"/>
                  </a:solidFill>
                  <a:ea typeface="Microsoft YaHei" panose="020B0503020204020204" pitchFamily="34" charset="-122"/>
                  <a:cs typeface="Arial"/>
                </a:rPr>
                <a:t>识别信号</a:t>
              </a:r>
            </a:p>
          </p:txBody>
        </p:sp>
        <p:sp>
          <p:nvSpPr>
            <p:cNvPr id="115" name="TextBox 46">
              <a:extLst>
                <a:ext uri="{FF2B5EF4-FFF2-40B4-BE49-F238E27FC236}">
                  <a16:creationId xmlns:a16="http://schemas.microsoft.com/office/drawing/2014/main" id="{F804B0D1-5090-4186-C4D8-ED6EDC1126EE}"/>
                </a:ext>
              </a:extLst>
            </p:cNvPr>
            <p:cNvSpPr txBox="1"/>
            <p:nvPr/>
          </p:nvSpPr>
          <p:spPr>
            <a:xfrm>
              <a:off x="602742" y="5016818"/>
              <a:ext cx="6730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越权审批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决策材料缺失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记录不一致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非主业投资　</a:t>
              </a:r>
              <a:r>
                <a:rPr lang="en-US" altLang="zh-CN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·</a:t>
              </a:r>
              <a:r>
                <a:rPr lang="zh-CN" altLang="en-US" sz="1350" b="1" dirty="0">
                  <a:solidFill>
                    <a:srgbClr val="2D3748"/>
                  </a:solidFill>
                  <a:ea typeface="Microsoft YaHei" panose="020B0503020204020204" pitchFamily="34" charset="-122"/>
                  <a:cs typeface="Arial"/>
                </a:rPr>
                <a:t>　关联方风险</a:t>
              </a:r>
            </a:p>
          </p:txBody>
        </p:sp>
      </p:grpSp>
      <p:grpSp>
        <p:nvGrpSpPr>
          <p:cNvPr id="116" name="Group 57">
            <a:extLst>
              <a:ext uri="{FF2B5EF4-FFF2-40B4-BE49-F238E27FC236}">
                <a16:creationId xmlns:a16="http://schemas.microsoft.com/office/drawing/2014/main" id="{D7915A05-477C-908A-9C8F-D1209F47B432}"/>
              </a:ext>
            </a:extLst>
          </p:cNvPr>
          <p:cNvGrpSpPr/>
          <p:nvPr/>
        </p:nvGrpSpPr>
        <p:grpSpPr>
          <a:xfrm>
            <a:off x="609600" y="5476875"/>
            <a:ext cx="10744200" cy="321278"/>
            <a:chOff x="609600" y="5476875"/>
            <a:chExt cx="10744200" cy="321278"/>
          </a:xfrm>
        </p:grpSpPr>
        <p:sp>
          <p:nvSpPr>
            <p:cNvPr id="117" name="Line 48">
              <a:extLst>
                <a:ext uri="{FF2B5EF4-FFF2-40B4-BE49-F238E27FC236}">
                  <a16:creationId xmlns:a16="http://schemas.microsoft.com/office/drawing/2014/main" id="{74C1E78C-DC8D-3A31-2FD8-3C6BE9D86F85}"/>
                </a:ext>
              </a:extLst>
            </p:cNvPr>
            <p:cNvSpPr/>
            <p:nvPr/>
          </p:nvSpPr>
          <p:spPr>
            <a:xfrm>
              <a:off x="609600" y="5619750"/>
              <a:ext cx="10744200" cy="9525"/>
            </a:xfrm>
            <a:custGeom>
              <a:avLst/>
              <a:gdLst/>
              <a:ahLst/>
              <a:cxnLst/>
              <a:rect l="l" t="t" r="r" b="b"/>
              <a:pathLst>
                <a:path w="10744200" h="9525">
                  <a:moveTo>
                    <a:pt x="0" y="0"/>
                  </a:moveTo>
                  <a:lnTo>
                    <a:pt x="10744200" y="0"/>
                  </a:lnTo>
                </a:path>
              </a:pathLst>
            </a:custGeom>
            <a:noFill/>
            <a:ln w="28575">
              <a:solidFill>
                <a:srgbClr val="B9D3FF"/>
              </a:solidFill>
            </a:ln>
          </p:spPr>
        </p:sp>
        <p:sp>
          <p:nvSpPr>
            <p:cNvPr id="118" name="Ellipse 49">
              <a:extLst>
                <a:ext uri="{FF2B5EF4-FFF2-40B4-BE49-F238E27FC236}">
                  <a16:creationId xmlns:a16="http://schemas.microsoft.com/office/drawing/2014/main" id="{0EF858F7-7B75-531E-463D-85C0029F1AD9}"/>
                </a:ext>
              </a:extLst>
            </p:cNvPr>
            <p:cNvSpPr/>
            <p:nvPr/>
          </p:nvSpPr>
          <p:spPr>
            <a:xfrm>
              <a:off x="847725" y="5476875"/>
              <a:ext cx="285750" cy="28575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119" name="TextBox 50">
              <a:extLst>
                <a:ext uri="{FF2B5EF4-FFF2-40B4-BE49-F238E27FC236}">
                  <a16:creationId xmlns:a16="http://schemas.microsoft.com/office/drawing/2014/main" id="{7B7DCB1E-DCBF-68E7-AD3D-F82D71F679B3}"/>
                </a:ext>
              </a:extLst>
            </p:cNvPr>
            <p:cNvSpPr txBox="1"/>
            <p:nvPr/>
          </p:nvSpPr>
          <p:spPr>
            <a:xfrm>
              <a:off x="1250823" y="55487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监管专员研判</a:t>
              </a:r>
            </a:p>
          </p:txBody>
        </p:sp>
        <p:sp>
          <p:nvSpPr>
            <p:cNvPr id="120" name="Ellipse 51">
              <a:extLst>
                <a:ext uri="{FF2B5EF4-FFF2-40B4-BE49-F238E27FC236}">
                  <a16:creationId xmlns:a16="http://schemas.microsoft.com/office/drawing/2014/main" id="{ECAC4A6C-064F-4E59-3BB5-81E860CD8684}"/>
                </a:ext>
              </a:extLst>
            </p:cNvPr>
            <p:cNvSpPr/>
            <p:nvPr/>
          </p:nvSpPr>
          <p:spPr>
            <a:xfrm>
              <a:off x="3571875" y="5476875"/>
              <a:ext cx="285750" cy="28575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121" name="TextBox 52">
              <a:extLst>
                <a:ext uri="{FF2B5EF4-FFF2-40B4-BE49-F238E27FC236}">
                  <a16:creationId xmlns:a16="http://schemas.microsoft.com/office/drawing/2014/main" id="{65C1D66E-2852-E012-645E-686F4EADDF44}"/>
                </a:ext>
              </a:extLst>
            </p:cNvPr>
            <p:cNvSpPr txBox="1"/>
            <p:nvPr/>
          </p:nvSpPr>
          <p:spPr>
            <a:xfrm>
              <a:off x="3974973" y="55487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升级事件</a:t>
              </a:r>
            </a:p>
          </p:txBody>
        </p:sp>
        <p:sp>
          <p:nvSpPr>
            <p:cNvPr id="122" name="Ellipse 53">
              <a:extLst>
                <a:ext uri="{FF2B5EF4-FFF2-40B4-BE49-F238E27FC236}">
                  <a16:creationId xmlns:a16="http://schemas.microsoft.com/office/drawing/2014/main" id="{43730CD1-076C-79A4-49FE-5361D0439310}"/>
                </a:ext>
              </a:extLst>
            </p:cNvPr>
            <p:cNvSpPr/>
            <p:nvPr/>
          </p:nvSpPr>
          <p:spPr>
            <a:xfrm>
              <a:off x="6048375" y="5476875"/>
              <a:ext cx="285750" cy="28575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123" name="TextBox 54">
              <a:extLst>
                <a:ext uri="{FF2B5EF4-FFF2-40B4-BE49-F238E27FC236}">
                  <a16:creationId xmlns:a16="http://schemas.microsoft.com/office/drawing/2014/main" id="{96BAF5C1-5214-BBF3-2FD4-40C67155DA23}"/>
                </a:ext>
              </a:extLst>
            </p:cNvPr>
            <p:cNvSpPr txBox="1"/>
            <p:nvPr/>
          </p:nvSpPr>
          <p:spPr>
            <a:xfrm>
              <a:off x="6451473" y="554878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责任单位补充 </a:t>
              </a:r>
              <a:r>
                <a:rPr kumimoji="0" lang="en-US" altLang="zh-CN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纠正</a:t>
              </a:r>
            </a:p>
          </p:txBody>
        </p:sp>
        <p:sp>
          <p:nvSpPr>
            <p:cNvPr id="124" name="Ellipse 55">
              <a:extLst>
                <a:ext uri="{FF2B5EF4-FFF2-40B4-BE49-F238E27FC236}">
                  <a16:creationId xmlns:a16="http://schemas.microsoft.com/office/drawing/2014/main" id="{6C4FAE16-85BE-7A10-4174-DFE57A89CB47}"/>
                </a:ext>
              </a:extLst>
            </p:cNvPr>
            <p:cNvSpPr/>
            <p:nvPr/>
          </p:nvSpPr>
          <p:spPr>
            <a:xfrm>
              <a:off x="9896475" y="5476875"/>
              <a:ext cx="285750" cy="28575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125" name="TextBox 56">
              <a:extLst>
                <a:ext uri="{FF2B5EF4-FFF2-40B4-BE49-F238E27FC236}">
                  <a16:creationId xmlns:a16="http://schemas.microsoft.com/office/drawing/2014/main" id="{3E02ED05-ED0E-73EB-1F15-1DFD98F0C802}"/>
                </a:ext>
              </a:extLst>
            </p:cNvPr>
            <p:cNvSpPr txBox="1"/>
            <p:nvPr/>
          </p:nvSpPr>
          <p:spPr>
            <a:xfrm>
              <a:off x="10299573" y="55487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0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复核关闭</a:t>
              </a:r>
            </a:p>
          </p:txBody>
        </p:sp>
      </p:grpSp>
      <p:grpSp>
        <p:nvGrpSpPr>
          <p:cNvPr id="126" name="Group 59">
            <a:extLst>
              <a:ext uri="{FF2B5EF4-FFF2-40B4-BE49-F238E27FC236}">
                <a16:creationId xmlns:a16="http://schemas.microsoft.com/office/drawing/2014/main" id="{D4CFA288-DD4C-6159-90B6-0EC06769D516}"/>
              </a:ext>
            </a:extLst>
          </p:cNvPr>
          <p:cNvGrpSpPr/>
          <p:nvPr/>
        </p:nvGrpSpPr>
        <p:grpSpPr>
          <a:xfrm>
            <a:off x="603504" y="5985510"/>
            <a:ext cx="6849527" cy="234696"/>
            <a:chOff x="603504" y="5985510"/>
            <a:chExt cx="6849527" cy="234696"/>
          </a:xfrm>
        </p:grpSpPr>
        <p:sp>
          <p:nvSpPr>
            <p:cNvPr id="127" name="TextBox 58">
              <a:extLst>
                <a:ext uri="{FF2B5EF4-FFF2-40B4-BE49-F238E27FC236}">
                  <a16:creationId xmlns:a16="http://schemas.microsoft.com/office/drawing/2014/main" id="{BE8EABE3-C830-9651-80FE-9EE3EAED3DA5}"/>
                </a:ext>
              </a:extLst>
            </p:cNvPr>
            <p:cNvSpPr txBox="1"/>
            <p:nvPr/>
          </p:nvSpPr>
          <p:spPr>
            <a:xfrm>
              <a:off x="603504" y="5985510"/>
              <a:ext cx="68495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defTabSz="457200"/>
              <a:r>
                <a:rPr lang="zh-CN" altLang="en-US" sz="1200" b="1" dirty="0">
                  <a:solidFill>
                    <a:srgbClr val="596579"/>
                  </a:solidFill>
                  <a:ea typeface="Microsoft YaHei" panose="020B0503020204020204" pitchFamily="34" charset="-122"/>
                  <a:cs typeface="Arial"/>
                </a:rPr>
                <a:t>情景示例：</a:t>
              </a:r>
              <a:r>
                <a:rPr lang="en-US" altLang="zh-CN" sz="1200" b="1" dirty="0">
                  <a:solidFill>
                    <a:srgbClr val="596579"/>
                  </a:solidFill>
                  <a:ea typeface="Microsoft YaHei" panose="020B0503020204020204" pitchFamily="34" charset="-122"/>
                  <a:cs typeface="Arial"/>
                </a:rPr>
                <a:t>AI </a:t>
              </a:r>
              <a:r>
                <a:rPr lang="zh-CN" altLang="en-US" sz="1200" b="1" dirty="0">
                  <a:solidFill>
                    <a:srgbClr val="596579"/>
                  </a:solidFill>
                  <a:ea typeface="Microsoft YaHei" panose="020B0503020204020204" pitchFamily="34" charset="-122"/>
                  <a:cs typeface="Arial"/>
                </a:rPr>
                <a:t>仅辅助解释；平台产生可解释风险信号，监管结论仍由人工基于证据复核</a:t>
              </a:r>
            </a:p>
          </p:txBody>
        </p:sp>
      </p:grpSp>
      <p:sp>
        <p:nvSpPr>
          <p:cNvPr id="130" name="标题 1">
            <a:extLst>
              <a:ext uri="{FF2B5EF4-FFF2-40B4-BE49-F238E27FC236}">
                <a16:creationId xmlns:a16="http://schemas.microsoft.com/office/drawing/2014/main" id="{4B9ACD93-0371-44EC-976A-02CDF4F4F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88000"/>
            <a:ext cx="9286412" cy="455930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典型应用场景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EDC8-63E5-F246-3271-EC859E815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标题 1">
            <a:extLst>
              <a:ext uri="{FF2B5EF4-FFF2-40B4-BE49-F238E27FC236}">
                <a16:creationId xmlns:a16="http://schemas.microsoft.com/office/drawing/2014/main" id="{38816CAC-F6E0-7A31-ABC4-E9B3DF1D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288000"/>
            <a:ext cx="9286412" cy="455930"/>
          </a:xfrm>
        </p:spPr>
        <p:txBody>
          <a:bodyPr/>
          <a:lstStyle/>
          <a:p>
            <a:r>
              <a:rPr lang="zh-CN" altLang="en-US" dirty="0">
                <a:sym typeface="+mn-lt"/>
              </a:rPr>
              <a:t>典型应用场景</a:t>
            </a:r>
            <a:endParaRPr kumimoji="1" lang="zh-CN" altLang="en-US" dirty="0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grpSp>
        <p:nvGrpSpPr>
          <p:cNvPr id="44" name="Group 39">
            <a:extLst>
              <a:ext uri="{FF2B5EF4-FFF2-40B4-BE49-F238E27FC236}">
                <a16:creationId xmlns:a16="http://schemas.microsoft.com/office/drawing/2014/main" id="{C9CD5719-6343-31CA-A2C8-B9F405477B26}"/>
              </a:ext>
            </a:extLst>
          </p:cNvPr>
          <p:cNvGrpSpPr/>
          <p:nvPr/>
        </p:nvGrpSpPr>
        <p:grpSpPr>
          <a:xfrm>
            <a:off x="609575" y="2181225"/>
            <a:ext cx="10802213" cy="1739836"/>
            <a:chOff x="609575" y="2181225"/>
            <a:chExt cx="10802213" cy="1739836"/>
          </a:xfrm>
        </p:grpSpPr>
        <p:sp>
          <p:nvSpPr>
            <p:cNvPr id="45" name="Line 8">
              <a:extLst>
                <a:ext uri="{FF2B5EF4-FFF2-40B4-BE49-F238E27FC236}">
                  <a16:creationId xmlns:a16="http://schemas.microsoft.com/office/drawing/2014/main" id="{B84D56C3-32B5-2534-56FB-62CC48C54822}"/>
                </a:ext>
              </a:extLst>
            </p:cNvPr>
            <p:cNvSpPr/>
            <p:nvPr/>
          </p:nvSpPr>
          <p:spPr>
            <a:xfrm>
              <a:off x="1143000" y="295275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38100">
              <a:solidFill>
                <a:srgbClr val="B9D3FF"/>
              </a:solidFill>
            </a:ln>
          </p:spPr>
        </p:sp>
        <p:sp>
          <p:nvSpPr>
            <p:cNvPr id="46" name="Ellipse 9">
              <a:extLst>
                <a:ext uri="{FF2B5EF4-FFF2-40B4-BE49-F238E27FC236}">
                  <a16:creationId xmlns:a16="http://schemas.microsoft.com/office/drawing/2014/main" id="{BF736968-8C62-AEE3-6C8A-AD44DC18C0B4}"/>
                </a:ext>
              </a:extLst>
            </p:cNvPr>
            <p:cNvSpPr/>
            <p:nvPr/>
          </p:nvSpPr>
          <p:spPr>
            <a:xfrm>
              <a:off x="819150" y="2628900"/>
              <a:ext cx="647700" cy="6477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47" name="TextBox 10">
              <a:extLst>
                <a:ext uri="{FF2B5EF4-FFF2-40B4-BE49-F238E27FC236}">
                  <a16:creationId xmlns:a16="http://schemas.microsoft.com/office/drawing/2014/main" id="{71414C40-7952-430E-6419-C0C8A88B778E}"/>
                </a:ext>
              </a:extLst>
            </p:cNvPr>
            <p:cNvSpPr txBox="1"/>
            <p:nvPr/>
          </p:nvSpPr>
          <p:spPr>
            <a:xfrm>
              <a:off x="1063887" y="2853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48" name="TextBox 11">
              <a:extLst>
                <a:ext uri="{FF2B5EF4-FFF2-40B4-BE49-F238E27FC236}">
                  <a16:creationId xmlns:a16="http://schemas.microsoft.com/office/drawing/2014/main" id="{77BCD94C-08A4-D1E6-B7F0-C505CE195D2B}"/>
                </a:ext>
              </a:extLst>
            </p:cNvPr>
            <p:cNvSpPr txBox="1"/>
            <p:nvPr/>
          </p:nvSpPr>
          <p:spPr>
            <a:xfrm>
              <a:off x="711327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数据接入</a:t>
              </a:r>
            </a:p>
          </p:txBody>
        </p:sp>
        <p:sp>
          <p:nvSpPr>
            <p:cNvPr id="49" name="TextBox 12">
              <a:extLst>
                <a:ext uri="{FF2B5EF4-FFF2-40B4-BE49-F238E27FC236}">
                  <a16:creationId xmlns:a16="http://schemas.microsoft.com/office/drawing/2014/main" id="{AE131E21-1002-3DA5-E2C4-0814999DBC49}"/>
                </a:ext>
              </a:extLst>
            </p:cNvPr>
            <p:cNvSpPr txBox="1"/>
            <p:nvPr/>
          </p:nvSpPr>
          <p:spPr>
            <a:xfrm>
              <a:off x="609575" y="3440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冻结来源与范围</a:t>
              </a:r>
            </a:p>
          </p:txBody>
        </p:sp>
        <p:sp>
          <p:nvSpPr>
            <p:cNvPr id="50" name="TextBox 13">
              <a:extLst>
                <a:ext uri="{FF2B5EF4-FFF2-40B4-BE49-F238E27FC236}">
                  <a16:creationId xmlns:a16="http://schemas.microsoft.com/office/drawing/2014/main" id="{1371C79B-4E6D-55C2-381B-51842804DF8E}"/>
                </a:ext>
              </a:extLst>
            </p:cNvPr>
            <p:cNvSpPr txBox="1"/>
            <p:nvPr/>
          </p:nvSpPr>
          <p:spPr>
            <a:xfrm>
              <a:off x="784288" y="37157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数据管理员</a:t>
              </a:r>
            </a:p>
          </p:txBody>
        </p:sp>
        <p:sp>
          <p:nvSpPr>
            <p:cNvPr id="51" name="Ellipse 14">
              <a:extLst>
                <a:ext uri="{FF2B5EF4-FFF2-40B4-BE49-F238E27FC236}">
                  <a16:creationId xmlns:a16="http://schemas.microsoft.com/office/drawing/2014/main" id="{51864EFF-9775-9ECC-C0D3-E13E2007F180}"/>
                </a:ext>
              </a:extLst>
            </p:cNvPr>
            <p:cNvSpPr/>
            <p:nvPr/>
          </p:nvSpPr>
          <p:spPr>
            <a:xfrm>
              <a:off x="2781300" y="2628900"/>
              <a:ext cx="647700" cy="6477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52" name="TextBox 15">
              <a:extLst>
                <a:ext uri="{FF2B5EF4-FFF2-40B4-BE49-F238E27FC236}">
                  <a16:creationId xmlns:a16="http://schemas.microsoft.com/office/drawing/2014/main" id="{5A9AA1D1-AB1D-C31B-803F-30C338C6426C}"/>
                </a:ext>
              </a:extLst>
            </p:cNvPr>
            <p:cNvSpPr txBox="1"/>
            <p:nvPr/>
          </p:nvSpPr>
          <p:spPr>
            <a:xfrm>
              <a:off x="3026037" y="2853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53" name="TextBox 16">
              <a:extLst>
                <a:ext uri="{FF2B5EF4-FFF2-40B4-BE49-F238E27FC236}">
                  <a16:creationId xmlns:a16="http://schemas.microsoft.com/office/drawing/2014/main" id="{52D8011B-DEEB-8101-9E9E-219DB148CACC}"/>
                </a:ext>
              </a:extLst>
            </p:cNvPr>
            <p:cNvSpPr txBox="1"/>
            <p:nvPr/>
          </p:nvSpPr>
          <p:spPr>
            <a:xfrm>
              <a:off x="2673477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图谱关联</a:t>
              </a:r>
            </a:p>
          </p:txBody>
        </p:sp>
        <p:sp>
          <p:nvSpPr>
            <p:cNvPr id="54" name="TextBox 17">
              <a:extLst>
                <a:ext uri="{FF2B5EF4-FFF2-40B4-BE49-F238E27FC236}">
                  <a16:creationId xmlns:a16="http://schemas.microsoft.com/office/drawing/2014/main" id="{B61BDE81-D683-0C82-8289-8EBB2BB6FFBB}"/>
                </a:ext>
              </a:extLst>
            </p:cNvPr>
            <p:cNvSpPr txBox="1"/>
            <p:nvPr/>
          </p:nvSpPr>
          <p:spPr>
            <a:xfrm>
              <a:off x="2571725" y="3440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统一主体与语义</a:t>
              </a:r>
            </a:p>
          </p:txBody>
        </p:sp>
        <p:sp>
          <p:nvSpPr>
            <p:cNvPr id="55" name="TextBox 18">
              <a:extLst>
                <a:ext uri="{FF2B5EF4-FFF2-40B4-BE49-F238E27FC236}">
                  <a16:creationId xmlns:a16="http://schemas.microsoft.com/office/drawing/2014/main" id="{A35B9B6E-CC95-065C-35ED-88A3CF369BE3}"/>
                </a:ext>
              </a:extLst>
            </p:cNvPr>
            <p:cNvSpPr txBox="1"/>
            <p:nvPr/>
          </p:nvSpPr>
          <p:spPr>
            <a:xfrm>
              <a:off x="2746438" y="37157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配置管理员</a:t>
              </a:r>
            </a:p>
          </p:txBody>
        </p:sp>
        <p:sp>
          <p:nvSpPr>
            <p:cNvPr id="56" name="Ellipse 19">
              <a:extLst>
                <a:ext uri="{FF2B5EF4-FFF2-40B4-BE49-F238E27FC236}">
                  <a16:creationId xmlns:a16="http://schemas.microsoft.com/office/drawing/2014/main" id="{A748E00F-7ADC-9724-1B1A-AF1E7BA244B0}"/>
                </a:ext>
              </a:extLst>
            </p:cNvPr>
            <p:cNvSpPr/>
            <p:nvPr/>
          </p:nvSpPr>
          <p:spPr>
            <a:xfrm>
              <a:off x="4743450" y="2628900"/>
              <a:ext cx="647700" cy="6477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57" name="TextBox 20">
              <a:extLst>
                <a:ext uri="{FF2B5EF4-FFF2-40B4-BE49-F238E27FC236}">
                  <a16:creationId xmlns:a16="http://schemas.microsoft.com/office/drawing/2014/main" id="{A4E2F029-717B-EE7D-B15A-39932AC51A56}"/>
                </a:ext>
              </a:extLst>
            </p:cNvPr>
            <p:cNvSpPr txBox="1"/>
            <p:nvPr/>
          </p:nvSpPr>
          <p:spPr>
            <a:xfrm>
              <a:off x="4988187" y="2853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58" name="TextBox 21">
              <a:extLst>
                <a:ext uri="{FF2B5EF4-FFF2-40B4-BE49-F238E27FC236}">
                  <a16:creationId xmlns:a16="http://schemas.microsoft.com/office/drawing/2014/main" id="{4A9C5BF3-6188-FAB5-1086-5AE1875A1C47}"/>
                </a:ext>
              </a:extLst>
            </p:cNvPr>
            <p:cNvSpPr txBox="1"/>
            <p:nvPr/>
          </p:nvSpPr>
          <p:spPr>
            <a:xfrm>
              <a:off x="4635627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规则命中</a:t>
              </a:r>
            </a:p>
          </p:txBody>
        </p:sp>
        <p:sp>
          <p:nvSpPr>
            <p:cNvPr id="59" name="TextBox 22">
              <a:extLst>
                <a:ext uri="{FF2B5EF4-FFF2-40B4-BE49-F238E27FC236}">
                  <a16:creationId xmlns:a16="http://schemas.microsoft.com/office/drawing/2014/main" id="{FC652D02-EE07-79E8-1843-BB83BF01635F}"/>
                </a:ext>
              </a:extLst>
            </p:cNvPr>
            <p:cNvSpPr txBox="1"/>
            <p:nvPr/>
          </p:nvSpPr>
          <p:spPr>
            <a:xfrm>
              <a:off x="4609262" y="3440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引用场景版本</a:t>
              </a:r>
            </a:p>
          </p:txBody>
        </p:sp>
        <p:sp>
          <p:nvSpPr>
            <p:cNvPr id="60" name="TextBox 23">
              <a:extLst>
                <a:ext uri="{FF2B5EF4-FFF2-40B4-BE49-F238E27FC236}">
                  <a16:creationId xmlns:a16="http://schemas.microsoft.com/office/drawing/2014/main" id="{379DE78D-CB7B-3198-3D86-93C593203A62}"/>
                </a:ext>
              </a:extLst>
            </p:cNvPr>
            <p:cNvSpPr txBox="1"/>
            <p:nvPr/>
          </p:nvSpPr>
          <p:spPr>
            <a:xfrm>
              <a:off x="4708588" y="37157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规则管理员</a:t>
              </a:r>
            </a:p>
          </p:txBody>
        </p:sp>
        <p:sp>
          <p:nvSpPr>
            <p:cNvPr id="61" name="Ellipse 24">
              <a:extLst>
                <a:ext uri="{FF2B5EF4-FFF2-40B4-BE49-F238E27FC236}">
                  <a16:creationId xmlns:a16="http://schemas.microsoft.com/office/drawing/2014/main" id="{FD065B48-EA50-F59B-0C7B-12E580EB1A4F}"/>
                </a:ext>
              </a:extLst>
            </p:cNvPr>
            <p:cNvSpPr/>
            <p:nvPr/>
          </p:nvSpPr>
          <p:spPr>
            <a:xfrm>
              <a:off x="6705600" y="2628900"/>
              <a:ext cx="647700" cy="647700"/>
            </a:xfrm>
            <a:prstGeom prst="ellipse">
              <a:avLst/>
            </a:prstGeom>
            <a:solidFill>
              <a:srgbClr val="2F8CFF"/>
            </a:solidFill>
            <a:ln>
              <a:noFill/>
            </a:ln>
          </p:spPr>
        </p:sp>
        <p:sp>
          <p:nvSpPr>
            <p:cNvPr id="62" name="TextBox 25">
              <a:extLst>
                <a:ext uri="{FF2B5EF4-FFF2-40B4-BE49-F238E27FC236}">
                  <a16:creationId xmlns:a16="http://schemas.microsoft.com/office/drawing/2014/main" id="{1FF0C2A1-05AD-9BB1-1A15-BDFE3A514423}"/>
                </a:ext>
              </a:extLst>
            </p:cNvPr>
            <p:cNvSpPr txBox="1"/>
            <p:nvPr/>
          </p:nvSpPr>
          <p:spPr>
            <a:xfrm>
              <a:off x="6950337" y="2853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63" name="TextBox 26">
              <a:extLst>
                <a:ext uri="{FF2B5EF4-FFF2-40B4-BE49-F238E27FC236}">
                  <a16:creationId xmlns:a16="http://schemas.microsoft.com/office/drawing/2014/main" id="{C0725FDF-E171-708E-64FD-501DF94A3617}"/>
                </a:ext>
              </a:extLst>
            </p:cNvPr>
            <p:cNvSpPr txBox="1"/>
            <p:nvPr/>
          </p:nvSpPr>
          <p:spPr>
            <a:xfrm>
              <a:off x="6597777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预警研判</a:t>
              </a:r>
            </a:p>
          </p:txBody>
        </p:sp>
        <p:sp>
          <p:nvSpPr>
            <p:cNvPr id="64" name="TextBox 27">
              <a:extLst>
                <a:ext uri="{FF2B5EF4-FFF2-40B4-BE49-F238E27FC236}">
                  <a16:creationId xmlns:a16="http://schemas.microsoft.com/office/drawing/2014/main" id="{8867AC24-D536-5776-8B3B-6552B0A84051}"/>
                </a:ext>
              </a:extLst>
            </p:cNvPr>
            <p:cNvSpPr txBox="1"/>
            <p:nvPr/>
          </p:nvSpPr>
          <p:spPr>
            <a:xfrm>
              <a:off x="6496025" y="3440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人工解除或升级</a:t>
              </a:r>
            </a:p>
          </p:txBody>
        </p:sp>
        <p:sp>
          <p:nvSpPr>
            <p:cNvPr id="65" name="TextBox 28">
              <a:extLst>
                <a:ext uri="{FF2B5EF4-FFF2-40B4-BE49-F238E27FC236}">
                  <a16:creationId xmlns:a16="http://schemas.microsoft.com/office/drawing/2014/main" id="{EC76FC8C-2910-6E80-5207-72B3DA268E10}"/>
                </a:ext>
              </a:extLst>
            </p:cNvPr>
            <p:cNvSpPr txBox="1"/>
            <p:nvPr/>
          </p:nvSpPr>
          <p:spPr>
            <a:xfrm>
              <a:off x="6741414" y="3715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领域专员</a:t>
              </a:r>
            </a:p>
          </p:txBody>
        </p:sp>
        <p:sp>
          <p:nvSpPr>
            <p:cNvPr id="66" name="Ellipse 29">
              <a:extLst>
                <a:ext uri="{FF2B5EF4-FFF2-40B4-BE49-F238E27FC236}">
                  <a16:creationId xmlns:a16="http://schemas.microsoft.com/office/drawing/2014/main" id="{AAC9A276-54A9-B852-C218-24F51BA6C1E9}"/>
                </a:ext>
              </a:extLst>
            </p:cNvPr>
            <p:cNvSpPr/>
            <p:nvPr/>
          </p:nvSpPr>
          <p:spPr>
            <a:xfrm>
              <a:off x="8667750" y="2628900"/>
              <a:ext cx="647700" cy="6477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67" name="TextBox 30">
              <a:extLst>
                <a:ext uri="{FF2B5EF4-FFF2-40B4-BE49-F238E27FC236}">
                  <a16:creationId xmlns:a16="http://schemas.microsoft.com/office/drawing/2014/main" id="{E48EE816-5BF5-4B15-36FB-2323B5E24FBE}"/>
                </a:ext>
              </a:extLst>
            </p:cNvPr>
            <p:cNvSpPr txBox="1"/>
            <p:nvPr/>
          </p:nvSpPr>
          <p:spPr>
            <a:xfrm>
              <a:off x="8912487" y="2853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8" name="TextBox 31">
              <a:extLst>
                <a:ext uri="{FF2B5EF4-FFF2-40B4-BE49-F238E27FC236}">
                  <a16:creationId xmlns:a16="http://schemas.microsoft.com/office/drawing/2014/main" id="{F23639F0-87C5-383B-8AE1-A6366EB6FF6C}"/>
                </a:ext>
              </a:extLst>
            </p:cNvPr>
            <p:cNvSpPr txBox="1"/>
            <p:nvPr/>
          </p:nvSpPr>
          <p:spPr>
            <a:xfrm>
              <a:off x="8559927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整改复核</a:t>
              </a:r>
            </a:p>
          </p:txBody>
        </p:sp>
        <p:sp>
          <p:nvSpPr>
            <p:cNvPr id="69" name="TextBox 32">
              <a:extLst>
                <a:ext uri="{FF2B5EF4-FFF2-40B4-BE49-F238E27FC236}">
                  <a16:creationId xmlns:a16="http://schemas.microsoft.com/office/drawing/2014/main" id="{2049B3E0-2E26-4519-55A6-6BC036A9D346}"/>
                </a:ext>
              </a:extLst>
            </p:cNvPr>
            <p:cNvSpPr txBox="1"/>
            <p:nvPr/>
          </p:nvSpPr>
          <p:spPr>
            <a:xfrm>
              <a:off x="8382787" y="3440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举证、通过或退回</a:t>
              </a:r>
            </a:p>
          </p:txBody>
        </p:sp>
        <p:sp>
          <p:nvSpPr>
            <p:cNvPr id="70" name="TextBox 33">
              <a:extLst>
                <a:ext uri="{FF2B5EF4-FFF2-40B4-BE49-F238E27FC236}">
                  <a16:creationId xmlns:a16="http://schemas.microsoft.com/office/drawing/2014/main" id="{93C7F7EC-C72D-7296-0CE0-99CADAE90AAA}"/>
                </a:ext>
              </a:extLst>
            </p:cNvPr>
            <p:cNvSpPr txBox="1"/>
            <p:nvPr/>
          </p:nvSpPr>
          <p:spPr>
            <a:xfrm>
              <a:off x="8480936" y="37157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责任单位 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/ 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监管</a:t>
              </a:r>
            </a:p>
          </p:txBody>
        </p:sp>
        <p:sp>
          <p:nvSpPr>
            <p:cNvPr id="71" name="Ellipse 34">
              <a:extLst>
                <a:ext uri="{FF2B5EF4-FFF2-40B4-BE49-F238E27FC236}">
                  <a16:creationId xmlns:a16="http://schemas.microsoft.com/office/drawing/2014/main" id="{B44E24ED-F216-3066-A4EB-097B1EA4CFCC}"/>
                </a:ext>
              </a:extLst>
            </p:cNvPr>
            <p:cNvSpPr/>
            <p:nvPr/>
          </p:nvSpPr>
          <p:spPr>
            <a:xfrm>
              <a:off x="10629900" y="2628900"/>
              <a:ext cx="647700" cy="647700"/>
            </a:xfrm>
            <a:prstGeom prst="ellipse">
              <a:avLst/>
            </a:prstGeom>
            <a:solidFill>
              <a:srgbClr val="22B573"/>
            </a:solidFill>
            <a:ln>
              <a:noFill/>
            </a:ln>
          </p:spPr>
        </p:sp>
        <p:sp>
          <p:nvSpPr>
            <p:cNvPr id="72" name="TextBox 35">
              <a:extLst>
                <a:ext uri="{FF2B5EF4-FFF2-40B4-BE49-F238E27FC236}">
                  <a16:creationId xmlns:a16="http://schemas.microsoft.com/office/drawing/2014/main" id="{E008B50F-E04D-24C5-138E-BED99582F54D}"/>
                </a:ext>
              </a:extLst>
            </p:cNvPr>
            <p:cNvSpPr txBox="1"/>
            <p:nvPr/>
          </p:nvSpPr>
          <p:spPr>
            <a:xfrm>
              <a:off x="10874637" y="28536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73" name="TextBox 36">
              <a:extLst>
                <a:ext uri="{FF2B5EF4-FFF2-40B4-BE49-F238E27FC236}">
                  <a16:creationId xmlns:a16="http://schemas.microsoft.com/office/drawing/2014/main" id="{C5E53179-7C1E-8C00-36A3-372D73ABBA26}"/>
                </a:ext>
              </a:extLst>
            </p:cNvPr>
            <p:cNvSpPr txBox="1"/>
            <p:nvPr/>
          </p:nvSpPr>
          <p:spPr>
            <a:xfrm>
              <a:off x="10522077" y="2181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样本回流</a:t>
              </a:r>
            </a:p>
          </p:txBody>
        </p:sp>
        <p:sp>
          <p:nvSpPr>
            <p:cNvPr id="74" name="TextBox 37">
              <a:extLst>
                <a:ext uri="{FF2B5EF4-FFF2-40B4-BE49-F238E27FC236}">
                  <a16:creationId xmlns:a16="http://schemas.microsoft.com/office/drawing/2014/main" id="{2BB8B44F-7A1B-BA9B-EA54-C80A2B668634}"/>
                </a:ext>
              </a:extLst>
            </p:cNvPr>
            <p:cNvSpPr txBox="1"/>
            <p:nvPr/>
          </p:nvSpPr>
          <p:spPr>
            <a:xfrm>
              <a:off x="10495712" y="3440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形成效果样本</a:t>
              </a:r>
            </a:p>
          </p:txBody>
        </p:sp>
        <p:sp>
          <p:nvSpPr>
            <p:cNvPr id="128" name="TextBox 38">
              <a:extLst>
                <a:ext uri="{FF2B5EF4-FFF2-40B4-BE49-F238E27FC236}">
                  <a16:creationId xmlns:a16="http://schemas.microsoft.com/office/drawing/2014/main" id="{74243D3C-77CC-2B93-5D4B-D64C3CD54954}"/>
                </a:ext>
              </a:extLst>
            </p:cNvPr>
            <p:cNvSpPr txBox="1"/>
            <p:nvPr/>
          </p:nvSpPr>
          <p:spPr>
            <a:xfrm>
              <a:off x="10595039" y="37157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规则管理员</a:t>
              </a:r>
            </a:p>
          </p:txBody>
        </p:sp>
      </p:grpSp>
      <p:grpSp>
        <p:nvGrpSpPr>
          <p:cNvPr id="129" name="Group 44">
            <a:extLst>
              <a:ext uri="{FF2B5EF4-FFF2-40B4-BE49-F238E27FC236}">
                <a16:creationId xmlns:a16="http://schemas.microsoft.com/office/drawing/2014/main" id="{DC5CA438-834F-07DB-DB3C-6D3888F9E502}"/>
              </a:ext>
            </a:extLst>
          </p:cNvPr>
          <p:cNvGrpSpPr/>
          <p:nvPr/>
        </p:nvGrpSpPr>
        <p:grpSpPr>
          <a:xfrm>
            <a:off x="6153150" y="3276600"/>
            <a:ext cx="1752600" cy="1676400"/>
            <a:chOff x="6153150" y="3276600"/>
            <a:chExt cx="1752600" cy="1676400"/>
          </a:xfrm>
        </p:grpSpPr>
        <p:sp>
          <p:nvSpPr>
            <p:cNvPr id="131" name="Line 40">
              <a:extLst>
                <a:ext uri="{FF2B5EF4-FFF2-40B4-BE49-F238E27FC236}">
                  <a16:creationId xmlns:a16="http://schemas.microsoft.com/office/drawing/2014/main" id="{4FDC75ED-FAEA-A030-480E-58C92F620C95}"/>
                </a:ext>
              </a:extLst>
            </p:cNvPr>
            <p:cNvSpPr/>
            <p:nvPr/>
          </p:nvSpPr>
          <p:spPr>
            <a:xfrm>
              <a:off x="7029450" y="327660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28575">
              <a:solidFill>
                <a:srgbClr val="22B573"/>
              </a:solidFill>
            </a:ln>
          </p:spPr>
        </p:sp>
        <p:sp>
          <p:nvSpPr>
            <p:cNvPr id="132" name="Rectangle 41">
              <a:extLst>
                <a:ext uri="{FF2B5EF4-FFF2-40B4-BE49-F238E27FC236}">
                  <a16:creationId xmlns:a16="http://schemas.microsoft.com/office/drawing/2014/main" id="{6F9EE0CA-4F56-EA3D-9CFC-513B52E059E6}"/>
                </a:ext>
              </a:extLst>
            </p:cNvPr>
            <p:cNvSpPr/>
            <p:nvPr/>
          </p:nvSpPr>
          <p:spPr>
            <a:xfrm>
              <a:off x="6153150" y="4210050"/>
              <a:ext cx="1752600" cy="742950"/>
            </a:xfrm>
            <a:prstGeom prst="rect">
              <a:avLst/>
            </a:prstGeom>
            <a:solidFill>
              <a:srgbClr val="F2F7FF"/>
            </a:solidFill>
            <a:ln>
              <a:noFill/>
            </a:ln>
          </p:spPr>
        </p:sp>
        <p:sp>
          <p:nvSpPr>
            <p:cNvPr id="133" name="TextBox 42">
              <a:extLst>
                <a:ext uri="{FF2B5EF4-FFF2-40B4-BE49-F238E27FC236}">
                  <a16:creationId xmlns:a16="http://schemas.microsoft.com/office/drawing/2014/main" id="{313412B0-0627-05A7-C2D8-79F041A9E7A0}"/>
                </a:ext>
              </a:extLst>
            </p:cNvPr>
            <p:cNvSpPr txBox="1"/>
            <p:nvPr/>
          </p:nvSpPr>
          <p:spPr>
            <a:xfrm>
              <a:off x="6684112" y="4366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2B573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证据快照</a:t>
              </a:r>
            </a:p>
          </p:txBody>
        </p:sp>
        <p:sp>
          <p:nvSpPr>
            <p:cNvPr id="134" name="TextBox 43">
              <a:extLst>
                <a:ext uri="{FF2B5EF4-FFF2-40B4-BE49-F238E27FC236}">
                  <a16:creationId xmlns:a16="http://schemas.microsoft.com/office/drawing/2014/main" id="{443F0FC2-088E-7986-64E8-C5DF2ADF3E6D}"/>
                </a:ext>
              </a:extLst>
            </p:cNvPr>
            <p:cNvSpPr txBox="1"/>
            <p:nvPr/>
          </p:nvSpPr>
          <p:spPr>
            <a:xfrm>
              <a:off x="6333942" y="46410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有限事实 </a:t>
              </a:r>
              <a:r>
                <a:rPr kumimoji="0" lang="en-US" altLang="zh-CN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+ </a:t>
              </a:r>
              <a:r>
                <a:rPr kumimoji="0" lang="zh-CN" altLang="en-US" sz="1120" b="0" i="0" u="none" strike="noStrike" kern="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来源记录</a:t>
              </a:r>
            </a:p>
          </p:txBody>
        </p:sp>
      </p:grpSp>
      <p:grpSp>
        <p:nvGrpSpPr>
          <p:cNvPr id="135" name="Group 49">
            <a:extLst>
              <a:ext uri="{FF2B5EF4-FFF2-40B4-BE49-F238E27FC236}">
                <a16:creationId xmlns:a16="http://schemas.microsoft.com/office/drawing/2014/main" id="{2A26867B-1940-560E-2A7C-DE6BC2ECB817}"/>
              </a:ext>
            </a:extLst>
          </p:cNvPr>
          <p:cNvGrpSpPr/>
          <p:nvPr/>
        </p:nvGrpSpPr>
        <p:grpSpPr>
          <a:xfrm>
            <a:off x="4991100" y="4229100"/>
            <a:ext cx="5962650" cy="1292828"/>
            <a:chOff x="4991100" y="4229100"/>
            <a:chExt cx="5962650" cy="1292828"/>
          </a:xfrm>
        </p:grpSpPr>
        <p:sp>
          <p:nvSpPr>
            <p:cNvPr id="136" name="Line 45">
              <a:extLst>
                <a:ext uri="{FF2B5EF4-FFF2-40B4-BE49-F238E27FC236}">
                  <a16:creationId xmlns:a16="http://schemas.microsoft.com/office/drawing/2014/main" id="{04BDA36B-AF86-5002-35FC-06C8B0DC6940}"/>
                </a:ext>
              </a:extLst>
            </p:cNvPr>
            <p:cNvSpPr/>
            <p:nvPr/>
          </p:nvSpPr>
          <p:spPr>
            <a:xfrm>
              <a:off x="5067300" y="5067300"/>
              <a:ext cx="5886450" cy="9525"/>
            </a:xfrm>
            <a:custGeom>
              <a:avLst/>
              <a:gdLst/>
              <a:ahLst/>
              <a:cxnLst/>
              <a:rect l="l" t="t" r="r" b="b"/>
              <a:pathLst>
                <a:path w="5886450" h="9525">
                  <a:moveTo>
                    <a:pt x="58864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B63F6"/>
              </a:solidFill>
            </a:ln>
          </p:spPr>
        </p:sp>
        <p:sp>
          <p:nvSpPr>
            <p:cNvPr id="137" name="Line 46">
              <a:extLst>
                <a:ext uri="{FF2B5EF4-FFF2-40B4-BE49-F238E27FC236}">
                  <a16:creationId xmlns:a16="http://schemas.microsoft.com/office/drawing/2014/main" id="{844814FC-CD4B-0695-BB5E-884ED9065F3F}"/>
                </a:ext>
              </a:extLst>
            </p:cNvPr>
            <p:cNvSpPr/>
            <p:nvPr/>
          </p:nvSpPr>
          <p:spPr>
            <a:xfrm>
              <a:off x="5067300" y="43053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7620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B63F6"/>
              </a:solidFill>
            </a:ln>
          </p:spPr>
        </p:sp>
        <p:sp>
          <p:nvSpPr>
            <p:cNvPr id="138" name="Ellipse 47">
              <a:extLst>
                <a:ext uri="{FF2B5EF4-FFF2-40B4-BE49-F238E27FC236}">
                  <a16:creationId xmlns:a16="http://schemas.microsoft.com/office/drawing/2014/main" id="{2B60BEA6-9568-0737-DAB1-D041221526EB}"/>
                </a:ext>
              </a:extLst>
            </p:cNvPr>
            <p:cNvSpPr/>
            <p:nvPr/>
          </p:nvSpPr>
          <p:spPr>
            <a:xfrm>
              <a:off x="4991100" y="4229100"/>
              <a:ext cx="152400" cy="152400"/>
            </a:xfrm>
            <a:prstGeom prst="ellipse">
              <a:avLst/>
            </a:prstGeom>
            <a:solidFill>
              <a:srgbClr val="0B63F6"/>
            </a:solidFill>
            <a:ln>
              <a:noFill/>
            </a:ln>
          </p:spPr>
        </p:sp>
        <p:sp>
          <p:nvSpPr>
            <p:cNvPr id="139" name="TextBox 48">
              <a:extLst>
                <a:ext uri="{FF2B5EF4-FFF2-40B4-BE49-F238E27FC236}">
                  <a16:creationId xmlns:a16="http://schemas.microsoft.com/office/drawing/2014/main" id="{39543012-1877-CF1C-53BE-D72820B58D1A}"/>
                </a:ext>
              </a:extLst>
            </p:cNvPr>
            <p:cNvSpPr txBox="1"/>
            <p:nvPr/>
          </p:nvSpPr>
          <p:spPr>
            <a:xfrm>
              <a:off x="6385209" y="5272564"/>
              <a:ext cx="32696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80" b="1" i="0" u="none" strike="noStrike" kern="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ea typeface="Microsoft YaHei" panose="020B0503020204020204" pitchFamily="34" charset="-122"/>
                  <a:cs typeface="Arial"/>
                </a:rPr>
                <a:t>规则效果样本回流，复制新版本继续优化</a:t>
              </a:r>
            </a:p>
          </p:txBody>
        </p:sp>
      </p:grpSp>
      <p:sp>
        <p:nvSpPr>
          <p:cNvPr id="141" name="TextBox 6">
            <a:extLst>
              <a:ext uri="{FF2B5EF4-FFF2-40B4-BE49-F238E27FC236}">
                <a16:creationId xmlns:a16="http://schemas.microsoft.com/office/drawing/2014/main" id="{D5B321E3-9E0B-9049-61DA-FEE86489765D}"/>
              </a:ext>
            </a:extLst>
          </p:cNvPr>
          <p:cNvSpPr txBox="1"/>
          <p:nvPr/>
        </p:nvSpPr>
        <p:spPr>
          <a:xfrm>
            <a:off x="511995" y="1122574"/>
            <a:ext cx="6971460" cy="4385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不同场景共享同一条事实—证据—处置闭环</a:t>
            </a:r>
          </a:p>
        </p:txBody>
      </p:sp>
    </p:spTree>
    <p:extLst>
      <p:ext uri="{BB962C8B-B14F-4D97-AF65-F5344CB8AC3E}">
        <p14:creationId xmlns:p14="http://schemas.microsoft.com/office/powerpoint/2010/main" val="2135317394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ACBD9-699A-4881-9C6D-477643AE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F14AE9C-9020-DF99-ED58-F1117D1F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9930" y="1517371"/>
            <a:ext cx="4217670" cy="3822970"/>
          </a:xfrm>
        </p:spPr>
        <p:txBody>
          <a:bodyPr anchor="ctr" anchorCtr="0">
            <a:spAutoFit/>
          </a:bodyPr>
          <a:lstStyle/>
          <a:p>
            <a:pPr marL="0" indent="0">
              <a:buClrTx/>
              <a:buSzTx/>
              <a:buNone/>
            </a:pPr>
            <a:r>
              <a:rPr lang="en-US" altLang="zh-CN" dirty="0"/>
              <a:t>01  </a:t>
            </a:r>
            <a:r>
              <a:rPr lang="zh-CN" altLang="en-US" dirty="0"/>
              <a:t>监管要求与建设目标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02  </a:t>
            </a:r>
            <a:r>
              <a:rPr lang="zh-CN" altLang="en-US" dirty="0">
                <a:sym typeface="+mn-lt"/>
              </a:rPr>
              <a:t>产品定位与总体方案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03  </a:t>
            </a:r>
            <a:r>
              <a:rPr lang="zh-CN" altLang="en-US" dirty="0">
                <a:sym typeface="+mn-lt"/>
              </a:rPr>
              <a:t>核心功能体系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04  </a:t>
            </a:r>
            <a:r>
              <a:rPr lang="zh-CN" altLang="en-US" dirty="0">
                <a:sym typeface="+mn-lt"/>
              </a:rPr>
              <a:t>典型应用场景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  <a:sym typeface="+mn-ea"/>
              </a:rPr>
              <a:t>05  建设实施与应用价值</a:t>
            </a:r>
          </a:p>
        </p:txBody>
      </p:sp>
    </p:spTree>
    <p:extLst>
      <p:ext uri="{BB962C8B-B14F-4D97-AF65-F5344CB8AC3E}">
        <p14:creationId xmlns:p14="http://schemas.microsoft.com/office/powerpoint/2010/main" val="2935914418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CB3B-FC07-0D16-5E52-9F6451C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C7EB3B73-1C19-3D26-3D6B-48BC9C8A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应用价值</a:t>
            </a:r>
            <a:endParaRPr lang="zh-CN" alt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120007F-8912-587D-BD20-C8D0A01C0500}"/>
              </a:ext>
            </a:extLst>
          </p:cNvPr>
          <p:cNvSpPr txBox="1"/>
          <p:nvPr/>
        </p:nvSpPr>
        <p:spPr>
          <a:xfrm>
            <a:off x="931321" y="1408009"/>
            <a:ext cx="897223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50" b="1" i="0" u="none" strike="noStrike" kern="1200" cap="none" spc="0" normalizeH="0" baseline="0" noProof="0" dirty="0">
                <a:ln>
                  <a:noFill/>
                </a:ln>
                <a:solidFill>
                  <a:srgbClr val="2D3748"/>
                </a:solidFill>
                <a:effectLst/>
                <a:uLnTx/>
                <a:uFillTx/>
                <a:latin typeface="Arial"/>
                <a:ea typeface="Microsoft YaHei" panose="020B0503020204020204" pitchFamily="34" charset="-122"/>
                <a:cs typeface="Arial"/>
              </a:rPr>
              <a:t>平台价值从“看见问题”升级为“穿透、闭环、复用”</a:t>
            </a:r>
          </a:p>
        </p:txBody>
      </p:sp>
      <p:grpSp>
        <p:nvGrpSpPr>
          <p:cNvPr id="8" name="Group 29">
            <a:extLst>
              <a:ext uri="{FF2B5EF4-FFF2-40B4-BE49-F238E27FC236}">
                <a16:creationId xmlns:a16="http://schemas.microsoft.com/office/drawing/2014/main" id="{C1FB8C72-8F39-44AB-0CA5-E9E75576CE65}"/>
              </a:ext>
            </a:extLst>
          </p:cNvPr>
          <p:cNvGrpSpPr/>
          <p:nvPr/>
        </p:nvGrpSpPr>
        <p:grpSpPr>
          <a:xfrm>
            <a:off x="603504" y="2523363"/>
            <a:ext cx="5587746" cy="3240024"/>
            <a:chOff x="603504" y="1889760"/>
            <a:chExt cx="5587746" cy="3240024"/>
          </a:xfrm>
        </p:grpSpPr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B78C7AE3-A7B2-7FF6-C2C3-A61B1A6BE9E3}"/>
                </a:ext>
              </a:extLst>
            </p:cNvPr>
            <p:cNvSpPr txBox="1"/>
            <p:nvPr/>
          </p:nvSpPr>
          <p:spPr>
            <a:xfrm>
              <a:off x="603504" y="18897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四项价值跃迁</a:t>
              </a: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6974E22F-FF00-C31F-359B-EE356494479F}"/>
                </a:ext>
              </a:extLst>
            </p:cNvPr>
            <p:cNvSpPr/>
            <p:nvPr/>
          </p:nvSpPr>
          <p:spPr>
            <a:xfrm>
              <a:off x="609600" y="2190750"/>
              <a:ext cx="5581650" cy="9525"/>
            </a:xfrm>
            <a:custGeom>
              <a:avLst/>
              <a:gdLst/>
              <a:ahLst/>
              <a:cxnLst/>
              <a:rect l="l" t="t" r="r" b="b"/>
              <a:pathLst>
                <a:path w="5581650" h="9525">
                  <a:moveTo>
                    <a:pt x="0" y="0"/>
                  </a:moveTo>
                  <a:lnTo>
                    <a:pt x="5581650" y="0"/>
                  </a:lnTo>
                </a:path>
              </a:pathLst>
            </a:custGeom>
            <a:noFill/>
            <a:ln w="19050">
              <a:solidFill>
                <a:srgbClr val="B9D3FF"/>
              </a:solidFill>
            </a:ln>
          </p:spPr>
        </p:sp>
        <p:sp>
          <p:nvSpPr>
            <p:cNvPr id="26" name="TextBox 10">
              <a:extLst>
                <a:ext uri="{FF2B5EF4-FFF2-40B4-BE49-F238E27FC236}">
                  <a16:creationId xmlns:a16="http://schemas.microsoft.com/office/drawing/2014/main" id="{88F11598-91E9-ABC5-8A7E-8E396361F376}"/>
                </a:ext>
              </a:extLst>
            </p:cNvPr>
            <p:cNvSpPr txBox="1"/>
            <p:nvPr/>
          </p:nvSpPr>
          <p:spPr>
            <a:xfrm>
              <a:off x="603504" y="2556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治理模式</a:t>
              </a:r>
            </a:p>
          </p:txBody>
        </p:sp>
        <p:sp>
          <p:nvSpPr>
            <p:cNvPr id="31" name="TextBox 11">
              <a:extLst>
                <a:ext uri="{FF2B5EF4-FFF2-40B4-BE49-F238E27FC236}">
                  <a16:creationId xmlns:a16="http://schemas.microsoft.com/office/drawing/2014/main" id="{751EFF3A-DFAF-FCC2-D6E2-293FB5E3CBF4}"/>
                </a:ext>
              </a:extLst>
            </p:cNvPr>
            <p:cNvSpPr txBox="1"/>
            <p:nvPr/>
          </p:nvSpPr>
          <p:spPr>
            <a:xfrm>
              <a:off x="1744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报表抽查</a:t>
              </a:r>
            </a:p>
          </p:txBody>
        </p:sp>
        <p:sp>
          <p:nvSpPr>
            <p:cNvPr id="32" name="Line 12">
              <a:extLst>
                <a:ext uri="{FF2B5EF4-FFF2-40B4-BE49-F238E27FC236}">
                  <a16:creationId xmlns:a16="http://schemas.microsoft.com/office/drawing/2014/main" id="{74BE9142-8D78-AAE5-3C5B-712765078376}"/>
                </a:ext>
              </a:extLst>
            </p:cNvPr>
            <p:cNvSpPr/>
            <p:nvPr/>
          </p:nvSpPr>
          <p:spPr>
            <a:xfrm>
              <a:off x="2914650" y="2609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C5BC2C18-3106-21D0-43F9-91BCF09EE943}"/>
                </a:ext>
              </a:extLst>
            </p:cNvPr>
            <p:cNvSpPr txBox="1"/>
            <p:nvPr/>
          </p:nvSpPr>
          <p:spPr>
            <a:xfrm>
              <a:off x="3743706" y="2491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在线穿透</a:t>
              </a:r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D9F7E4C2-9B25-4262-1E80-7473F8AAD375}"/>
                </a:ext>
              </a:extLst>
            </p:cNvPr>
            <p:cNvSpPr/>
            <p:nvPr/>
          </p:nvSpPr>
          <p:spPr>
            <a:xfrm>
              <a:off x="609600" y="2952750"/>
              <a:ext cx="5581650" cy="9525"/>
            </a:xfrm>
            <a:custGeom>
              <a:avLst/>
              <a:gdLst/>
              <a:ahLst/>
              <a:cxnLst/>
              <a:rect l="l" t="t" r="r" b="b"/>
              <a:pathLst>
                <a:path w="5581650" h="9525">
                  <a:moveTo>
                    <a:pt x="0" y="0"/>
                  </a:moveTo>
                  <a:lnTo>
                    <a:pt x="5581650" y="0"/>
                  </a:lnTo>
                </a:path>
              </a:pathLst>
            </a:custGeom>
            <a:noFill/>
            <a:ln w="9525">
              <a:solidFill>
                <a:srgbClr val="E1EAF6"/>
              </a:solidFill>
            </a:ln>
          </p:spPr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41F7E315-3203-32BB-DAA3-16DD3528AC5D}"/>
                </a:ext>
              </a:extLst>
            </p:cNvPr>
            <p:cNvSpPr txBox="1"/>
            <p:nvPr/>
          </p:nvSpPr>
          <p:spPr>
            <a:xfrm>
              <a:off x="603504" y="3318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技术底座</a:t>
              </a:r>
            </a:p>
          </p:txBody>
        </p:sp>
        <p:sp>
          <p:nvSpPr>
            <p:cNvPr id="36" name="TextBox 16">
              <a:extLst>
                <a:ext uri="{FF2B5EF4-FFF2-40B4-BE49-F238E27FC236}">
                  <a16:creationId xmlns:a16="http://schemas.microsoft.com/office/drawing/2014/main" id="{8417EAA9-25E8-9E0F-C28B-DA13A0513CAE}"/>
                </a:ext>
              </a:extLst>
            </p:cNvPr>
            <p:cNvSpPr txBox="1"/>
            <p:nvPr/>
          </p:nvSpPr>
          <p:spPr>
            <a:xfrm>
              <a:off x="1744218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分散系统</a:t>
              </a:r>
            </a:p>
          </p:txBody>
        </p:sp>
        <p:sp>
          <p:nvSpPr>
            <p:cNvPr id="37" name="Line 17">
              <a:extLst>
                <a:ext uri="{FF2B5EF4-FFF2-40B4-BE49-F238E27FC236}">
                  <a16:creationId xmlns:a16="http://schemas.microsoft.com/office/drawing/2014/main" id="{E45AD7F2-6487-1D9F-D2FD-824B8560ED4A}"/>
                </a:ext>
              </a:extLst>
            </p:cNvPr>
            <p:cNvSpPr/>
            <p:nvPr/>
          </p:nvSpPr>
          <p:spPr>
            <a:xfrm>
              <a:off x="2914650" y="3371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38" name="TextBox 18">
              <a:extLst>
                <a:ext uri="{FF2B5EF4-FFF2-40B4-BE49-F238E27FC236}">
                  <a16:creationId xmlns:a16="http://schemas.microsoft.com/office/drawing/2014/main" id="{11998782-5E9D-10A4-BBBC-3B471D0D4E5D}"/>
                </a:ext>
              </a:extLst>
            </p:cNvPr>
            <p:cNvSpPr txBox="1"/>
            <p:nvPr/>
          </p:nvSpPr>
          <p:spPr>
            <a:xfrm>
              <a:off x="3743706" y="32537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云数智一体</a:t>
              </a:r>
            </a:p>
          </p:txBody>
        </p:sp>
        <p:sp>
          <p:nvSpPr>
            <p:cNvPr id="39" name="Line 19">
              <a:extLst>
                <a:ext uri="{FF2B5EF4-FFF2-40B4-BE49-F238E27FC236}">
                  <a16:creationId xmlns:a16="http://schemas.microsoft.com/office/drawing/2014/main" id="{CE92E6FD-0FC4-24A1-4208-8AE4C432D904}"/>
                </a:ext>
              </a:extLst>
            </p:cNvPr>
            <p:cNvSpPr/>
            <p:nvPr/>
          </p:nvSpPr>
          <p:spPr>
            <a:xfrm>
              <a:off x="609600" y="3714750"/>
              <a:ext cx="5581650" cy="9525"/>
            </a:xfrm>
            <a:custGeom>
              <a:avLst/>
              <a:gdLst/>
              <a:ahLst/>
              <a:cxnLst/>
              <a:rect l="l" t="t" r="r" b="b"/>
              <a:pathLst>
                <a:path w="5581650" h="9525">
                  <a:moveTo>
                    <a:pt x="0" y="0"/>
                  </a:moveTo>
                  <a:lnTo>
                    <a:pt x="5581650" y="0"/>
                  </a:lnTo>
                </a:path>
              </a:pathLst>
            </a:custGeom>
            <a:noFill/>
            <a:ln w="9525">
              <a:solidFill>
                <a:srgbClr val="E1EAF6"/>
              </a:solidFill>
            </a:ln>
          </p:spPr>
        </p:sp>
        <p:sp>
          <p:nvSpPr>
            <p:cNvPr id="41" name="TextBox 20">
              <a:extLst>
                <a:ext uri="{FF2B5EF4-FFF2-40B4-BE49-F238E27FC236}">
                  <a16:creationId xmlns:a16="http://schemas.microsoft.com/office/drawing/2014/main" id="{2CB49D51-AE5C-953E-77A7-BA6AD517BFA6}"/>
                </a:ext>
              </a:extLst>
            </p:cNvPr>
            <p:cNvSpPr txBox="1"/>
            <p:nvPr/>
          </p:nvSpPr>
          <p:spPr>
            <a:xfrm>
              <a:off x="603504" y="4080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监管能力</a:t>
              </a:r>
            </a:p>
          </p:txBody>
        </p:sp>
        <p:sp>
          <p:nvSpPr>
            <p:cNvPr id="42" name="TextBox 21">
              <a:extLst>
                <a:ext uri="{FF2B5EF4-FFF2-40B4-BE49-F238E27FC236}">
                  <a16:creationId xmlns:a16="http://schemas.microsoft.com/office/drawing/2014/main" id="{78E5060C-2947-69DD-625A-3B6A3A501130}"/>
                </a:ext>
              </a:extLst>
            </p:cNvPr>
            <p:cNvSpPr txBox="1"/>
            <p:nvPr/>
          </p:nvSpPr>
          <p:spPr>
            <a:xfrm>
              <a:off x="1744218" y="4031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单点检查</a:t>
              </a:r>
            </a:p>
          </p:txBody>
        </p:sp>
        <p:sp>
          <p:nvSpPr>
            <p:cNvPr id="44" name="Line 22">
              <a:extLst>
                <a:ext uri="{FF2B5EF4-FFF2-40B4-BE49-F238E27FC236}">
                  <a16:creationId xmlns:a16="http://schemas.microsoft.com/office/drawing/2014/main" id="{2E1A927A-67D1-F4B9-9AE3-AE10C32947BB}"/>
                </a:ext>
              </a:extLst>
            </p:cNvPr>
            <p:cNvSpPr/>
            <p:nvPr/>
          </p:nvSpPr>
          <p:spPr>
            <a:xfrm>
              <a:off x="2914650" y="4133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AC7D3274-65D6-C7F9-CC2E-8CC7D371ADB1}"/>
                </a:ext>
              </a:extLst>
            </p:cNvPr>
            <p:cNvSpPr txBox="1"/>
            <p:nvPr/>
          </p:nvSpPr>
          <p:spPr>
            <a:xfrm>
              <a:off x="3743706" y="4015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四全贯通</a:t>
              </a:r>
            </a:p>
          </p:txBody>
        </p:sp>
        <p:sp>
          <p:nvSpPr>
            <p:cNvPr id="47" name="Line 24">
              <a:extLst>
                <a:ext uri="{FF2B5EF4-FFF2-40B4-BE49-F238E27FC236}">
                  <a16:creationId xmlns:a16="http://schemas.microsoft.com/office/drawing/2014/main" id="{1C2D7AE7-2451-7ACA-D37E-ECFC0583AD45}"/>
                </a:ext>
              </a:extLst>
            </p:cNvPr>
            <p:cNvSpPr/>
            <p:nvPr/>
          </p:nvSpPr>
          <p:spPr>
            <a:xfrm>
              <a:off x="609600" y="4476750"/>
              <a:ext cx="5581650" cy="9525"/>
            </a:xfrm>
            <a:custGeom>
              <a:avLst/>
              <a:gdLst/>
              <a:ahLst/>
              <a:cxnLst/>
              <a:rect l="l" t="t" r="r" b="b"/>
              <a:pathLst>
                <a:path w="5581650" h="9525">
                  <a:moveTo>
                    <a:pt x="0" y="0"/>
                  </a:moveTo>
                  <a:lnTo>
                    <a:pt x="5581650" y="0"/>
                  </a:lnTo>
                </a:path>
              </a:pathLst>
            </a:custGeom>
            <a:noFill/>
            <a:ln w="9525">
              <a:solidFill>
                <a:srgbClr val="E1EAF6"/>
              </a:solidFill>
            </a:ln>
          </p:spPr>
        </p:sp>
        <p:sp>
          <p:nvSpPr>
            <p:cNvPr id="48" name="TextBox 25">
              <a:extLst>
                <a:ext uri="{FF2B5EF4-FFF2-40B4-BE49-F238E27FC236}">
                  <a16:creationId xmlns:a16="http://schemas.microsoft.com/office/drawing/2014/main" id="{AEBC2586-EFBC-66A0-0A3B-E243C22ED13C}"/>
                </a:ext>
              </a:extLst>
            </p:cNvPr>
            <p:cNvSpPr txBox="1"/>
            <p:nvPr/>
          </p:nvSpPr>
          <p:spPr>
            <a:xfrm>
              <a:off x="603504" y="4842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运营方式</a:t>
              </a:r>
            </a:p>
          </p:txBody>
        </p:sp>
        <p:sp>
          <p:nvSpPr>
            <p:cNvPr id="49" name="TextBox 26">
              <a:extLst>
                <a:ext uri="{FF2B5EF4-FFF2-40B4-BE49-F238E27FC236}">
                  <a16:creationId xmlns:a16="http://schemas.microsoft.com/office/drawing/2014/main" id="{A14F04EB-73AD-7991-A9AA-F6A2DEFD1966}"/>
                </a:ext>
              </a:extLst>
            </p:cNvPr>
            <p:cNvSpPr txBox="1"/>
            <p:nvPr/>
          </p:nvSpPr>
          <p:spPr>
            <a:xfrm>
              <a:off x="1744218" y="4793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50" b="0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事后处置</a:t>
              </a:r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41FCB94C-9510-0F1F-1F23-39CCB98C57B3}"/>
                </a:ext>
              </a:extLst>
            </p:cNvPr>
            <p:cNvSpPr/>
            <p:nvPr/>
          </p:nvSpPr>
          <p:spPr>
            <a:xfrm>
              <a:off x="2914650" y="48958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51" name="TextBox 28">
              <a:extLst>
                <a:ext uri="{FF2B5EF4-FFF2-40B4-BE49-F238E27FC236}">
                  <a16:creationId xmlns:a16="http://schemas.microsoft.com/office/drawing/2014/main" id="{5A55674A-BE22-D456-DA01-084F5F3E6A1E}"/>
                </a:ext>
              </a:extLst>
            </p:cNvPr>
            <p:cNvSpPr txBox="1"/>
            <p:nvPr/>
          </p:nvSpPr>
          <p:spPr>
            <a:xfrm>
              <a:off x="3743706" y="4777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持续优化</a:t>
              </a:r>
            </a:p>
          </p:txBody>
        </p:sp>
      </p:grpSp>
      <p:grpSp>
        <p:nvGrpSpPr>
          <p:cNvPr id="52" name="Group 44">
            <a:extLst>
              <a:ext uri="{FF2B5EF4-FFF2-40B4-BE49-F238E27FC236}">
                <a16:creationId xmlns:a16="http://schemas.microsoft.com/office/drawing/2014/main" id="{7A9FE245-DB28-D776-50C9-1A7903B72776}"/>
              </a:ext>
            </a:extLst>
          </p:cNvPr>
          <p:cNvGrpSpPr/>
          <p:nvPr/>
        </p:nvGrpSpPr>
        <p:grpSpPr>
          <a:xfrm>
            <a:off x="7061454" y="2523363"/>
            <a:ext cx="4292346" cy="3644646"/>
            <a:chOff x="7061454" y="1889760"/>
            <a:chExt cx="4292346" cy="3644646"/>
          </a:xfrm>
        </p:grpSpPr>
        <p:sp>
          <p:nvSpPr>
            <p:cNvPr id="53" name="TextBox 30">
              <a:extLst>
                <a:ext uri="{FF2B5EF4-FFF2-40B4-BE49-F238E27FC236}">
                  <a16:creationId xmlns:a16="http://schemas.microsoft.com/office/drawing/2014/main" id="{B17BAB43-E42A-0682-9EEF-F38CCFFD1EFF}"/>
                </a:ext>
              </a:extLst>
            </p:cNvPr>
            <p:cNvSpPr txBox="1"/>
            <p:nvPr/>
          </p:nvSpPr>
          <p:spPr>
            <a:xfrm>
              <a:off x="7061454" y="18897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三阶段推广演进</a:t>
              </a:r>
            </a:p>
          </p:txBody>
        </p:sp>
        <p:sp>
          <p:nvSpPr>
            <p:cNvPr id="54" name="Rectangle 31">
              <a:extLst>
                <a:ext uri="{FF2B5EF4-FFF2-40B4-BE49-F238E27FC236}">
                  <a16:creationId xmlns:a16="http://schemas.microsoft.com/office/drawing/2014/main" id="{A43AB778-6B2C-E953-B2DD-B7362ED73F6D}"/>
                </a:ext>
              </a:extLst>
            </p:cNvPr>
            <p:cNvSpPr/>
            <p:nvPr/>
          </p:nvSpPr>
          <p:spPr>
            <a:xfrm>
              <a:off x="7067550" y="4038600"/>
              <a:ext cx="120015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32">
              <a:extLst>
                <a:ext uri="{FF2B5EF4-FFF2-40B4-BE49-F238E27FC236}">
                  <a16:creationId xmlns:a16="http://schemas.microsoft.com/office/drawing/2014/main" id="{A0614F39-6441-09D3-BE24-1CF4F1B6E423}"/>
                </a:ext>
              </a:extLst>
            </p:cNvPr>
            <p:cNvSpPr txBox="1"/>
            <p:nvPr/>
          </p:nvSpPr>
          <p:spPr>
            <a:xfrm>
              <a:off x="7242048" y="41176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1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56" name="TextBox 33">
              <a:extLst>
                <a:ext uri="{FF2B5EF4-FFF2-40B4-BE49-F238E27FC236}">
                  <a16:creationId xmlns:a16="http://schemas.microsoft.com/office/drawing/2014/main" id="{5273409F-2C91-1D0A-115E-7A4F21287E71}"/>
                </a:ext>
              </a:extLst>
            </p:cNvPr>
            <p:cNvSpPr txBox="1"/>
            <p:nvPr/>
          </p:nvSpPr>
          <p:spPr>
            <a:xfrm>
              <a:off x="7251192" y="46739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做深试点</a:t>
              </a:r>
            </a:p>
          </p:txBody>
        </p:sp>
        <p:sp>
          <p:nvSpPr>
            <p:cNvPr id="57" name="Rectangle 34">
              <a:extLst>
                <a:ext uri="{FF2B5EF4-FFF2-40B4-BE49-F238E27FC236}">
                  <a16:creationId xmlns:a16="http://schemas.microsoft.com/office/drawing/2014/main" id="{FAF44816-C64E-6474-B8E1-05ECAABBDB27}"/>
                </a:ext>
              </a:extLst>
            </p:cNvPr>
            <p:cNvSpPr/>
            <p:nvPr/>
          </p:nvSpPr>
          <p:spPr>
            <a:xfrm>
              <a:off x="8267700" y="3276600"/>
              <a:ext cx="1352550" cy="1809750"/>
            </a:xfrm>
            <a:prstGeom prst="rect">
              <a:avLst/>
            </a:prstGeom>
            <a:solidFill>
              <a:srgbClr val="DCEAFF"/>
            </a:solidFill>
            <a:ln>
              <a:noFill/>
            </a:ln>
          </p:spPr>
        </p:sp>
        <p:sp>
          <p:nvSpPr>
            <p:cNvPr id="58" name="TextBox 35">
              <a:extLst>
                <a:ext uri="{FF2B5EF4-FFF2-40B4-BE49-F238E27FC236}">
                  <a16:creationId xmlns:a16="http://schemas.microsoft.com/office/drawing/2014/main" id="{24DD1B3B-8EF6-0095-15B6-BF528AF27C26}"/>
                </a:ext>
              </a:extLst>
            </p:cNvPr>
            <p:cNvSpPr txBox="1"/>
            <p:nvPr/>
          </p:nvSpPr>
          <p:spPr>
            <a:xfrm>
              <a:off x="8461248" y="33747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1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59" name="TextBox 36">
              <a:extLst>
                <a:ext uri="{FF2B5EF4-FFF2-40B4-BE49-F238E27FC236}">
                  <a16:creationId xmlns:a16="http://schemas.microsoft.com/office/drawing/2014/main" id="{301D02C3-6AC6-0D75-45FB-734271ECA36D}"/>
                </a:ext>
              </a:extLst>
            </p:cNvPr>
            <p:cNvSpPr txBox="1"/>
            <p:nvPr/>
          </p:nvSpPr>
          <p:spPr>
            <a:xfrm>
              <a:off x="8470392" y="39309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同领域复制</a:t>
              </a:r>
            </a:p>
          </p:txBody>
        </p:sp>
        <p:sp>
          <p:nvSpPr>
            <p:cNvPr id="60" name="TextBox 37">
              <a:extLst>
                <a:ext uri="{FF2B5EF4-FFF2-40B4-BE49-F238E27FC236}">
                  <a16:creationId xmlns:a16="http://schemas.microsoft.com/office/drawing/2014/main" id="{8EFD0C70-0561-B11B-D4EA-49187464372A}"/>
                </a:ext>
              </a:extLst>
            </p:cNvPr>
            <p:cNvSpPr txBox="1"/>
            <p:nvPr/>
          </p:nvSpPr>
          <p:spPr>
            <a:xfrm>
              <a:off x="8471535" y="42981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更多组织</a:t>
              </a:r>
            </a:p>
          </p:txBody>
        </p:sp>
        <p:sp>
          <p:nvSpPr>
            <p:cNvPr id="62" name="Rectangle 38">
              <a:extLst>
                <a:ext uri="{FF2B5EF4-FFF2-40B4-BE49-F238E27FC236}">
                  <a16:creationId xmlns:a16="http://schemas.microsoft.com/office/drawing/2014/main" id="{68C314FE-9F86-669A-0F1A-81FED5E336BF}"/>
                </a:ext>
              </a:extLst>
            </p:cNvPr>
            <p:cNvSpPr/>
            <p:nvPr/>
          </p:nvSpPr>
          <p:spPr>
            <a:xfrm>
              <a:off x="9620250" y="2514600"/>
              <a:ext cx="1733550" cy="2571750"/>
            </a:xfrm>
            <a:prstGeom prst="rect">
              <a:avLst/>
            </a:prstGeom>
            <a:solidFill>
              <a:srgbClr val="C8DDFF"/>
            </a:solidFill>
            <a:ln>
              <a:noFill/>
            </a:ln>
          </p:spPr>
        </p:sp>
        <p:sp>
          <p:nvSpPr>
            <p:cNvPr id="63" name="TextBox 39">
              <a:extLst>
                <a:ext uri="{FF2B5EF4-FFF2-40B4-BE49-F238E27FC236}">
                  <a16:creationId xmlns:a16="http://schemas.microsoft.com/office/drawing/2014/main" id="{5A1A801D-9FC5-A07D-32EE-5998A0FE93FF}"/>
                </a:ext>
              </a:extLst>
            </p:cNvPr>
            <p:cNvSpPr txBox="1"/>
            <p:nvPr/>
          </p:nvSpPr>
          <p:spPr>
            <a:xfrm>
              <a:off x="9832848" y="26317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150" b="1" i="0" u="none" strike="noStrike" kern="1200" cap="none" spc="0" normalizeH="0" baseline="0" noProof="0" dirty="0">
                  <a:ln>
                    <a:noFill/>
                  </a:ln>
                  <a:solidFill>
                    <a:srgbClr val="0B63F6"/>
                  </a:solidFill>
                  <a:effectLst/>
                  <a:uLnTx/>
                  <a:uFillTx/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64" name="TextBox 40">
              <a:extLst>
                <a:ext uri="{FF2B5EF4-FFF2-40B4-BE49-F238E27FC236}">
                  <a16:creationId xmlns:a16="http://schemas.microsoft.com/office/drawing/2014/main" id="{2B9C4C92-E5F3-638E-C853-7245D9A8836B}"/>
                </a:ext>
              </a:extLst>
            </p:cNvPr>
            <p:cNvSpPr txBox="1"/>
            <p:nvPr/>
          </p:nvSpPr>
          <p:spPr>
            <a:xfrm>
              <a:off x="9841992" y="31880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2D3748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跨业务域扩展</a:t>
              </a:r>
            </a:p>
          </p:txBody>
        </p:sp>
        <p:sp>
          <p:nvSpPr>
            <p:cNvPr id="65" name="TextBox 41">
              <a:extLst>
                <a:ext uri="{FF2B5EF4-FFF2-40B4-BE49-F238E27FC236}">
                  <a16:creationId xmlns:a16="http://schemas.microsoft.com/office/drawing/2014/main" id="{F986B9E3-78F7-F877-A97A-A295851AFF51}"/>
                </a:ext>
              </a:extLst>
            </p:cNvPr>
            <p:cNvSpPr txBox="1"/>
            <p:nvPr/>
          </p:nvSpPr>
          <p:spPr>
            <a:xfrm>
              <a:off x="9843135" y="35552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集团级场景</a:t>
              </a:r>
            </a:p>
          </p:txBody>
        </p:sp>
        <p:sp>
          <p:nvSpPr>
            <p:cNvPr id="66" name="TextBox 42">
              <a:extLst>
                <a:ext uri="{FF2B5EF4-FFF2-40B4-BE49-F238E27FC236}">
                  <a16:creationId xmlns:a16="http://schemas.microsoft.com/office/drawing/2014/main" id="{C2E0640A-E789-D272-FB00-2D76F5655735}"/>
                </a:ext>
              </a:extLst>
            </p:cNvPr>
            <p:cNvSpPr txBox="1"/>
            <p:nvPr/>
          </p:nvSpPr>
          <p:spPr>
            <a:xfrm>
              <a:off x="9843135" y="38028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2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与规则资产库</a:t>
              </a:r>
            </a:p>
          </p:txBody>
        </p:sp>
        <p:sp>
          <p:nvSpPr>
            <p:cNvPr id="67" name="TextBox 43">
              <a:extLst>
                <a:ext uri="{FF2B5EF4-FFF2-40B4-BE49-F238E27FC236}">
                  <a16:creationId xmlns:a16="http://schemas.microsoft.com/office/drawing/2014/main" id="{1EC95BE3-1DF5-71D2-FA74-F141C727659B}"/>
                </a:ext>
              </a:extLst>
            </p:cNvPr>
            <p:cNvSpPr txBox="1"/>
            <p:nvPr/>
          </p:nvSpPr>
          <p:spPr>
            <a:xfrm>
              <a:off x="7251954" y="52997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1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个单位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· 1–3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96579"/>
                  </a:solidFill>
                  <a:effectLst/>
                  <a:uLnTx/>
                  <a:uFillTx/>
                  <a:latin typeface="Arial"/>
                  <a:ea typeface="Microsoft YaHei" panose="020B0503020204020204" pitchFamily="34" charset="-122"/>
                  <a:cs typeface="Arial"/>
                </a:rPr>
                <a:t>个场景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8136200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矩形 1"/>
          <p:cNvSpPr/>
          <p:nvPr>
            <p:custDataLst>
              <p:tags r:id="rId2"/>
            </p:custDataLst>
          </p:nvPr>
        </p:nvSpPr>
        <p:spPr>
          <a:xfrm>
            <a:off x="423545" y="4483742"/>
            <a:ext cx="2451735" cy="1657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闭环落库、真实认证与RBAC</a:t>
            </a:r>
            <a:endParaRPr lang="en-US" altLang="zh-CN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  <a:p>
            <a:pPr indent="0" algn="ctr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zh-CN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证据快照、审计、幂等与性能</a:t>
            </a:r>
          </a:p>
          <a:p>
            <a:pPr indent="0" algn="ctr" fontAlgn="auto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endParaRPr lang="en-US" altLang="zh-CN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8" name="矩形 2"/>
          <p:cNvSpPr/>
          <p:nvPr>
            <p:custDataLst>
              <p:tags r:id="rId3"/>
            </p:custDataLst>
          </p:nvPr>
        </p:nvSpPr>
        <p:spPr>
          <a:xfrm>
            <a:off x="423545" y="3810642"/>
            <a:ext cx="2451735" cy="577320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01 基础加固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77173" y="1413510"/>
            <a:ext cx="1945140" cy="2251812"/>
            <a:chOff x="677173" y="1413510"/>
            <a:chExt cx="1945140" cy="2251812"/>
          </a:xfrm>
        </p:grpSpPr>
        <p:sp>
          <p:nvSpPr>
            <p:cNvPr id="10" name="大线"/>
            <p:cNvSpPr/>
            <p:nvPr>
              <p:custDataLst>
                <p:tags r:id="rId40"/>
              </p:custDataLst>
            </p:nvPr>
          </p:nvSpPr>
          <p:spPr bwMode="auto">
            <a:xfrm>
              <a:off x="1134231" y="2675819"/>
              <a:ext cx="1031684" cy="69159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7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5" name="小线"/>
            <p:cNvSpPr/>
            <p:nvPr>
              <p:custDataLst>
                <p:tags r:id="rId41"/>
              </p:custDataLst>
            </p:nvPr>
          </p:nvSpPr>
          <p:spPr bwMode="auto">
            <a:xfrm>
              <a:off x="677173" y="2360077"/>
              <a:ext cx="1945140" cy="130524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7" name="下"/>
            <p:cNvSpPr/>
            <p:nvPr>
              <p:custDataLst>
                <p:tags r:id="rId42"/>
              </p:custDataLst>
            </p:nvPr>
          </p:nvSpPr>
          <p:spPr bwMode="auto">
            <a:xfrm>
              <a:off x="933442" y="2207490"/>
              <a:ext cx="1431280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3235" h="2166">
                  <a:moveTo>
                    <a:pt x="1613" y="0"/>
                  </a:moveTo>
                  <a:lnTo>
                    <a:pt x="3141" y="1021"/>
                  </a:lnTo>
                  <a:lnTo>
                    <a:pt x="3235" y="1021"/>
                  </a:lnTo>
                  <a:lnTo>
                    <a:pt x="3235" y="1080"/>
                  </a:lnTo>
                  <a:lnTo>
                    <a:pt x="3229" y="1080"/>
                  </a:lnTo>
                  <a:lnTo>
                    <a:pt x="3233" y="1082"/>
                  </a:lnTo>
                  <a:lnTo>
                    <a:pt x="1613" y="2166"/>
                  </a:lnTo>
                  <a:lnTo>
                    <a:pt x="0" y="1082"/>
                  </a:lnTo>
                  <a:lnTo>
                    <a:pt x="6" y="1078"/>
                  </a:lnTo>
                  <a:lnTo>
                    <a:pt x="6" y="1021"/>
                  </a:lnTo>
                  <a:lnTo>
                    <a:pt x="92" y="1021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317500" dist="127000" dir="5400000" algn="t" rotWithShape="0">
                <a:schemeClr val="accent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27" name="下"/>
            <p:cNvSpPr/>
            <p:nvPr>
              <p:custDataLst>
                <p:tags r:id="rId43"/>
              </p:custDataLst>
            </p:nvPr>
          </p:nvSpPr>
          <p:spPr bwMode="auto">
            <a:xfrm>
              <a:off x="933442" y="2180407"/>
              <a:ext cx="1429959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70000">
                  <a:schemeClr val="accent1">
                    <a:alpha val="100000"/>
                  </a:schemeClr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28" name="右"/>
            <p:cNvSpPr/>
            <p:nvPr>
              <p:custDataLst>
                <p:tags r:id="rId44"/>
              </p:custDataLst>
            </p:nvPr>
          </p:nvSpPr>
          <p:spPr bwMode="auto">
            <a:xfrm>
              <a:off x="1648092" y="1430024"/>
              <a:ext cx="717291" cy="1229282"/>
            </a:xfrm>
            <a:custGeom>
              <a:avLst/>
              <a:gdLst/>
              <a:ahLst/>
              <a:cxnLst>
                <a:cxn ang="0">
                  <a:pos x="648" y="498"/>
                </a:cxn>
                <a:cxn ang="0">
                  <a:pos x="648" y="1278"/>
                </a:cxn>
                <a:cxn ang="0">
                  <a:pos x="3" y="784"/>
                </a:cxn>
                <a:cxn ang="0">
                  <a:pos x="0" y="0"/>
                </a:cxn>
                <a:cxn ang="0">
                  <a:pos x="648" y="498"/>
                </a:cxn>
                <a:cxn ang="0">
                  <a:pos x="648" y="498"/>
                </a:cxn>
              </a:cxnLst>
              <a:rect l="0" t="0" r="r" b="b"/>
              <a:pathLst>
                <a:path w="648" h="1278">
                  <a:moveTo>
                    <a:pt x="648" y="498"/>
                  </a:moveTo>
                  <a:lnTo>
                    <a:pt x="648" y="1278"/>
                  </a:lnTo>
                  <a:lnTo>
                    <a:pt x="3" y="784"/>
                  </a:lnTo>
                  <a:lnTo>
                    <a:pt x="0" y="0"/>
                  </a:lnTo>
                  <a:lnTo>
                    <a:pt x="648" y="498"/>
                  </a:lnTo>
                  <a:lnTo>
                    <a:pt x="648" y="4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2"/>
                </a:gs>
              </a:gsLst>
              <a:lin ang="13500000" scaled="0"/>
            </a:gradFill>
            <a:ln w="12700" cmpd="sng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31" name="左"/>
            <p:cNvSpPr/>
            <p:nvPr>
              <p:custDataLst>
                <p:tags r:id="rId45"/>
              </p:custDataLst>
            </p:nvPr>
          </p:nvSpPr>
          <p:spPr bwMode="auto">
            <a:xfrm>
              <a:off x="936084" y="1432005"/>
              <a:ext cx="712007" cy="1229282"/>
            </a:xfrm>
            <a:custGeom>
              <a:avLst/>
              <a:gdLst/>
              <a:ahLst/>
              <a:cxnLst>
                <a:cxn ang="0">
                  <a:pos x="0" y="496"/>
                </a:cxn>
                <a:cxn ang="0">
                  <a:pos x="0" y="1278"/>
                </a:cxn>
                <a:cxn ang="0">
                  <a:pos x="642" y="784"/>
                </a:cxn>
                <a:cxn ang="0">
                  <a:pos x="644" y="0"/>
                </a:cxn>
                <a:cxn ang="0">
                  <a:pos x="0" y="496"/>
                </a:cxn>
                <a:cxn ang="0">
                  <a:pos x="0" y="496"/>
                </a:cxn>
              </a:cxnLst>
              <a:rect l="0" t="0" r="r" b="b"/>
              <a:pathLst>
                <a:path w="644" h="1278">
                  <a:moveTo>
                    <a:pt x="0" y="496"/>
                  </a:moveTo>
                  <a:lnTo>
                    <a:pt x="0" y="1278"/>
                  </a:lnTo>
                  <a:lnTo>
                    <a:pt x="642" y="784"/>
                  </a:lnTo>
                  <a:lnTo>
                    <a:pt x="644" y="0"/>
                  </a:lnTo>
                  <a:lnTo>
                    <a:pt x="0" y="496"/>
                  </a:lnTo>
                  <a:lnTo>
                    <a:pt x="0" y="49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70000">
                  <a:schemeClr val="accent2"/>
                </a:gs>
              </a:gsLst>
              <a:lin ang="189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39" name="前左"/>
            <p:cNvSpPr/>
            <p:nvPr>
              <p:custDataLst>
                <p:tags r:id="rId46"/>
              </p:custDataLst>
            </p:nvPr>
          </p:nvSpPr>
          <p:spPr bwMode="auto">
            <a:xfrm>
              <a:off x="933442" y="1895050"/>
              <a:ext cx="717291" cy="1235887"/>
            </a:xfrm>
            <a:custGeom>
              <a:avLst/>
              <a:gdLst/>
              <a:ahLst/>
              <a:cxnLst>
                <a:cxn ang="0">
                  <a:pos x="645" y="1278"/>
                </a:cxn>
                <a:cxn ang="0">
                  <a:pos x="645" y="499"/>
                </a:cxn>
                <a:cxn ang="0">
                  <a:pos x="0" y="0"/>
                </a:cxn>
                <a:cxn ang="0">
                  <a:pos x="3" y="780"/>
                </a:cxn>
                <a:cxn ang="0">
                  <a:pos x="645" y="1278"/>
                </a:cxn>
                <a:cxn ang="0">
                  <a:pos x="645" y="1278"/>
                </a:cxn>
              </a:cxnLst>
              <a:rect l="0" t="0" r="r" b="b"/>
              <a:pathLst>
                <a:path w="645" h="1278">
                  <a:moveTo>
                    <a:pt x="645" y="1278"/>
                  </a:moveTo>
                  <a:lnTo>
                    <a:pt x="645" y="499"/>
                  </a:lnTo>
                  <a:lnTo>
                    <a:pt x="0" y="0"/>
                  </a:lnTo>
                  <a:lnTo>
                    <a:pt x="3" y="780"/>
                  </a:lnTo>
                  <a:lnTo>
                    <a:pt x="645" y="1278"/>
                  </a:lnTo>
                  <a:lnTo>
                    <a:pt x="645" y="1278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40" name="前右"/>
            <p:cNvSpPr/>
            <p:nvPr>
              <p:custDataLst>
                <p:tags r:id="rId47"/>
              </p:custDataLst>
            </p:nvPr>
          </p:nvSpPr>
          <p:spPr bwMode="auto">
            <a:xfrm>
              <a:off x="1650073" y="1895050"/>
              <a:ext cx="720593" cy="1235887"/>
            </a:xfrm>
            <a:custGeom>
              <a:avLst/>
              <a:gdLst/>
              <a:ahLst/>
              <a:cxnLst>
                <a:cxn ang="0">
                  <a:pos x="648" y="0"/>
                </a:cxn>
                <a:cxn ang="0">
                  <a:pos x="648" y="780"/>
                </a:cxn>
                <a:cxn ang="0">
                  <a:pos x="0" y="1278"/>
                </a:cxn>
                <a:cxn ang="0">
                  <a:pos x="0" y="499"/>
                </a:cxn>
                <a:cxn ang="0">
                  <a:pos x="648" y="0"/>
                </a:cxn>
                <a:cxn ang="0">
                  <a:pos x="648" y="0"/>
                </a:cxn>
              </a:cxnLst>
              <a:rect l="0" t="0" r="r" b="b"/>
              <a:pathLst>
                <a:path w="648" h="1278">
                  <a:moveTo>
                    <a:pt x="648" y="0"/>
                  </a:moveTo>
                  <a:lnTo>
                    <a:pt x="648" y="780"/>
                  </a:lnTo>
                  <a:lnTo>
                    <a:pt x="0" y="1278"/>
                  </a:lnTo>
                  <a:lnTo>
                    <a:pt x="0" y="499"/>
                  </a:lnTo>
                  <a:lnTo>
                    <a:pt x="648" y="0"/>
                  </a:lnTo>
                  <a:lnTo>
                    <a:pt x="648" y="0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41" name="上"/>
            <p:cNvSpPr/>
            <p:nvPr>
              <p:custDataLst>
                <p:tags r:id="rId48"/>
              </p:custDataLst>
            </p:nvPr>
          </p:nvSpPr>
          <p:spPr bwMode="auto">
            <a:xfrm>
              <a:off x="933442" y="1413510"/>
              <a:ext cx="1437884" cy="965062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pic>
          <p:nvPicPr>
            <p:cNvPr id="117" name="图片 18" descr="343435383036303b343532343136323bcfeec4bfc9fac3fcd6dcc6da"/>
            <p:cNvPicPr>
              <a:picLocks noChangeAspect="1"/>
            </p:cNvPicPr>
            <p:nvPr>
              <p:custDataLst>
                <p:tags r:id="rId49"/>
              </p:custDataLst>
            </p:nvPr>
          </p:nvPicPr>
          <p:blipFill>
            <a:blip cstate="screen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1325773" y="1939307"/>
              <a:ext cx="640014" cy="640072"/>
            </a:xfrm>
            <a:prstGeom prst="rect">
              <a:avLst/>
            </a:prstGeom>
          </p:spPr>
        </p:pic>
      </p:grpSp>
      <p:sp>
        <p:nvSpPr>
          <p:cNvPr id="78" name="矩形 1"/>
          <p:cNvSpPr/>
          <p:nvPr>
            <p:custDataLst>
              <p:tags r:id="rId4"/>
            </p:custDataLst>
          </p:nvPr>
        </p:nvSpPr>
        <p:spPr>
          <a:xfrm>
            <a:off x="3369310" y="4483742"/>
            <a:ext cx="2451735" cy="1657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确认本体、主标识、映射范围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规则阈值、例外、制度和证据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endParaRPr lang="en-US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79" name="矩形 2"/>
          <p:cNvSpPr/>
          <p:nvPr>
            <p:custDataLst>
              <p:tags r:id="rId5"/>
            </p:custDataLst>
          </p:nvPr>
        </p:nvSpPr>
        <p:spPr>
          <a:xfrm>
            <a:off x="3369310" y="3810642"/>
            <a:ext cx="2451735" cy="577320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02 场景共创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622938" y="1413510"/>
            <a:ext cx="1945140" cy="2251812"/>
            <a:chOff x="3622938" y="1413510"/>
            <a:chExt cx="1945140" cy="2251812"/>
          </a:xfrm>
        </p:grpSpPr>
        <p:sp>
          <p:nvSpPr>
            <p:cNvPr id="80" name="大线"/>
            <p:cNvSpPr/>
            <p:nvPr>
              <p:custDataLst>
                <p:tags r:id="rId30"/>
              </p:custDataLst>
            </p:nvPr>
          </p:nvSpPr>
          <p:spPr bwMode="auto">
            <a:xfrm>
              <a:off x="4079996" y="2675819"/>
              <a:ext cx="1031684" cy="69159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7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1" name="小线"/>
            <p:cNvSpPr/>
            <p:nvPr>
              <p:custDataLst>
                <p:tags r:id="rId31"/>
              </p:custDataLst>
            </p:nvPr>
          </p:nvSpPr>
          <p:spPr bwMode="auto">
            <a:xfrm>
              <a:off x="3622938" y="2360077"/>
              <a:ext cx="1945140" cy="130524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2" name="下"/>
            <p:cNvSpPr/>
            <p:nvPr>
              <p:custDataLst>
                <p:tags r:id="rId32"/>
              </p:custDataLst>
            </p:nvPr>
          </p:nvSpPr>
          <p:spPr bwMode="auto">
            <a:xfrm>
              <a:off x="3879207" y="2207490"/>
              <a:ext cx="1431280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3235" h="2166">
                  <a:moveTo>
                    <a:pt x="1613" y="0"/>
                  </a:moveTo>
                  <a:lnTo>
                    <a:pt x="3141" y="1021"/>
                  </a:lnTo>
                  <a:lnTo>
                    <a:pt x="3235" y="1021"/>
                  </a:lnTo>
                  <a:lnTo>
                    <a:pt x="3235" y="1080"/>
                  </a:lnTo>
                  <a:lnTo>
                    <a:pt x="3229" y="1080"/>
                  </a:lnTo>
                  <a:lnTo>
                    <a:pt x="3233" y="1082"/>
                  </a:lnTo>
                  <a:lnTo>
                    <a:pt x="1613" y="2166"/>
                  </a:lnTo>
                  <a:lnTo>
                    <a:pt x="0" y="1082"/>
                  </a:lnTo>
                  <a:lnTo>
                    <a:pt x="6" y="1078"/>
                  </a:lnTo>
                  <a:lnTo>
                    <a:pt x="6" y="1021"/>
                  </a:lnTo>
                  <a:lnTo>
                    <a:pt x="92" y="1021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317500" dist="127000" dir="5400000" algn="t" rotWithShape="0">
                <a:schemeClr val="accent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3" name="下"/>
            <p:cNvSpPr/>
            <p:nvPr>
              <p:custDataLst>
                <p:tags r:id="rId33"/>
              </p:custDataLst>
            </p:nvPr>
          </p:nvSpPr>
          <p:spPr bwMode="auto">
            <a:xfrm>
              <a:off x="3879207" y="2180407"/>
              <a:ext cx="1429959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70000">
                  <a:schemeClr val="accent1"/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4" name="右"/>
            <p:cNvSpPr/>
            <p:nvPr>
              <p:custDataLst>
                <p:tags r:id="rId34"/>
              </p:custDataLst>
            </p:nvPr>
          </p:nvSpPr>
          <p:spPr bwMode="auto">
            <a:xfrm>
              <a:off x="4593857" y="1430024"/>
              <a:ext cx="717291" cy="1229282"/>
            </a:xfrm>
            <a:custGeom>
              <a:avLst/>
              <a:gdLst/>
              <a:ahLst/>
              <a:cxnLst>
                <a:cxn ang="0">
                  <a:pos x="648" y="498"/>
                </a:cxn>
                <a:cxn ang="0">
                  <a:pos x="648" y="1278"/>
                </a:cxn>
                <a:cxn ang="0">
                  <a:pos x="3" y="784"/>
                </a:cxn>
                <a:cxn ang="0">
                  <a:pos x="0" y="0"/>
                </a:cxn>
                <a:cxn ang="0">
                  <a:pos x="648" y="498"/>
                </a:cxn>
                <a:cxn ang="0">
                  <a:pos x="648" y="498"/>
                </a:cxn>
              </a:cxnLst>
              <a:rect l="0" t="0" r="r" b="b"/>
              <a:pathLst>
                <a:path w="648" h="1278">
                  <a:moveTo>
                    <a:pt x="648" y="498"/>
                  </a:moveTo>
                  <a:lnTo>
                    <a:pt x="648" y="1278"/>
                  </a:lnTo>
                  <a:lnTo>
                    <a:pt x="3" y="784"/>
                  </a:lnTo>
                  <a:lnTo>
                    <a:pt x="0" y="0"/>
                  </a:lnTo>
                  <a:lnTo>
                    <a:pt x="648" y="498"/>
                  </a:lnTo>
                  <a:lnTo>
                    <a:pt x="648" y="4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70000">
                  <a:schemeClr val="accent2"/>
                </a:gs>
              </a:gsLst>
              <a:lin ang="13500000" scaled="0"/>
            </a:gradFill>
            <a:ln w="12700" cmpd="sng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85" name="左"/>
            <p:cNvSpPr/>
            <p:nvPr>
              <p:custDataLst>
                <p:tags r:id="rId35"/>
              </p:custDataLst>
            </p:nvPr>
          </p:nvSpPr>
          <p:spPr bwMode="auto">
            <a:xfrm>
              <a:off x="3881849" y="1432005"/>
              <a:ext cx="712007" cy="1229282"/>
            </a:xfrm>
            <a:custGeom>
              <a:avLst/>
              <a:gdLst/>
              <a:ahLst/>
              <a:cxnLst>
                <a:cxn ang="0">
                  <a:pos x="0" y="496"/>
                </a:cxn>
                <a:cxn ang="0">
                  <a:pos x="0" y="1278"/>
                </a:cxn>
                <a:cxn ang="0">
                  <a:pos x="642" y="784"/>
                </a:cxn>
                <a:cxn ang="0">
                  <a:pos x="644" y="0"/>
                </a:cxn>
                <a:cxn ang="0">
                  <a:pos x="0" y="496"/>
                </a:cxn>
                <a:cxn ang="0">
                  <a:pos x="0" y="496"/>
                </a:cxn>
              </a:cxnLst>
              <a:rect l="0" t="0" r="r" b="b"/>
              <a:pathLst>
                <a:path w="644" h="1278">
                  <a:moveTo>
                    <a:pt x="0" y="496"/>
                  </a:moveTo>
                  <a:lnTo>
                    <a:pt x="0" y="1278"/>
                  </a:lnTo>
                  <a:lnTo>
                    <a:pt x="642" y="784"/>
                  </a:lnTo>
                  <a:lnTo>
                    <a:pt x="644" y="0"/>
                  </a:lnTo>
                  <a:lnTo>
                    <a:pt x="0" y="496"/>
                  </a:lnTo>
                  <a:lnTo>
                    <a:pt x="0" y="49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70000">
                  <a:schemeClr val="accent2"/>
                </a:gs>
              </a:gsLst>
              <a:lin ang="189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98" name="前左"/>
            <p:cNvSpPr/>
            <p:nvPr>
              <p:custDataLst>
                <p:tags r:id="rId36"/>
              </p:custDataLst>
            </p:nvPr>
          </p:nvSpPr>
          <p:spPr bwMode="auto">
            <a:xfrm>
              <a:off x="3879207" y="1895050"/>
              <a:ext cx="717291" cy="1235887"/>
            </a:xfrm>
            <a:custGeom>
              <a:avLst/>
              <a:gdLst/>
              <a:ahLst/>
              <a:cxnLst>
                <a:cxn ang="0">
                  <a:pos x="645" y="1278"/>
                </a:cxn>
                <a:cxn ang="0">
                  <a:pos x="645" y="499"/>
                </a:cxn>
                <a:cxn ang="0">
                  <a:pos x="0" y="0"/>
                </a:cxn>
                <a:cxn ang="0">
                  <a:pos x="3" y="780"/>
                </a:cxn>
                <a:cxn ang="0">
                  <a:pos x="645" y="1278"/>
                </a:cxn>
                <a:cxn ang="0">
                  <a:pos x="645" y="1278"/>
                </a:cxn>
              </a:cxnLst>
              <a:rect l="0" t="0" r="r" b="b"/>
              <a:pathLst>
                <a:path w="645" h="1278">
                  <a:moveTo>
                    <a:pt x="645" y="1278"/>
                  </a:moveTo>
                  <a:lnTo>
                    <a:pt x="645" y="499"/>
                  </a:lnTo>
                  <a:lnTo>
                    <a:pt x="0" y="0"/>
                  </a:lnTo>
                  <a:lnTo>
                    <a:pt x="3" y="780"/>
                  </a:lnTo>
                  <a:lnTo>
                    <a:pt x="645" y="1278"/>
                  </a:lnTo>
                  <a:lnTo>
                    <a:pt x="645" y="1278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99" name="前右"/>
            <p:cNvSpPr/>
            <p:nvPr>
              <p:custDataLst>
                <p:tags r:id="rId37"/>
              </p:custDataLst>
            </p:nvPr>
          </p:nvSpPr>
          <p:spPr bwMode="auto">
            <a:xfrm>
              <a:off x="4595838" y="1895050"/>
              <a:ext cx="720593" cy="1235887"/>
            </a:xfrm>
            <a:custGeom>
              <a:avLst/>
              <a:gdLst/>
              <a:ahLst/>
              <a:cxnLst>
                <a:cxn ang="0">
                  <a:pos x="648" y="0"/>
                </a:cxn>
                <a:cxn ang="0">
                  <a:pos x="648" y="780"/>
                </a:cxn>
                <a:cxn ang="0">
                  <a:pos x="0" y="1278"/>
                </a:cxn>
                <a:cxn ang="0">
                  <a:pos x="0" y="499"/>
                </a:cxn>
                <a:cxn ang="0">
                  <a:pos x="648" y="0"/>
                </a:cxn>
                <a:cxn ang="0">
                  <a:pos x="648" y="0"/>
                </a:cxn>
              </a:cxnLst>
              <a:rect l="0" t="0" r="r" b="b"/>
              <a:pathLst>
                <a:path w="648" h="1278">
                  <a:moveTo>
                    <a:pt x="648" y="0"/>
                  </a:moveTo>
                  <a:lnTo>
                    <a:pt x="648" y="780"/>
                  </a:lnTo>
                  <a:lnTo>
                    <a:pt x="0" y="1278"/>
                  </a:lnTo>
                  <a:lnTo>
                    <a:pt x="0" y="499"/>
                  </a:lnTo>
                  <a:lnTo>
                    <a:pt x="648" y="0"/>
                  </a:lnTo>
                  <a:lnTo>
                    <a:pt x="648" y="0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00" name="上"/>
            <p:cNvSpPr/>
            <p:nvPr>
              <p:custDataLst>
                <p:tags r:id="rId38"/>
              </p:custDataLst>
            </p:nvPr>
          </p:nvSpPr>
          <p:spPr bwMode="auto">
            <a:xfrm>
              <a:off x="3879207" y="1413510"/>
              <a:ext cx="1437884" cy="965062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pic>
          <p:nvPicPr>
            <p:cNvPr id="101" name="图片 18" descr="343435383036303b343532343136323bcfeec4bfc9fac3fcd6dcc6da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cstate="screen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4271538" y="1939307"/>
              <a:ext cx="640014" cy="640072"/>
            </a:xfrm>
            <a:prstGeom prst="rect">
              <a:avLst/>
            </a:prstGeom>
          </p:spPr>
        </p:pic>
      </p:grpSp>
      <p:sp>
        <p:nvSpPr>
          <p:cNvPr id="103" name="矩形 1"/>
          <p:cNvSpPr/>
          <p:nvPr>
            <p:custDataLst>
              <p:tags r:id="rId6"/>
            </p:custDataLst>
          </p:nvPr>
        </p:nvSpPr>
        <p:spPr>
          <a:xfrm>
            <a:off x="6315710" y="4483742"/>
            <a:ext cx="2451735" cy="1657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接入真实或脱敏数据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完成预警、整改、复核和效果样本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endParaRPr lang="en-US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04" name="矩形 2"/>
          <p:cNvSpPr/>
          <p:nvPr>
            <p:custDataLst>
              <p:tags r:id="rId7"/>
            </p:custDataLst>
          </p:nvPr>
        </p:nvSpPr>
        <p:spPr>
          <a:xfrm>
            <a:off x="6315710" y="3810642"/>
            <a:ext cx="2451735" cy="577320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03 试运行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569338" y="1413510"/>
            <a:ext cx="1945140" cy="2251812"/>
            <a:chOff x="6569338" y="1413510"/>
            <a:chExt cx="1945140" cy="2251812"/>
          </a:xfrm>
        </p:grpSpPr>
        <p:sp>
          <p:nvSpPr>
            <p:cNvPr id="105" name="大线"/>
            <p:cNvSpPr/>
            <p:nvPr>
              <p:custDataLst>
                <p:tags r:id="rId20"/>
              </p:custDataLst>
            </p:nvPr>
          </p:nvSpPr>
          <p:spPr bwMode="auto">
            <a:xfrm>
              <a:off x="7026396" y="2675819"/>
              <a:ext cx="1031684" cy="69159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7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06" name="小线"/>
            <p:cNvSpPr/>
            <p:nvPr>
              <p:custDataLst>
                <p:tags r:id="rId21"/>
              </p:custDataLst>
            </p:nvPr>
          </p:nvSpPr>
          <p:spPr bwMode="auto">
            <a:xfrm>
              <a:off x="6569338" y="2360077"/>
              <a:ext cx="1945140" cy="130524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1" name="下"/>
            <p:cNvSpPr/>
            <p:nvPr>
              <p:custDataLst>
                <p:tags r:id="rId22"/>
              </p:custDataLst>
            </p:nvPr>
          </p:nvSpPr>
          <p:spPr bwMode="auto">
            <a:xfrm>
              <a:off x="6825607" y="2207490"/>
              <a:ext cx="1431280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3235" h="2166">
                  <a:moveTo>
                    <a:pt x="1613" y="0"/>
                  </a:moveTo>
                  <a:lnTo>
                    <a:pt x="3141" y="1021"/>
                  </a:lnTo>
                  <a:lnTo>
                    <a:pt x="3235" y="1021"/>
                  </a:lnTo>
                  <a:lnTo>
                    <a:pt x="3235" y="1080"/>
                  </a:lnTo>
                  <a:lnTo>
                    <a:pt x="3229" y="1080"/>
                  </a:lnTo>
                  <a:lnTo>
                    <a:pt x="3233" y="1082"/>
                  </a:lnTo>
                  <a:lnTo>
                    <a:pt x="1613" y="2166"/>
                  </a:lnTo>
                  <a:lnTo>
                    <a:pt x="0" y="1082"/>
                  </a:lnTo>
                  <a:lnTo>
                    <a:pt x="6" y="1078"/>
                  </a:lnTo>
                  <a:lnTo>
                    <a:pt x="6" y="1021"/>
                  </a:lnTo>
                  <a:lnTo>
                    <a:pt x="92" y="1021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317500" dist="127000" dir="5400000" algn="t" rotWithShape="0">
                <a:schemeClr val="accent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2" name="下"/>
            <p:cNvSpPr/>
            <p:nvPr>
              <p:custDataLst>
                <p:tags r:id="rId23"/>
              </p:custDataLst>
            </p:nvPr>
          </p:nvSpPr>
          <p:spPr bwMode="auto">
            <a:xfrm>
              <a:off x="6825607" y="2180407"/>
              <a:ext cx="1429959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70000">
                  <a:schemeClr val="accent1"/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3" name="右"/>
            <p:cNvSpPr/>
            <p:nvPr>
              <p:custDataLst>
                <p:tags r:id="rId24"/>
              </p:custDataLst>
            </p:nvPr>
          </p:nvSpPr>
          <p:spPr bwMode="auto">
            <a:xfrm>
              <a:off x="7540257" y="1430024"/>
              <a:ext cx="717291" cy="1229282"/>
            </a:xfrm>
            <a:custGeom>
              <a:avLst/>
              <a:gdLst/>
              <a:ahLst/>
              <a:cxnLst>
                <a:cxn ang="0">
                  <a:pos x="648" y="498"/>
                </a:cxn>
                <a:cxn ang="0">
                  <a:pos x="648" y="1278"/>
                </a:cxn>
                <a:cxn ang="0">
                  <a:pos x="3" y="784"/>
                </a:cxn>
                <a:cxn ang="0">
                  <a:pos x="0" y="0"/>
                </a:cxn>
                <a:cxn ang="0">
                  <a:pos x="648" y="498"/>
                </a:cxn>
                <a:cxn ang="0">
                  <a:pos x="648" y="498"/>
                </a:cxn>
              </a:cxnLst>
              <a:rect l="0" t="0" r="r" b="b"/>
              <a:pathLst>
                <a:path w="648" h="1278">
                  <a:moveTo>
                    <a:pt x="648" y="498"/>
                  </a:moveTo>
                  <a:lnTo>
                    <a:pt x="648" y="1278"/>
                  </a:lnTo>
                  <a:lnTo>
                    <a:pt x="3" y="784"/>
                  </a:lnTo>
                  <a:lnTo>
                    <a:pt x="0" y="0"/>
                  </a:lnTo>
                  <a:lnTo>
                    <a:pt x="648" y="498"/>
                  </a:lnTo>
                  <a:lnTo>
                    <a:pt x="648" y="4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2"/>
                </a:gs>
              </a:gsLst>
              <a:lin ang="13500000" scaled="0"/>
            </a:gradFill>
            <a:ln w="12700" cmpd="sng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4" name="左"/>
            <p:cNvSpPr/>
            <p:nvPr>
              <p:custDataLst>
                <p:tags r:id="rId25"/>
              </p:custDataLst>
            </p:nvPr>
          </p:nvSpPr>
          <p:spPr bwMode="auto">
            <a:xfrm>
              <a:off x="6828249" y="1432005"/>
              <a:ext cx="712007" cy="1229282"/>
            </a:xfrm>
            <a:custGeom>
              <a:avLst/>
              <a:gdLst/>
              <a:ahLst/>
              <a:cxnLst>
                <a:cxn ang="0">
                  <a:pos x="0" y="496"/>
                </a:cxn>
                <a:cxn ang="0">
                  <a:pos x="0" y="1278"/>
                </a:cxn>
                <a:cxn ang="0">
                  <a:pos x="642" y="784"/>
                </a:cxn>
                <a:cxn ang="0">
                  <a:pos x="644" y="0"/>
                </a:cxn>
                <a:cxn ang="0">
                  <a:pos x="0" y="496"/>
                </a:cxn>
                <a:cxn ang="0">
                  <a:pos x="0" y="496"/>
                </a:cxn>
              </a:cxnLst>
              <a:rect l="0" t="0" r="r" b="b"/>
              <a:pathLst>
                <a:path w="644" h="1278">
                  <a:moveTo>
                    <a:pt x="0" y="496"/>
                  </a:moveTo>
                  <a:lnTo>
                    <a:pt x="0" y="1278"/>
                  </a:lnTo>
                  <a:lnTo>
                    <a:pt x="642" y="784"/>
                  </a:lnTo>
                  <a:lnTo>
                    <a:pt x="644" y="0"/>
                  </a:lnTo>
                  <a:lnTo>
                    <a:pt x="0" y="496"/>
                  </a:lnTo>
                  <a:lnTo>
                    <a:pt x="0" y="49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2"/>
                </a:gs>
              </a:gsLst>
              <a:lin ang="189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5" name="前左"/>
            <p:cNvSpPr/>
            <p:nvPr>
              <p:custDataLst>
                <p:tags r:id="rId26"/>
              </p:custDataLst>
            </p:nvPr>
          </p:nvSpPr>
          <p:spPr bwMode="auto">
            <a:xfrm>
              <a:off x="6825607" y="1895050"/>
              <a:ext cx="717291" cy="1235887"/>
            </a:xfrm>
            <a:custGeom>
              <a:avLst/>
              <a:gdLst/>
              <a:ahLst/>
              <a:cxnLst>
                <a:cxn ang="0">
                  <a:pos x="645" y="1278"/>
                </a:cxn>
                <a:cxn ang="0">
                  <a:pos x="645" y="499"/>
                </a:cxn>
                <a:cxn ang="0">
                  <a:pos x="0" y="0"/>
                </a:cxn>
                <a:cxn ang="0">
                  <a:pos x="3" y="780"/>
                </a:cxn>
                <a:cxn ang="0">
                  <a:pos x="645" y="1278"/>
                </a:cxn>
                <a:cxn ang="0">
                  <a:pos x="645" y="1278"/>
                </a:cxn>
              </a:cxnLst>
              <a:rect l="0" t="0" r="r" b="b"/>
              <a:pathLst>
                <a:path w="645" h="1278">
                  <a:moveTo>
                    <a:pt x="645" y="1278"/>
                  </a:moveTo>
                  <a:lnTo>
                    <a:pt x="645" y="499"/>
                  </a:lnTo>
                  <a:lnTo>
                    <a:pt x="0" y="0"/>
                  </a:lnTo>
                  <a:lnTo>
                    <a:pt x="3" y="780"/>
                  </a:lnTo>
                  <a:lnTo>
                    <a:pt x="645" y="1278"/>
                  </a:lnTo>
                  <a:lnTo>
                    <a:pt x="645" y="1278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6" name="前右"/>
            <p:cNvSpPr/>
            <p:nvPr>
              <p:custDataLst>
                <p:tags r:id="rId27"/>
              </p:custDataLst>
            </p:nvPr>
          </p:nvSpPr>
          <p:spPr bwMode="auto">
            <a:xfrm>
              <a:off x="7542238" y="1895050"/>
              <a:ext cx="720593" cy="1235887"/>
            </a:xfrm>
            <a:custGeom>
              <a:avLst/>
              <a:gdLst/>
              <a:ahLst/>
              <a:cxnLst>
                <a:cxn ang="0">
                  <a:pos x="648" y="0"/>
                </a:cxn>
                <a:cxn ang="0">
                  <a:pos x="648" y="780"/>
                </a:cxn>
                <a:cxn ang="0">
                  <a:pos x="0" y="1278"/>
                </a:cxn>
                <a:cxn ang="0">
                  <a:pos x="0" y="499"/>
                </a:cxn>
                <a:cxn ang="0">
                  <a:pos x="648" y="0"/>
                </a:cxn>
                <a:cxn ang="0">
                  <a:pos x="648" y="0"/>
                </a:cxn>
              </a:cxnLst>
              <a:rect l="0" t="0" r="r" b="b"/>
              <a:pathLst>
                <a:path w="648" h="1278">
                  <a:moveTo>
                    <a:pt x="648" y="0"/>
                  </a:moveTo>
                  <a:lnTo>
                    <a:pt x="648" y="780"/>
                  </a:lnTo>
                  <a:lnTo>
                    <a:pt x="0" y="1278"/>
                  </a:lnTo>
                  <a:lnTo>
                    <a:pt x="0" y="499"/>
                  </a:lnTo>
                  <a:lnTo>
                    <a:pt x="648" y="0"/>
                  </a:lnTo>
                  <a:lnTo>
                    <a:pt x="648" y="0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27" name="上"/>
            <p:cNvSpPr/>
            <p:nvPr>
              <p:custDataLst>
                <p:tags r:id="rId28"/>
              </p:custDataLst>
            </p:nvPr>
          </p:nvSpPr>
          <p:spPr bwMode="auto">
            <a:xfrm>
              <a:off x="6825607" y="1413510"/>
              <a:ext cx="1437884" cy="965062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pic>
          <p:nvPicPr>
            <p:cNvPr id="128" name="图片 18" descr="343435383036303b343532343136323bcfeec4bfc9fac3fcd6dcc6da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cstate="screen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7217938" y="1939307"/>
              <a:ext cx="640014" cy="640072"/>
            </a:xfrm>
            <a:prstGeom prst="rect">
              <a:avLst/>
            </a:prstGeom>
          </p:spPr>
        </p:pic>
      </p:grpSp>
      <p:sp>
        <p:nvSpPr>
          <p:cNvPr id="130" name="矩形 1"/>
          <p:cNvSpPr/>
          <p:nvPr>
            <p:custDataLst>
              <p:tags r:id="rId8"/>
            </p:custDataLst>
          </p:nvPr>
        </p:nvSpPr>
        <p:spPr>
          <a:xfrm>
            <a:off x="9261475" y="4483742"/>
            <a:ext cx="2451735" cy="165797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复用本体、映射、规则和场景版本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tx2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扩展组织与领域，持续复盘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None/>
            </a:pPr>
            <a:endParaRPr lang="en-US" altLang="en-US" sz="1400" dirty="0">
              <a:solidFill>
                <a:schemeClr val="tx2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sp>
        <p:nvSpPr>
          <p:cNvPr id="131" name="矩形 2"/>
          <p:cNvSpPr/>
          <p:nvPr>
            <p:custDataLst>
              <p:tags r:id="rId9"/>
            </p:custDataLst>
          </p:nvPr>
        </p:nvSpPr>
        <p:spPr>
          <a:xfrm>
            <a:off x="9261475" y="3810642"/>
            <a:ext cx="2451735" cy="577320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04 复制运营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515103" y="1413510"/>
            <a:ext cx="1945140" cy="2251812"/>
            <a:chOff x="9515103" y="1413510"/>
            <a:chExt cx="1945140" cy="2251812"/>
          </a:xfrm>
        </p:grpSpPr>
        <p:sp>
          <p:nvSpPr>
            <p:cNvPr id="132" name="大线"/>
            <p:cNvSpPr/>
            <p:nvPr>
              <p:custDataLst>
                <p:tags r:id="rId10"/>
              </p:custDataLst>
            </p:nvPr>
          </p:nvSpPr>
          <p:spPr bwMode="auto">
            <a:xfrm>
              <a:off x="9972161" y="2675819"/>
              <a:ext cx="1031684" cy="69159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7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3" name="小线"/>
            <p:cNvSpPr/>
            <p:nvPr>
              <p:custDataLst>
                <p:tags r:id="rId11"/>
              </p:custDataLst>
            </p:nvPr>
          </p:nvSpPr>
          <p:spPr bwMode="auto">
            <a:xfrm>
              <a:off x="9515103" y="2360077"/>
              <a:ext cx="1945140" cy="1305245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4" name="下"/>
            <p:cNvSpPr/>
            <p:nvPr>
              <p:custDataLst>
                <p:tags r:id="rId12"/>
              </p:custDataLst>
            </p:nvPr>
          </p:nvSpPr>
          <p:spPr bwMode="auto">
            <a:xfrm>
              <a:off x="9771372" y="2207490"/>
              <a:ext cx="1431280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3235" h="2166">
                  <a:moveTo>
                    <a:pt x="1613" y="0"/>
                  </a:moveTo>
                  <a:lnTo>
                    <a:pt x="3141" y="1021"/>
                  </a:lnTo>
                  <a:lnTo>
                    <a:pt x="3235" y="1021"/>
                  </a:lnTo>
                  <a:lnTo>
                    <a:pt x="3235" y="1080"/>
                  </a:lnTo>
                  <a:lnTo>
                    <a:pt x="3229" y="1080"/>
                  </a:lnTo>
                  <a:lnTo>
                    <a:pt x="3233" y="1082"/>
                  </a:lnTo>
                  <a:lnTo>
                    <a:pt x="1613" y="2166"/>
                  </a:lnTo>
                  <a:lnTo>
                    <a:pt x="0" y="1082"/>
                  </a:lnTo>
                  <a:lnTo>
                    <a:pt x="6" y="1078"/>
                  </a:lnTo>
                  <a:lnTo>
                    <a:pt x="6" y="1021"/>
                  </a:lnTo>
                  <a:lnTo>
                    <a:pt x="92" y="1021"/>
                  </a:lnTo>
                  <a:lnTo>
                    <a:pt x="161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</a:ln>
            <a:effectLst>
              <a:outerShdw blurRad="317500" dist="127000" dir="5400000" algn="t" rotWithShape="0">
                <a:schemeClr val="accent1">
                  <a:alpha val="38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5" name="下"/>
            <p:cNvSpPr/>
            <p:nvPr>
              <p:custDataLst>
                <p:tags r:id="rId13"/>
              </p:custDataLst>
            </p:nvPr>
          </p:nvSpPr>
          <p:spPr bwMode="auto">
            <a:xfrm>
              <a:off x="9771372" y="2180407"/>
              <a:ext cx="1429959" cy="959117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9000">
                  <a:schemeClr val="accent1"/>
                </a:gs>
              </a:gsLst>
              <a:lin ang="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6" name="右"/>
            <p:cNvSpPr/>
            <p:nvPr>
              <p:custDataLst>
                <p:tags r:id="rId14"/>
              </p:custDataLst>
            </p:nvPr>
          </p:nvSpPr>
          <p:spPr bwMode="auto">
            <a:xfrm>
              <a:off x="10486022" y="1430024"/>
              <a:ext cx="717291" cy="1229282"/>
            </a:xfrm>
            <a:custGeom>
              <a:avLst/>
              <a:gdLst/>
              <a:ahLst/>
              <a:cxnLst>
                <a:cxn ang="0">
                  <a:pos x="648" y="498"/>
                </a:cxn>
                <a:cxn ang="0">
                  <a:pos x="648" y="1278"/>
                </a:cxn>
                <a:cxn ang="0">
                  <a:pos x="3" y="784"/>
                </a:cxn>
                <a:cxn ang="0">
                  <a:pos x="0" y="0"/>
                </a:cxn>
                <a:cxn ang="0">
                  <a:pos x="648" y="498"/>
                </a:cxn>
                <a:cxn ang="0">
                  <a:pos x="648" y="498"/>
                </a:cxn>
              </a:cxnLst>
              <a:rect l="0" t="0" r="r" b="b"/>
              <a:pathLst>
                <a:path w="648" h="1278">
                  <a:moveTo>
                    <a:pt x="648" y="498"/>
                  </a:moveTo>
                  <a:lnTo>
                    <a:pt x="648" y="1278"/>
                  </a:lnTo>
                  <a:lnTo>
                    <a:pt x="3" y="784"/>
                  </a:lnTo>
                  <a:lnTo>
                    <a:pt x="0" y="0"/>
                  </a:lnTo>
                  <a:lnTo>
                    <a:pt x="648" y="498"/>
                  </a:lnTo>
                  <a:lnTo>
                    <a:pt x="648" y="4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70000">
                  <a:schemeClr val="accent2"/>
                </a:gs>
              </a:gsLst>
              <a:lin ang="13500000" scaled="0"/>
            </a:gradFill>
            <a:ln w="12700" cmpd="sng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7" name="左"/>
            <p:cNvSpPr/>
            <p:nvPr>
              <p:custDataLst>
                <p:tags r:id="rId15"/>
              </p:custDataLst>
            </p:nvPr>
          </p:nvSpPr>
          <p:spPr bwMode="auto">
            <a:xfrm>
              <a:off x="9774014" y="1432005"/>
              <a:ext cx="712007" cy="1229282"/>
            </a:xfrm>
            <a:custGeom>
              <a:avLst/>
              <a:gdLst/>
              <a:ahLst/>
              <a:cxnLst>
                <a:cxn ang="0">
                  <a:pos x="0" y="496"/>
                </a:cxn>
                <a:cxn ang="0">
                  <a:pos x="0" y="1278"/>
                </a:cxn>
                <a:cxn ang="0">
                  <a:pos x="642" y="784"/>
                </a:cxn>
                <a:cxn ang="0">
                  <a:pos x="644" y="0"/>
                </a:cxn>
                <a:cxn ang="0">
                  <a:pos x="0" y="496"/>
                </a:cxn>
                <a:cxn ang="0">
                  <a:pos x="0" y="496"/>
                </a:cxn>
              </a:cxnLst>
              <a:rect l="0" t="0" r="r" b="b"/>
              <a:pathLst>
                <a:path w="644" h="1278">
                  <a:moveTo>
                    <a:pt x="0" y="496"/>
                  </a:moveTo>
                  <a:lnTo>
                    <a:pt x="0" y="1278"/>
                  </a:lnTo>
                  <a:lnTo>
                    <a:pt x="642" y="784"/>
                  </a:lnTo>
                  <a:lnTo>
                    <a:pt x="644" y="0"/>
                  </a:lnTo>
                  <a:lnTo>
                    <a:pt x="0" y="496"/>
                  </a:lnTo>
                  <a:lnTo>
                    <a:pt x="0" y="49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100000"/>
                  </a:schemeClr>
                </a:gs>
                <a:gs pos="70000">
                  <a:schemeClr val="accent2"/>
                </a:gs>
              </a:gsLst>
              <a:lin ang="18900000" scaled="0"/>
            </a:gra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8" name="前左"/>
            <p:cNvSpPr/>
            <p:nvPr>
              <p:custDataLst>
                <p:tags r:id="rId16"/>
              </p:custDataLst>
            </p:nvPr>
          </p:nvSpPr>
          <p:spPr bwMode="auto">
            <a:xfrm>
              <a:off x="9771372" y="1895050"/>
              <a:ext cx="717291" cy="1235887"/>
            </a:xfrm>
            <a:custGeom>
              <a:avLst/>
              <a:gdLst/>
              <a:ahLst/>
              <a:cxnLst>
                <a:cxn ang="0">
                  <a:pos x="645" y="1278"/>
                </a:cxn>
                <a:cxn ang="0">
                  <a:pos x="645" y="499"/>
                </a:cxn>
                <a:cxn ang="0">
                  <a:pos x="0" y="0"/>
                </a:cxn>
                <a:cxn ang="0">
                  <a:pos x="3" y="780"/>
                </a:cxn>
                <a:cxn ang="0">
                  <a:pos x="645" y="1278"/>
                </a:cxn>
                <a:cxn ang="0">
                  <a:pos x="645" y="1278"/>
                </a:cxn>
              </a:cxnLst>
              <a:rect l="0" t="0" r="r" b="b"/>
              <a:pathLst>
                <a:path w="645" h="1278">
                  <a:moveTo>
                    <a:pt x="645" y="1278"/>
                  </a:moveTo>
                  <a:lnTo>
                    <a:pt x="645" y="499"/>
                  </a:lnTo>
                  <a:lnTo>
                    <a:pt x="0" y="0"/>
                  </a:lnTo>
                  <a:lnTo>
                    <a:pt x="3" y="780"/>
                  </a:lnTo>
                  <a:lnTo>
                    <a:pt x="645" y="1278"/>
                  </a:lnTo>
                  <a:lnTo>
                    <a:pt x="645" y="1278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39" name="前右"/>
            <p:cNvSpPr/>
            <p:nvPr>
              <p:custDataLst>
                <p:tags r:id="rId17"/>
              </p:custDataLst>
            </p:nvPr>
          </p:nvSpPr>
          <p:spPr bwMode="auto">
            <a:xfrm>
              <a:off x="10488003" y="1895050"/>
              <a:ext cx="720593" cy="1235887"/>
            </a:xfrm>
            <a:custGeom>
              <a:avLst/>
              <a:gdLst/>
              <a:ahLst/>
              <a:cxnLst>
                <a:cxn ang="0">
                  <a:pos x="648" y="0"/>
                </a:cxn>
                <a:cxn ang="0">
                  <a:pos x="648" y="780"/>
                </a:cxn>
                <a:cxn ang="0">
                  <a:pos x="0" y="1278"/>
                </a:cxn>
                <a:cxn ang="0">
                  <a:pos x="0" y="499"/>
                </a:cxn>
                <a:cxn ang="0">
                  <a:pos x="648" y="0"/>
                </a:cxn>
                <a:cxn ang="0">
                  <a:pos x="648" y="0"/>
                </a:cxn>
              </a:cxnLst>
              <a:rect l="0" t="0" r="r" b="b"/>
              <a:pathLst>
                <a:path w="648" h="1278">
                  <a:moveTo>
                    <a:pt x="648" y="0"/>
                  </a:moveTo>
                  <a:lnTo>
                    <a:pt x="648" y="780"/>
                  </a:lnTo>
                  <a:lnTo>
                    <a:pt x="0" y="1278"/>
                  </a:lnTo>
                  <a:lnTo>
                    <a:pt x="0" y="499"/>
                  </a:lnTo>
                  <a:lnTo>
                    <a:pt x="648" y="0"/>
                  </a:lnTo>
                  <a:lnTo>
                    <a:pt x="648" y="0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  <a:sym typeface="+mn-ea"/>
              </a:endParaRPr>
            </a:p>
          </p:txBody>
        </p:sp>
        <p:sp>
          <p:nvSpPr>
            <p:cNvPr id="140" name="上"/>
            <p:cNvSpPr/>
            <p:nvPr>
              <p:custDataLst>
                <p:tags r:id="rId18"/>
              </p:custDataLst>
            </p:nvPr>
          </p:nvSpPr>
          <p:spPr bwMode="auto">
            <a:xfrm>
              <a:off x="9771372" y="1413510"/>
              <a:ext cx="1437884" cy="965062"/>
            </a:xfrm>
            <a:custGeom>
              <a:avLst/>
              <a:gdLst/>
              <a:ahLst/>
              <a:cxnLst>
                <a:cxn ang="0">
                  <a:pos x="645" y="997"/>
                </a:cxn>
                <a:cxn ang="0">
                  <a:pos x="1293" y="498"/>
                </a:cxn>
                <a:cxn ang="0">
                  <a:pos x="645" y="0"/>
                </a:cxn>
                <a:cxn ang="0">
                  <a:pos x="0" y="498"/>
                </a:cxn>
                <a:cxn ang="0">
                  <a:pos x="645" y="997"/>
                </a:cxn>
                <a:cxn ang="0">
                  <a:pos x="645" y="997"/>
                </a:cxn>
              </a:cxnLst>
              <a:rect l="0" t="0" r="r" b="b"/>
              <a:pathLst>
                <a:path w="1293" h="997">
                  <a:moveTo>
                    <a:pt x="645" y="997"/>
                  </a:moveTo>
                  <a:lnTo>
                    <a:pt x="1293" y="498"/>
                  </a:lnTo>
                  <a:lnTo>
                    <a:pt x="645" y="0"/>
                  </a:lnTo>
                  <a:lnTo>
                    <a:pt x="0" y="498"/>
                  </a:lnTo>
                  <a:lnTo>
                    <a:pt x="645" y="997"/>
                  </a:lnTo>
                  <a:lnTo>
                    <a:pt x="645" y="997"/>
                  </a:lnTo>
                  <a:close/>
                </a:path>
              </a:pathLst>
            </a:custGeom>
            <a:noFill/>
            <a:ln w="1270">
              <a:solidFill>
                <a:schemeClr val="accent1">
                  <a:lumMod val="20000"/>
                  <a:lumOff val="80000"/>
                  <a:alpha val="2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endParaRPr>
            </a:p>
          </p:txBody>
        </p:sp>
        <p:pic>
          <p:nvPicPr>
            <p:cNvPr id="141" name="图片 18" descr="343435383036303b343532343136323bcfeec4bfc9fac3fcd6dcc6da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cstate="screen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10163703" y="1939307"/>
              <a:ext cx="640014" cy="640072"/>
            </a:xfrm>
            <a:prstGeom prst="rect">
              <a:avLst/>
            </a:prstGeom>
          </p:spPr>
        </p:pic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四阶段推进试点与集团复制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7266" y="295799"/>
            <a:ext cx="9967929" cy="461665"/>
          </a:xfrm>
        </p:spPr>
        <p:txBody>
          <a:bodyPr/>
          <a:lstStyle/>
          <a:p>
            <a:r>
              <a:rPr dirty="0">
                <a:sym typeface="+mn-ea"/>
              </a:rPr>
              <a:t>小范围试点形成复制能力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854075" y="990918"/>
            <a:ext cx="3147060" cy="1777365"/>
            <a:chOff x="1784" y="2645"/>
            <a:chExt cx="4956" cy="2799"/>
          </a:xfrm>
        </p:grpSpPr>
        <p:sp>
          <p:nvSpPr>
            <p:cNvPr id="9" name="矩形 8"/>
            <p:cNvSpPr/>
            <p:nvPr/>
          </p:nvSpPr>
          <p:spPr>
            <a:xfrm>
              <a:off x="2861" y="3774"/>
              <a:ext cx="2781" cy="72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组织层级、角色与用户范围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3090" y="3311"/>
              <a:ext cx="2353" cy="4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试点单位</a:t>
              </a: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1784" y="2645"/>
              <a:ext cx="4956" cy="2799"/>
              <a:chOff x="1784" y="2645"/>
              <a:chExt cx="4956" cy="2799"/>
            </a:xfrm>
          </p:grpSpPr>
          <p:pic>
            <p:nvPicPr>
              <p:cNvPr id="6" name="图片 5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784" y="2645"/>
                <a:ext cx="1824" cy="2343"/>
              </a:xfrm>
              <a:prstGeom prst="rect">
                <a:avLst/>
              </a:prstGeom>
            </p:spPr>
          </p:pic>
          <p:pic>
            <p:nvPicPr>
              <p:cNvPr id="7" name="图片 6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4816" y="2645"/>
                <a:ext cx="1924" cy="2343"/>
              </a:xfrm>
              <a:prstGeom prst="rect">
                <a:avLst/>
              </a:prstGeom>
            </p:spPr>
          </p:pic>
          <p:grpSp>
            <p:nvGrpSpPr>
              <p:cNvPr id="27" name="组合 26"/>
              <p:cNvGrpSpPr/>
              <p:nvPr/>
            </p:nvGrpSpPr>
            <p:grpSpPr>
              <a:xfrm>
                <a:off x="2922" y="4640"/>
                <a:ext cx="2736" cy="805"/>
                <a:chOff x="2922" y="4640"/>
                <a:chExt cx="2736" cy="805"/>
              </a:xfrm>
            </p:grpSpPr>
            <p:sp>
              <p:nvSpPr>
                <p:cNvPr id="13" name="椭圆 12"/>
                <p:cNvSpPr/>
                <p:nvPr/>
              </p:nvSpPr>
              <p:spPr>
                <a:xfrm>
                  <a:off x="3235" y="4756"/>
                  <a:ext cx="2219" cy="360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2922" y="5001"/>
                  <a:ext cx="2737" cy="444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18" name="五角星 17"/>
                <p:cNvSpPr/>
                <p:nvPr/>
              </p:nvSpPr>
              <p:spPr>
                <a:xfrm>
                  <a:off x="4198" y="4640"/>
                  <a:ext cx="181" cy="181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20" name="五角星 19"/>
                <p:cNvSpPr/>
                <p:nvPr/>
              </p:nvSpPr>
              <p:spPr>
                <a:xfrm>
                  <a:off x="3955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24" name="五角星 23"/>
                <p:cNvSpPr/>
                <p:nvPr/>
              </p:nvSpPr>
              <p:spPr>
                <a:xfrm>
                  <a:off x="4450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</p:grpSp>
      </p:grpSp>
      <p:sp>
        <p:nvSpPr>
          <p:cNvPr id="32" name="矩形 31"/>
          <p:cNvSpPr/>
          <p:nvPr/>
        </p:nvSpPr>
        <p:spPr bwMode="auto">
          <a:xfrm>
            <a:off x="-10160" y="5612130"/>
            <a:ext cx="12212320" cy="124587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2"/>
              </a:gs>
            </a:gsLst>
            <a:lin ang="0" scaled="0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zh-CN" altLang="en-US" sz="1600" dirty="0">
              <a:solidFill>
                <a:srgbClr val="404A5F"/>
              </a:solidFill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5032375" y="5867082"/>
            <a:ext cx="2515870" cy="43180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16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2040204020203" pitchFamily="34" charset="-122"/>
                <a:cs typeface="Arial" panose="020B0604020202090204" pitchFamily="34" charset="0"/>
              </a:rPr>
              <a:t>跑通闭环，形成复制能力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89470" y="-13608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>
              <a:latin typeface="Arial" panose="020B0604020202090204" pitchFamily="34" charset="0"/>
              <a:ea typeface="微软雅黑" panose="020B0502040204020203" pitchFamily="34" charset="-122"/>
              <a:cs typeface="Arial" panose="020B060402020209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459605" y="990918"/>
            <a:ext cx="3147060" cy="1777365"/>
            <a:chOff x="1784" y="2645"/>
            <a:chExt cx="4956" cy="2799"/>
          </a:xfrm>
        </p:grpSpPr>
        <p:sp>
          <p:nvSpPr>
            <p:cNvPr id="5" name="矩形 4"/>
            <p:cNvSpPr/>
            <p:nvPr/>
          </p:nvSpPr>
          <p:spPr>
            <a:xfrm>
              <a:off x="2861" y="3774"/>
              <a:ext cx="2781" cy="72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一至三个目标业务事件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3090" y="3311"/>
              <a:ext cx="2353" cy="4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重点场景</a:t>
              </a: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784" y="2645"/>
              <a:ext cx="4956" cy="2799"/>
              <a:chOff x="1784" y="2645"/>
              <a:chExt cx="4956" cy="2799"/>
            </a:xfrm>
          </p:grpSpPr>
          <p:pic>
            <p:nvPicPr>
              <p:cNvPr id="12" name="图片 11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84" y="2645"/>
                <a:ext cx="1824" cy="2343"/>
              </a:xfrm>
              <a:prstGeom prst="rect">
                <a:avLst/>
              </a:prstGeom>
            </p:spPr>
          </p:pic>
          <p:pic>
            <p:nvPicPr>
              <p:cNvPr id="15" name="图片 14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4816" y="2645"/>
                <a:ext cx="1924" cy="2343"/>
              </a:xfrm>
              <a:prstGeom prst="rect">
                <a:avLst/>
              </a:prstGeom>
            </p:spPr>
          </p:pic>
          <p:grpSp>
            <p:nvGrpSpPr>
              <p:cNvPr id="16" name="组合 15"/>
              <p:cNvGrpSpPr/>
              <p:nvPr/>
            </p:nvGrpSpPr>
            <p:grpSpPr>
              <a:xfrm>
                <a:off x="2922" y="4640"/>
                <a:ext cx="2736" cy="805"/>
                <a:chOff x="2922" y="4640"/>
                <a:chExt cx="2736" cy="805"/>
              </a:xfrm>
            </p:grpSpPr>
            <p:sp>
              <p:nvSpPr>
                <p:cNvPr id="17" name="椭圆 16"/>
                <p:cNvSpPr/>
                <p:nvPr/>
              </p:nvSpPr>
              <p:spPr>
                <a:xfrm>
                  <a:off x="3235" y="4756"/>
                  <a:ext cx="2219" cy="360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2922" y="5001"/>
                  <a:ext cx="2737" cy="444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21" name="五角星 20"/>
                <p:cNvSpPr/>
                <p:nvPr/>
              </p:nvSpPr>
              <p:spPr>
                <a:xfrm>
                  <a:off x="4198" y="4640"/>
                  <a:ext cx="181" cy="181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22" name="五角星 21"/>
                <p:cNvSpPr/>
                <p:nvPr/>
              </p:nvSpPr>
              <p:spPr>
                <a:xfrm>
                  <a:off x="3955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23" name="五角星 22"/>
                <p:cNvSpPr/>
                <p:nvPr/>
              </p:nvSpPr>
              <p:spPr>
                <a:xfrm>
                  <a:off x="4450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25" name="组合 24"/>
          <p:cNvGrpSpPr/>
          <p:nvPr/>
        </p:nvGrpSpPr>
        <p:grpSpPr>
          <a:xfrm>
            <a:off x="8065135" y="990918"/>
            <a:ext cx="3147060" cy="1777365"/>
            <a:chOff x="1784" y="2645"/>
            <a:chExt cx="4956" cy="2799"/>
          </a:xfrm>
        </p:grpSpPr>
        <p:sp>
          <p:nvSpPr>
            <p:cNvPr id="26" name="矩形 25"/>
            <p:cNvSpPr/>
            <p:nvPr/>
          </p:nvSpPr>
          <p:spPr>
            <a:xfrm>
              <a:off x="2861" y="3774"/>
              <a:ext cx="2781" cy="72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接入方式、频率与责任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3090" y="3311"/>
              <a:ext cx="2353" cy="4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数据来源</a:t>
              </a: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784" y="2645"/>
              <a:ext cx="4956" cy="2799"/>
              <a:chOff x="1784" y="2645"/>
              <a:chExt cx="4956" cy="2799"/>
            </a:xfrm>
          </p:grpSpPr>
          <p:pic>
            <p:nvPicPr>
              <p:cNvPr id="33" name="图片 32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84" y="2645"/>
                <a:ext cx="1824" cy="2343"/>
              </a:xfrm>
              <a:prstGeom prst="rect">
                <a:avLst/>
              </a:prstGeom>
            </p:spPr>
          </p:pic>
          <p:pic>
            <p:nvPicPr>
              <p:cNvPr id="34" name="图片 33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4816" y="2645"/>
                <a:ext cx="1924" cy="2343"/>
              </a:xfrm>
              <a:prstGeom prst="rect">
                <a:avLst/>
              </a:prstGeom>
            </p:spPr>
          </p:pic>
          <p:grpSp>
            <p:nvGrpSpPr>
              <p:cNvPr id="35" name="组合 34"/>
              <p:cNvGrpSpPr/>
              <p:nvPr/>
            </p:nvGrpSpPr>
            <p:grpSpPr>
              <a:xfrm>
                <a:off x="2922" y="4640"/>
                <a:ext cx="2736" cy="805"/>
                <a:chOff x="2922" y="4640"/>
                <a:chExt cx="2736" cy="805"/>
              </a:xfrm>
            </p:grpSpPr>
            <p:sp>
              <p:nvSpPr>
                <p:cNvPr id="36" name="椭圆 35"/>
                <p:cNvSpPr/>
                <p:nvPr/>
              </p:nvSpPr>
              <p:spPr>
                <a:xfrm>
                  <a:off x="3235" y="4756"/>
                  <a:ext cx="2219" cy="360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2922" y="5001"/>
                  <a:ext cx="2737" cy="444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38" name="五角星 37"/>
                <p:cNvSpPr/>
                <p:nvPr/>
              </p:nvSpPr>
              <p:spPr>
                <a:xfrm>
                  <a:off x="4198" y="4640"/>
                  <a:ext cx="181" cy="181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39" name="五角星 38"/>
                <p:cNvSpPr/>
                <p:nvPr/>
              </p:nvSpPr>
              <p:spPr>
                <a:xfrm>
                  <a:off x="3955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40" name="五角星 39"/>
                <p:cNvSpPr/>
                <p:nvPr/>
              </p:nvSpPr>
              <p:spPr>
                <a:xfrm>
                  <a:off x="4450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41" name="组合 40"/>
          <p:cNvGrpSpPr/>
          <p:nvPr/>
        </p:nvGrpSpPr>
        <p:grpSpPr>
          <a:xfrm>
            <a:off x="900430" y="3125788"/>
            <a:ext cx="3147060" cy="1777365"/>
            <a:chOff x="1784" y="2645"/>
            <a:chExt cx="4956" cy="2799"/>
          </a:xfrm>
        </p:grpSpPr>
        <p:sp>
          <p:nvSpPr>
            <p:cNvPr id="42" name="矩形 41"/>
            <p:cNvSpPr/>
            <p:nvPr/>
          </p:nvSpPr>
          <p:spPr>
            <a:xfrm>
              <a:off x="2861" y="3774"/>
              <a:ext cx="2781" cy="72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阈值、例外、制度与证据要求</a:t>
              </a:r>
            </a:p>
          </p:txBody>
        </p:sp>
        <p:sp>
          <p:nvSpPr>
            <p:cNvPr id="43" name="矩形 42"/>
            <p:cNvSpPr/>
            <p:nvPr/>
          </p:nvSpPr>
          <p:spPr>
            <a:xfrm>
              <a:off x="3090" y="3311"/>
              <a:ext cx="2353" cy="4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规则证据</a:t>
              </a: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784" y="2645"/>
              <a:ext cx="4956" cy="2799"/>
              <a:chOff x="1784" y="2645"/>
              <a:chExt cx="4956" cy="2799"/>
            </a:xfrm>
          </p:grpSpPr>
          <p:pic>
            <p:nvPicPr>
              <p:cNvPr id="45" name="图片 44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784" y="2645"/>
                <a:ext cx="1824" cy="2343"/>
              </a:xfrm>
              <a:prstGeom prst="rect">
                <a:avLst/>
              </a:prstGeom>
            </p:spPr>
          </p:pic>
          <p:pic>
            <p:nvPicPr>
              <p:cNvPr id="46" name="图片 45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4816" y="2645"/>
                <a:ext cx="1924" cy="2343"/>
              </a:xfrm>
              <a:prstGeom prst="rect">
                <a:avLst/>
              </a:prstGeom>
            </p:spPr>
          </p:pic>
          <p:grpSp>
            <p:nvGrpSpPr>
              <p:cNvPr id="47" name="组合 46"/>
              <p:cNvGrpSpPr/>
              <p:nvPr/>
            </p:nvGrpSpPr>
            <p:grpSpPr>
              <a:xfrm>
                <a:off x="2922" y="4640"/>
                <a:ext cx="2736" cy="805"/>
                <a:chOff x="2922" y="4640"/>
                <a:chExt cx="2736" cy="805"/>
              </a:xfrm>
            </p:grpSpPr>
            <p:sp>
              <p:nvSpPr>
                <p:cNvPr id="48" name="椭圆 47"/>
                <p:cNvSpPr/>
                <p:nvPr/>
              </p:nvSpPr>
              <p:spPr>
                <a:xfrm>
                  <a:off x="3235" y="4756"/>
                  <a:ext cx="2219" cy="360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49" name="椭圆 48"/>
                <p:cNvSpPr/>
                <p:nvPr/>
              </p:nvSpPr>
              <p:spPr>
                <a:xfrm>
                  <a:off x="2922" y="5001"/>
                  <a:ext cx="2737" cy="444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50" name="五角星 49"/>
                <p:cNvSpPr/>
                <p:nvPr/>
              </p:nvSpPr>
              <p:spPr>
                <a:xfrm>
                  <a:off x="4198" y="4640"/>
                  <a:ext cx="181" cy="181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51" name="五角星 50"/>
                <p:cNvSpPr/>
                <p:nvPr/>
              </p:nvSpPr>
              <p:spPr>
                <a:xfrm>
                  <a:off x="3955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52" name="五角星 51"/>
                <p:cNvSpPr/>
                <p:nvPr/>
              </p:nvSpPr>
              <p:spPr>
                <a:xfrm>
                  <a:off x="4450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53" name="组合 52"/>
          <p:cNvGrpSpPr/>
          <p:nvPr/>
        </p:nvGrpSpPr>
        <p:grpSpPr>
          <a:xfrm>
            <a:off x="4505960" y="3125788"/>
            <a:ext cx="3147060" cy="1777365"/>
            <a:chOff x="1784" y="2645"/>
            <a:chExt cx="4956" cy="2799"/>
          </a:xfrm>
        </p:grpSpPr>
        <p:sp>
          <p:nvSpPr>
            <p:cNvPr id="54" name="矩形 53"/>
            <p:cNvSpPr/>
            <p:nvPr/>
          </p:nvSpPr>
          <p:spPr>
            <a:xfrm>
              <a:off x="2861" y="3774"/>
              <a:ext cx="2781" cy="72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部署、权限与性能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3090" y="3311"/>
              <a:ext cx="2353" cy="4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技术边界</a:t>
              </a:r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1784" y="2645"/>
              <a:ext cx="4956" cy="2799"/>
              <a:chOff x="1784" y="2645"/>
              <a:chExt cx="4956" cy="2799"/>
            </a:xfrm>
          </p:grpSpPr>
          <p:pic>
            <p:nvPicPr>
              <p:cNvPr id="57" name="图片 56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84" y="2645"/>
                <a:ext cx="1824" cy="2343"/>
              </a:xfrm>
              <a:prstGeom prst="rect">
                <a:avLst/>
              </a:prstGeom>
            </p:spPr>
          </p:pic>
          <p:pic>
            <p:nvPicPr>
              <p:cNvPr id="58" name="图片 57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4816" y="2645"/>
                <a:ext cx="1924" cy="2343"/>
              </a:xfrm>
              <a:prstGeom prst="rect">
                <a:avLst/>
              </a:prstGeom>
            </p:spPr>
          </p:pic>
          <p:grpSp>
            <p:nvGrpSpPr>
              <p:cNvPr id="59" name="组合 58"/>
              <p:cNvGrpSpPr/>
              <p:nvPr/>
            </p:nvGrpSpPr>
            <p:grpSpPr>
              <a:xfrm>
                <a:off x="2922" y="4640"/>
                <a:ext cx="2736" cy="805"/>
                <a:chOff x="2922" y="4640"/>
                <a:chExt cx="2736" cy="805"/>
              </a:xfrm>
            </p:grpSpPr>
            <p:sp>
              <p:nvSpPr>
                <p:cNvPr id="60" name="椭圆 59"/>
                <p:cNvSpPr/>
                <p:nvPr/>
              </p:nvSpPr>
              <p:spPr>
                <a:xfrm>
                  <a:off x="3235" y="4756"/>
                  <a:ext cx="2219" cy="360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922" y="5001"/>
                  <a:ext cx="2737" cy="444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62" name="五角星 61"/>
                <p:cNvSpPr/>
                <p:nvPr/>
              </p:nvSpPr>
              <p:spPr>
                <a:xfrm>
                  <a:off x="4198" y="4640"/>
                  <a:ext cx="181" cy="181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63" name="五角星 62"/>
                <p:cNvSpPr/>
                <p:nvPr/>
              </p:nvSpPr>
              <p:spPr>
                <a:xfrm>
                  <a:off x="3955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64" name="五角星 63"/>
                <p:cNvSpPr/>
                <p:nvPr/>
              </p:nvSpPr>
              <p:spPr>
                <a:xfrm>
                  <a:off x="4450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</p:grpSp>
      </p:grpSp>
      <p:grpSp>
        <p:nvGrpSpPr>
          <p:cNvPr id="65" name="组合 64"/>
          <p:cNvGrpSpPr/>
          <p:nvPr/>
        </p:nvGrpSpPr>
        <p:grpSpPr>
          <a:xfrm>
            <a:off x="8111490" y="3125788"/>
            <a:ext cx="3147060" cy="1777365"/>
            <a:chOff x="1784" y="2645"/>
            <a:chExt cx="4956" cy="2799"/>
          </a:xfrm>
        </p:grpSpPr>
        <p:sp>
          <p:nvSpPr>
            <p:cNvPr id="66" name="矩形 65"/>
            <p:cNvSpPr/>
            <p:nvPr/>
          </p:nvSpPr>
          <p:spPr>
            <a:xfrm>
              <a:off x="2861" y="3774"/>
              <a:ext cx="2781" cy="722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200" dirty="0">
                  <a:solidFill>
                    <a:schemeClr val="tx2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优先联合梳理三类场景</a:t>
              </a:r>
            </a:p>
          </p:txBody>
        </p:sp>
        <p:sp>
          <p:nvSpPr>
            <p:cNvPr id="67" name="矩形 66"/>
            <p:cNvSpPr/>
            <p:nvPr/>
          </p:nvSpPr>
          <p:spPr>
            <a:xfrm>
              <a:off x="3090" y="3311"/>
              <a:ext cx="2353" cy="443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400"/>
                </a:spcBef>
                <a:spcAft>
                  <a:spcPts val="400"/>
                </a:spcAft>
              </a:pPr>
              <a:r>
                <a:rPr lang="zh-CN" altLang="en-US" sz="1600" b="1" dirty="0">
                  <a:solidFill>
                    <a:schemeClr val="accent1"/>
                  </a:solidFill>
                  <a:latin typeface="Arial" panose="020B0604020202090204" pitchFamily="34" charset="0"/>
                  <a:ea typeface="微软雅黑" panose="020B0502040204020203" pitchFamily="34" charset="-122"/>
                  <a:cs typeface="Arial" panose="020B0604020202090204" pitchFamily="34" charset="0"/>
                  <a:sym typeface="+mn-ea"/>
                </a:rPr>
                <a:t>启动建议</a:t>
              </a:r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784" y="2645"/>
              <a:ext cx="4956" cy="2799"/>
              <a:chOff x="1784" y="2645"/>
              <a:chExt cx="4956" cy="2799"/>
            </a:xfrm>
          </p:grpSpPr>
          <p:pic>
            <p:nvPicPr>
              <p:cNvPr id="69" name="图片 68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784" y="2645"/>
                <a:ext cx="1824" cy="2343"/>
              </a:xfrm>
              <a:prstGeom prst="rect">
                <a:avLst/>
              </a:prstGeom>
            </p:spPr>
          </p:pic>
          <p:pic>
            <p:nvPicPr>
              <p:cNvPr id="70" name="图片 69" descr="ms-30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flipH="1">
                <a:off x="4816" y="2645"/>
                <a:ext cx="1924" cy="2343"/>
              </a:xfrm>
              <a:prstGeom prst="rect">
                <a:avLst/>
              </a:prstGeom>
            </p:spPr>
          </p:pic>
          <p:grpSp>
            <p:nvGrpSpPr>
              <p:cNvPr id="71" name="组合 70"/>
              <p:cNvGrpSpPr/>
              <p:nvPr/>
            </p:nvGrpSpPr>
            <p:grpSpPr>
              <a:xfrm>
                <a:off x="2922" y="4640"/>
                <a:ext cx="2736" cy="805"/>
                <a:chOff x="2922" y="4640"/>
                <a:chExt cx="2736" cy="805"/>
              </a:xfrm>
            </p:grpSpPr>
            <p:sp>
              <p:nvSpPr>
                <p:cNvPr id="72" name="椭圆 71"/>
                <p:cNvSpPr/>
                <p:nvPr/>
              </p:nvSpPr>
              <p:spPr>
                <a:xfrm>
                  <a:off x="3235" y="4756"/>
                  <a:ext cx="2219" cy="360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2922" y="5001"/>
                  <a:ext cx="2737" cy="444"/>
                </a:xfrm>
                <a:prstGeom prst="ellipse">
                  <a:avLst/>
                </a:prstGeom>
                <a:gradFill>
                  <a:gsLst>
                    <a:gs pos="43000">
                      <a:schemeClr val="accent1">
                        <a:lumMod val="20000"/>
                        <a:lumOff val="80000"/>
                        <a:alpha val="0"/>
                      </a:schemeClr>
                    </a:gs>
                    <a:gs pos="100000">
                      <a:schemeClr val="accent1">
                        <a:lumMod val="40000"/>
                        <a:lumOff val="60000"/>
                      </a:schemeClr>
                    </a:gs>
                  </a:gsLst>
                  <a:lin ang="5400000" scaled="0"/>
                </a:gradFill>
                <a:ln w="9525">
                  <a:gradFill>
                    <a:gsLst>
                      <a:gs pos="100000">
                        <a:schemeClr val="accent1">
                          <a:lumMod val="60000"/>
                          <a:lumOff val="40000"/>
                        </a:schemeClr>
                      </a:gs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:endParaRPr kumimoji="1" lang="zh-CN" altLang="en-US" sz="1200" dirty="0">
                    <a:solidFill>
                      <a:srgbClr val="404A5F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  <a:sym typeface="+mn-ea"/>
                  </a:endParaRPr>
                </a:p>
              </p:txBody>
            </p:sp>
            <p:sp>
              <p:nvSpPr>
                <p:cNvPr id="74" name="五角星 73"/>
                <p:cNvSpPr/>
                <p:nvPr/>
              </p:nvSpPr>
              <p:spPr>
                <a:xfrm>
                  <a:off x="4198" y="4640"/>
                  <a:ext cx="181" cy="181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75" name="五角星 74"/>
                <p:cNvSpPr/>
                <p:nvPr/>
              </p:nvSpPr>
              <p:spPr>
                <a:xfrm>
                  <a:off x="3955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  <p:sp>
              <p:nvSpPr>
                <p:cNvPr id="76" name="五角星 75"/>
                <p:cNvSpPr/>
                <p:nvPr/>
              </p:nvSpPr>
              <p:spPr>
                <a:xfrm>
                  <a:off x="4450" y="4656"/>
                  <a:ext cx="172" cy="172"/>
                </a:xfrm>
                <a:prstGeom prst="star5">
                  <a:avLst>
                    <a:gd name="adj" fmla="val 27018"/>
                    <a:gd name="hf" fmla="val 105146"/>
                    <a:gd name="vf" fmla="val 110557"/>
                  </a:avLst>
                </a:prstGeom>
                <a:solidFill>
                  <a:schemeClr val="accent1"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>
                    <a:solidFill>
                      <a:schemeClr val="accent1"/>
                    </a:solidFill>
                    <a:latin typeface="Arial" panose="020B0604020202090204" pitchFamily="34" charset="0"/>
                    <a:ea typeface="微软雅黑" panose="020B0502040204020203" pitchFamily="34" charset="-122"/>
                    <a:cs typeface="Arial" panose="020B0604020202090204" pitchFamily="34" charset="0"/>
                  </a:endParaRPr>
                </a:p>
              </p:txBody>
            </p:sp>
          </p:grpSp>
        </p:grpSp>
      </p:grp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BhMDE1NzA3NDQyOWNlY2I4YTUzNjViYTlmMDEy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8.0303149606299,&quot;left&quot;:38.822913385826766,&quot;top&quot;:80.98488188976378,&quot;width&quot;:882.354094488189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RESOURCE_TRACE_INFO" val="{&quot;id&quot;:&quot;50040788&quot;,&quot;origin&quot;:0,&quot;type&quot;:&quot;icons&quot;,&quot;user&quot;:&quot;726862702&quot;}"/>
  <p:tag name="KSO_WM_DIAGRAM_VIRTUALLY_FRAME" val="{&quot;height&quot;:378.0303149606299,&quot;left&quot;:38.822913385826766,&quot;top&quot;:80.98488188976378,&quot;width&quot;:882.354094488189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95,&quot;left&quot;:28.85,&quot;top&quot;:73.1,&quot;width&quot;:916.2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2.5618442149511,&quot;left&quot;:22.5,&quot;top&quot;:19.428251120870915,&quot;width&quot;:912.5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2.5618442149511,&quot;left&quot;:22.5,&quot;top&quot;:19.428251120870915,&quot;width&quot;:912.5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6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6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9_3*m_h_i*1_1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9_3*m_h_i*1_3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9_3*m_h_i*1_2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9_3*m_h_i*1_4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9_3*m_h_i*1_5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9_3*m_h_i*1_5_1"/>
  <p:tag name="KSO_WM_TEMPLATE_CATEGORY" val="diagram"/>
  <p:tag name="KSO_WM_TEMPLATE_INDEX" val="20236919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512.5618442149511,&quot;left&quot;:61.25,&quot;top&quot;:20.578251120870913,&quot;width&quot;:874.541089154066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1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0.5400000214576721,&quot;transparency&quot;:0.8999999761581421},{&quot;brightness&quot;:0,&quot;colorType&quot;:1,&quot;foreColorIndex&quot;:5,&quot;pos&quot;:0,&quot;transparency&quot;:1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2,&quot;rgb&quot;:&quot;#000000&quot;,&quot;transparency&quot;:0.5686299800872803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2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2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1,&quot;transparency&quot;:0.6499999761581421},{&quot;brightness&quot;:0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3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3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5999999046325684,&quot;transparency&quot;:1},{&quot;brightness&quot;:0,&quot;colorType&quot;:1,&quot;foreColorIndex&quot;:5,&quot;pos&quot;:1,&quot;transparency&quot;:0.3300000131130218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4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4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5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5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0,&quot;transparency&quot;:0.5},{&quot;brightness&quot;:0,&quot;colorType&quot;:1,&quot;foreColorIndex&quot;:5,&quot;pos&quot;:0.4099999964237213,&quot;transparency&quot;:0.800000011920929},{&quot;brightness&quot;:0.800000011920929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0957_1*n_h_i*1_1_1"/>
  <p:tag name="KSO_WM_TEMPLATE_CATEGORY" val="diagram"/>
  <p:tag name="KSO_WM_TEMPLATE_INDEX" val="20230957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8.5749938964844,&quot;left&quot;:22.65,&quot;top&quot;:95.7,&quot;width&quot;:879.5000061035156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65,&quot;left&quot;:601.15,&quot;top&quot;:166.65,&quot;width&quot;:330.95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95,&quot;left&quot;:28.85,&quot;top&quot;:73.1,&quot;width&quot;:916.2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2.5618442149511,&quot;left&quot;:22.5,&quot;top&quot;:19.428251120870915,&quot;width&quot;:912.55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2.5618442149511,&quot;left&quot;:22.5,&quot;top&quot;:19.428251120870915,&quot;width&quot;:912.55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6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6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9_3*m_h_i*1_1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9_3*m_h_i*1_3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9_3*m_h_i*1_2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9_3*m_h_i*1_4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9_3*m_h_i*1_5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9_3*m_h_i*1_5_1"/>
  <p:tag name="KSO_WM_TEMPLATE_CATEGORY" val="diagram"/>
  <p:tag name="KSO_WM_TEMPLATE_INDEX" val="20236919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512.5618442149511,&quot;left&quot;:61.25,&quot;top&quot;:20.578251120870913,&quot;width&quot;:874.541089154066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1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0.5400000214576721,&quot;transparency&quot;:0.8999999761581421},{&quot;brightness&quot;:0,&quot;colorType&quot;:1,&quot;foreColorIndex&quot;:5,&quot;pos&quot;:0,&quot;transparency&quot;:1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2,&quot;rgb&quot;:&quot;#000000&quot;,&quot;transparency&quot;:0.5686299800872803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2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2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1,&quot;transparency&quot;:0.6499999761581421},{&quot;brightness&quot;:0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3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3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5999999046325684,&quot;transparency&quot;:1},{&quot;brightness&quot;:0,&quot;colorType&quot;:1,&quot;foreColorIndex&quot;:5,&quot;pos&quot;:1,&quot;transparency&quot;:0.3300000131130218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4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4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5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5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0,&quot;transparency&quot;:0.5},{&quot;brightness&quot;:0,&quot;colorType&quot;:1,&quot;foreColorIndex&quot;:5,&quot;pos&quot;:0.4099999964237213,&quot;transparency&quot;:0.800000011920929},{&quot;brightness&quot;:0.800000011920929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0957_1*n_h_i*1_1_1"/>
  <p:tag name="KSO_WM_TEMPLATE_CATEGORY" val="diagram"/>
  <p:tag name="KSO_WM_TEMPLATE_INDEX" val="20230957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8.5749938964844,&quot;left&quot;:22.65,&quot;top&quot;:95.7,&quot;width&quot;:879.5000061035156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,&quot;left&quot;:12.75,&quot;top&quot;:154.35,&quot;width&quot;:932.4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,&quot;left&quot;:12.75,&quot;top&quot;:154.35,&quot;width&quot;:932.4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,&quot;left&quot;:12.75,&quot;top&quot;:154.35,&quot;width&quot;:932.4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,&quot;left&quot;:12.75,&quot;top&quot;:154.35,&quot;width&quot;:932.4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95,&quot;left&quot;:28.85,&quot;top&quot;:73.1,&quot;width&quot;:916.2}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2.5618442149511,&quot;left&quot;:22.5,&quot;top&quot;:19.428251120870915,&quot;width&quot;:912.55}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2.5618442149511,&quot;left&quot;:22.5,&quot;top&quot;:19.428251120870915,&quot;width&quot;:912.55}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382.6114208906259,&quot;left&quot;:47.499999999999986,&quot;top&quot;:135.38858267716535,&quot;width&quot;:865.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6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6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1_1"/>
  <p:tag name="KSO_WM_UNIT_ID" val="diagram20236919_3*m_h_i*1_1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3_1"/>
  <p:tag name="KSO_WM_UNIT_ID" val="diagram20236919_3*m_h_i*1_3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2_1"/>
  <p:tag name="KSO_WM_UNIT_ID" val="diagram20236919_3*m_h_i*1_2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4_1"/>
  <p:tag name="KSO_WM_UNIT_ID" val="diagram20236919_3*m_h_i*1_4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9_3*m_h_i*1_5_1"/>
  <p:tag name="KSO_WM_TEMPLATE_CATEGORY" val="diagram"/>
  <p:tag name="KSO_WM_TEMPLATE_INDEX" val="20236919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m_h_i"/>
  <p:tag name="KSO_WM_UNIT_INDEX" val="1_5_1"/>
  <p:tag name="KSO_WM_UNIT_ID" val="diagram20236919_3*m_h_i*1_5_1"/>
  <p:tag name="KSO_WM_TEMPLATE_CATEGORY" val="diagram"/>
  <p:tag name="KSO_WM_TEMPLATE_INDEX" val="20236919"/>
  <p:tag name="KSO_WM_UNIT_LAYERLEVEL" val="1_1_1"/>
  <p:tag name="KSO_WM_TAG_VERSION" val="3.0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m1-1"/>
  <p:tag name="KSO_WM_DIAGRAM_MAX_ITEMCNT" val="5"/>
  <p:tag name="KSO_WM_DIAGRAM_MIN_ITEMCNT" val="3"/>
  <p:tag name="KSO_WM_DIAGRAM_VIRTUALLY_FRAME" val="{&quot;height&quot;:512.5618442149511,&quot;left&quot;:61.25,&quot;top&quot;:20.578251120870913,&quot;width&quot;:874.5410891540662}"/>
  <p:tag name="KSO_WM_DIAGRAM_COLOR_MATCH_VALUE" val="{&quot;shape&quot;:{&quot;fill&quot;:{&quot;gradient&quot;:[{&quot;brightness&quot;:0.800000011920929,&quot;colorType&quot;:1,&quot;foreColorIndex&quot;:5,&quot;pos&quot;:0,&quot;transparency&quot;:0},{&quot;brightness&quot;:0.4000000059604645,&quot;colorType&quot;:1,&quot;foreColorIndex&quot;:5,&quot;pos&quot;:0.4699999988079071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1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1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0.5400000214576721,&quot;transparency&quot;:0.8999999761581421},{&quot;brightness&quot;:0,&quot;colorType&quot;:1,&quot;foreColorIndex&quot;:5,&quot;pos&quot;:0,&quot;transparency&quot;:1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2,&quot;rgb&quot;:&quot;#000000&quot;,&quot;transparency&quot;:0.5686299800872803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2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2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1,&quot;transparency&quot;:0.6499999761581421},{&quot;brightness&quot;:0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3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3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25999999046325684,&quot;transparency&quot;:1},{&quot;brightness&quot;:0,&quot;colorType&quot;:1,&quot;foreColorIndex&quot;:5,&quot;pos&quot;:1,&quot;transparency&quot;:0.3300000131130218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4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4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1,&quot;transparency&quot;:0.800000011920929},{&quot;brightness&quot;:0,&quot;colorType&quot;:1,&quot;foreColorIndex&quot;:5,&quot;pos&quot;:0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6919_3*m_i*1_5"/>
  <p:tag name="KSO_WM_TEMPLATE_CATEGORY" val="diagram"/>
  <p:tag name="KSO_WM_TEMPLATE_INDEX" val="20236919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m1-1"/>
  <p:tag name="KSO_WM_UNIT_TYPE" val="m_i"/>
  <p:tag name="KSO_WM_UNIT_INDEX" val="1_5"/>
  <p:tag name="KSO_WM_DIAGRAM_MAX_ITEMCNT" val="5"/>
  <p:tag name="KSO_WM_DIAGRAM_MIN_ITEMCNT" val="3"/>
  <p:tag name="KSO_WM_DIAGRAM_VIRTUALLY_FRAME" val="{&quot;height&quot;:417.95,&quot;left&quot;:28.85,&quot;top&quot;:73.1,&quot;width&quot;:916.2}"/>
  <p:tag name="KSO_WM_DIAGRAM_COLOR_MATCH_VALUE" val="{&quot;shape&quot;:{&quot;fill&quot;:{&quot;gradient&quot;:[{&quot;brightness&quot;:0,&quot;colorType&quot;:1,&quot;foreColorIndex&quot;:5,&quot;pos&quot;:0,&quot;transparency&quot;:0.5},{&quot;brightness&quot;:0,&quot;colorType&quot;:1,&quot;foreColorIndex&quot;:5,&quot;pos&quot;:0.4099999964237213,&quot;transparency&quot;:0.800000011920929},{&quot;brightness&quot;:0.800000011920929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color_type&quot;:1,&quot;theme_color_indexes&quot;:[]}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0957_1*n_h_i*1_1_1"/>
  <p:tag name="KSO_WM_TEMPLATE_CATEGORY" val="diagram"/>
  <p:tag name="KSO_WM_TEMPLATE_INDEX" val="20230957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8.5749938964844,&quot;left&quot;:22.65,&quot;top&quot;:95.7,&quot;width&quot;:879.5000061035156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  <p:tag name="KSO_WM_DIAGRAM_USE_COLOR_VALUE" val="{&quot;color_scheme&quot;:1,&quot;color_type&quot;:1,&quot;theme_color_indexes&quot;:[]}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0929_4"/>
  <p:tag name="KSO_WM_TEMPLATE_SUBCATEGORY" val="0"/>
  <p:tag name="KSO_WM_TEMPLATE_MASTER_TYPE" val="0"/>
  <p:tag name="KSO_WM_TEMPLATE_COLOR_TYPE" val="0"/>
  <p:tag name="KSO_WM_SLIDE_ITEM_CNT" val="6"/>
  <p:tag name="KSO_WM_SLIDE_INDEX" val="4"/>
  <p:tag name="KSO_WM_TAG_VERSION" val="3.0"/>
  <p:tag name="KSO_WM_BEAUTIFY_FLAG" val="#wm#"/>
  <p:tag name="KSO_WM_TEMPLATE_CATEGORY" val="diagram"/>
  <p:tag name="KSO_WM_TEMPLATE_INDEX" val="20230929"/>
  <p:tag name="KSO_WM_SLIDE_TYPE" val="text"/>
  <p:tag name="KSO_WM_SLIDE_SUBTYPE" val="diag"/>
  <p:tag name="KSO_WM_SLIDE_SIZE" val="865.2*306.55"/>
  <p:tag name="KSO_WM_SLIDE_POSITION" val="47.5*18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f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SUBTYPE" val="a"/>
  <p:tag name="KSO_WM_UNIT_TEXT_LAYER_COUNT" val="1"/>
  <p:tag name="KSO_WM_UNIT_NOCLEAR" val="0"/>
  <p:tag name="KSO_WM_DIAGRAM_GROUP_CODE" val="l1-1"/>
  <p:tag name="KSO_WM_UNIT_TYPE" val="l_h_f"/>
  <p:tag name="KSO_WM_UNIT_INDEX" val="1_1_1"/>
  <p:tag name="KSO_WM_UNIT_PRESET_TEXT" val="单击此处添加正文，文字是您思想的提炼，请简意的阐述您的观点。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a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UNIT_PRESET_TEXT" val="添加标题"/>
  <p:tag name="KSO_WM_UNIT_TEXT_FILL_FORE_SCHEMECOLOR_INDEX" val="1"/>
  <p:tag name="KSO_WM_UNIT_TEXT_FILL_TYPE" val="1"/>
  <p:tag name="KSO_WM_UNIT_TEXT_TYPE" val="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1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2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3"/>
  <p:tag name="KSO_WM_UNIT_FILL_TYPE" val="1"/>
  <p:tag name="KSO_WM_UNIT_FILL_FORE_SCHEMECOLOR_INDEX" val="5"/>
  <p:tag name="KSO_WM_UNIT_FILL_FORE_SCHEMECOLOR_INDEX_BRIGHTNESS" val="-0.2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4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5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6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7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8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9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x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70*170"/>
  <p:tag name="KSO_WM_DIAGRAM_GROUP_CODE" val="l1-1"/>
  <p:tag name="KSO_WM_UNIT_TYPE" val="l_h_x"/>
  <p:tag name="KSO_WM_UNIT_INDEX" val="1_1_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1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2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3"/>
  <p:tag name="KSO_WM_UNIT_FILL_TYPE" val="1"/>
  <p:tag name="KSO_WM_UNIT_FILL_FORE_SCHEMECOLOR_INDEX" val="5"/>
  <p:tag name="KSO_WM_UNIT_FILL_FORE_SCHEMECOLOR_INDEX_BRIGHTNESS" val="-0.2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4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5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6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7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8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9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x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70*170"/>
  <p:tag name="KSO_WM_DIAGRAM_GROUP_CODE" val="l1-1"/>
  <p:tag name="KSO_WM_UNIT_TYPE" val="l_h_x"/>
  <p:tag name="KSO_WM_UNIT_INDEX" val="1_1_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1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2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3"/>
  <p:tag name="KSO_WM_UNIT_FILL_TYPE" val="1"/>
  <p:tag name="KSO_WM_UNIT_FILL_FORE_SCHEMECOLOR_INDEX" val="5"/>
  <p:tag name="KSO_WM_UNIT_FILL_FORE_SCHEMECOLOR_INDEX_BRIGHTNESS" val="-0.2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4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5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6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7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8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9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x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70*170"/>
  <p:tag name="KSO_WM_DIAGRAM_GROUP_CODE" val="l1-1"/>
  <p:tag name="KSO_WM_UNIT_TYPE" val="l_h_x"/>
  <p:tag name="KSO_WM_UNIT_INDEX" val="1_1_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1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-0.2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2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2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3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3"/>
  <p:tag name="KSO_WM_UNIT_FILL_TYPE" val="1"/>
  <p:tag name="KSO_WM_UNIT_FILL_FORE_SCHEMECOLOR_INDEX" val="5"/>
  <p:tag name="KSO_WM_UNIT_FILL_FORE_SCHEMECOLOR_INDEX_BRIGHTNESS" val="-0.2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-0.25,&quot;colorType&quot;:1,&quot;foreColorIndex&quot;:5,&quot;transparency&quot;:0},&quot;type&quot;:1},&quot;glow&quot;:{&quot;colorType&quot;:0},&quot;line&quot;:{&quot;type&quot;:0},&quot;shadow&quot;:{&quot;brightness&quot;:0,&quot;colorType&quot;:1,&quot;foreColorIndex&quot;:5,&quot;transparency&quot;:0.6200000047683716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4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4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10000000149011612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5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5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6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6"/>
  <p:tag name="KSO_WM_UNIT_FILL_TYPE" val="3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.20000000298023224,&quot;colorType&quot;:1,&quot;foreColorIndex&quot;:5,&quot;pos&quot;:0.69999998807907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7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7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8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8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i*1_1_9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DIAGRAM_GROUP_CODE" val="l1-1"/>
  <p:tag name="KSO_WM_UNIT_TYPE" val="l_h_i"/>
  <p:tag name="KSO_WM_UNIT_INDEX" val="1_1_9"/>
  <p:tag name="KSO_WM_UNIT_LINE_FORE_SCHEMECOLOR_INDEX" val="5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29_2*l_h_x*1_1_1"/>
  <p:tag name="KSO_WM_TEMPLATE_CATEGORY" val="diagram"/>
  <p:tag name="KSO_WM_TEMPLATE_INDEX" val="2023092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170*170"/>
  <p:tag name="KSO_WM_DIAGRAM_GROUP_CODE" val="l1-1"/>
  <p:tag name="KSO_WM_UNIT_TYPE" val="l_h_x"/>
  <p:tag name="KSO_WM_UNIT_INDEX" val="1_1_1"/>
  <p:tag name="KSO_WM_DIAGRAM_MAX_ITEMCNT" val="6"/>
  <p:tag name="KSO_WM_DIAGRAM_MIN_ITEMCNT" val="3"/>
  <p:tag name="KSO_WM_DIAGRAM_VIRTUALLY_FRAME" val="{&quot;height&quot;:406.7000035677912,&quot;left&quot;:33.35,&quot;top&quot;:111.3,&quot;width&quot;:888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heme/theme1.xml><?xml version="1.0" encoding="utf-8"?>
<a:theme xmlns:a="http://schemas.openxmlformats.org/drawingml/2006/main" name="1_Office 主题​​">
  <a:themeElements>
    <a:clrScheme name="CDA2026">
      <a:dk1>
        <a:srgbClr val="FFFFFF"/>
      </a:dk1>
      <a:lt1>
        <a:srgbClr val="FFFFFF"/>
      </a:lt1>
      <a:dk2>
        <a:srgbClr val="090909"/>
      </a:dk2>
      <a:lt2>
        <a:srgbClr val="F1F2F3"/>
      </a:lt2>
      <a:accent1>
        <a:srgbClr val="0058FF"/>
      </a:accent1>
      <a:accent2>
        <a:srgbClr val="3D7AFF"/>
      </a:accent2>
      <a:accent3>
        <a:srgbClr val="4F18F2"/>
      </a:accent3>
      <a:accent4>
        <a:srgbClr val="733FF5"/>
      </a:accent4>
      <a:accent5>
        <a:srgbClr val="00AFEA"/>
      </a:accent5>
      <a:accent6>
        <a:srgbClr val="54BEEE"/>
      </a:accent6>
      <a:hlink>
        <a:srgbClr val="0058FF"/>
      </a:hlink>
      <a:folHlink>
        <a:srgbClr val="4F18F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9525">
          <a:solidFill>
            <a:schemeClr val="bg2">
              <a:lumMod val="90000"/>
            </a:schemeClr>
          </a:solidFill>
        </a:ln>
      </a:spPr>
      <a:bodyPr rtlCol="0" anchor="ctr"/>
      <a:lstStyle>
        <a:defPPr algn="ctr">
          <a:defRPr kumimoji="1" sz="1400" dirty="0" smtClean="0">
            <a:solidFill>
              <a:schemeClr val="tx2"/>
            </a:solidFill>
            <a:latin typeface="Arial" panose="020B0604020202090204" pitchFamily="34" charset="0"/>
            <a:ea typeface="微软雅黑" panose="020B0502040204020203" pitchFamily="34" charset="-122"/>
            <a:cs typeface="Arial" panose="020B060402020209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>
              <a:lumMod val="9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solidFill>
              <a:schemeClr val="tx1"/>
            </a:solidFill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ec_penetrative_supervision_product_intro_v2">
  <a:themeElements>
    <a:clrScheme name="cec_penetrative_supervision_product_intro_v2">
      <a:dk1>
        <a:srgbClr val="2D3748"/>
      </a:dk1>
      <a:lt1>
        <a:srgbClr val="FFFFFF"/>
      </a:lt1>
      <a:dk2>
        <a:srgbClr val="2D3748"/>
      </a:dk2>
      <a:lt2>
        <a:srgbClr val="F2F7FF"/>
      </a:lt2>
      <a:accent1>
        <a:srgbClr val="0B63F6"/>
      </a:accent1>
      <a:accent2>
        <a:srgbClr val="2F8CFF"/>
      </a:accent2>
      <a:accent3>
        <a:srgbClr val="22B573"/>
      </a:accent3>
      <a:accent4>
        <a:srgbClr val="0B63F6"/>
      </a:accent4>
      <a:accent5>
        <a:srgbClr val="4BACC6"/>
      </a:accent5>
      <a:accent6>
        <a:srgbClr val="F79646"/>
      </a:accent6>
      <a:hlink>
        <a:srgbClr val="2F8CFF"/>
      </a:hlink>
      <a:folHlink>
        <a:srgbClr val="22B573"/>
      </a:folHlink>
    </a:clrScheme>
    <a:fontScheme name="cec_penetrative_supervision_product_intro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c_penetrative_supervision_product_intro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8168</Words>
  <Application>Microsoft Office PowerPoint</Application>
  <PresentationFormat>宽屏</PresentationFormat>
  <Paragraphs>1106</Paragraphs>
  <Slides>55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MiSans</vt:lpstr>
      <vt:lpstr>Noto Sans SC</vt:lpstr>
      <vt:lpstr>等线</vt:lpstr>
      <vt:lpstr>黑体</vt:lpstr>
      <vt:lpstr>微软雅黑</vt:lpstr>
      <vt:lpstr>微软雅黑</vt:lpstr>
      <vt:lpstr>Arial</vt:lpstr>
      <vt:lpstr>Wingdings</vt:lpstr>
      <vt:lpstr>1_Office 主题​​</vt:lpstr>
      <vt:lpstr>cec_penetrative_supervision_product_intro_v2</vt:lpstr>
      <vt:lpstr>央国企穿透式监管系统</vt:lpstr>
      <vt:lpstr>PowerPoint 演示文稿</vt:lpstr>
      <vt:lpstr>监管要求与建设目标</vt:lpstr>
      <vt:lpstr>形势与监管要求</vt:lpstr>
      <vt:lpstr>形势与监管要求</vt:lpstr>
      <vt:lpstr>PowerPoint 演示文稿</vt:lpstr>
      <vt:lpstr>产品方针</vt:lpstr>
      <vt:lpstr>产品架构图</vt:lpstr>
      <vt:lpstr>十大重点领域构成监管主战场</vt:lpstr>
      <vt:lpstr>穿透监管从事后核查走向在线闭环</vt:lpstr>
      <vt:lpstr>国资国企穿透式监管应用总体架构</vt:lpstr>
      <vt:lpstr>产品定位</vt:lpstr>
      <vt:lpstr>统一底座支撑多领域监管</vt:lpstr>
      <vt:lpstr>穿透监管“一三四五”方法体系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核心功能体系</vt:lpstr>
      <vt:lpstr>核心功能-监管工作台</vt:lpstr>
      <vt:lpstr>核心功能体系-监管态势</vt:lpstr>
      <vt:lpstr>核心功能-监管态势</vt:lpstr>
      <vt:lpstr>核心功能-监管态势</vt:lpstr>
      <vt:lpstr>核心功能体系-监管态势</vt:lpstr>
      <vt:lpstr>监管模型五步法把问题转化为可执行预警</vt:lpstr>
      <vt:lpstr>核心功能-风险监管</vt:lpstr>
      <vt:lpstr>核心功能体系-风险监管</vt:lpstr>
      <vt:lpstr>核心功能-风险监管</vt:lpstr>
      <vt:lpstr>核心功能-风险监管</vt:lpstr>
      <vt:lpstr>核心功能-风险监管</vt:lpstr>
      <vt:lpstr>核心功能-风险监管</vt:lpstr>
      <vt:lpstr>核心功能-风险监管</vt:lpstr>
      <vt:lpstr>核心功能-风险监管</vt:lpstr>
      <vt:lpstr>核心功能-风险监管</vt:lpstr>
      <vt:lpstr>核心功能体系-风险监管</vt:lpstr>
      <vt:lpstr>预警生成即固化证据</vt:lpstr>
      <vt:lpstr>核心功能体系-场景与规则</vt:lpstr>
      <vt:lpstr>核心功能体系-场景与规则</vt:lpstr>
      <vt:lpstr>核心功能体系-知识图谱</vt:lpstr>
      <vt:lpstr>图谱基线</vt:lpstr>
      <vt:lpstr>核心功能体系-知识图谱</vt:lpstr>
      <vt:lpstr>核心功能体系-知识图谱</vt:lpstr>
      <vt:lpstr>模型运营覆盖从需求到退役的全生命周期</vt:lpstr>
      <vt:lpstr>PowerPoint 演示文稿</vt:lpstr>
      <vt:lpstr>典型应用场景-预警事件状态全程可追踪</vt:lpstr>
      <vt:lpstr>典型应用场景</vt:lpstr>
      <vt:lpstr>典型应用场景</vt:lpstr>
      <vt:lpstr>典型应用场景</vt:lpstr>
      <vt:lpstr>典型应用场景</vt:lpstr>
      <vt:lpstr>PowerPoint 演示文稿</vt:lpstr>
      <vt:lpstr>应用价值</vt:lpstr>
      <vt:lpstr>四阶段推进试点与集团复制</vt:lpstr>
      <vt:lpstr>小范围试点形成复制能力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chenyang yin</cp:lastModifiedBy>
  <cp:revision>2891</cp:revision>
  <dcterms:created xsi:type="dcterms:W3CDTF">2026-02-02T04:58:15Z</dcterms:created>
  <dcterms:modified xsi:type="dcterms:W3CDTF">2026-07-31T06:11:06Z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9DD678684C8701779CFE69694A168325_43</vt:lpwstr>
  </property>
  <property fmtid="{D5CDD505-2E9C-101B-9397-08002B2CF9AE}" pid="3" name="KSOProductBuildVer">
    <vt:lpwstr>2052-12.1.24709.24709</vt:lpwstr>
  </property>
</Properties>
</file>